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80" r:id="rId3"/>
    <p:sldId id="281" r:id="rId4"/>
    <p:sldId id="282" r:id="rId5"/>
    <p:sldId id="283" r:id="rId6"/>
    <p:sldId id="285" r:id="rId7"/>
    <p:sldId id="286" r:id="rId8"/>
    <p:sldId id="287" r:id="rId9"/>
    <p:sldId id="288" r:id="rId10"/>
    <p:sldId id="289" r:id="rId11"/>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1" userDrawn="1">
          <p15:clr>
            <a:srgbClr val="A4A3A4"/>
          </p15:clr>
        </p15:guide>
        <p15:guide id="2" pos="2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587C"/>
    <a:srgbClr val="F8587C"/>
    <a:srgbClr val="89B8E3"/>
    <a:srgbClr val="333333"/>
    <a:srgbClr val="3C7B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82" autoAdjust="0"/>
    <p:restoredTop sz="94291" autoAdjust="0"/>
  </p:normalViewPr>
  <p:slideViewPr>
    <p:cSldViewPr snapToGrid="0">
      <p:cViewPr>
        <p:scale>
          <a:sx n="50" d="100"/>
          <a:sy n="50" d="100"/>
        </p:scale>
        <p:origin x="2088" y="-108"/>
      </p:cViewPr>
      <p:guideLst>
        <p:guide orient="horz" pos="351"/>
        <p:guide pos="27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US"/>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9B4C5A-57BB-4487-924E-96BB2EDB1DD5}" type="datetimeFigureOut">
              <a:rPr lang="en-IN" smtClean="0"/>
              <a:t>13-05-2022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278485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9B4C5A-57BB-4487-924E-96BB2EDB1DD5}" type="datetimeFigureOut">
              <a:rPr lang="en-IN" smtClean="0"/>
              <a:t>13-05-2022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236216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US"/>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79B4C5A-57BB-4487-924E-96BB2EDB1DD5}" type="datetimeFigureOut">
              <a:rPr lang="en-IN" smtClean="0"/>
              <a:t>13-05-2022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4216626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9B4C5A-57BB-4487-924E-96BB2EDB1DD5}" type="datetimeFigureOut">
              <a:rPr lang="en-IN" smtClean="0"/>
              <a:t>13-05-2022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2507983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9B4C5A-57BB-4487-924E-96BB2EDB1DD5}" type="datetimeFigureOut">
              <a:rPr lang="en-IN" smtClean="0"/>
              <a:t>13-05-2022</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2651065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9B4C5A-57BB-4487-924E-96BB2EDB1DD5}" type="datetimeFigureOut">
              <a:rPr lang="en-IN" smtClean="0"/>
              <a:t>13-05-2022</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2574601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9B4C5A-57BB-4487-924E-96BB2EDB1DD5}" type="datetimeFigureOut">
              <a:rPr lang="en-IN" smtClean="0"/>
              <a:t>13-05-2022</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897088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Edit Master text styles</a:t>
            </a:r>
          </a:p>
        </p:txBody>
      </p:sp>
      <p:sp>
        <p:nvSpPr>
          <p:cNvPr id="5" name="Date Placeholder 4"/>
          <p:cNvSpPr>
            <a:spLocks noGrp="1"/>
          </p:cNvSpPr>
          <p:nvPr>
            <p:ph type="dt" sz="half" idx="10"/>
          </p:nvPr>
        </p:nvSpPr>
        <p:spPr/>
        <p:txBody>
          <a:bodyPr/>
          <a:lstStyle/>
          <a:p>
            <a:fld id="{879B4C5A-57BB-4487-924E-96BB2EDB1DD5}" type="datetimeFigureOut">
              <a:rPr lang="en-IN" smtClean="0"/>
              <a:t>13-05-2022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2733715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en-US" dirty="0"/>
              <a:t>Click icon to add picture</a:t>
            </a:r>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Edit Master text styles</a:t>
            </a:r>
          </a:p>
        </p:txBody>
      </p:sp>
      <p:sp>
        <p:nvSpPr>
          <p:cNvPr id="5" name="Date Placeholder 4"/>
          <p:cNvSpPr>
            <a:spLocks noGrp="1"/>
          </p:cNvSpPr>
          <p:nvPr>
            <p:ph type="dt" sz="half" idx="10"/>
          </p:nvPr>
        </p:nvSpPr>
        <p:spPr/>
        <p:txBody>
          <a:bodyPr/>
          <a:lstStyle/>
          <a:p>
            <a:fld id="{879B4C5A-57BB-4487-924E-96BB2EDB1DD5}" type="datetimeFigureOut">
              <a:rPr lang="en-IN" smtClean="0"/>
              <a:t>13-05-2022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722551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9B4C5A-57BB-4487-924E-96BB2EDB1DD5}" type="datetimeFigureOut">
              <a:rPr lang="en-IN" smtClean="0"/>
              <a:t>13-05-2022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1616764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9B4C5A-57BB-4487-924E-96BB2EDB1DD5}" type="datetimeFigureOut">
              <a:rPr lang="en-IN" smtClean="0"/>
              <a:t>13-05-2022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1024264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75000"/>
                  </a:schemeClr>
                </a:solidFill>
              </a:defRPr>
            </a:lvl1pPr>
          </a:lstStyle>
          <a:p>
            <a:fld id="{879B4C5A-57BB-4487-924E-96BB2EDB1DD5}" type="datetimeFigureOut">
              <a:rPr lang="en-IN" smtClean="0"/>
              <a:t>13-05-2022</a:t>
            </a:fld>
            <a:endParaRPr lang="en-IN" dirty="0"/>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75000"/>
                  </a:schemeClr>
                </a:solidFill>
              </a:defRPr>
            </a:lvl1pPr>
          </a:lstStyle>
          <a:p>
            <a:fld id="{71713203-F4FC-49EB-8478-0A42E61A2921}" type="slidenum">
              <a:rPr lang="en-IN" smtClean="0"/>
              <a:t>‹#›</a:t>
            </a:fld>
            <a:endParaRPr lang="en-IN" dirty="0"/>
          </a:p>
        </p:txBody>
      </p:sp>
    </p:spTree>
    <p:extLst>
      <p:ext uri="{BB962C8B-B14F-4D97-AF65-F5344CB8AC3E}">
        <p14:creationId xmlns:p14="http://schemas.microsoft.com/office/powerpoint/2010/main" val="191893657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7.xml"/><Relationship Id="rId4" Type="http://schemas.openxmlformats.org/officeDocument/2006/relationships/image" Target="../media/image17.jpg"/></Relationships>
</file>

<file path=ppt/slides/_rels/slide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7.xml"/><Relationship Id="rId4" Type="http://schemas.openxmlformats.org/officeDocument/2006/relationships/image" Target="../media/image2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2">
            <a:extLst>
              <a:ext uri="{FF2B5EF4-FFF2-40B4-BE49-F238E27FC236}">
                <a16:creationId xmlns:a16="http://schemas.microsoft.com/office/drawing/2014/main" id="{F08F8D43-74A9-4DE8-BC48-2958AA507D1A}"/>
              </a:ext>
            </a:extLst>
          </p:cNvPr>
          <p:cNvSpPr>
            <a:spLocks noChangeArrowheads="1"/>
          </p:cNvSpPr>
          <p:nvPr/>
        </p:nvSpPr>
        <p:spPr bwMode="auto">
          <a:xfrm>
            <a:off x="0" y="-27147"/>
            <a:ext cx="7559675" cy="2543970"/>
          </a:xfrm>
          <a:prstGeom prst="rect">
            <a:avLst/>
          </a:prstGeom>
          <a:solidFill>
            <a:srgbClr val="27B9C0"/>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itle 1">
            <a:extLst>
              <a:ext uri="{FF2B5EF4-FFF2-40B4-BE49-F238E27FC236}">
                <a16:creationId xmlns:a16="http://schemas.microsoft.com/office/drawing/2014/main" id="{2C6BF1E1-ED12-438B-9FE0-11ADBE2E5AEE}"/>
              </a:ext>
            </a:extLst>
          </p:cNvPr>
          <p:cNvSpPr txBox="1">
            <a:spLocks/>
          </p:cNvSpPr>
          <p:nvPr/>
        </p:nvSpPr>
        <p:spPr>
          <a:xfrm>
            <a:off x="484710" y="825023"/>
            <a:ext cx="699996" cy="702628"/>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3200" b="1" dirty="0">
                <a:solidFill>
                  <a:srgbClr val="49C0C2"/>
                </a:solidFill>
                <a:latin typeface="Comic Sans MS" panose="030F0702030302020204" pitchFamily="66" charset="0"/>
              </a:rPr>
              <a:t>1</a:t>
            </a:r>
            <a:endParaRPr lang="en-IN" sz="3200" b="1" dirty="0">
              <a:solidFill>
                <a:srgbClr val="49C0C2"/>
              </a:solidFill>
            </a:endParaRPr>
          </a:p>
        </p:txBody>
      </p:sp>
      <p:sp>
        <p:nvSpPr>
          <p:cNvPr id="6" name="Title 1">
            <a:extLst>
              <a:ext uri="{FF2B5EF4-FFF2-40B4-BE49-F238E27FC236}">
                <a16:creationId xmlns:a16="http://schemas.microsoft.com/office/drawing/2014/main" id="{A4B1CA41-3BB4-42E4-8AEE-4E8736C888DF}"/>
              </a:ext>
            </a:extLst>
          </p:cNvPr>
          <p:cNvSpPr txBox="1">
            <a:spLocks/>
          </p:cNvSpPr>
          <p:nvPr/>
        </p:nvSpPr>
        <p:spPr>
          <a:xfrm>
            <a:off x="1380808" y="-20797"/>
            <a:ext cx="6175215" cy="2537619"/>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l"/>
            <a:r>
              <a:rPr lang="en-IN" sz="4800" b="1" dirty="0">
                <a:ln w="12700">
                  <a:solidFill>
                    <a:schemeClr val="tx1"/>
                  </a:solidFill>
                </a:ln>
                <a:solidFill>
                  <a:schemeClr val="bg1"/>
                </a:solidFill>
                <a:latin typeface="Comic Sans MS" panose="030F0702030302020204" pitchFamily="66" charset="0"/>
              </a:rPr>
              <a:t>Crop production and management</a:t>
            </a:r>
          </a:p>
        </p:txBody>
      </p:sp>
      <p:sp>
        <p:nvSpPr>
          <p:cNvPr id="9" name="AutoShape 26">
            <a:extLst>
              <a:ext uri="{FF2B5EF4-FFF2-40B4-BE49-F238E27FC236}">
                <a16:creationId xmlns:a16="http://schemas.microsoft.com/office/drawing/2014/main" id="{AC102B8D-DD39-4388-A9E8-14A77B88EDBF}"/>
              </a:ext>
            </a:extLst>
          </p:cNvPr>
          <p:cNvSpPr>
            <a:spLocks noChangeArrowheads="1"/>
          </p:cNvSpPr>
          <p:nvPr/>
        </p:nvSpPr>
        <p:spPr bwMode="auto">
          <a:xfrm>
            <a:off x="738188" y="2985135"/>
            <a:ext cx="2219325" cy="4381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6" name="Title 1">
            <a:extLst>
              <a:ext uri="{FF2B5EF4-FFF2-40B4-BE49-F238E27FC236}">
                <a16:creationId xmlns:a16="http://schemas.microsoft.com/office/drawing/2014/main" id="{6738C533-1962-4500-8318-BD5CEAA5FD82}"/>
              </a:ext>
            </a:extLst>
          </p:cNvPr>
          <p:cNvSpPr txBox="1">
            <a:spLocks/>
          </p:cNvSpPr>
          <p:nvPr/>
        </p:nvSpPr>
        <p:spPr>
          <a:xfrm>
            <a:off x="1387238" y="2948623"/>
            <a:ext cx="1504966" cy="49911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sp>
        <p:nvSpPr>
          <p:cNvPr id="19" name="AutoShape 43">
            <a:extLst>
              <a:ext uri="{FF2B5EF4-FFF2-40B4-BE49-F238E27FC236}">
                <a16:creationId xmlns:a16="http://schemas.microsoft.com/office/drawing/2014/main" id="{B6621A89-C4D4-460F-93A6-AED98EDA3F43}"/>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20" name="Text Box 45">
            <a:extLst>
              <a:ext uri="{FF2B5EF4-FFF2-40B4-BE49-F238E27FC236}">
                <a16:creationId xmlns:a16="http://schemas.microsoft.com/office/drawing/2014/main" id="{4816C2C6-96CF-4C9E-AE1E-8FAB75BF5D6B}"/>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4" name="AutoShape 28">
            <a:extLst>
              <a:ext uri="{FF2B5EF4-FFF2-40B4-BE49-F238E27FC236}">
                <a16:creationId xmlns:a16="http://schemas.microsoft.com/office/drawing/2014/main" id="{FDA541CC-7049-4F86-8E76-DE6FF48813E6}"/>
              </a:ext>
            </a:extLst>
          </p:cNvPr>
          <p:cNvSpPr>
            <a:spLocks noChangeArrowheads="1"/>
          </p:cNvSpPr>
          <p:nvPr/>
        </p:nvSpPr>
        <p:spPr bwMode="auto">
          <a:xfrm>
            <a:off x="457993" y="3178550"/>
            <a:ext cx="6660357" cy="1774543"/>
          </a:xfrm>
          <a:prstGeom prst="roundRect">
            <a:avLst>
              <a:gd name="adj" fmla="val 7800"/>
            </a:avLst>
          </a:prstGeom>
          <a:solidFill>
            <a:schemeClr val="bg1"/>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21" name="Text Box 46">
            <a:extLst>
              <a:ext uri="{FF2B5EF4-FFF2-40B4-BE49-F238E27FC236}">
                <a16:creationId xmlns:a16="http://schemas.microsoft.com/office/drawing/2014/main" id="{B12BF99A-36CF-4D64-B965-09BDFC6A74F9}"/>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Aayush - CBSE Class 7 Science</a:t>
            </a:r>
            <a:endParaRPr lang="en-US" altLang="en-US" dirty="0">
              <a:latin typeface="Arial" panose="020B0604020202020204" pitchFamily="34" charset="0"/>
            </a:endParaRPr>
          </a:p>
        </p:txBody>
      </p:sp>
      <p:sp>
        <p:nvSpPr>
          <p:cNvPr id="22" name="Text Box 47">
            <a:extLst>
              <a:ext uri="{FF2B5EF4-FFF2-40B4-BE49-F238E27FC236}">
                <a16:creationId xmlns:a16="http://schemas.microsoft.com/office/drawing/2014/main" id="{2438314B-F1FA-4310-BEC3-73F9C56B4761}"/>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Crop production and management</a:t>
            </a:r>
          </a:p>
        </p:txBody>
      </p:sp>
      <p:sp>
        <p:nvSpPr>
          <p:cNvPr id="26" name="AutoShape 29">
            <a:extLst>
              <a:ext uri="{FF2B5EF4-FFF2-40B4-BE49-F238E27FC236}">
                <a16:creationId xmlns:a16="http://schemas.microsoft.com/office/drawing/2014/main" id="{C771DA9E-0B26-4AC8-AA48-987CABFAC6E2}"/>
              </a:ext>
            </a:extLst>
          </p:cNvPr>
          <p:cNvSpPr>
            <a:spLocks noChangeArrowheads="1"/>
          </p:cNvSpPr>
          <p:nvPr/>
        </p:nvSpPr>
        <p:spPr bwMode="auto">
          <a:xfrm>
            <a:off x="1049338" y="2935525"/>
            <a:ext cx="2219325" cy="490538"/>
          </a:xfrm>
          <a:prstGeom prst="roundRect">
            <a:avLst>
              <a:gd name="adj" fmla="val 50000"/>
            </a:avLst>
          </a:prstGeom>
          <a:solidFill>
            <a:srgbClr val="49C0C2"/>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r>
              <a:rPr lang="en-IN" dirty="0"/>
              <a:t>	</a:t>
            </a:r>
          </a:p>
        </p:txBody>
      </p:sp>
      <p:sp>
        <p:nvSpPr>
          <p:cNvPr id="27" name="AutoShape 30">
            <a:extLst>
              <a:ext uri="{FF2B5EF4-FFF2-40B4-BE49-F238E27FC236}">
                <a16:creationId xmlns:a16="http://schemas.microsoft.com/office/drawing/2014/main" id="{5DA2C234-D481-414C-A2E0-85C162DD0EC1}"/>
              </a:ext>
            </a:extLst>
          </p:cNvPr>
          <p:cNvSpPr>
            <a:spLocks noChangeArrowheads="1"/>
          </p:cNvSpPr>
          <p:nvPr/>
        </p:nvSpPr>
        <p:spPr bwMode="auto">
          <a:xfrm>
            <a:off x="787400" y="2976800"/>
            <a:ext cx="2402718" cy="4000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28" name="Oval 31">
            <a:extLst>
              <a:ext uri="{FF2B5EF4-FFF2-40B4-BE49-F238E27FC236}">
                <a16:creationId xmlns:a16="http://schemas.microsoft.com/office/drawing/2014/main" id="{E9A01E11-BC22-4488-8A41-8059129F12F3}"/>
              </a:ext>
            </a:extLst>
          </p:cNvPr>
          <p:cNvSpPr>
            <a:spLocks noChangeArrowheads="1"/>
          </p:cNvSpPr>
          <p:nvPr/>
        </p:nvSpPr>
        <p:spPr bwMode="auto">
          <a:xfrm>
            <a:off x="709613" y="2822813"/>
            <a:ext cx="744537" cy="744537"/>
          </a:xfrm>
          <a:prstGeom prst="ellipse">
            <a:avLst/>
          </a:prstGeom>
          <a:solidFill>
            <a:srgbClr val="FFFFFF"/>
          </a:solidFill>
          <a:ln w="5715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29" name="Title 1">
            <a:extLst>
              <a:ext uri="{FF2B5EF4-FFF2-40B4-BE49-F238E27FC236}">
                <a16:creationId xmlns:a16="http://schemas.microsoft.com/office/drawing/2014/main" id="{CCDC8C65-FA1F-4504-827C-B8A97D26EA65}"/>
              </a:ext>
            </a:extLst>
          </p:cNvPr>
          <p:cNvSpPr txBox="1">
            <a:spLocks/>
          </p:cNvSpPr>
          <p:nvPr/>
        </p:nvSpPr>
        <p:spPr>
          <a:xfrm>
            <a:off x="1455261" y="2918380"/>
            <a:ext cx="1748093" cy="526891"/>
          </a:xfrm>
          <a:prstGeom prst="rect">
            <a:avLst/>
          </a:prstGeom>
          <a:effectLst/>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pic>
        <p:nvPicPr>
          <p:cNvPr id="30" name="Graphic 29">
            <a:extLst>
              <a:ext uri="{FF2B5EF4-FFF2-40B4-BE49-F238E27FC236}">
                <a16:creationId xmlns:a16="http://schemas.microsoft.com/office/drawing/2014/main" id="{F93C8374-D12F-498A-AEF6-A0BBDFB31F3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2052" y="2936788"/>
            <a:ext cx="508927" cy="508927"/>
          </a:xfrm>
          <a:prstGeom prst="rect">
            <a:avLst/>
          </a:prstGeom>
        </p:spPr>
      </p:pic>
      <p:sp>
        <p:nvSpPr>
          <p:cNvPr id="2" name="Rectangle 1">
            <a:extLst>
              <a:ext uri="{FF2B5EF4-FFF2-40B4-BE49-F238E27FC236}">
                <a16:creationId xmlns:a16="http://schemas.microsoft.com/office/drawing/2014/main" id="{DBE0614C-76EA-407C-BD21-FE44CAE6B3E8}"/>
              </a:ext>
            </a:extLst>
          </p:cNvPr>
          <p:cNvSpPr/>
          <p:nvPr/>
        </p:nvSpPr>
        <p:spPr>
          <a:xfrm>
            <a:off x="687229" y="3583586"/>
            <a:ext cx="6135328" cy="1169551"/>
          </a:xfrm>
          <a:prstGeom prst="rect">
            <a:avLst/>
          </a:prstGeom>
        </p:spPr>
        <p:txBody>
          <a:bodyPr wrap="square">
            <a:spAutoFit/>
          </a:bodyPr>
          <a:lstStyle/>
          <a:p>
            <a:pPr algn="just">
              <a:spcBef>
                <a:spcPts val="50"/>
              </a:spcBef>
              <a:spcAft>
                <a:spcPts val="50"/>
              </a:spcAft>
            </a:pPr>
            <a:r>
              <a:rPr lang="en-IN" sz="1400" dirty="0">
                <a:latin typeface="Comic Sans MS" panose="030F0702030302020204" pitchFamily="66" charset="0"/>
              </a:rPr>
              <a:t>In previous class we learnt that plants can make their own food using the process photosynthesis but animals including human beings can’t make their food. All animals get their food from plant and animals source. In this chapter we will learn about how these plant source food is cultivated.</a:t>
            </a:r>
          </a:p>
        </p:txBody>
      </p:sp>
      <p:sp>
        <p:nvSpPr>
          <p:cNvPr id="18" name="AutoShape 26">
            <a:extLst>
              <a:ext uri="{FF2B5EF4-FFF2-40B4-BE49-F238E27FC236}">
                <a16:creationId xmlns:a16="http://schemas.microsoft.com/office/drawing/2014/main" id="{871EEA2F-0D10-460F-A0E8-0067D8B2ACFE}"/>
              </a:ext>
            </a:extLst>
          </p:cNvPr>
          <p:cNvSpPr>
            <a:spLocks noChangeArrowheads="1"/>
          </p:cNvSpPr>
          <p:nvPr/>
        </p:nvSpPr>
        <p:spPr bwMode="auto">
          <a:xfrm>
            <a:off x="729853" y="5251268"/>
            <a:ext cx="2219325" cy="4381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23" name="Title 1">
            <a:extLst>
              <a:ext uri="{FF2B5EF4-FFF2-40B4-BE49-F238E27FC236}">
                <a16:creationId xmlns:a16="http://schemas.microsoft.com/office/drawing/2014/main" id="{714A3C52-2FF6-4DB5-AE4A-58E6725AF4AB}"/>
              </a:ext>
            </a:extLst>
          </p:cNvPr>
          <p:cNvSpPr txBox="1">
            <a:spLocks/>
          </p:cNvSpPr>
          <p:nvPr/>
        </p:nvSpPr>
        <p:spPr>
          <a:xfrm>
            <a:off x="1378903" y="5214756"/>
            <a:ext cx="1504966" cy="49911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sp>
        <p:nvSpPr>
          <p:cNvPr id="24" name="AutoShape 28">
            <a:extLst>
              <a:ext uri="{FF2B5EF4-FFF2-40B4-BE49-F238E27FC236}">
                <a16:creationId xmlns:a16="http://schemas.microsoft.com/office/drawing/2014/main" id="{E0A0B63F-DE9D-400A-A3FC-08D341C4F990}"/>
              </a:ext>
            </a:extLst>
          </p:cNvPr>
          <p:cNvSpPr>
            <a:spLocks noChangeArrowheads="1"/>
          </p:cNvSpPr>
          <p:nvPr/>
        </p:nvSpPr>
        <p:spPr bwMode="auto">
          <a:xfrm>
            <a:off x="449658" y="5444683"/>
            <a:ext cx="6660357" cy="3156791"/>
          </a:xfrm>
          <a:prstGeom prst="roundRect">
            <a:avLst>
              <a:gd name="adj" fmla="val 7800"/>
            </a:avLst>
          </a:prstGeom>
          <a:solidFill>
            <a:schemeClr val="bg1"/>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25" name="AutoShape 29">
            <a:extLst>
              <a:ext uri="{FF2B5EF4-FFF2-40B4-BE49-F238E27FC236}">
                <a16:creationId xmlns:a16="http://schemas.microsoft.com/office/drawing/2014/main" id="{41DE76D0-8463-425B-BF98-82F9DEA6373B}"/>
              </a:ext>
            </a:extLst>
          </p:cNvPr>
          <p:cNvSpPr>
            <a:spLocks noChangeArrowheads="1"/>
          </p:cNvSpPr>
          <p:nvPr/>
        </p:nvSpPr>
        <p:spPr bwMode="auto">
          <a:xfrm>
            <a:off x="1041003" y="5201658"/>
            <a:ext cx="2219325" cy="490538"/>
          </a:xfrm>
          <a:prstGeom prst="roundRect">
            <a:avLst>
              <a:gd name="adj" fmla="val 50000"/>
            </a:avLst>
          </a:prstGeom>
          <a:solidFill>
            <a:srgbClr val="49C0C2"/>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r>
              <a:rPr lang="en-IN" dirty="0"/>
              <a:t>	</a:t>
            </a:r>
          </a:p>
        </p:txBody>
      </p:sp>
      <p:sp>
        <p:nvSpPr>
          <p:cNvPr id="31" name="AutoShape 30">
            <a:extLst>
              <a:ext uri="{FF2B5EF4-FFF2-40B4-BE49-F238E27FC236}">
                <a16:creationId xmlns:a16="http://schemas.microsoft.com/office/drawing/2014/main" id="{AEBD21AF-053C-46B8-A09D-7181C2A211EE}"/>
              </a:ext>
            </a:extLst>
          </p:cNvPr>
          <p:cNvSpPr>
            <a:spLocks noChangeArrowheads="1"/>
          </p:cNvSpPr>
          <p:nvPr/>
        </p:nvSpPr>
        <p:spPr bwMode="auto">
          <a:xfrm>
            <a:off x="779065" y="5242933"/>
            <a:ext cx="2402718" cy="4000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32" name="Oval 31">
            <a:extLst>
              <a:ext uri="{FF2B5EF4-FFF2-40B4-BE49-F238E27FC236}">
                <a16:creationId xmlns:a16="http://schemas.microsoft.com/office/drawing/2014/main" id="{3564245A-08C9-40D8-B44A-04756170F77F}"/>
              </a:ext>
            </a:extLst>
          </p:cNvPr>
          <p:cNvSpPr>
            <a:spLocks noChangeArrowheads="1"/>
          </p:cNvSpPr>
          <p:nvPr/>
        </p:nvSpPr>
        <p:spPr bwMode="auto">
          <a:xfrm>
            <a:off x="701278" y="5088946"/>
            <a:ext cx="744537" cy="744537"/>
          </a:xfrm>
          <a:prstGeom prst="ellipse">
            <a:avLst/>
          </a:prstGeom>
          <a:solidFill>
            <a:srgbClr val="FFFFFF"/>
          </a:solidFill>
          <a:ln w="5715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33" name="Title 1">
            <a:extLst>
              <a:ext uri="{FF2B5EF4-FFF2-40B4-BE49-F238E27FC236}">
                <a16:creationId xmlns:a16="http://schemas.microsoft.com/office/drawing/2014/main" id="{A109BF25-30EB-4B38-B094-B4C41F493E32}"/>
              </a:ext>
            </a:extLst>
          </p:cNvPr>
          <p:cNvSpPr txBox="1">
            <a:spLocks/>
          </p:cNvSpPr>
          <p:nvPr/>
        </p:nvSpPr>
        <p:spPr>
          <a:xfrm>
            <a:off x="1446926" y="5184513"/>
            <a:ext cx="1748093" cy="526891"/>
          </a:xfrm>
          <a:prstGeom prst="rect">
            <a:avLst/>
          </a:prstGeom>
          <a:effectLst/>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Crops</a:t>
            </a:r>
            <a:endParaRPr lang="en-IN" sz="1500" b="1" dirty="0"/>
          </a:p>
        </p:txBody>
      </p:sp>
      <p:pic>
        <p:nvPicPr>
          <p:cNvPr id="35" name="Graphic 34">
            <a:extLst>
              <a:ext uri="{FF2B5EF4-FFF2-40B4-BE49-F238E27FC236}">
                <a16:creationId xmlns:a16="http://schemas.microsoft.com/office/drawing/2014/main" id="{B3E715DE-ADC9-4EB3-A229-4DF75CC0C5B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3717" y="5221216"/>
            <a:ext cx="508927" cy="472337"/>
          </a:xfrm>
          <a:prstGeom prst="rect">
            <a:avLst/>
          </a:prstGeom>
        </p:spPr>
      </p:pic>
      <p:sp>
        <p:nvSpPr>
          <p:cNvPr id="36" name="Rectangle 35">
            <a:extLst>
              <a:ext uri="{FF2B5EF4-FFF2-40B4-BE49-F238E27FC236}">
                <a16:creationId xmlns:a16="http://schemas.microsoft.com/office/drawing/2014/main" id="{83F74B4F-05AD-4944-AB95-085B114599F7}"/>
              </a:ext>
            </a:extLst>
          </p:cNvPr>
          <p:cNvSpPr/>
          <p:nvPr/>
        </p:nvSpPr>
        <p:spPr>
          <a:xfrm>
            <a:off x="678894" y="5821144"/>
            <a:ext cx="6135328" cy="2728952"/>
          </a:xfrm>
          <a:prstGeom prst="rect">
            <a:avLst/>
          </a:prstGeom>
        </p:spPr>
        <p:txBody>
          <a:bodyPr wrap="square">
            <a:spAutoFit/>
          </a:bodyPr>
          <a:lstStyle/>
          <a:p>
            <a:pPr algn="just">
              <a:spcBef>
                <a:spcPts val="50"/>
              </a:spcBef>
              <a:spcAft>
                <a:spcPts val="50"/>
              </a:spcAft>
            </a:pPr>
            <a:r>
              <a:rPr lang="en-IN" sz="1400" dirty="0">
                <a:latin typeface="Comic Sans MS" panose="030F0702030302020204" pitchFamily="66" charset="0"/>
              </a:rPr>
              <a:t>When plants of the same kind are cultivated at one place on a large scale is called a </a:t>
            </a:r>
            <a:r>
              <a:rPr lang="en-IN" sz="1400" b="1" dirty="0">
                <a:latin typeface="Comic Sans MS" panose="030F0702030302020204" pitchFamily="66" charset="0"/>
              </a:rPr>
              <a:t>crop</a:t>
            </a:r>
            <a:r>
              <a:rPr lang="en-IN" sz="1400" dirty="0">
                <a:latin typeface="Comic Sans MS" panose="030F0702030302020204" pitchFamily="66" charset="0"/>
              </a:rPr>
              <a:t>. </a:t>
            </a:r>
            <a:r>
              <a:rPr lang="en-IN" sz="1400" b="1" dirty="0">
                <a:latin typeface="Comic Sans MS" panose="030F0702030302020204" pitchFamily="66" charset="0"/>
              </a:rPr>
              <a:t>Agriculture</a:t>
            </a:r>
            <a:r>
              <a:rPr lang="en-IN" sz="1400" dirty="0">
                <a:latin typeface="Comic Sans MS" panose="030F0702030302020204" pitchFamily="66" charset="0"/>
              </a:rPr>
              <a:t> is the cultivation of land for effective crop growth and raising of livestock. The crop can be classified on two types based on the suitable seasons the crop require –</a:t>
            </a:r>
          </a:p>
          <a:p>
            <a:pPr marL="285750" indent="-285750" algn="just">
              <a:spcBef>
                <a:spcPts val="50"/>
              </a:spcBef>
              <a:spcAft>
                <a:spcPts val="50"/>
              </a:spcAft>
              <a:buFont typeface="Arial" panose="020B0604020202020204" pitchFamily="34" charset="0"/>
              <a:buChar char="•"/>
            </a:pPr>
            <a:r>
              <a:rPr lang="en-IN" sz="1400" dirty="0">
                <a:latin typeface="Comic Sans MS" panose="030F0702030302020204" pitchFamily="66" charset="0"/>
              </a:rPr>
              <a:t>Kharif – The crops which are sown in the rainy season are called </a:t>
            </a:r>
            <a:r>
              <a:rPr lang="en-IN" sz="1400" b="1" dirty="0">
                <a:latin typeface="Comic Sans MS" panose="030F0702030302020204" pitchFamily="66" charset="0"/>
              </a:rPr>
              <a:t>Kharif crops</a:t>
            </a:r>
            <a:r>
              <a:rPr lang="en-IN" sz="1400" dirty="0">
                <a:latin typeface="Comic Sans MS" panose="030F0702030302020204" pitchFamily="66" charset="0"/>
              </a:rPr>
              <a:t> e.g. Rice can be grown in the rainy season (kharif crop) they required more water. If wheat is sown in the kharif season ,it will not grow well. This is because wheat plants cannot tolerate too much water of the rainy season.</a:t>
            </a:r>
          </a:p>
          <a:p>
            <a:pPr marL="285750" indent="-285750" algn="just">
              <a:spcBef>
                <a:spcPts val="50"/>
              </a:spcBef>
              <a:spcAft>
                <a:spcPts val="50"/>
              </a:spcAft>
              <a:buFont typeface="Arial" panose="020B0604020202020204" pitchFamily="34" charset="0"/>
              <a:buChar char="•"/>
            </a:pPr>
            <a:r>
              <a:rPr lang="en-IN" sz="1400" dirty="0">
                <a:latin typeface="Comic Sans MS" panose="030F0702030302020204" pitchFamily="66" charset="0"/>
              </a:rPr>
              <a:t>Rabi - The crops that is sown in the winter season is called </a:t>
            </a:r>
            <a:r>
              <a:rPr lang="en-IN" sz="1400" b="1" dirty="0">
                <a:latin typeface="Comic Sans MS" panose="030F0702030302020204" pitchFamily="66" charset="0"/>
              </a:rPr>
              <a:t>Rabi crops</a:t>
            </a:r>
            <a:r>
              <a:rPr lang="en-IN" sz="1400" dirty="0">
                <a:latin typeface="Comic Sans MS" panose="030F0702030302020204" pitchFamily="66" charset="0"/>
              </a:rPr>
              <a:t> e.g. Wheat and mustard can be grown in winters as they require short cool seasons.</a:t>
            </a:r>
          </a:p>
        </p:txBody>
      </p:sp>
      <p:sp>
        <p:nvSpPr>
          <p:cNvPr id="47" name="AutoShape 26">
            <a:extLst>
              <a:ext uri="{FF2B5EF4-FFF2-40B4-BE49-F238E27FC236}">
                <a16:creationId xmlns:a16="http://schemas.microsoft.com/office/drawing/2014/main" id="{EEE4367A-C4A4-4DC7-9584-8BCB0D490E4B}"/>
              </a:ext>
            </a:extLst>
          </p:cNvPr>
          <p:cNvSpPr>
            <a:spLocks noChangeArrowheads="1"/>
          </p:cNvSpPr>
          <p:nvPr/>
        </p:nvSpPr>
        <p:spPr bwMode="auto">
          <a:xfrm>
            <a:off x="452529" y="8970072"/>
            <a:ext cx="2219325" cy="4381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48" name="Title 1">
            <a:extLst>
              <a:ext uri="{FF2B5EF4-FFF2-40B4-BE49-F238E27FC236}">
                <a16:creationId xmlns:a16="http://schemas.microsoft.com/office/drawing/2014/main" id="{5449968A-57F0-43B6-B13D-DF61874B4AD8}"/>
              </a:ext>
            </a:extLst>
          </p:cNvPr>
          <p:cNvSpPr txBox="1">
            <a:spLocks/>
          </p:cNvSpPr>
          <p:nvPr/>
        </p:nvSpPr>
        <p:spPr>
          <a:xfrm>
            <a:off x="1101579" y="8933560"/>
            <a:ext cx="1504966" cy="49911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sp>
        <p:nvSpPr>
          <p:cNvPr id="49" name="AutoShape 29">
            <a:extLst>
              <a:ext uri="{FF2B5EF4-FFF2-40B4-BE49-F238E27FC236}">
                <a16:creationId xmlns:a16="http://schemas.microsoft.com/office/drawing/2014/main" id="{02574B1D-D256-471E-84AF-142DDDB9243E}"/>
              </a:ext>
            </a:extLst>
          </p:cNvPr>
          <p:cNvSpPr>
            <a:spLocks noChangeArrowheads="1"/>
          </p:cNvSpPr>
          <p:nvPr/>
        </p:nvSpPr>
        <p:spPr bwMode="auto">
          <a:xfrm>
            <a:off x="763679" y="8920462"/>
            <a:ext cx="3088481" cy="490538"/>
          </a:xfrm>
          <a:prstGeom prst="roundRect">
            <a:avLst>
              <a:gd name="adj" fmla="val 50000"/>
            </a:avLst>
          </a:prstGeom>
          <a:solidFill>
            <a:srgbClr val="49C0C2"/>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r>
              <a:rPr lang="en-IN" dirty="0"/>
              <a:t>	</a:t>
            </a:r>
          </a:p>
        </p:txBody>
      </p:sp>
      <p:sp>
        <p:nvSpPr>
          <p:cNvPr id="50" name="AutoShape 30">
            <a:extLst>
              <a:ext uri="{FF2B5EF4-FFF2-40B4-BE49-F238E27FC236}">
                <a16:creationId xmlns:a16="http://schemas.microsoft.com/office/drawing/2014/main" id="{CC09F94D-5294-4B11-A630-AB8C90E0FE47}"/>
              </a:ext>
            </a:extLst>
          </p:cNvPr>
          <p:cNvSpPr>
            <a:spLocks noChangeArrowheads="1"/>
          </p:cNvSpPr>
          <p:nvPr/>
        </p:nvSpPr>
        <p:spPr bwMode="auto">
          <a:xfrm>
            <a:off x="501740" y="8961737"/>
            <a:ext cx="3301909" cy="4000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1" name="Oval 50">
            <a:extLst>
              <a:ext uri="{FF2B5EF4-FFF2-40B4-BE49-F238E27FC236}">
                <a16:creationId xmlns:a16="http://schemas.microsoft.com/office/drawing/2014/main" id="{BB7EA9FE-57C5-4FD8-AB97-B00F77E9DF61}"/>
              </a:ext>
            </a:extLst>
          </p:cNvPr>
          <p:cNvSpPr>
            <a:spLocks noChangeArrowheads="1"/>
          </p:cNvSpPr>
          <p:nvPr/>
        </p:nvSpPr>
        <p:spPr bwMode="auto">
          <a:xfrm>
            <a:off x="423954" y="8807750"/>
            <a:ext cx="744537" cy="744537"/>
          </a:xfrm>
          <a:prstGeom prst="ellipse">
            <a:avLst/>
          </a:prstGeom>
          <a:solidFill>
            <a:srgbClr val="FFFFFF"/>
          </a:solidFill>
          <a:ln w="5715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52" name="Title 1">
            <a:extLst>
              <a:ext uri="{FF2B5EF4-FFF2-40B4-BE49-F238E27FC236}">
                <a16:creationId xmlns:a16="http://schemas.microsoft.com/office/drawing/2014/main" id="{F65A2CFC-9155-4A52-B681-1A2AE575B30F}"/>
              </a:ext>
            </a:extLst>
          </p:cNvPr>
          <p:cNvSpPr txBox="1">
            <a:spLocks/>
          </p:cNvSpPr>
          <p:nvPr/>
        </p:nvSpPr>
        <p:spPr>
          <a:xfrm>
            <a:off x="1169602" y="8903317"/>
            <a:ext cx="2432700" cy="526891"/>
          </a:xfrm>
          <a:prstGeom prst="rect">
            <a:avLst/>
          </a:prstGeom>
          <a:effectLst/>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Cultivation of crops</a:t>
            </a:r>
            <a:endParaRPr lang="en-IN" sz="1500" b="1" dirty="0"/>
          </a:p>
        </p:txBody>
      </p:sp>
      <p:pic>
        <p:nvPicPr>
          <p:cNvPr id="53" name="Graphic 52">
            <a:extLst>
              <a:ext uri="{FF2B5EF4-FFF2-40B4-BE49-F238E27FC236}">
                <a16:creationId xmlns:a16="http://schemas.microsoft.com/office/drawing/2014/main" id="{ACEB238D-DC6A-46CC-ACB4-53423C6B6E1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6393" y="8940020"/>
            <a:ext cx="508927" cy="472337"/>
          </a:xfrm>
          <a:prstGeom prst="rect">
            <a:avLst/>
          </a:prstGeom>
        </p:spPr>
      </p:pic>
      <p:sp>
        <p:nvSpPr>
          <p:cNvPr id="54" name="AutoShape 23">
            <a:extLst>
              <a:ext uri="{FF2B5EF4-FFF2-40B4-BE49-F238E27FC236}">
                <a16:creationId xmlns:a16="http://schemas.microsoft.com/office/drawing/2014/main" id="{42A5DE75-A7D7-41D3-A707-BD08B8226EDB}"/>
              </a:ext>
            </a:extLst>
          </p:cNvPr>
          <p:cNvSpPr>
            <a:spLocks noChangeArrowheads="1"/>
          </p:cNvSpPr>
          <p:nvPr/>
        </p:nvSpPr>
        <p:spPr bwMode="auto">
          <a:xfrm>
            <a:off x="494824" y="9636484"/>
            <a:ext cx="3797299" cy="522288"/>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algn="ctr"/>
            <a:r>
              <a:rPr lang="en-IN" dirty="0">
                <a:solidFill>
                  <a:schemeClr val="bg1"/>
                </a:solidFill>
                <a:latin typeface="Comic Sans MS" panose="030F0702030302020204" pitchFamily="66" charset="0"/>
              </a:rPr>
              <a:t>Preparation of Soil</a:t>
            </a:r>
          </a:p>
        </p:txBody>
      </p:sp>
      <p:sp>
        <p:nvSpPr>
          <p:cNvPr id="55" name="Title 1">
            <a:extLst>
              <a:ext uri="{FF2B5EF4-FFF2-40B4-BE49-F238E27FC236}">
                <a16:creationId xmlns:a16="http://schemas.microsoft.com/office/drawing/2014/main" id="{56454728-6E50-42F0-BDCD-C70684179231}"/>
              </a:ext>
            </a:extLst>
          </p:cNvPr>
          <p:cNvSpPr txBox="1">
            <a:spLocks/>
          </p:cNvSpPr>
          <p:nvPr/>
        </p:nvSpPr>
        <p:spPr>
          <a:xfrm>
            <a:off x="524321" y="9670754"/>
            <a:ext cx="464344" cy="466090"/>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1</a:t>
            </a:r>
          </a:p>
        </p:txBody>
      </p:sp>
    </p:spTree>
    <p:extLst>
      <p:ext uri="{BB962C8B-B14F-4D97-AF65-F5344CB8AC3E}">
        <p14:creationId xmlns:p14="http://schemas.microsoft.com/office/powerpoint/2010/main" val="1457736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3">
            <a:extLst>
              <a:ext uri="{FF2B5EF4-FFF2-40B4-BE49-F238E27FC236}">
                <a16:creationId xmlns:a16="http://schemas.microsoft.com/office/drawing/2014/main" id="{8B9AA5FB-E7FB-4849-BB26-9EEEB9BB3792}"/>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ext Box 45">
            <a:extLst>
              <a:ext uri="{FF2B5EF4-FFF2-40B4-BE49-F238E27FC236}">
                <a16:creationId xmlns:a16="http://schemas.microsoft.com/office/drawing/2014/main" id="{19CD4785-5720-4847-908F-15146D9BAB1B}"/>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2</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Rounded Corners 15">
            <a:extLst>
              <a:ext uri="{FF2B5EF4-FFF2-40B4-BE49-F238E27FC236}">
                <a16:creationId xmlns:a16="http://schemas.microsoft.com/office/drawing/2014/main" id="{2621F5E9-5CA4-4CFA-A6AB-A574A4230FE8}"/>
              </a:ext>
            </a:extLst>
          </p:cNvPr>
          <p:cNvSpPr/>
          <p:nvPr/>
        </p:nvSpPr>
        <p:spPr>
          <a:xfrm>
            <a:off x="431801" y="608015"/>
            <a:ext cx="6629400" cy="3301426"/>
          </a:xfrm>
          <a:prstGeom prst="roundRect">
            <a:avLst>
              <a:gd name="adj" fmla="val 9770"/>
            </a:avLst>
          </a:prstGeom>
          <a:solidFill>
            <a:schemeClr val="accent4">
              <a:lumMod val="20000"/>
              <a:lumOff val="80000"/>
            </a:schemeClr>
          </a:solidFill>
          <a:ln w="571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 Box 46">
            <a:extLst>
              <a:ext uri="{FF2B5EF4-FFF2-40B4-BE49-F238E27FC236}">
                <a16:creationId xmlns:a16="http://schemas.microsoft.com/office/drawing/2014/main" id="{E6533515-5121-4B5A-B436-979C4642E133}"/>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Aayush - CBSE Class 7 Science</a:t>
            </a:r>
            <a:endParaRPr lang="en-US" altLang="en-US" dirty="0">
              <a:latin typeface="Arial" panose="020B0604020202020204" pitchFamily="34" charset="0"/>
            </a:endParaRPr>
          </a:p>
        </p:txBody>
      </p:sp>
      <p:sp>
        <p:nvSpPr>
          <p:cNvPr id="7" name="Text Box 47">
            <a:extLst>
              <a:ext uri="{FF2B5EF4-FFF2-40B4-BE49-F238E27FC236}">
                <a16:creationId xmlns:a16="http://schemas.microsoft.com/office/drawing/2014/main" id="{16E31FDB-52E2-41DF-A9EF-C1E8FD4114A9}"/>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Crop production and management</a:t>
            </a:r>
          </a:p>
        </p:txBody>
      </p:sp>
      <p:sp>
        <p:nvSpPr>
          <p:cNvPr id="11" name="AutoShape 11">
            <a:extLst>
              <a:ext uri="{FF2B5EF4-FFF2-40B4-BE49-F238E27FC236}">
                <a16:creationId xmlns:a16="http://schemas.microsoft.com/office/drawing/2014/main" id="{FA62ACD4-AEB9-4799-89D0-0E4501861975}"/>
              </a:ext>
            </a:extLst>
          </p:cNvPr>
          <p:cNvSpPr>
            <a:spLocks noChangeArrowheads="1"/>
          </p:cNvSpPr>
          <p:nvPr/>
        </p:nvSpPr>
        <p:spPr bwMode="auto">
          <a:xfrm>
            <a:off x="2942034" y="1115384"/>
            <a:ext cx="1675604" cy="473932"/>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Crops</a:t>
            </a:r>
          </a:p>
        </p:txBody>
      </p:sp>
      <p:sp>
        <p:nvSpPr>
          <p:cNvPr id="12" name="AutoShape 12">
            <a:extLst>
              <a:ext uri="{FF2B5EF4-FFF2-40B4-BE49-F238E27FC236}">
                <a16:creationId xmlns:a16="http://schemas.microsoft.com/office/drawing/2014/main" id="{5210B615-63E8-4FEA-A93F-294688CA3DFF}"/>
              </a:ext>
            </a:extLst>
          </p:cNvPr>
          <p:cNvSpPr>
            <a:spLocks noChangeArrowheads="1"/>
          </p:cNvSpPr>
          <p:nvPr/>
        </p:nvSpPr>
        <p:spPr bwMode="auto">
          <a:xfrm>
            <a:off x="1379537" y="2236788"/>
            <a:ext cx="1675604" cy="473932"/>
          </a:xfrm>
          <a:prstGeom prst="roundRect">
            <a:avLst>
              <a:gd name="adj" fmla="val 50000"/>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1400" dirty="0">
                <a:solidFill>
                  <a:schemeClr val="bg1"/>
                </a:solidFill>
                <a:latin typeface="Comic Sans MS" panose="030F0702030302020204" pitchFamily="66" charset="0"/>
              </a:rPr>
              <a:t>Kharif</a:t>
            </a:r>
          </a:p>
        </p:txBody>
      </p:sp>
      <p:sp>
        <p:nvSpPr>
          <p:cNvPr id="13" name="AutoShape 13">
            <a:extLst>
              <a:ext uri="{FF2B5EF4-FFF2-40B4-BE49-F238E27FC236}">
                <a16:creationId xmlns:a16="http://schemas.microsoft.com/office/drawing/2014/main" id="{C641BED2-EE16-4D74-BE24-D4869AAE5A9F}"/>
              </a:ext>
            </a:extLst>
          </p:cNvPr>
          <p:cNvSpPr>
            <a:spLocks noChangeArrowheads="1"/>
          </p:cNvSpPr>
          <p:nvPr/>
        </p:nvSpPr>
        <p:spPr bwMode="auto">
          <a:xfrm>
            <a:off x="4504534" y="2229484"/>
            <a:ext cx="1675604" cy="488539"/>
          </a:xfrm>
          <a:prstGeom prst="roundRect">
            <a:avLst>
              <a:gd name="adj" fmla="val 50000"/>
            </a:avLst>
          </a:prstGeom>
          <a:solidFill>
            <a:srgbClr val="F059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1400" dirty="0">
                <a:solidFill>
                  <a:schemeClr val="bg1"/>
                </a:solidFill>
                <a:latin typeface="Comic Sans MS" panose="030F0702030302020204" pitchFamily="66" charset="0"/>
              </a:rPr>
              <a:t>Rabi</a:t>
            </a:r>
          </a:p>
        </p:txBody>
      </p:sp>
      <p:cxnSp>
        <p:nvCxnSpPr>
          <p:cNvPr id="14" name="AutoShape 14">
            <a:extLst>
              <a:ext uri="{FF2B5EF4-FFF2-40B4-BE49-F238E27FC236}">
                <a16:creationId xmlns:a16="http://schemas.microsoft.com/office/drawing/2014/main" id="{F8E3904E-6672-4B97-B1A7-9F89087A5830}"/>
              </a:ext>
            </a:extLst>
          </p:cNvPr>
          <p:cNvCxnSpPr>
            <a:cxnSpLocks noChangeShapeType="1"/>
            <a:stCxn id="11" idx="2"/>
            <a:endCxn id="12" idx="0"/>
          </p:cNvCxnSpPr>
          <p:nvPr/>
        </p:nvCxnSpPr>
        <p:spPr bwMode="auto">
          <a:xfrm flipH="1">
            <a:off x="2217339" y="1589316"/>
            <a:ext cx="1562497" cy="647472"/>
          </a:xfrm>
          <a:prstGeom prst="straightConnector1">
            <a:avLst/>
          </a:prstGeom>
          <a:noFill/>
          <a:ln w="25400">
            <a:solidFill>
              <a:srgbClr val="3C7B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cxnSp>
      <p:cxnSp>
        <p:nvCxnSpPr>
          <p:cNvPr id="15" name="AutoShape 15">
            <a:extLst>
              <a:ext uri="{FF2B5EF4-FFF2-40B4-BE49-F238E27FC236}">
                <a16:creationId xmlns:a16="http://schemas.microsoft.com/office/drawing/2014/main" id="{C3D50683-7235-4CC5-A563-858EB4FD6058}"/>
              </a:ext>
            </a:extLst>
          </p:cNvPr>
          <p:cNvCxnSpPr>
            <a:cxnSpLocks noChangeShapeType="1"/>
            <a:stCxn id="11" idx="2"/>
            <a:endCxn id="13" idx="0"/>
          </p:cNvCxnSpPr>
          <p:nvPr/>
        </p:nvCxnSpPr>
        <p:spPr bwMode="auto">
          <a:xfrm>
            <a:off x="3779836" y="1589316"/>
            <a:ext cx="1562500" cy="640168"/>
          </a:xfrm>
          <a:prstGeom prst="straightConnector1">
            <a:avLst/>
          </a:prstGeom>
          <a:noFill/>
          <a:ln w="25400" algn="ctr">
            <a:solidFill>
              <a:srgbClr val="3C7B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cxnSp>
      <p:sp>
        <p:nvSpPr>
          <p:cNvPr id="27" name="Rectangle 26">
            <a:extLst>
              <a:ext uri="{FF2B5EF4-FFF2-40B4-BE49-F238E27FC236}">
                <a16:creationId xmlns:a16="http://schemas.microsoft.com/office/drawing/2014/main" id="{B004D71E-3B39-4246-AEDD-13A5FE50A604}"/>
              </a:ext>
            </a:extLst>
          </p:cNvPr>
          <p:cNvSpPr/>
          <p:nvPr/>
        </p:nvSpPr>
        <p:spPr>
          <a:xfrm>
            <a:off x="457992" y="4136924"/>
            <a:ext cx="6643687" cy="2423740"/>
          </a:xfrm>
          <a:prstGeom prst="rect">
            <a:avLst/>
          </a:prstGeom>
        </p:spPr>
        <p:txBody>
          <a:bodyPr wrap="square">
            <a:spAutoFit/>
          </a:bodyPr>
          <a:lstStyle/>
          <a:p>
            <a:pPr algn="just"/>
            <a:r>
              <a:rPr lang="en-IN" sz="1400" dirty="0">
                <a:latin typeface="Comic Sans MS" panose="030F0702030302020204" pitchFamily="66" charset="0"/>
              </a:rPr>
              <a:t>Before cultivating any crop the soil is </a:t>
            </a:r>
            <a:r>
              <a:rPr lang="en-IN" sz="1400" b="1" dirty="0">
                <a:latin typeface="Comic Sans MS" panose="030F0702030302020204" pitchFamily="66" charset="0"/>
              </a:rPr>
              <a:t>loosen</a:t>
            </a:r>
            <a:r>
              <a:rPr lang="en-IN" sz="1400" dirty="0">
                <a:latin typeface="Comic Sans MS" panose="030F0702030302020204" pitchFamily="66" charset="0"/>
              </a:rPr>
              <a:t> and </a:t>
            </a:r>
            <a:r>
              <a:rPr lang="en-IN" sz="1400" b="1" dirty="0">
                <a:latin typeface="Comic Sans MS" panose="030F0702030302020204" pitchFamily="66" charset="0"/>
              </a:rPr>
              <a:t>turned. </a:t>
            </a:r>
            <a:r>
              <a:rPr lang="en-IN" sz="1400" dirty="0">
                <a:latin typeface="Comic Sans MS" panose="030F0702030302020204" pitchFamily="66" charset="0"/>
              </a:rPr>
              <a:t>The process of loosening and turning of the soil is called </a:t>
            </a:r>
            <a:r>
              <a:rPr lang="en-IN" sz="1400" b="1" dirty="0">
                <a:latin typeface="Comic Sans MS" panose="030F0702030302020204" pitchFamily="66" charset="0"/>
              </a:rPr>
              <a:t>tilling</a:t>
            </a:r>
            <a:r>
              <a:rPr lang="en-IN" sz="1400" dirty="0">
                <a:latin typeface="Comic Sans MS" panose="030F0702030302020204" pitchFamily="66" charset="0"/>
              </a:rPr>
              <a:t> or </a:t>
            </a:r>
            <a:r>
              <a:rPr lang="en-IN" sz="1400" b="1" dirty="0">
                <a:latin typeface="Comic Sans MS" panose="030F0702030302020204" pitchFamily="66" charset="0"/>
              </a:rPr>
              <a:t>ploughing</a:t>
            </a:r>
            <a:r>
              <a:rPr lang="en-IN" sz="1400" dirty="0">
                <a:latin typeface="Comic Sans MS" panose="030F0702030302020204" pitchFamily="66" charset="0"/>
              </a:rPr>
              <a:t>.</a:t>
            </a:r>
          </a:p>
          <a:p>
            <a:pPr algn="just"/>
            <a:endParaRPr lang="en-IN" sz="1050" b="1" dirty="0">
              <a:latin typeface="Comic Sans MS" panose="030F0702030302020204" pitchFamily="66" charset="0"/>
            </a:endParaRPr>
          </a:p>
          <a:p>
            <a:pPr algn="just"/>
            <a:r>
              <a:rPr lang="en-IN" sz="1400" dirty="0">
                <a:latin typeface="Comic Sans MS" panose="030F0702030302020204" pitchFamily="66" charset="0"/>
              </a:rPr>
              <a:t>Ploughing the field before cultivating is beneficially because:</a:t>
            </a:r>
          </a:p>
          <a:p>
            <a:pPr algn="just"/>
            <a:endParaRPr lang="en-IN" sz="100" dirty="0">
              <a:latin typeface="Comic Sans MS" panose="030F0702030302020204" pitchFamily="66" charset="0"/>
            </a:endParaRPr>
          </a:p>
          <a:p>
            <a:pPr marL="285750" indent="-285750" algn="just">
              <a:buFont typeface="Arial" panose="020B0604020202020204" pitchFamily="34" charset="0"/>
              <a:buChar char="•"/>
            </a:pPr>
            <a:r>
              <a:rPr lang="en-IN" sz="1400" dirty="0">
                <a:latin typeface="Comic Sans MS" panose="030F0702030302020204" pitchFamily="66" charset="0"/>
              </a:rPr>
              <a:t>The loose soil allows the plant roots to penetrate freely and deeply into the soil so that plants are held more firmly to the ground.</a:t>
            </a:r>
          </a:p>
          <a:p>
            <a:pPr marL="285750" indent="-285750" algn="just">
              <a:buFont typeface="Arial" panose="020B0604020202020204" pitchFamily="34" charset="0"/>
              <a:buChar char="•"/>
            </a:pPr>
            <a:r>
              <a:rPr lang="en-IN" sz="1400" dirty="0">
                <a:latin typeface="Comic Sans MS" panose="030F0702030302020204" pitchFamily="66" charset="0"/>
              </a:rPr>
              <a:t>The loose soil allows the roots of plants to breathe easily.</a:t>
            </a:r>
          </a:p>
          <a:p>
            <a:pPr marL="285750" indent="-285750" algn="just">
              <a:buFont typeface="Arial" panose="020B0604020202020204" pitchFamily="34" charset="0"/>
              <a:buChar char="•"/>
            </a:pPr>
            <a:r>
              <a:rPr lang="en-IN" sz="1400" dirty="0">
                <a:latin typeface="Comic Sans MS" panose="030F0702030302020204" pitchFamily="66" charset="0"/>
              </a:rPr>
              <a:t>The loose soil help in the growth of worms and microbes present in the soil who are friends of the farmer.</a:t>
            </a:r>
          </a:p>
          <a:p>
            <a:pPr marL="285750" indent="-285750" algn="just">
              <a:buFont typeface="Arial" panose="020B0604020202020204" pitchFamily="34" charset="0"/>
              <a:buChar char="•"/>
            </a:pPr>
            <a:r>
              <a:rPr lang="en-IN" sz="1400" dirty="0">
                <a:latin typeface="Comic Sans MS" panose="030F0702030302020204" pitchFamily="66" charset="0"/>
              </a:rPr>
              <a:t>It also uproots and buries weeds standing in the field.</a:t>
            </a:r>
          </a:p>
          <a:p>
            <a:pPr marL="285750" indent="-285750" algn="just">
              <a:buFont typeface="Arial" panose="020B0604020202020204" pitchFamily="34" charset="0"/>
              <a:buChar char="•"/>
            </a:pPr>
            <a:r>
              <a:rPr lang="en-IN" sz="1400" dirty="0">
                <a:latin typeface="Comic Sans MS" panose="030F0702030302020204" pitchFamily="66" charset="0"/>
              </a:rPr>
              <a:t>Turning the soil is for uprooting weeds and aerating the soil</a:t>
            </a:r>
          </a:p>
        </p:txBody>
      </p:sp>
      <p:sp>
        <p:nvSpPr>
          <p:cNvPr id="28" name="Rectangle: Rounded Corners 27">
            <a:extLst>
              <a:ext uri="{FF2B5EF4-FFF2-40B4-BE49-F238E27FC236}">
                <a16:creationId xmlns:a16="http://schemas.microsoft.com/office/drawing/2014/main" id="{148DF113-916E-4159-9927-AB193BC4CF16}"/>
              </a:ext>
            </a:extLst>
          </p:cNvPr>
          <p:cNvSpPr/>
          <p:nvPr/>
        </p:nvSpPr>
        <p:spPr>
          <a:xfrm>
            <a:off x="2564829" y="3197352"/>
            <a:ext cx="2363343" cy="377845"/>
          </a:xfrm>
          <a:prstGeom prst="roundRect">
            <a:avLst>
              <a:gd name="adj" fmla="val 18930"/>
            </a:avLst>
          </a:prstGeom>
          <a:solidFill>
            <a:schemeClr val="accent2"/>
          </a:solidFill>
        </p:spPr>
        <p:txBody>
          <a:bodyPr wrap="none" anchor="ctr">
            <a:spAutoFit/>
          </a:bodyPr>
          <a:lstStyle/>
          <a:p>
            <a:pPr algn="ctr"/>
            <a:r>
              <a:rPr lang="en-IN" sz="1600" dirty="0">
                <a:solidFill>
                  <a:schemeClr val="bg1"/>
                </a:solidFill>
                <a:latin typeface="Comic Sans MS" panose="030F0702030302020204" pitchFamily="66" charset="0"/>
              </a:rPr>
              <a:t>Classification of Crops</a:t>
            </a:r>
            <a:endParaRPr lang="en-IN" sz="1600" dirty="0">
              <a:solidFill>
                <a:schemeClr val="bg1"/>
              </a:solidFill>
            </a:endParaRPr>
          </a:p>
        </p:txBody>
      </p:sp>
      <p:sp>
        <p:nvSpPr>
          <p:cNvPr id="31" name="AutoShape 11">
            <a:extLst>
              <a:ext uri="{FF2B5EF4-FFF2-40B4-BE49-F238E27FC236}">
                <a16:creationId xmlns:a16="http://schemas.microsoft.com/office/drawing/2014/main" id="{DB5DAA01-FE7A-4F12-9E8C-EF4F1FB5A7B5}"/>
              </a:ext>
            </a:extLst>
          </p:cNvPr>
          <p:cNvSpPr>
            <a:spLocks noChangeArrowheads="1"/>
          </p:cNvSpPr>
          <p:nvPr/>
        </p:nvSpPr>
        <p:spPr bwMode="auto">
          <a:xfrm>
            <a:off x="431801" y="6635467"/>
            <a:ext cx="3922486" cy="625475"/>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dirty="0">
                <a:latin typeface="Comic Sans MS" panose="030F0702030302020204" pitchFamily="66" charset="0"/>
              </a:rPr>
              <a:t>Method of ploughing</a:t>
            </a:r>
          </a:p>
        </p:txBody>
      </p:sp>
      <p:sp>
        <p:nvSpPr>
          <p:cNvPr id="32" name="Rectangle 31">
            <a:extLst>
              <a:ext uri="{FF2B5EF4-FFF2-40B4-BE49-F238E27FC236}">
                <a16:creationId xmlns:a16="http://schemas.microsoft.com/office/drawing/2014/main" id="{764BA832-4915-4B44-991D-CF1150BEC273}"/>
              </a:ext>
            </a:extLst>
          </p:cNvPr>
          <p:cNvSpPr/>
          <p:nvPr/>
        </p:nvSpPr>
        <p:spPr>
          <a:xfrm>
            <a:off x="457992" y="7321267"/>
            <a:ext cx="6643687" cy="1600438"/>
          </a:xfrm>
          <a:prstGeom prst="rect">
            <a:avLst/>
          </a:prstGeom>
        </p:spPr>
        <p:txBody>
          <a:bodyPr wrap="square">
            <a:spAutoFit/>
          </a:bodyPr>
          <a:lstStyle/>
          <a:p>
            <a:pPr algn="just"/>
            <a:r>
              <a:rPr lang="en-IN" sz="1400" dirty="0">
                <a:latin typeface="Comic Sans MS" panose="030F0702030302020204" pitchFamily="66" charset="0"/>
              </a:rPr>
              <a:t>Ploughing can be done with the help of plough or hoe or with cultivator:</a:t>
            </a:r>
          </a:p>
          <a:p>
            <a:pPr algn="just"/>
            <a:r>
              <a:rPr lang="en-IN" sz="1400" dirty="0">
                <a:solidFill>
                  <a:srgbClr val="0070C0"/>
                </a:solidFill>
                <a:latin typeface="Comic Sans MS" panose="030F0702030302020204" pitchFamily="66" charset="0"/>
              </a:rPr>
              <a:t>Plough</a:t>
            </a:r>
            <a:r>
              <a:rPr lang="en-IN" sz="1400" dirty="0">
                <a:latin typeface="Comic Sans MS" panose="030F0702030302020204" pitchFamily="66" charset="0"/>
              </a:rPr>
              <a:t> : This is made of wood or iron and is drawn by a pair of bulls or other animals (horses and camels). It contains a strong triangular iron strip called </a:t>
            </a:r>
            <a:r>
              <a:rPr lang="en-IN" sz="1400" b="1" dirty="0">
                <a:latin typeface="Comic Sans MS" panose="030F0702030302020204" pitchFamily="66" charset="0"/>
              </a:rPr>
              <a:t>ploughshare</a:t>
            </a:r>
            <a:r>
              <a:rPr lang="en-IN" sz="1400" dirty="0">
                <a:latin typeface="Comic Sans MS" panose="030F0702030302020204" pitchFamily="66" charset="0"/>
              </a:rPr>
              <a:t>. The main part of the plough is a long log of wood which is called a </a:t>
            </a:r>
            <a:r>
              <a:rPr lang="en-IN" sz="1400" b="1" dirty="0">
                <a:latin typeface="Comic Sans MS" panose="030F0702030302020204" pitchFamily="66" charset="0"/>
              </a:rPr>
              <a:t>plough shaft</a:t>
            </a:r>
            <a:r>
              <a:rPr lang="en-IN" sz="1400" dirty="0">
                <a:latin typeface="Comic Sans MS" panose="030F0702030302020204" pitchFamily="66" charset="0"/>
              </a:rPr>
              <a:t>. There is a handle at one end of the shaft. The other end is attached to a beam which is placed on the bulls’ necks. One pair of bulls and a man can easily operate the plough.</a:t>
            </a:r>
          </a:p>
        </p:txBody>
      </p:sp>
      <p:sp>
        <p:nvSpPr>
          <p:cNvPr id="34" name="Rectangle 33">
            <a:extLst>
              <a:ext uri="{FF2B5EF4-FFF2-40B4-BE49-F238E27FC236}">
                <a16:creationId xmlns:a16="http://schemas.microsoft.com/office/drawing/2014/main" id="{F54971D0-057D-4321-962D-01B987BA2A3F}"/>
              </a:ext>
            </a:extLst>
          </p:cNvPr>
          <p:cNvSpPr/>
          <p:nvPr/>
        </p:nvSpPr>
        <p:spPr>
          <a:xfrm>
            <a:off x="457992" y="9248297"/>
            <a:ext cx="6643687" cy="738664"/>
          </a:xfrm>
          <a:prstGeom prst="rect">
            <a:avLst/>
          </a:prstGeom>
        </p:spPr>
        <p:txBody>
          <a:bodyPr wrap="square">
            <a:spAutoFit/>
          </a:bodyPr>
          <a:lstStyle/>
          <a:p>
            <a:pPr algn="just"/>
            <a:r>
              <a:rPr lang="en-IN" sz="1400" dirty="0">
                <a:solidFill>
                  <a:srgbClr val="0070C0"/>
                </a:solidFill>
                <a:latin typeface="Comic Sans MS" panose="030F0702030302020204" pitchFamily="66" charset="0"/>
              </a:rPr>
              <a:t>Hoe</a:t>
            </a:r>
            <a:r>
              <a:rPr lang="en-IN" sz="1400" dirty="0">
                <a:latin typeface="Comic Sans MS" panose="030F0702030302020204" pitchFamily="66" charset="0"/>
              </a:rPr>
              <a:t> : It is a simple tool which is used for removing weeds and for loosening the soil. It has a long rod of wood or iron. A strong, broad and bent plate of iron is fixed to one of its ends and works like a blade.</a:t>
            </a:r>
          </a:p>
        </p:txBody>
      </p:sp>
    </p:spTree>
    <p:extLst>
      <p:ext uri="{BB962C8B-B14F-4D97-AF65-F5344CB8AC3E}">
        <p14:creationId xmlns:p14="http://schemas.microsoft.com/office/powerpoint/2010/main" val="3284366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3">
            <a:extLst>
              <a:ext uri="{FF2B5EF4-FFF2-40B4-BE49-F238E27FC236}">
                <a16:creationId xmlns:a16="http://schemas.microsoft.com/office/drawing/2014/main" id="{1939D0B8-2450-4AE0-9375-B3B37095FDA9}"/>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6" name="Text Box 45">
            <a:extLst>
              <a:ext uri="{FF2B5EF4-FFF2-40B4-BE49-F238E27FC236}">
                <a16:creationId xmlns:a16="http://schemas.microsoft.com/office/drawing/2014/main" id="{DC57E03C-1925-460F-92A6-7029C6805903}"/>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3</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 Box 46">
            <a:extLst>
              <a:ext uri="{FF2B5EF4-FFF2-40B4-BE49-F238E27FC236}">
                <a16:creationId xmlns:a16="http://schemas.microsoft.com/office/drawing/2014/main" id="{A1F6B104-793C-4512-ACE6-5714EFA24A3C}"/>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Aayush - CBSE Class 7 Science</a:t>
            </a:r>
            <a:endParaRPr lang="en-US" altLang="en-US" dirty="0">
              <a:latin typeface="Arial" panose="020B0604020202020204" pitchFamily="34" charset="0"/>
            </a:endParaRPr>
          </a:p>
        </p:txBody>
      </p:sp>
      <p:sp>
        <p:nvSpPr>
          <p:cNvPr id="8" name="Text Box 47">
            <a:extLst>
              <a:ext uri="{FF2B5EF4-FFF2-40B4-BE49-F238E27FC236}">
                <a16:creationId xmlns:a16="http://schemas.microsoft.com/office/drawing/2014/main" id="{C6A0DBCB-EB2B-446D-8401-56DE44A95AB8}"/>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Crop production and management</a:t>
            </a:r>
          </a:p>
        </p:txBody>
      </p:sp>
      <p:sp>
        <p:nvSpPr>
          <p:cNvPr id="21" name="Rectangle: Rounded Corners 20">
            <a:extLst>
              <a:ext uri="{FF2B5EF4-FFF2-40B4-BE49-F238E27FC236}">
                <a16:creationId xmlns:a16="http://schemas.microsoft.com/office/drawing/2014/main" id="{CD829FDB-E151-41DD-A8BC-8FEF6B80C0BE}"/>
              </a:ext>
            </a:extLst>
          </p:cNvPr>
          <p:cNvSpPr/>
          <p:nvPr/>
        </p:nvSpPr>
        <p:spPr>
          <a:xfrm>
            <a:off x="457992" y="557213"/>
            <a:ext cx="6629400" cy="3557586"/>
          </a:xfrm>
          <a:prstGeom prst="roundRect">
            <a:avLst>
              <a:gd name="adj" fmla="val 2834"/>
            </a:avLst>
          </a:prstGeom>
          <a:solidFill>
            <a:schemeClr val="accent4">
              <a:lumMod val="20000"/>
              <a:lumOff val="80000"/>
            </a:schemeClr>
          </a:solidFill>
          <a:ln w="571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3" name="Graphic 22">
            <a:extLst>
              <a:ext uri="{FF2B5EF4-FFF2-40B4-BE49-F238E27FC236}">
                <a16:creationId xmlns:a16="http://schemas.microsoft.com/office/drawing/2014/main" id="{E89D4C00-9923-4A49-AD4B-E11928A9DC5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0619" t="28895" r="11040" b="22251"/>
          <a:stretch/>
        </p:blipFill>
        <p:spPr>
          <a:xfrm>
            <a:off x="1316828" y="877399"/>
            <a:ext cx="4978401" cy="2027476"/>
          </a:xfrm>
          <a:prstGeom prst="rect">
            <a:avLst/>
          </a:prstGeom>
        </p:spPr>
      </p:pic>
      <p:cxnSp>
        <p:nvCxnSpPr>
          <p:cNvPr id="24" name="Straight Arrow Connector 23">
            <a:extLst>
              <a:ext uri="{FF2B5EF4-FFF2-40B4-BE49-F238E27FC236}">
                <a16:creationId xmlns:a16="http://schemas.microsoft.com/office/drawing/2014/main" id="{EF7738B9-4FE7-485D-B46D-80694BFDC822}"/>
              </a:ext>
            </a:extLst>
          </p:cNvPr>
          <p:cNvCxnSpPr>
            <a:cxnSpLocks/>
          </p:cNvCxnSpPr>
          <p:nvPr/>
        </p:nvCxnSpPr>
        <p:spPr>
          <a:xfrm flipV="1">
            <a:off x="3630497" y="1246731"/>
            <a:ext cx="763361" cy="50654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B0C1DF93-0C2A-4DD4-996E-278C36CC7713}"/>
              </a:ext>
            </a:extLst>
          </p:cNvPr>
          <p:cNvSpPr/>
          <p:nvPr/>
        </p:nvSpPr>
        <p:spPr>
          <a:xfrm>
            <a:off x="4109511" y="934549"/>
            <a:ext cx="689612" cy="307777"/>
          </a:xfrm>
          <a:prstGeom prst="rect">
            <a:avLst/>
          </a:prstGeom>
        </p:spPr>
        <p:txBody>
          <a:bodyPr wrap="square">
            <a:spAutoFit/>
          </a:bodyPr>
          <a:lstStyle/>
          <a:p>
            <a:r>
              <a:rPr lang="en-IN" sz="1400" b="1" dirty="0">
                <a:latin typeface="Comic Sans MS" panose="030F0702030302020204" pitchFamily="66" charset="0"/>
              </a:rPr>
              <a:t>Shaft</a:t>
            </a:r>
            <a:endParaRPr lang="en-IN" sz="1400" dirty="0"/>
          </a:p>
        </p:txBody>
      </p:sp>
      <p:cxnSp>
        <p:nvCxnSpPr>
          <p:cNvPr id="28" name="Straight Arrow Connector 27">
            <a:extLst>
              <a:ext uri="{FF2B5EF4-FFF2-40B4-BE49-F238E27FC236}">
                <a16:creationId xmlns:a16="http://schemas.microsoft.com/office/drawing/2014/main" id="{45DACD39-0EFB-4B5B-9A97-71E14C35536D}"/>
              </a:ext>
            </a:extLst>
          </p:cNvPr>
          <p:cNvCxnSpPr>
            <a:cxnSpLocks/>
          </p:cNvCxnSpPr>
          <p:nvPr/>
        </p:nvCxnSpPr>
        <p:spPr>
          <a:xfrm>
            <a:off x="4709997" y="2444485"/>
            <a:ext cx="203218" cy="46039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975ADBDC-E976-475F-9261-4035B71FB49B}"/>
              </a:ext>
            </a:extLst>
          </p:cNvPr>
          <p:cNvSpPr/>
          <p:nvPr/>
        </p:nvSpPr>
        <p:spPr>
          <a:xfrm>
            <a:off x="4636561" y="2909053"/>
            <a:ext cx="700833" cy="307777"/>
          </a:xfrm>
          <a:prstGeom prst="rect">
            <a:avLst/>
          </a:prstGeom>
        </p:spPr>
        <p:txBody>
          <a:bodyPr wrap="square">
            <a:spAutoFit/>
          </a:bodyPr>
          <a:lstStyle/>
          <a:p>
            <a:r>
              <a:rPr lang="en-IN" sz="1400" b="1" dirty="0">
                <a:latin typeface="Comic Sans MS" panose="030F0702030302020204" pitchFamily="66" charset="0"/>
              </a:rPr>
              <a:t>Share</a:t>
            </a:r>
            <a:endParaRPr lang="en-IN" sz="1400" dirty="0"/>
          </a:p>
        </p:txBody>
      </p:sp>
      <p:cxnSp>
        <p:nvCxnSpPr>
          <p:cNvPr id="32" name="Straight Arrow Connector 31">
            <a:extLst>
              <a:ext uri="{FF2B5EF4-FFF2-40B4-BE49-F238E27FC236}">
                <a16:creationId xmlns:a16="http://schemas.microsoft.com/office/drawing/2014/main" id="{85489AF6-7F43-4CA9-ACE8-D6E3208ED64E}"/>
              </a:ext>
            </a:extLst>
          </p:cNvPr>
          <p:cNvCxnSpPr>
            <a:cxnSpLocks/>
          </p:cNvCxnSpPr>
          <p:nvPr/>
        </p:nvCxnSpPr>
        <p:spPr>
          <a:xfrm>
            <a:off x="1814920" y="1696395"/>
            <a:ext cx="203218" cy="46039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673E118F-E686-4053-8B0B-89305A4CE571}"/>
              </a:ext>
            </a:extLst>
          </p:cNvPr>
          <p:cNvSpPr/>
          <p:nvPr/>
        </p:nvSpPr>
        <p:spPr>
          <a:xfrm>
            <a:off x="1741484" y="2160963"/>
            <a:ext cx="638316" cy="307777"/>
          </a:xfrm>
          <a:prstGeom prst="rect">
            <a:avLst/>
          </a:prstGeom>
        </p:spPr>
        <p:txBody>
          <a:bodyPr wrap="square">
            <a:spAutoFit/>
          </a:bodyPr>
          <a:lstStyle/>
          <a:p>
            <a:r>
              <a:rPr lang="en-IN" sz="1400" b="1" dirty="0">
                <a:latin typeface="Comic Sans MS" panose="030F0702030302020204" pitchFamily="66" charset="0"/>
              </a:rPr>
              <a:t>Beam</a:t>
            </a:r>
            <a:endParaRPr lang="en-IN" sz="1400" dirty="0"/>
          </a:p>
        </p:txBody>
      </p:sp>
      <p:sp>
        <p:nvSpPr>
          <p:cNvPr id="35" name="Rectangle: Rounded Corners 34">
            <a:extLst>
              <a:ext uri="{FF2B5EF4-FFF2-40B4-BE49-F238E27FC236}">
                <a16:creationId xmlns:a16="http://schemas.microsoft.com/office/drawing/2014/main" id="{C0E164EF-2ED6-4DDA-B869-F4352D253E87}"/>
              </a:ext>
            </a:extLst>
          </p:cNvPr>
          <p:cNvSpPr/>
          <p:nvPr/>
        </p:nvSpPr>
        <p:spPr>
          <a:xfrm>
            <a:off x="3252208" y="3583750"/>
            <a:ext cx="1040967" cy="377845"/>
          </a:xfrm>
          <a:prstGeom prst="roundRect">
            <a:avLst>
              <a:gd name="adj" fmla="val 18930"/>
            </a:avLst>
          </a:prstGeom>
          <a:solidFill>
            <a:schemeClr val="accent2"/>
          </a:solidFill>
        </p:spPr>
        <p:txBody>
          <a:bodyPr wrap="square" anchor="ctr">
            <a:spAutoFit/>
          </a:bodyPr>
          <a:lstStyle/>
          <a:p>
            <a:pPr algn="ctr"/>
            <a:r>
              <a:rPr lang="en-IN" sz="1600" dirty="0">
                <a:solidFill>
                  <a:schemeClr val="bg1"/>
                </a:solidFill>
                <a:latin typeface="Comic Sans MS" panose="030F0702030302020204" pitchFamily="66" charset="0"/>
              </a:rPr>
              <a:t>A Plough</a:t>
            </a:r>
            <a:endParaRPr lang="en-IN" sz="1600" dirty="0">
              <a:solidFill>
                <a:schemeClr val="bg1"/>
              </a:solidFill>
            </a:endParaRPr>
          </a:p>
        </p:txBody>
      </p:sp>
      <p:sp>
        <p:nvSpPr>
          <p:cNvPr id="36" name="Rectangle: Rounded Corners 35">
            <a:extLst>
              <a:ext uri="{FF2B5EF4-FFF2-40B4-BE49-F238E27FC236}">
                <a16:creationId xmlns:a16="http://schemas.microsoft.com/office/drawing/2014/main" id="{4A04E8A0-E074-4292-9E77-2CD6625BFC9A}"/>
              </a:ext>
            </a:extLst>
          </p:cNvPr>
          <p:cNvSpPr/>
          <p:nvPr/>
        </p:nvSpPr>
        <p:spPr>
          <a:xfrm>
            <a:off x="484118" y="4434985"/>
            <a:ext cx="6629400" cy="3328161"/>
          </a:xfrm>
          <a:prstGeom prst="roundRect">
            <a:avLst>
              <a:gd name="adj" fmla="val 5510"/>
            </a:avLst>
          </a:prstGeom>
          <a:solidFill>
            <a:schemeClr val="accent4">
              <a:lumMod val="20000"/>
              <a:lumOff val="80000"/>
            </a:schemeClr>
          </a:solidFill>
          <a:ln w="571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7" name="Graphic 36">
            <a:extLst>
              <a:ext uri="{FF2B5EF4-FFF2-40B4-BE49-F238E27FC236}">
                <a16:creationId xmlns:a16="http://schemas.microsoft.com/office/drawing/2014/main" id="{9649D540-0523-4F63-A54A-D7973361134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2024" r="9907" b="7340"/>
          <a:stretch/>
        </p:blipFill>
        <p:spPr>
          <a:xfrm>
            <a:off x="2450237" y="4295999"/>
            <a:ext cx="3611563" cy="2989714"/>
          </a:xfrm>
          <a:prstGeom prst="rect">
            <a:avLst/>
          </a:prstGeom>
        </p:spPr>
      </p:pic>
      <p:sp>
        <p:nvSpPr>
          <p:cNvPr id="38" name="Rectangle: Rounded Corners 37">
            <a:extLst>
              <a:ext uri="{FF2B5EF4-FFF2-40B4-BE49-F238E27FC236}">
                <a16:creationId xmlns:a16="http://schemas.microsoft.com/office/drawing/2014/main" id="{F0068747-F350-488B-96F4-D64DDD28262F}"/>
              </a:ext>
            </a:extLst>
          </p:cNvPr>
          <p:cNvSpPr/>
          <p:nvPr/>
        </p:nvSpPr>
        <p:spPr>
          <a:xfrm>
            <a:off x="3452256" y="7275931"/>
            <a:ext cx="1040967" cy="377845"/>
          </a:xfrm>
          <a:prstGeom prst="roundRect">
            <a:avLst>
              <a:gd name="adj" fmla="val 18930"/>
            </a:avLst>
          </a:prstGeom>
          <a:solidFill>
            <a:schemeClr val="accent2"/>
          </a:solidFill>
        </p:spPr>
        <p:txBody>
          <a:bodyPr wrap="square" anchor="ctr">
            <a:spAutoFit/>
          </a:bodyPr>
          <a:lstStyle/>
          <a:p>
            <a:pPr algn="ctr"/>
            <a:r>
              <a:rPr lang="en-IN" sz="1600" dirty="0">
                <a:solidFill>
                  <a:schemeClr val="bg1"/>
                </a:solidFill>
                <a:latin typeface="Comic Sans MS" panose="030F0702030302020204" pitchFamily="66" charset="0"/>
              </a:rPr>
              <a:t>A Hoe</a:t>
            </a:r>
            <a:endParaRPr lang="en-IN" sz="1600" dirty="0">
              <a:solidFill>
                <a:schemeClr val="bg1"/>
              </a:solidFill>
            </a:endParaRPr>
          </a:p>
        </p:txBody>
      </p:sp>
      <p:cxnSp>
        <p:nvCxnSpPr>
          <p:cNvPr id="39" name="Straight Arrow Connector 38">
            <a:extLst>
              <a:ext uri="{FF2B5EF4-FFF2-40B4-BE49-F238E27FC236}">
                <a16:creationId xmlns:a16="http://schemas.microsoft.com/office/drawing/2014/main" id="{86C3E0C2-A12E-4E29-97B5-C85DE0B66CAF}"/>
              </a:ext>
            </a:extLst>
          </p:cNvPr>
          <p:cNvCxnSpPr>
            <a:cxnSpLocks/>
          </p:cNvCxnSpPr>
          <p:nvPr/>
        </p:nvCxnSpPr>
        <p:spPr>
          <a:xfrm>
            <a:off x="4400481" y="5362556"/>
            <a:ext cx="1257300" cy="75243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8143C130-44B7-43FD-A59D-675AD9263C47}"/>
              </a:ext>
            </a:extLst>
          </p:cNvPr>
          <p:cNvSpPr/>
          <p:nvPr/>
        </p:nvSpPr>
        <p:spPr>
          <a:xfrm>
            <a:off x="5372188" y="6106953"/>
            <a:ext cx="689612" cy="307777"/>
          </a:xfrm>
          <a:prstGeom prst="rect">
            <a:avLst/>
          </a:prstGeom>
        </p:spPr>
        <p:txBody>
          <a:bodyPr wrap="square">
            <a:spAutoFit/>
          </a:bodyPr>
          <a:lstStyle/>
          <a:p>
            <a:pPr algn="ctr"/>
            <a:r>
              <a:rPr lang="en-IN" sz="1400" dirty="0">
                <a:latin typeface="Comic Sans MS" panose="030F0702030302020204" pitchFamily="66" charset="0"/>
              </a:rPr>
              <a:t>Rod</a:t>
            </a:r>
            <a:endParaRPr lang="en-IN" sz="1400" dirty="0"/>
          </a:p>
        </p:txBody>
      </p:sp>
      <p:cxnSp>
        <p:nvCxnSpPr>
          <p:cNvPr id="41" name="Straight Arrow Connector 40">
            <a:extLst>
              <a:ext uri="{FF2B5EF4-FFF2-40B4-BE49-F238E27FC236}">
                <a16:creationId xmlns:a16="http://schemas.microsoft.com/office/drawing/2014/main" id="{2210E55E-B123-43A2-8706-066D0963861F}"/>
              </a:ext>
            </a:extLst>
          </p:cNvPr>
          <p:cNvCxnSpPr>
            <a:cxnSpLocks/>
          </p:cNvCxnSpPr>
          <p:nvPr/>
        </p:nvCxnSpPr>
        <p:spPr>
          <a:xfrm flipH="1" flipV="1">
            <a:off x="1535838" y="5726530"/>
            <a:ext cx="1363661" cy="83638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BE8A56DE-7B64-48CC-813B-61A53C5648E8}"/>
              </a:ext>
            </a:extLst>
          </p:cNvPr>
          <p:cNvSpPr/>
          <p:nvPr/>
        </p:nvSpPr>
        <p:spPr>
          <a:xfrm>
            <a:off x="621437" y="5437365"/>
            <a:ext cx="1828800" cy="307777"/>
          </a:xfrm>
          <a:prstGeom prst="rect">
            <a:avLst/>
          </a:prstGeom>
        </p:spPr>
        <p:txBody>
          <a:bodyPr wrap="square">
            <a:spAutoFit/>
          </a:bodyPr>
          <a:lstStyle/>
          <a:p>
            <a:pPr algn="ctr"/>
            <a:r>
              <a:rPr lang="en-IN" sz="1400" dirty="0">
                <a:latin typeface="Comic Sans MS" panose="030F0702030302020204" pitchFamily="66" charset="0"/>
              </a:rPr>
              <a:t>Bent Plate</a:t>
            </a:r>
            <a:endParaRPr lang="en-IN" sz="1400" dirty="0"/>
          </a:p>
        </p:txBody>
      </p:sp>
      <p:sp>
        <p:nvSpPr>
          <p:cNvPr id="43" name="Rectangle 42">
            <a:extLst>
              <a:ext uri="{FF2B5EF4-FFF2-40B4-BE49-F238E27FC236}">
                <a16:creationId xmlns:a16="http://schemas.microsoft.com/office/drawing/2014/main" id="{39952DAD-7990-4896-A149-D0A9F2E45007}"/>
              </a:ext>
            </a:extLst>
          </p:cNvPr>
          <p:cNvSpPr/>
          <p:nvPr/>
        </p:nvSpPr>
        <p:spPr>
          <a:xfrm>
            <a:off x="514380" y="8038703"/>
            <a:ext cx="3024570" cy="1815882"/>
          </a:xfrm>
          <a:prstGeom prst="rect">
            <a:avLst/>
          </a:prstGeom>
        </p:spPr>
        <p:txBody>
          <a:bodyPr wrap="square">
            <a:spAutoFit/>
          </a:bodyPr>
          <a:lstStyle/>
          <a:p>
            <a:pPr algn="just"/>
            <a:r>
              <a:rPr lang="en-IN" sz="1400" dirty="0">
                <a:solidFill>
                  <a:srgbClr val="0070C0"/>
                </a:solidFill>
                <a:latin typeface="Comic Sans MS" panose="030F0702030302020204" pitchFamily="66" charset="0"/>
              </a:rPr>
              <a:t>Cultivator</a:t>
            </a:r>
            <a:r>
              <a:rPr lang="en-IN" sz="1400" dirty="0">
                <a:latin typeface="Comic Sans MS" panose="030F0702030302020204" pitchFamily="66" charset="0"/>
              </a:rPr>
              <a:t> : Cultivator is a tractor-driven machine and is commonly used nowadays. it reduces time and saves labour.</a:t>
            </a:r>
          </a:p>
          <a:p>
            <a:pPr algn="just"/>
            <a:endParaRPr lang="en-IN" sz="1400" dirty="0">
              <a:latin typeface="Comic Sans MS" panose="030F0702030302020204" pitchFamily="66" charset="0"/>
            </a:endParaRPr>
          </a:p>
          <a:p>
            <a:pPr algn="just"/>
            <a:r>
              <a:rPr lang="en-IN" sz="1400" dirty="0">
                <a:latin typeface="Comic Sans MS" panose="030F0702030302020204" pitchFamily="66" charset="0"/>
              </a:rPr>
              <a:t>After Ploughing the soil is now ready for levelling. For levelling farmers use leveller.</a:t>
            </a:r>
          </a:p>
        </p:txBody>
      </p:sp>
      <p:pic>
        <p:nvPicPr>
          <p:cNvPr id="44" name="Picture 43">
            <a:extLst>
              <a:ext uri="{FF2B5EF4-FFF2-40B4-BE49-F238E27FC236}">
                <a16:creationId xmlns:a16="http://schemas.microsoft.com/office/drawing/2014/main" id="{DA1DC0D7-8C50-4D79-885E-CD7B3B42656A}"/>
              </a:ext>
            </a:extLst>
          </p:cNvPr>
          <p:cNvPicPr/>
          <p:nvPr/>
        </p:nvPicPr>
        <p:blipFill>
          <a:blip r:embed="rId6"/>
          <a:stretch>
            <a:fillRect/>
          </a:stretch>
        </p:blipFill>
        <p:spPr>
          <a:xfrm>
            <a:off x="3736166" y="8046677"/>
            <a:ext cx="3262228" cy="1609652"/>
          </a:xfrm>
          <a:prstGeom prst="rect">
            <a:avLst/>
          </a:prstGeom>
        </p:spPr>
      </p:pic>
      <p:sp>
        <p:nvSpPr>
          <p:cNvPr id="45" name="Rectangle: Rounded Corners 44">
            <a:extLst>
              <a:ext uri="{FF2B5EF4-FFF2-40B4-BE49-F238E27FC236}">
                <a16:creationId xmlns:a16="http://schemas.microsoft.com/office/drawing/2014/main" id="{38C0B324-C2D5-4046-8058-5F1F2BA2BBE0}"/>
              </a:ext>
            </a:extLst>
          </p:cNvPr>
          <p:cNvSpPr/>
          <p:nvPr/>
        </p:nvSpPr>
        <p:spPr>
          <a:xfrm>
            <a:off x="4359298" y="9747699"/>
            <a:ext cx="2345801" cy="377845"/>
          </a:xfrm>
          <a:prstGeom prst="roundRect">
            <a:avLst>
              <a:gd name="adj" fmla="val 18930"/>
            </a:avLst>
          </a:prstGeom>
          <a:solidFill>
            <a:schemeClr val="accent2"/>
          </a:solidFill>
        </p:spPr>
        <p:txBody>
          <a:bodyPr wrap="square" anchor="ctr">
            <a:spAutoFit/>
          </a:bodyPr>
          <a:lstStyle/>
          <a:p>
            <a:pPr algn="ctr"/>
            <a:r>
              <a:rPr lang="en-IN" sz="1600" dirty="0">
                <a:solidFill>
                  <a:schemeClr val="bg1"/>
                </a:solidFill>
                <a:latin typeface="Comic Sans MS" panose="030F0702030302020204" pitchFamily="66" charset="0"/>
              </a:rPr>
              <a:t>A Cultivator</a:t>
            </a:r>
          </a:p>
        </p:txBody>
      </p:sp>
    </p:spTree>
    <p:extLst>
      <p:ext uri="{BB962C8B-B14F-4D97-AF65-F5344CB8AC3E}">
        <p14:creationId xmlns:p14="http://schemas.microsoft.com/office/powerpoint/2010/main" val="3156024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3">
            <a:extLst>
              <a:ext uri="{FF2B5EF4-FFF2-40B4-BE49-F238E27FC236}">
                <a16:creationId xmlns:a16="http://schemas.microsoft.com/office/drawing/2014/main" id="{8E5DCA70-008B-42C5-815E-42A7C33274FA}"/>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ext Box 45">
            <a:extLst>
              <a:ext uri="{FF2B5EF4-FFF2-40B4-BE49-F238E27FC236}">
                <a16:creationId xmlns:a16="http://schemas.microsoft.com/office/drawing/2014/main" id="{8FDA2341-9D5F-46AC-9F97-178950DC5171}"/>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4</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 Box 46">
            <a:extLst>
              <a:ext uri="{FF2B5EF4-FFF2-40B4-BE49-F238E27FC236}">
                <a16:creationId xmlns:a16="http://schemas.microsoft.com/office/drawing/2014/main" id="{1D4A6652-E4E2-4804-8853-CE7634312D0A}"/>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Aayush - CBSE Class 7 Science</a:t>
            </a:r>
            <a:endParaRPr lang="en-US" altLang="en-US" dirty="0">
              <a:latin typeface="Arial" panose="020B0604020202020204" pitchFamily="34" charset="0"/>
            </a:endParaRPr>
          </a:p>
        </p:txBody>
      </p:sp>
      <p:sp>
        <p:nvSpPr>
          <p:cNvPr id="7" name="Text Box 47">
            <a:extLst>
              <a:ext uri="{FF2B5EF4-FFF2-40B4-BE49-F238E27FC236}">
                <a16:creationId xmlns:a16="http://schemas.microsoft.com/office/drawing/2014/main" id="{2A9992AD-36AE-49AA-BBB5-EE8F0993536C}"/>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Crop production and management</a:t>
            </a:r>
          </a:p>
        </p:txBody>
      </p:sp>
      <p:sp>
        <p:nvSpPr>
          <p:cNvPr id="29" name="AutoShape 23">
            <a:extLst>
              <a:ext uri="{FF2B5EF4-FFF2-40B4-BE49-F238E27FC236}">
                <a16:creationId xmlns:a16="http://schemas.microsoft.com/office/drawing/2014/main" id="{DB12222E-7A64-41FB-BB95-3F7EBB9C27DE}"/>
              </a:ext>
            </a:extLst>
          </p:cNvPr>
          <p:cNvSpPr>
            <a:spLocks noChangeArrowheads="1"/>
          </p:cNvSpPr>
          <p:nvPr/>
        </p:nvSpPr>
        <p:spPr bwMode="auto">
          <a:xfrm>
            <a:off x="431800" y="740093"/>
            <a:ext cx="3797299" cy="522288"/>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algn="ctr"/>
            <a:r>
              <a:rPr lang="en-IN" dirty="0">
                <a:solidFill>
                  <a:schemeClr val="bg1"/>
                </a:solidFill>
                <a:latin typeface="Comic Sans MS" panose="030F0702030302020204" pitchFamily="66" charset="0"/>
              </a:rPr>
              <a:t>Sowing</a:t>
            </a:r>
          </a:p>
        </p:txBody>
      </p:sp>
      <p:sp>
        <p:nvSpPr>
          <p:cNvPr id="30" name="Title 1">
            <a:extLst>
              <a:ext uri="{FF2B5EF4-FFF2-40B4-BE49-F238E27FC236}">
                <a16:creationId xmlns:a16="http://schemas.microsoft.com/office/drawing/2014/main" id="{A22E6EF6-48E9-4E99-9006-2A074AFE685B}"/>
              </a:ext>
            </a:extLst>
          </p:cNvPr>
          <p:cNvSpPr txBox="1">
            <a:spLocks/>
          </p:cNvSpPr>
          <p:nvPr/>
        </p:nvSpPr>
        <p:spPr>
          <a:xfrm>
            <a:off x="461297" y="774363"/>
            <a:ext cx="464344" cy="466090"/>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2</a:t>
            </a:r>
          </a:p>
        </p:txBody>
      </p:sp>
      <p:sp>
        <p:nvSpPr>
          <p:cNvPr id="33" name="Rectangle 32">
            <a:extLst>
              <a:ext uri="{FF2B5EF4-FFF2-40B4-BE49-F238E27FC236}">
                <a16:creationId xmlns:a16="http://schemas.microsoft.com/office/drawing/2014/main" id="{D687AFA1-541A-470A-8651-D70D0DC1FA23}"/>
              </a:ext>
            </a:extLst>
          </p:cNvPr>
          <p:cNvSpPr/>
          <p:nvPr/>
        </p:nvSpPr>
        <p:spPr>
          <a:xfrm>
            <a:off x="461297" y="1432796"/>
            <a:ext cx="6482889" cy="1600438"/>
          </a:xfrm>
          <a:prstGeom prst="rect">
            <a:avLst/>
          </a:prstGeom>
        </p:spPr>
        <p:txBody>
          <a:bodyPr wrap="square">
            <a:spAutoFit/>
          </a:bodyPr>
          <a:lstStyle/>
          <a:p>
            <a:pPr algn="just"/>
            <a:r>
              <a:rPr lang="en-IN" sz="1400" dirty="0">
                <a:latin typeface="Comic Sans MS" panose="030F0702030302020204" pitchFamily="66" charset="0"/>
              </a:rPr>
              <a:t>Sowing seeds is an essential part of crop production. After the preparation of soil, the seeds are scattered in the field. This process is called </a:t>
            </a:r>
            <a:r>
              <a:rPr lang="en-IN" sz="1400" b="1" dirty="0">
                <a:latin typeface="Comic Sans MS" panose="030F0702030302020204" pitchFamily="66" charset="0"/>
              </a:rPr>
              <a:t>sowing</a:t>
            </a:r>
            <a:r>
              <a:rPr lang="en-IN" sz="1400" dirty="0">
                <a:latin typeface="Comic Sans MS" panose="030F0702030302020204" pitchFamily="66" charset="0"/>
              </a:rPr>
              <a:t>. Farmers prefer to use seeds which give high yield. To do so the seeds are soaked in water since the damaged seeds is hollow and thus lighter will float in water and the good seeds will sink. Seeds are sown in appropriate distance to avoid overcrowding of plants and allow plants to get sufficient sunlight, nutrients and water from the soil.</a:t>
            </a:r>
          </a:p>
        </p:txBody>
      </p:sp>
      <p:sp>
        <p:nvSpPr>
          <p:cNvPr id="19" name="AutoShape 11">
            <a:extLst>
              <a:ext uri="{FF2B5EF4-FFF2-40B4-BE49-F238E27FC236}">
                <a16:creationId xmlns:a16="http://schemas.microsoft.com/office/drawing/2014/main" id="{08FA25EC-AD23-4AC4-87FB-27D89C647CC1}"/>
              </a:ext>
            </a:extLst>
          </p:cNvPr>
          <p:cNvSpPr>
            <a:spLocks noChangeArrowheads="1"/>
          </p:cNvSpPr>
          <p:nvPr/>
        </p:nvSpPr>
        <p:spPr bwMode="auto">
          <a:xfrm>
            <a:off x="430346" y="3276347"/>
            <a:ext cx="3922486" cy="625475"/>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a:latin typeface="Comic Sans MS" panose="030F0702030302020204" pitchFamily="66" charset="0"/>
              </a:rPr>
              <a:t>Traditional tool</a:t>
            </a:r>
            <a:endParaRPr lang="en-IN" dirty="0">
              <a:latin typeface="Comic Sans MS" panose="030F0702030302020204" pitchFamily="66" charset="0"/>
            </a:endParaRPr>
          </a:p>
        </p:txBody>
      </p:sp>
      <p:sp>
        <p:nvSpPr>
          <p:cNvPr id="20" name="Rectangle 19">
            <a:extLst>
              <a:ext uri="{FF2B5EF4-FFF2-40B4-BE49-F238E27FC236}">
                <a16:creationId xmlns:a16="http://schemas.microsoft.com/office/drawing/2014/main" id="{81ADF12C-9D72-4F6A-9EA1-24189877F97A}"/>
              </a:ext>
            </a:extLst>
          </p:cNvPr>
          <p:cNvSpPr/>
          <p:nvPr/>
        </p:nvSpPr>
        <p:spPr>
          <a:xfrm>
            <a:off x="461297" y="4066985"/>
            <a:ext cx="6482889" cy="738664"/>
          </a:xfrm>
          <a:prstGeom prst="rect">
            <a:avLst/>
          </a:prstGeom>
        </p:spPr>
        <p:txBody>
          <a:bodyPr wrap="square">
            <a:spAutoFit/>
          </a:bodyPr>
          <a:lstStyle/>
          <a:p>
            <a:pPr algn="just"/>
            <a:r>
              <a:rPr lang="en-IN" sz="1400" dirty="0">
                <a:latin typeface="Comic Sans MS" panose="030F0702030302020204" pitchFamily="66" charset="0"/>
              </a:rPr>
              <a:t>The tool used traditionally for sowing seeds is shaped like a funnel. The seeds are filled into the funnel, passed down through two or three pipes having sharp ends. These ends pierce into the soil and place seeds there.</a:t>
            </a:r>
            <a:endParaRPr lang="en-IN" sz="1400" dirty="0">
              <a:effectLst/>
              <a:latin typeface="Comic Sans MS" panose="030F0702030302020204" pitchFamily="66" charset="0"/>
            </a:endParaRPr>
          </a:p>
        </p:txBody>
      </p:sp>
      <p:pic>
        <p:nvPicPr>
          <p:cNvPr id="23" name="Picture 22">
            <a:extLst>
              <a:ext uri="{FF2B5EF4-FFF2-40B4-BE49-F238E27FC236}">
                <a16:creationId xmlns:a16="http://schemas.microsoft.com/office/drawing/2014/main" id="{605A1B55-1F97-41CA-A78E-BCC4EAB91097}"/>
              </a:ext>
            </a:extLst>
          </p:cNvPr>
          <p:cNvPicPr/>
          <p:nvPr/>
        </p:nvPicPr>
        <p:blipFill rotWithShape="1">
          <a:blip r:embed="rId2"/>
          <a:srcRect t="6136" b="20986"/>
          <a:stretch/>
        </p:blipFill>
        <p:spPr>
          <a:xfrm>
            <a:off x="527510" y="7117736"/>
            <a:ext cx="3099766" cy="1978168"/>
          </a:xfrm>
          <a:prstGeom prst="rect">
            <a:avLst/>
          </a:prstGeom>
        </p:spPr>
      </p:pic>
      <p:sp>
        <p:nvSpPr>
          <p:cNvPr id="24" name="Rectangle: Rounded Corners 23">
            <a:extLst>
              <a:ext uri="{FF2B5EF4-FFF2-40B4-BE49-F238E27FC236}">
                <a16:creationId xmlns:a16="http://schemas.microsoft.com/office/drawing/2014/main" id="{7DF7B039-CC42-424D-A3F2-F2CAB0CA3787}"/>
              </a:ext>
            </a:extLst>
          </p:cNvPr>
          <p:cNvSpPr/>
          <p:nvPr/>
        </p:nvSpPr>
        <p:spPr>
          <a:xfrm>
            <a:off x="527511" y="9261067"/>
            <a:ext cx="3099766" cy="377845"/>
          </a:xfrm>
          <a:prstGeom prst="roundRect">
            <a:avLst>
              <a:gd name="adj" fmla="val 18930"/>
            </a:avLst>
          </a:prstGeom>
          <a:solidFill>
            <a:schemeClr val="accent2"/>
          </a:solidFill>
        </p:spPr>
        <p:txBody>
          <a:bodyPr wrap="square" anchor="ctr">
            <a:spAutoFit/>
          </a:bodyPr>
          <a:lstStyle/>
          <a:p>
            <a:pPr algn="ctr"/>
            <a:r>
              <a:rPr lang="en-IN" sz="1600">
                <a:solidFill>
                  <a:schemeClr val="bg1"/>
                </a:solidFill>
                <a:latin typeface="Comic Sans MS" panose="030F0702030302020204" pitchFamily="66" charset="0"/>
              </a:rPr>
              <a:t>Traditional tool for sowing</a:t>
            </a:r>
            <a:endParaRPr lang="en-IN" sz="1600" dirty="0">
              <a:solidFill>
                <a:schemeClr val="bg1"/>
              </a:solidFill>
              <a:latin typeface="Comic Sans MS" panose="030F0702030302020204" pitchFamily="66" charset="0"/>
            </a:endParaRPr>
          </a:p>
        </p:txBody>
      </p:sp>
      <p:sp>
        <p:nvSpPr>
          <p:cNvPr id="27" name="AutoShape 11">
            <a:extLst>
              <a:ext uri="{FF2B5EF4-FFF2-40B4-BE49-F238E27FC236}">
                <a16:creationId xmlns:a16="http://schemas.microsoft.com/office/drawing/2014/main" id="{AE5502F5-5959-4F5A-B97F-3CEE31BC1AFC}"/>
              </a:ext>
            </a:extLst>
          </p:cNvPr>
          <p:cNvSpPr>
            <a:spLocks noChangeArrowheads="1"/>
          </p:cNvSpPr>
          <p:nvPr/>
        </p:nvSpPr>
        <p:spPr bwMode="auto">
          <a:xfrm>
            <a:off x="461297" y="5086666"/>
            <a:ext cx="3922486" cy="625475"/>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a:latin typeface="Comic Sans MS" panose="030F0702030302020204" pitchFamily="66" charset="0"/>
              </a:rPr>
              <a:t>Modern tool</a:t>
            </a:r>
            <a:endParaRPr lang="en-IN" dirty="0">
              <a:latin typeface="Comic Sans MS" panose="030F0702030302020204" pitchFamily="66" charset="0"/>
            </a:endParaRPr>
          </a:p>
        </p:txBody>
      </p:sp>
      <p:sp>
        <p:nvSpPr>
          <p:cNvPr id="31" name="Rectangle 30">
            <a:extLst>
              <a:ext uri="{FF2B5EF4-FFF2-40B4-BE49-F238E27FC236}">
                <a16:creationId xmlns:a16="http://schemas.microsoft.com/office/drawing/2014/main" id="{3CC1B169-1D83-47A6-AB5C-4E862DE8E3F4}"/>
              </a:ext>
            </a:extLst>
          </p:cNvPr>
          <p:cNvSpPr/>
          <p:nvPr/>
        </p:nvSpPr>
        <p:spPr>
          <a:xfrm>
            <a:off x="431800" y="5928749"/>
            <a:ext cx="6482889" cy="954107"/>
          </a:xfrm>
          <a:prstGeom prst="rect">
            <a:avLst/>
          </a:prstGeom>
        </p:spPr>
        <p:txBody>
          <a:bodyPr wrap="square">
            <a:spAutoFit/>
          </a:bodyPr>
          <a:lstStyle/>
          <a:p>
            <a:pPr algn="just"/>
            <a:r>
              <a:rPr lang="en-IN" sz="1400" dirty="0">
                <a:latin typeface="Comic Sans MS" panose="030F0702030302020204" pitchFamily="66" charset="0"/>
              </a:rPr>
              <a:t>The seed drill is used for sowing with the help of tractors. It sows the seeds uniformly at equal distance and depth. It ensures that seeds get covered by the soil after sowing. This protects seeds from being eaten by birds. Sowing by using a seed drill saves time and labour</a:t>
            </a:r>
            <a:endParaRPr lang="en-IN" sz="1400" dirty="0">
              <a:effectLst/>
              <a:latin typeface="Comic Sans MS" panose="030F0702030302020204" pitchFamily="66" charset="0"/>
            </a:endParaRPr>
          </a:p>
        </p:txBody>
      </p:sp>
      <p:sp>
        <p:nvSpPr>
          <p:cNvPr id="32" name="Rectangle: Rounded Corners 31">
            <a:extLst>
              <a:ext uri="{FF2B5EF4-FFF2-40B4-BE49-F238E27FC236}">
                <a16:creationId xmlns:a16="http://schemas.microsoft.com/office/drawing/2014/main" id="{14A17499-1065-45E3-90BB-05FEE66ADD0A}"/>
              </a:ext>
            </a:extLst>
          </p:cNvPr>
          <p:cNvSpPr/>
          <p:nvPr/>
        </p:nvSpPr>
        <p:spPr>
          <a:xfrm>
            <a:off x="4114329" y="9251484"/>
            <a:ext cx="2872445" cy="377845"/>
          </a:xfrm>
          <a:prstGeom prst="roundRect">
            <a:avLst>
              <a:gd name="adj" fmla="val 18930"/>
            </a:avLst>
          </a:prstGeom>
          <a:solidFill>
            <a:schemeClr val="accent2"/>
          </a:solidFill>
        </p:spPr>
        <p:txBody>
          <a:bodyPr wrap="square" anchor="ctr">
            <a:spAutoFit/>
          </a:bodyPr>
          <a:lstStyle/>
          <a:p>
            <a:pPr algn="ctr"/>
            <a:r>
              <a:rPr lang="en-IN" sz="1600">
                <a:solidFill>
                  <a:schemeClr val="bg1"/>
                </a:solidFill>
                <a:latin typeface="Comic Sans MS" panose="030F0702030302020204" pitchFamily="66" charset="0"/>
              </a:rPr>
              <a:t>Seed Drill</a:t>
            </a:r>
            <a:endParaRPr lang="en-IN" sz="1600" dirty="0">
              <a:solidFill>
                <a:schemeClr val="bg1"/>
              </a:solidFill>
              <a:latin typeface="Comic Sans MS" panose="030F0702030302020204" pitchFamily="66" charset="0"/>
            </a:endParaRPr>
          </a:p>
        </p:txBody>
      </p:sp>
      <p:pic>
        <p:nvPicPr>
          <p:cNvPr id="34" name="Picture 33">
            <a:extLst>
              <a:ext uri="{FF2B5EF4-FFF2-40B4-BE49-F238E27FC236}">
                <a16:creationId xmlns:a16="http://schemas.microsoft.com/office/drawing/2014/main" id="{7CF0D550-F0B6-4E75-86C5-243937F92E3E}"/>
              </a:ext>
            </a:extLst>
          </p:cNvPr>
          <p:cNvPicPr/>
          <p:nvPr/>
        </p:nvPicPr>
        <p:blipFill>
          <a:blip r:embed="rId3"/>
          <a:stretch>
            <a:fillRect/>
          </a:stretch>
        </p:blipFill>
        <p:spPr>
          <a:xfrm>
            <a:off x="4114329" y="7099464"/>
            <a:ext cx="2895600" cy="1996440"/>
          </a:xfrm>
          <a:prstGeom prst="rect">
            <a:avLst/>
          </a:prstGeom>
        </p:spPr>
      </p:pic>
    </p:spTree>
    <p:extLst>
      <p:ext uri="{BB962C8B-B14F-4D97-AF65-F5344CB8AC3E}">
        <p14:creationId xmlns:p14="http://schemas.microsoft.com/office/powerpoint/2010/main" val="3439102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3">
            <a:extLst>
              <a:ext uri="{FF2B5EF4-FFF2-40B4-BE49-F238E27FC236}">
                <a16:creationId xmlns:a16="http://schemas.microsoft.com/office/drawing/2014/main" id="{3FA8983C-2C81-4A9C-8BD0-6FC2B9E167FC}"/>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3" name="Text Box 45">
            <a:extLst>
              <a:ext uri="{FF2B5EF4-FFF2-40B4-BE49-F238E27FC236}">
                <a16:creationId xmlns:a16="http://schemas.microsoft.com/office/drawing/2014/main" id="{37A309C4-CC49-4E35-B977-A0E5AB09D9EE}"/>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5</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 Box 46">
            <a:extLst>
              <a:ext uri="{FF2B5EF4-FFF2-40B4-BE49-F238E27FC236}">
                <a16:creationId xmlns:a16="http://schemas.microsoft.com/office/drawing/2014/main" id="{C78F954B-EABF-4D27-A43E-56336497D595}"/>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Aayush - CBSE Class 7 Science</a:t>
            </a:r>
            <a:endParaRPr lang="en-US" altLang="en-US" dirty="0">
              <a:latin typeface="Arial" panose="020B0604020202020204" pitchFamily="34" charset="0"/>
            </a:endParaRPr>
          </a:p>
        </p:txBody>
      </p:sp>
      <p:sp>
        <p:nvSpPr>
          <p:cNvPr id="5" name="Text Box 47">
            <a:extLst>
              <a:ext uri="{FF2B5EF4-FFF2-40B4-BE49-F238E27FC236}">
                <a16:creationId xmlns:a16="http://schemas.microsoft.com/office/drawing/2014/main" id="{57A97B43-226B-4673-897B-6285660B059F}"/>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a:solidFill>
                  <a:srgbClr val="000000"/>
                </a:solidFill>
                <a:latin typeface="Poppins" panose="00000500000000000000" pitchFamily="2" charset="0"/>
              </a:rPr>
              <a:t>Crop production and management</a:t>
            </a:r>
            <a:endParaRPr lang="en-IN" sz="1000" dirty="0">
              <a:solidFill>
                <a:srgbClr val="000000"/>
              </a:solidFill>
              <a:latin typeface="Poppins" panose="00000500000000000000" pitchFamily="2" charset="0"/>
            </a:endParaRPr>
          </a:p>
        </p:txBody>
      </p:sp>
      <p:sp>
        <p:nvSpPr>
          <p:cNvPr id="16" name="AutoShape 23">
            <a:extLst>
              <a:ext uri="{FF2B5EF4-FFF2-40B4-BE49-F238E27FC236}">
                <a16:creationId xmlns:a16="http://schemas.microsoft.com/office/drawing/2014/main" id="{F5E7D6DF-01D3-40DD-8FCE-3E6546274E86}"/>
              </a:ext>
            </a:extLst>
          </p:cNvPr>
          <p:cNvSpPr>
            <a:spLocks noChangeArrowheads="1"/>
          </p:cNvSpPr>
          <p:nvPr/>
        </p:nvSpPr>
        <p:spPr bwMode="auto">
          <a:xfrm>
            <a:off x="431800" y="557213"/>
            <a:ext cx="4749800" cy="522288"/>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algn="ctr"/>
            <a:r>
              <a:rPr lang="en-IN" dirty="0">
                <a:solidFill>
                  <a:schemeClr val="bg1"/>
                </a:solidFill>
                <a:latin typeface="Comic Sans MS" panose="030F0702030302020204" pitchFamily="66" charset="0"/>
              </a:rPr>
              <a:t>Adding Manure and Fertilisers</a:t>
            </a:r>
          </a:p>
        </p:txBody>
      </p:sp>
      <p:sp>
        <p:nvSpPr>
          <p:cNvPr id="17" name="Title 1">
            <a:extLst>
              <a:ext uri="{FF2B5EF4-FFF2-40B4-BE49-F238E27FC236}">
                <a16:creationId xmlns:a16="http://schemas.microsoft.com/office/drawing/2014/main" id="{F00B989A-F7D8-4F04-BA18-09068079FD88}"/>
              </a:ext>
            </a:extLst>
          </p:cNvPr>
          <p:cNvSpPr txBox="1">
            <a:spLocks/>
          </p:cNvSpPr>
          <p:nvPr/>
        </p:nvSpPr>
        <p:spPr>
          <a:xfrm>
            <a:off x="461297" y="591483"/>
            <a:ext cx="464344" cy="466090"/>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3</a:t>
            </a:r>
          </a:p>
        </p:txBody>
      </p:sp>
      <p:sp>
        <p:nvSpPr>
          <p:cNvPr id="7" name="Rectangle 6">
            <a:extLst>
              <a:ext uri="{FF2B5EF4-FFF2-40B4-BE49-F238E27FC236}">
                <a16:creationId xmlns:a16="http://schemas.microsoft.com/office/drawing/2014/main" id="{9011CAF3-5ACA-4EFD-BBB6-6865B4AC5FB1}"/>
              </a:ext>
            </a:extLst>
          </p:cNvPr>
          <p:cNvSpPr/>
          <p:nvPr/>
        </p:nvSpPr>
        <p:spPr>
          <a:xfrm>
            <a:off x="431800" y="1208967"/>
            <a:ext cx="6606244" cy="1169551"/>
          </a:xfrm>
          <a:prstGeom prst="rect">
            <a:avLst/>
          </a:prstGeom>
        </p:spPr>
        <p:txBody>
          <a:bodyPr wrap="square">
            <a:spAutoFit/>
          </a:bodyPr>
          <a:lstStyle/>
          <a:p>
            <a:pPr algn="just"/>
            <a:r>
              <a:rPr lang="en-IN" sz="1400" dirty="0">
                <a:latin typeface="Comic Sans MS" panose="030F0702030302020204" pitchFamily="66" charset="0"/>
              </a:rPr>
              <a:t>Repeated growing of crops in the same field removes a lot of precious minerals, elements, organic matter and other material from the soil. Due to this soil become infertile after some time, and the crop yield decreases. The deficiency of plant nutrients and organic matter in the soil is made by adding </a:t>
            </a:r>
            <a:r>
              <a:rPr lang="en-IN" sz="1400" b="1" dirty="0">
                <a:latin typeface="Comic Sans MS" panose="030F0702030302020204" pitchFamily="66" charset="0"/>
              </a:rPr>
              <a:t>manures</a:t>
            </a:r>
            <a:r>
              <a:rPr lang="en-IN" sz="1400" dirty="0">
                <a:latin typeface="Comic Sans MS" panose="030F0702030302020204" pitchFamily="66" charset="0"/>
              </a:rPr>
              <a:t> and </a:t>
            </a:r>
            <a:r>
              <a:rPr lang="en-IN" sz="1400" b="1" dirty="0">
                <a:latin typeface="Comic Sans MS" panose="030F0702030302020204" pitchFamily="66" charset="0"/>
              </a:rPr>
              <a:t>fertilisers</a:t>
            </a:r>
            <a:r>
              <a:rPr lang="en-IN" sz="1400" dirty="0">
                <a:latin typeface="Comic Sans MS" panose="030F0702030302020204" pitchFamily="66" charset="0"/>
              </a:rPr>
              <a:t> to the soil.</a:t>
            </a:r>
          </a:p>
        </p:txBody>
      </p:sp>
      <p:sp>
        <p:nvSpPr>
          <p:cNvPr id="18" name="AutoShape 11">
            <a:extLst>
              <a:ext uri="{FF2B5EF4-FFF2-40B4-BE49-F238E27FC236}">
                <a16:creationId xmlns:a16="http://schemas.microsoft.com/office/drawing/2014/main" id="{D53D62C2-CE55-4FF7-9CB7-B4DB84B59B29}"/>
              </a:ext>
            </a:extLst>
          </p:cNvPr>
          <p:cNvSpPr>
            <a:spLocks noChangeArrowheads="1"/>
          </p:cNvSpPr>
          <p:nvPr/>
        </p:nvSpPr>
        <p:spPr bwMode="auto">
          <a:xfrm>
            <a:off x="431800" y="2378518"/>
            <a:ext cx="2950029" cy="625475"/>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dirty="0">
                <a:latin typeface="Comic Sans MS" panose="030F0702030302020204" pitchFamily="66" charset="0"/>
              </a:rPr>
              <a:t>Manures</a:t>
            </a:r>
          </a:p>
        </p:txBody>
      </p:sp>
      <p:sp>
        <p:nvSpPr>
          <p:cNvPr id="19" name="AutoShape 11">
            <a:extLst>
              <a:ext uri="{FF2B5EF4-FFF2-40B4-BE49-F238E27FC236}">
                <a16:creationId xmlns:a16="http://schemas.microsoft.com/office/drawing/2014/main" id="{C0CABC7E-B6E9-4896-8F69-14F5396496F1}"/>
              </a:ext>
            </a:extLst>
          </p:cNvPr>
          <p:cNvSpPr>
            <a:spLocks noChangeArrowheads="1"/>
          </p:cNvSpPr>
          <p:nvPr/>
        </p:nvSpPr>
        <p:spPr bwMode="auto">
          <a:xfrm>
            <a:off x="461296" y="4277644"/>
            <a:ext cx="2950029" cy="625475"/>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dirty="0">
                <a:latin typeface="Comic Sans MS" panose="030F0702030302020204" pitchFamily="66" charset="0"/>
              </a:rPr>
              <a:t>Fertilisers</a:t>
            </a:r>
          </a:p>
        </p:txBody>
      </p:sp>
      <p:sp>
        <p:nvSpPr>
          <p:cNvPr id="20" name="Rectangle 19">
            <a:extLst>
              <a:ext uri="{FF2B5EF4-FFF2-40B4-BE49-F238E27FC236}">
                <a16:creationId xmlns:a16="http://schemas.microsoft.com/office/drawing/2014/main" id="{B3AC9152-8322-4638-9A9A-940DF3079B80}"/>
              </a:ext>
            </a:extLst>
          </p:cNvPr>
          <p:cNvSpPr/>
          <p:nvPr/>
        </p:nvSpPr>
        <p:spPr>
          <a:xfrm>
            <a:off x="461296" y="3027759"/>
            <a:ext cx="6606244" cy="1169551"/>
          </a:xfrm>
          <a:prstGeom prst="rect">
            <a:avLst/>
          </a:prstGeom>
        </p:spPr>
        <p:txBody>
          <a:bodyPr wrap="square">
            <a:spAutoFit/>
          </a:bodyPr>
          <a:lstStyle/>
          <a:p>
            <a:pPr algn="just"/>
            <a:r>
              <a:rPr lang="en-IN" sz="1400" dirty="0">
                <a:latin typeface="Comic Sans MS" panose="030F0702030302020204" pitchFamily="66" charset="0"/>
              </a:rPr>
              <a:t>Manure is an organic substance obtained from the decomposition of plant or animal wastes. Farmers dump plant and animal waste in pits at open places and allow it to decompose. The decomposition is caused by some microorganisms (vermicomposting). The decomposed matter is used as organic manure.</a:t>
            </a:r>
          </a:p>
        </p:txBody>
      </p:sp>
      <p:sp>
        <p:nvSpPr>
          <p:cNvPr id="21" name="Rectangle 20">
            <a:extLst>
              <a:ext uri="{FF2B5EF4-FFF2-40B4-BE49-F238E27FC236}">
                <a16:creationId xmlns:a16="http://schemas.microsoft.com/office/drawing/2014/main" id="{E2FC4F0B-9D17-45F3-848E-3696A179B29A}"/>
              </a:ext>
            </a:extLst>
          </p:cNvPr>
          <p:cNvSpPr/>
          <p:nvPr/>
        </p:nvSpPr>
        <p:spPr>
          <a:xfrm>
            <a:off x="461297" y="5046953"/>
            <a:ext cx="6606243" cy="1169551"/>
          </a:xfrm>
          <a:prstGeom prst="rect">
            <a:avLst/>
          </a:prstGeom>
        </p:spPr>
        <p:txBody>
          <a:bodyPr wrap="square">
            <a:spAutoFit/>
          </a:bodyPr>
          <a:lstStyle/>
          <a:p>
            <a:pPr algn="just"/>
            <a:r>
              <a:rPr lang="en-IN" sz="1400" dirty="0">
                <a:latin typeface="Comic Sans MS" panose="030F0702030302020204" pitchFamily="66" charset="0"/>
              </a:rPr>
              <a:t>Fertilisers are chemicals which are rich in a particular nutrient. Some examples of fertilisers are— urea, ammonium sulphate, super phosphate, potash, NPK (Nitrogen, Phosphorus, Potassium). </a:t>
            </a:r>
          </a:p>
          <a:p>
            <a:pPr algn="just"/>
            <a:r>
              <a:rPr lang="en-IN" sz="1400" dirty="0">
                <a:latin typeface="Comic Sans MS" panose="030F0702030302020204" pitchFamily="66" charset="0"/>
              </a:rPr>
              <a:t>	Fertilisers help farmers to grow better yield but excessive use of fertilisers can cause soil unfertile and has become a source of soil pollution.</a:t>
            </a:r>
          </a:p>
        </p:txBody>
      </p:sp>
      <p:sp>
        <p:nvSpPr>
          <p:cNvPr id="22" name="Rectangle: Rounded Corners 21">
            <a:extLst>
              <a:ext uri="{FF2B5EF4-FFF2-40B4-BE49-F238E27FC236}">
                <a16:creationId xmlns:a16="http://schemas.microsoft.com/office/drawing/2014/main" id="{706F380B-ACB4-4CF3-A78D-FB85FF1C7DA2}"/>
              </a:ext>
            </a:extLst>
          </p:cNvPr>
          <p:cNvSpPr/>
          <p:nvPr/>
        </p:nvSpPr>
        <p:spPr>
          <a:xfrm>
            <a:off x="498474" y="6438900"/>
            <a:ext cx="6629400" cy="3493974"/>
          </a:xfrm>
          <a:prstGeom prst="roundRect">
            <a:avLst>
              <a:gd name="adj" fmla="val 9435"/>
            </a:avLst>
          </a:prstGeom>
          <a:solidFill>
            <a:schemeClr val="accent4">
              <a:lumMod val="20000"/>
              <a:lumOff val="80000"/>
            </a:schemeClr>
          </a:solidFill>
          <a:ln w="571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3" name="Picture 22">
            <a:extLst>
              <a:ext uri="{FF2B5EF4-FFF2-40B4-BE49-F238E27FC236}">
                <a16:creationId xmlns:a16="http://schemas.microsoft.com/office/drawing/2014/main" id="{D07041D2-C94F-43DF-947E-7065382B5C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0887" y="6918080"/>
            <a:ext cx="2870332" cy="2014017"/>
          </a:xfrm>
          <a:prstGeom prst="roundRect">
            <a:avLst>
              <a:gd name="adj" fmla="val 12357"/>
            </a:avLst>
          </a:prstGeom>
          <a:ln>
            <a:solidFill>
              <a:schemeClr val="tx1"/>
            </a:solidFill>
          </a:ln>
        </p:spPr>
      </p:pic>
      <p:sp>
        <p:nvSpPr>
          <p:cNvPr id="24" name="Rectangle: Rounded Corners 23">
            <a:extLst>
              <a:ext uri="{FF2B5EF4-FFF2-40B4-BE49-F238E27FC236}">
                <a16:creationId xmlns:a16="http://schemas.microsoft.com/office/drawing/2014/main" id="{A46A5AB4-9BCB-448F-BA5C-BB1C577D4CF7}"/>
              </a:ext>
            </a:extLst>
          </p:cNvPr>
          <p:cNvSpPr/>
          <p:nvPr/>
        </p:nvSpPr>
        <p:spPr>
          <a:xfrm>
            <a:off x="827087" y="9065448"/>
            <a:ext cx="2701542" cy="388530"/>
          </a:xfrm>
          <a:prstGeom prst="roundRect">
            <a:avLst>
              <a:gd name="adj" fmla="val 18930"/>
            </a:avLst>
          </a:prstGeom>
          <a:solidFill>
            <a:schemeClr val="accent2"/>
          </a:solidFill>
        </p:spPr>
        <p:txBody>
          <a:bodyPr wrap="square" anchor="ctr">
            <a:spAutoFit/>
          </a:bodyPr>
          <a:lstStyle/>
          <a:p>
            <a:pPr algn="ctr"/>
            <a:r>
              <a:rPr lang="en-IN" sz="1600" dirty="0">
                <a:solidFill>
                  <a:schemeClr val="bg1"/>
                </a:solidFill>
                <a:latin typeface="Comic Sans MS" panose="030F0702030302020204" pitchFamily="66" charset="0"/>
              </a:rPr>
              <a:t>Manures</a:t>
            </a:r>
          </a:p>
        </p:txBody>
      </p:sp>
      <p:pic>
        <p:nvPicPr>
          <p:cNvPr id="25" name="Picture 24">
            <a:extLst>
              <a:ext uri="{FF2B5EF4-FFF2-40B4-BE49-F238E27FC236}">
                <a16:creationId xmlns:a16="http://schemas.microsoft.com/office/drawing/2014/main" id="{C90D1C87-6CA8-4E20-A5F6-610E8AE68501}"/>
              </a:ext>
            </a:extLst>
          </p:cNvPr>
          <p:cNvPicPr>
            <a:picLocks noChangeAspect="1"/>
          </p:cNvPicPr>
          <p:nvPr/>
        </p:nvPicPr>
        <p:blipFill rotWithShape="1">
          <a:blip r:embed="rId3"/>
          <a:srcRect r="16931"/>
          <a:stretch/>
        </p:blipFill>
        <p:spPr>
          <a:xfrm>
            <a:off x="3857241" y="6918080"/>
            <a:ext cx="2951547" cy="2071003"/>
          </a:xfrm>
          <a:prstGeom prst="roundRect">
            <a:avLst/>
          </a:prstGeom>
          <a:ln>
            <a:solidFill>
              <a:schemeClr val="tx1"/>
            </a:solidFill>
          </a:ln>
        </p:spPr>
      </p:pic>
      <p:sp>
        <p:nvSpPr>
          <p:cNvPr id="26" name="Rectangle: Rounded Corners 25">
            <a:extLst>
              <a:ext uri="{FF2B5EF4-FFF2-40B4-BE49-F238E27FC236}">
                <a16:creationId xmlns:a16="http://schemas.microsoft.com/office/drawing/2014/main" id="{F236F8E3-60A9-4712-B290-4C2B689006FF}"/>
              </a:ext>
            </a:extLst>
          </p:cNvPr>
          <p:cNvSpPr/>
          <p:nvPr/>
        </p:nvSpPr>
        <p:spPr>
          <a:xfrm>
            <a:off x="3857241" y="9135699"/>
            <a:ext cx="2932498" cy="388530"/>
          </a:xfrm>
          <a:prstGeom prst="roundRect">
            <a:avLst>
              <a:gd name="adj" fmla="val 18930"/>
            </a:avLst>
          </a:prstGeom>
          <a:solidFill>
            <a:schemeClr val="accent2"/>
          </a:solidFill>
        </p:spPr>
        <p:txBody>
          <a:bodyPr wrap="square" anchor="ctr">
            <a:spAutoFit/>
          </a:bodyPr>
          <a:lstStyle/>
          <a:p>
            <a:pPr algn="ctr"/>
            <a:r>
              <a:rPr lang="en-IN" sz="1600" dirty="0">
                <a:solidFill>
                  <a:schemeClr val="bg1"/>
                </a:solidFill>
                <a:latin typeface="Comic Sans MS" panose="030F0702030302020204" pitchFamily="66" charset="0"/>
              </a:rPr>
              <a:t>Fertilisers</a:t>
            </a:r>
          </a:p>
        </p:txBody>
      </p:sp>
    </p:spTree>
    <p:extLst>
      <p:ext uri="{BB962C8B-B14F-4D97-AF65-F5344CB8AC3E}">
        <p14:creationId xmlns:p14="http://schemas.microsoft.com/office/powerpoint/2010/main" val="1881897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1">
            <a:extLst>
              <a:ext uri="{FF2B5EF4-FFF2-40B4-BE49-F238E27FC236}">
                <a16:creationId xmlns:a16="http://schemas.microsoft.com/office/drawing/2014/main" id="{4F1A9797-FB0B-486C-9B02-54D8AA54FCA4}"/>
              </a:ext>
            </a:extLst>
          </p:cNvPr>
          <p:cNvSpPr>
            <a:spLocks noChangeArrowheads="1"/>
          </p:cNvSpPr>
          <p:nvPr/>
        </p:nvSpPr>
        <p:spPr bwMode="auto">
          <a:xfrm>
            <a:off x="431800" y="1854727"/>
            <a:ext cx="2950029" cy="625475"/>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dirty="0">
                <a:latin typeface="Comic Sans MS" panose="030F0702030302020204" pitchFamily="66" charset="0"/>
              </a:rPr>
              <a:t>Crop Rotation</a:t>
            </a:r>
          </a:p>
        </p:txBody>
      </p:sp>
      <p:sp>
        <p:nvSpPr>
          <p:cNvPr id="4" name="AutoShape 43">
            <a:extLst>
              <a:ext uri="{FF2B5EF4-FFF2-40B4-BE49-F238E27FC236}">
                <a16:creationId xmlns:a16="http://schemas.microsoft.com/office/drawing/2014/main" id="{71748CC7-CED2-4D2B-A235-C23C2FE5CA6A}"/>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ext Box 45">
            <a:extLst>
              <a:ext uri="{FF2B5EF4-FFF2-40B4-BE49-F238E27FC236}">
                <a16:creationId xmlns:a16="http://schemas.microsoft.com/office/drawing/2014/main" id="{2304DBAF-A1EE-4647-ABC7-2DA56E2F85C0}"/>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6</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 Box 46">
            <a:extLst>
              <a:ext uri="{FF2B5EF4-FFF2-40B4-BE49-F238E27FC236}">
                <a16:creationId xmlns:a16="http://schemas.microsoft.com/office/drawing/2014/main" id="{118CE49A-2B88-420D-9780-32F9D7600C5B}"/>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dirty="0">
                <a:ln>
                  <a:noFill/>
                </a:ln>
                <a:solidFill>
                  <a:srgbClr val="000000"/>
                </a:solidFill>
                <a:effectLst/>
                <a:latin typeface="Poppins" panose="00000500000000000000" pitchFamily="2" charset="0"/>
              </a:rPr>
              <a:t>Aayush - CBSE Class 7 Science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 Box 47">
            <a:extLst>
              <a:ext uri="{FF2B5EF4-FFF2-40B4-BE49-F238E27FC236}">
                <a16:creationId xmlns:a16="http://schemas.microsoft.com/office/drawing/2014/main" id="{D521C94A-CCB8-4AE5-8CCA-957789DC37DE}"/>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a:solidFill>
                  <a:srgbClr val="000000"/>
                </a:solidFill>
                <a:latin typeface="Poppins" panose="00000500000000000000" pitchFamily="2" charset="0"/>
              </a:rPr>
              <a:t>Crop production and management</a:t>
            </a:r>
            <a:endParaRPr lang="en-IN" sz="1000" dirty="0">
              <a:solidFill>
                <a:srgbClr val="000000"/>
              </a:solidFill>
              <a:latin typeface="Poppins" panose="00000500000000000000" pitchFamily="2" charset="0"/>
            </a:endParaRPr>
          </a:p>
        </p:txBody>
      </p:sp>
      <p:sp>
        <p:nvSpPr>
          <p:cNvPr id="8" name="Rectangle 7">
            <a:extLst>
              <a:ext uri="{FF2B5EF4-FFF2-40B4-BE49-F238E27FC236}">
                <a16:creationId xmlns:a16="http://schemas.microsoft.com/office/drawing/2014/main" id="{FB57081B-A3CC-4841-8FE3-6A142F8DFCAA}"/>
              </a:ext>
            </a:extLst>
          </p:cNvPr>
          <p:cNvSpPr/>
          <p:nvPr/>
        </p:nvSpPr>
        <p:spPr>
          <a:xfrm>
            <a:off x="431801" y="563335"/>
            <a:ext cx="6606243" cy="1169551"/>
          </a:xfrm>
          <a:prstGeom prst="rect">
            <a:avLst/>
          </a:prstGeom>
        </p:spPr>
        <p:txBody>
          <a:bodyPr wrap="square">
            <a:spAutoFit/>
          </a:bodyPr>
          <a:lstStyle/>
          <a:p>
            <a:pPr algn="just"/>
            <a:r>
              <a:rPr lang="en-IN" sz="1400" dirty="0">
                <a:latin typeface="Comic Sans MS" panose="030F0702030302020204" pitchFamily="66" charset="0"/>
              </a:rPr>
              <a:t>Advantages of manures over fertilisers:</a:t>
            </a:r>
          </a:p>
          <a:p>
            <a:pPr marL="285750" indent="-285750" algn="just">
              <a:buFont typeface="Arial" panose="020B0604020202020204" pitchFamily="34" charset="0"/>
              <a:buChar char="•"/>
            </a:pPr>
            <a:r>
              <a:rPr lang="en-IN" sz="1400" dirty="0">
                <a:latin typeface="Comic Sans MS" panose="030F0702030302020204" pitchFamily="66" charset="0"/>
              </a:rPr>
              <a:t>It enhances the water holding capacity of the soil.</a:t>
            </a:r>
          </a:p>
          <a:p>
            <a:pPr marL="285750" indent="-285750" algn="just">
              <a:buFont typeface="Arial" panose="020B0604020202020204" pitchFamily="34" charset="0"/>
              <a:buChar char="•"/>
            </a:pPr>
            <a:r>
              <a:rPr lang="en-IN" sz="1400" dirty="0">
                <a:latin typeface="Comic Sans MS" panose="030F0702030302020204" pitchFamily="66" charset="0"/>
              </a:rPr>
              <a:t>It makes the soil porous due to which exchange of gases becomes easy.</a:t>
            </a:r>
          </a:p>
          <a:p>
            <a:pPr marL="285750" indent="-285750" algn="just">
              <a:buFont typeface="Arial" panose="020B0604020202020204" pitchFamily="34" charset="0"/>
              <a:buChar char="•"/>
            </a:pPr>
            <a:r>
              <a:rPr lang="en-IN" sz="1400" dirty="0">
                <a:latin typeface="Comic Sans MS" panose="030F0702030302020204" pitchFamily="66" charset="0"/>
              </a:rPr>
              <a:t>it increases the number of friendly microbes. </a:t>
            </a:r>
          </a:p>
          <a:p>
            <a:pPr marL="285750" indent="-285750" algn="just">
              <a:buFont typeface="Arial" panose="020B0604020202020204" pitchFamily="34" charset="0"/>
              <a:buChar char="•"/>
            </a:pPr>
            <a:r>
              <a:rPr lang="en-IN" sz="1400" dirty="0">
                <a:latin typeface="Comic Sans MS" panose="030F0702030302020204" pitchFamily="66" charset="0"/>
              </a:rPr>
              <a:t>it improves the texture of the soil. </a:t>
            </a:r>
          </a:p>
        </p:txBody>
      </p:sp>
      <p:sp>
        <p:nvSpPr>
          <p:cNvPr id="9" name="Rectangle 8">
            <a:extLst>
              <a:ext uri="{FF2B5EF4-FFF2-40B4-BE49-F238E27FC236}">
                <a16:creationId xmlns:a16="http://schemas.microsoft.com/office/drawing/2014/main" id="{2E069563-B5BF-4038-B601-DEC81D48AAA9}"/>
              </a:ext>
            </a:extLst>
          </p:cNvPr>
          <p:cNvSpPr/>
          <p:nvPr/>
        </p:nvSpPr>
        <p:spPr>
          <a:xfrm>
            <a:off x="431799" y="2512163"/>
            <a:ext cx="6606243" cy="1600438"/>
          </a:xfrm>
          <a:prstGeom prst="rect">
            <a:avLst/>
          </a:prstGeom>
        </p:spPr>
        <p:txBody>
          <a:bodyPr wrap="square">
            <a:spAutoFit/>
          </a:bodyPr>
          <a:lstStyle/>
          <a:p>
            <a:pPr algn="just"/>
            <a:r>
              <a:rPr lang="en-IN" sz="1400" dirty="0">
                <a:latin typeface="Comic Sans MS" panose="030F0702030302020204" pitchFamily="66" charset="0"/>
              </a:rPr>
              <a:t>Rhizobium bacteria are present in the nodules of roots of leguminous plants. Which helps plants to fulfil the nitrogen requirements by converting atmospheric gas to usable nitrogen by the plants which go into the soil and improves the fertility. </a:t>
            </a:r>
          </a:p>
          <a:p>
            <a:pPr algn="just"/>
            <a:r>
              <a:rPr lang="en-IN" sz="1400" dirty="0">
                <a:latin typeface="Comic Sans MS" panose="030F0702030302020204" pitchFamily="66" charset="0"/>
              </a:rPr>
              <a:t>	In crop rotation cereal crops like wheat, maize, paddy, millet are grown alternately with leguminous crops like pulses, peas, beans, groundnut, clover in the same field.</a:t>
            </a:r>
          </a:p>
        </p:txBody>
      </p:sp>
      <p:sp>
        <p:nvSpPr>
          <p:cNvPr id="12" name="AutoShape 23">
            <a:extLst>
              <a:ext uri="{FF2B5EF4-FFF2-40B4-BE49-F238E27FC236}">
                <a16:creationId xmlns:a16="http://schemas.microsoft.com/office/drawing/2014/main" id="{299D3007-AAC8-4821-87FD-4DEE6B3CDC2B}"/>
              </a:ext>
            </a:extLst>
          </p:cNvPr>
          <p:cNvSpPr>
            <a:spLocks noChangeArrowheads="1"/>
          </p:cNvSpPr>
          <p:nvPr/>
        </p:nvSpPr>
        <p:spPr bwMode="auto">
          <a:xfrm>
            <a:off x="431800" y="4147463"/>
            <a:ext cx="3587750" cy="522288"/>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algn="ctr"/>
            <a:r>
              <a:rPr lang="en-IN" dirty="0">
                <a:solidFill>
                  <a:schemeClr val="bg1"/>
                </a:solidFill>
                <a:latin typeface="Comic Sans MS" panose="030F0702030302020204" pitchFamily="66" charset="0"/>
              </a:rPr>
              <a:t>Irrigation</a:t>
            </a:r>
          </a:p>
        </p:txBody>
      </p:sp>
      <p:sp>
        <p:nvSpPr>
          <p:cNvPr id="13" name="Title 1">
            <a:extLst>
              <a:ext uri="{FF2B5EF4-FFF2-40B4-BE49-F238E27FC236}">
                <a16:creationId xmlns:a16="http://schemas.microsoft.com/office/drawing/2014/main" id="{5937D879-E0FB-4581-917B-A2EE8B699F30}"/>
              </a:ext>
            </a:extLst>
          </p:cNvPr>
          <p:cNvSpPr txBox="1">
            <a:spLocks/>
          </p:cNvSpPr>
          <p:nvPr/>
        </p:nvSpPr>
        <p:spPr>
          <a:xfrm>
            <a:off x="461297" y="4181733"/>
            <a:ext cx="464344" cy="466090"/>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4</a:t>
            </a:r>
          </a:p>
        </p:txBody>
      </p:sp>
      <p:sp>
        <p:nvSpPr>
          <p:cNvPr id="14" name="Rectangle 13">
            <a:extLst>
              <a:ext uri="{FF2B5EF4-FFF2-40B4-BE49-F238E27FC236}">
                <a16:creationId xmlns:a16="http://schemas.microsoft.com/office/drawing/2014/main" id="{0D43CDDC-D481-4DE3-BE85-8827BB819F2E}"/>
              </a:ext>
            </a:extLst>
          </p:cNvPr>
          <p:cNvSpPr/>
          <p:nvPr/>
        </p:nvSpPr>
        <p:spPr>
          <a:xfrm>
            <a:off x="431799" y="4731961"/>
            <a:ext cx="6606243" cy="2246769"/>
          </a:xfrm>
          <a:prstGeom prst="rect">
            <a:avLst/>
          </a:prstGeom>
        </p:spPr>
        <p:txBody>
          <a:bodyPr wrap="square">
            <a:spAutoFit/>
          </a:bodyPr>
          <a:lstStyle/>
          <a:p>
            <a:pPr algn="just"/>
            <a:r>
              <a:rPr lang="en-IN" sz="1400" dirty="0">
                <a:latin typeface="Comic Sans MS" panose="030F0702030302020204" pitchFamily="66" charset="0"/>
              </a:rPr>
              <a:t>Water is important for proper growth and development for both animals and plants. Water is essential because the plants are 90% made of water and germination of seeds does not take place under dry conditions. Nutrients dissolved in water are transported to each part of the plant. Water also protects the crop from both frost and hot air currents. </a:t>
            </a:r>
          </a:p>
          <a:p>
            <a:pPr algn="just"/>
            <a:r>
              <a:rPr lang="en-IN" sz="1400" dirty="0">
                <a:latin typeface="Comic Sans MS" panose="030F0702030302020204" pitchFamily="66" charset="0"/>
              </a:rPr>
              <a:t>	The supply of water to crops at regular intervals is called </a:t>
            </a:r>
            <a:r>
              <a:rPr lang="en-IN" sz="1400" b="1" i="1" dirty="0">
                <a:latin typeface="Comic Sans MS" panose="030F0702030302020204" pitchFamily="66" charset="0"/>
              </a:rPr>
              <a:t>irrigation</a:t>
            </a:r>
            <a:r>
              <a:rPr lang="en-IN" sz="1400" dirty="0">
                <a:latin typeface="Comic Sans MS" panose="030F0702030302020204" pitchFamily="66" charset="0"/>
              </a:rPr>
              <a:t>. Kharif crops require more water that Rabi crops. In summer, the frequency of watering is higher because of high rate of evaporation.</a:t>
            </a:r>
          </a:p>
          <a:p>
            <a:pPr algn="just"/>
            <a:r>
              <a:rPr lang="en-IN" sz="1400" dirty="0">
                <a:latin typeface="Comic Sans MS" panose="030F0702030302020204" pitchFamily="66" charset="0"/>
              </a:rPr>
              <a:t>	Wells, tube wells, ponds, lakes, rivers, dams and canals are the sources water for irrigation of plants.</a:t>
            </a:r>
          </a:p>
        </p:txBody>
      </p:sp>
      <p:sp>
        <p:nvSpPr>
          <p:cNvPr id="15" name="AutoShape 11">
            <a:extLst>
              <a:ext uri="{FF2B5EF4-FFF2-40B4-BE49-F238E27FC236}">
                <a16:creationId xmlns:a16="http://schemas.microsoft.com/office/drawing/2014/main" id="{A5E7CBE3-8D2B-4D30-9828-D4B6B5357259}"/>
              </a:ext>
            </a:extLst>
          </p:cNvPr>
          <p:cNvSpPr>
            <a:spLocks noChangeArrowheads="1"/>
          </p:cNvSpPr>
          <p:nvPr/>
        </p:nvSpPr>
        <p:spPr bwMode="auto">
          <a:xfrm>
            <a:off x="461297" y="7092366"/>
            <a:ext cx="2950029" cy="625475"/>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dirty="0">
                <a:latin typeface="Comic Sans MS" panose="030F0702030302020204" pitchFamily="66" charset="0"/>
              </a:rPr>
              <a:t>Traditional Methods</a:t>
            </a:r>
          </a:p>
        </p:txBody>
      </p:sp>
      <p:sp>
        <p:nvSpPr>
          <p:cNvPr id="16" name="Rectangle 15">
            <a:extLst>
              <a:ext uri="{FF2B5EF4-FFF2-40B4-BE49-F238E27FC236}">
                <a16:creationId xmlns:a16="http://schemas.microsoft.com/office/drawing/2014/main" id="{368708B7-7758-4DF1-B5FB-007E74E46D75}"/>
              </a:ext>
            </a:extLst>
          </p:cNvPr>
          <p:cNvSpPr/>
          <p:nvPr/>
        </p:nvSpPr>
        <p:spPr>
          <a:xfrm>
            <a:off x="550198" y="7831477"/>
            <a:ext cx="3229640" cy="523220"/>
          </a:xfrm>
          <a:prstGeom prst="rect">
            <a:avLst/>
          </a:prstGeom>
        </p:spPr>
        <p:txBody>
          <a:bodyPr wrap="square">
            <a:spAutoFit/>
          </a:bodyPr>
          <a:lstStyle/>
          <a:p>
            <a:r>
              <a:rPr lang="en-IN" sz="1400" dirty="0">
                <a:latin typeface="Comic Sans MS" panose="030F0702030302020204" pitchFamily="66" charset="0"/>
              </a:rPr>
              <a:t>The various traditional ways for irrigation are:</a:t>
            </a:r>
          </a:p>
        </p:txBody>
      </p:sp>
      <p:sp>
        <p:nvSpPr>
          <p:cNvPr id="17" name="Rectangle 16">
            <a:extLst>
              <a:ext uri="{FF2B5EF4-FFF2-40B4-BE49-F238E27FC236}">
                <a16:creationId xmlns:a16="http://schemas.microsoft.com/office/drawing/2014/main" id="{7B674FF8-ED32-436C-B401-F8A4A71C3DE5}"/>
              </a:ext>
            </a:extLst>
          </p:cNvPr>
          <p:cNvSpPr/>
          <p:nvPr/>
        </p:nvSpPr>
        <p:spPr>
          <a:xfrm>
            <a:off x="503375" y="8351554"/>
            <a:ext cx="3323286" cy="954107"/>
          </a:xfrm>
          <a:prstGeom prst="rect">
            <a:avLst/>
          </a:prstGeom>
        </p:spPr>
        <p:txBody>
          <a:bodyPr wrap="square">
            <a:spAutoFit/>
          </a:bodyPr>
          <a:lstStyle/>
          <a:p>
            <a:pPr marL="285750" indent="-285750">
              <a:buFont typeface="Arial" panose="020B0604020202020204" pitchFamily="34" charset="0"/>
              <a:buChar char="•"/>
            </a:pPr>
            <a:r>
              <a:rPr lang="en-IN" sz="1400" dirty="0">
                <a:latin typeface="Comic Sans MS" panose="030F0702030302020204" pitchFamily="66" charset="0"/>
              </a:rPr>
              <a:t>Moat (Pully system)</a:t>
            </a:r>
          </a:p>
          <a:p>
            <a:pPr marL="285750" indent="-285750">
              <a:buFont typeface="Arial" panose="020B0604020202020204" pitchFamily="34" charset="0"/>
              <a:buChar char="•"/>
            </a:pPr>
            <a:r>
              <a:rPr lang="en-IN" sz="1400" dirty="0">
                <a:latin typeface="Comic Sans MS" panose="030F0702030302020204" pitchFamily="66" charset="0"/>
              </a:rPr>
              <a:t>Chain Pump</a:t>
            </a:r>
          </a:p>
          <a:p>
            <a:pPr marL="285750" indent="-285750">
              <a:buFont typeface="Arial" panose="020B0604020202020204" pitchFamily="34" charset="0"/>
              <a:buChar char="•"/>
            </a:pPr>
            <a:r>
              <a:rPr lang="en-IN" sz="1400" dirty="0">
                <a:latin typeface="Comic Sans MS" panose="030F0702030302020204" pitchFamily="66" charset="0"/>
              </a:rPr>
              <a:t>Dhekli</a:t>
            </a:r>
          </a:p>
          <a:p>
            <a:pPr marL="285750" indent="-285750">
              <a:buFont typeface="Arial" panose="020B0604020202020204" pitchFamily="34" charset="0"/>
              <a:buChar char="•"/>
            </a:pPr>
            <a:r>
              <a:rPr lang="en-IN" sz="1400" dirty="0">
                <a:latin typeface="Comic Sans MS" panose="030F0702030302020204" pitchFamily="66" charset="0"/>
              </a:rPr>
              <a:t>Rahat (Lever system)</a:t>
            </a:r>
          </a:p>
        </p:txBody>
      </p:sp>
      <p:pic>
        <p:nvPicPr>
          <p:cNvPr id="18" name="Picture 17">
            <a:extLst>
              <a:ext uri="{FF2B5EF4-FFF2-40B4-BE49-F238E27FC236}">
                <a16:creationId xmlns:a16="http://schemas.microsoft.com/office/drawing/2014/main" id="{5C7D053E-7B81-40BE-A4F9-EC72962FC749}"/>
              </a:ext>
            </a:extLst>
          </p:cNvPr>
          <p:cNvPicPr/>
          <p:nvPr/>
        </p:nvPicPr>
        <p:blipFill rotWithShape="1">
          <a:blip r:embed="rId2"/>
          <a:srcRect t="15384" b="9788"/>
          <a:stretch/>
        </p:blipFill>
        <p:spPr>
          <a:xfrm>
            <a:off x="3873484" y="7611735"/>
            <a:ext cx="3164558" cy="1869786"/>
          </a:xfrm>
          <a:prstGeom prst="roundRect">
            <a:avLst>
              <a:gd name="adj" fmla="val 5799"/>
            </a:avLst>
          </a:prstGeom>
          <a:ln w="28575">
            <a:solidFill>
              <a:schemeClr val="tx1"/>
            </a:solidFill>
          </a:ln>
        </p:spPr>
      </p:pic>
      <p:sp>
        <p:nvSpPr>
          <p:cNvPr id="19" name="Rectangle: Rounded Corners 18">
            <a:extLst>
              <a:ext uri="{FF2B5EF4-FFF2-40B4-BE49-F238E27FC236}">
                <a16:creationId xmlns:a16="http://schemas.microsoft.com/office/drawing/2014/main" id="{7C5F6362-5FFE-4D56-9AD4-F4AF6B35FF40}"/>
              </a:ext>
            </a:extLst>
          </p:cNvPr>
          <p:cNvSpPr/>
          <p:nvPr/>
        </p:nvSpPr>
        <p:spPr>
          <a:xfrm>
            <a:off x="3873484" y="9640868"/>
            <a:ext cx="3159601" cy="377845"/>
          </a:xfrm>
          <a:prstGeom prst="roundRect">
            <a:avLst>
              <a:gd name="adj" fmla="val 18930"/>
            </a:avLst>
          </a:prstGeom>
          <a:solidFill>
            <a:schemeClr val="accent2"/>
          </a:solidFill>
        </p:spPr>
        <p:txBody>
          <a:bodyPr wrap="square" anchor="ctr">
            <a:spAutoFit/>
          </a:bodyPr>
          <a:lstStyle/>
          <a:p>
            <a:pPr algn="ctr"/>
            <a:r>
              <a:rPr lang="en-IN" sz="1600" dirty="0">
                <a:solidFill>
                  <a:schemeClr val="bg1"/>
                </a:solidFill>
                <a:latin typeface="Comic Sans MS" panose="030F0702030302020204" pitchFamily="66" charset="0"/>
              </a:rPr>
              <a:t>Moat</a:t>
            </a:r>
          </a:p>
        </p:txBody>
      </p:sp>
    </p:spTree>
    <p:extLst>
      <p:ext uri="{BB962C8B-B14F-4D97-AF65-F5344CB8AC3E}">
        <p14:creationId xmlns:p14="http://schemas.microsoft.com/office/powerpoint/2010/main" val="2469017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43">
            <a:extLst>
              <a:ext uri="{FF2B5EF4-FFF2-40B4-BE49-F238E27FC236}">
                <a16:creationId xmlns:a16="http://schemas.microsoft.com/office/drawing/2014/main" id="{8CDCBB87-3188-4BB0-A47B-038CEAE3750D}"/>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7" name="Text Box 45">
            <a:extLst>
              <a:ext uri="{FF2B5EF4-FFF2-40B4-BE49-F238E27FC236}">
                <a16:creationId xmlns:a16="http://schemas.microsoft.com/office/drawing/2014/main" id="{3A899827-DD7E-43A6-85B2-13DC86E9F893}"/>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7</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 Box 46">
            <a:extLst>
              <a:ext uri="{FF2B5EF4-FFF2-40B4-BE49-F238E27FC236}">
                <a16:creationId xmlns:a16="http://schemas.microsoft.com/office/drawing/2014/main" id="{3F2E45D5-ADA1-4456-94EC-1F6D58437A33}"/>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dirty="0">
                <a:ln>
                  <a:noFill/>
                </a:ln>
                <a:solidFill>
                  <a:srgbClr val="000000"/>
                </a:solidFill>
                <a:effectLst/>
                <a:latin typeface="Poppins" panose="00000500000000000000" pitchFamily="2" charset="0"/>
              </a:rPr>
              <a:t>Aayush - CBSE Class 7 Science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 Box 47">
            <a:extLst>
              <a:ext uri="{FF2B5EF4-FFF2-40B4-BE49-F238E27FC236}">
                <a16:creationId xmlns:a16="http://schemas.microsoft.com/office/drawing/2014/main" id="{B7BC987D-B62E-44D7-8585-B9C3D00FA8B1}"/>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a:solidFill>
                  <a:srgbClr val="000000"/>
                </a:solidFill>
                <a:latin typeface="Poppins" panose="00000500000000000000" pitchFamily="2" charset="0"/>
              </a:rPr>
              <a:t>Crop production and management</a:t>
            </a:r>
            <a:endParaRPr lang="en-IN" sz="1000" dirty="0">
              <a:solidFill>
                <a:srgbClr val="000000"/>
              </a:solidFill>
              <a:latin typeface="Poppins" panose="00000500000000000000" pitchFamily="2" charset="0"/>
            </a:endParaRPr>
          </a:p>
        </p:txBody>
      </p:sp>
      <p:pic>
        <p:nvPicPr>
          <p:cNvPr id="13" name="Picture 12">
            <a:extLst>
              <a:ext uri="{FF2B5EF4-FFF2-40B4-BE49-F238E27FC236}">
                <a16:creationId xmlns:a16="http://schemas.microsoft.com/office/drawing/2014/main" id="{E0556053-FB5A-4E06-9E9F-69C6D44B6477}"/>
              </a:ext>
            </a:extLst>
          </p:cNvPr>
          <p:cNvPicPr/>
          <p:nvPr/>
        </p:nvPicPr>
        <p:blipFill>
          <a:blip r:embed="rId2"/>
          <a:stretch>
            <a:fillRect/>
          </a:stretch>
        </p:blipFill>
        <p:spPr>
          <a:xfrm>
            <a:off x="3853534" y="766763"/>
            <a:ext cx="3080035" cy="1870922"/>
          </a:xfrm>
          <a:prstGeom prst="roundRect">
            <a:avLst>
              <a:gd name="adj" fmla="val 6675"/>
            </a:avLst>
          </a:prstGeom>
          <a:ln w="28575">
            <a:solidFill>
              <a:schemeClr val="tx1"/>
            </a:solidFill>
          </a:ln>
        </p:spPr>
      </p:pic>
      <p:pic>
        <p:nvPicPr>
          <p:cNvPr id="14" name="Picture 13">
            <a:extLst>
              <a:ext uri="{FF2B5EF4-FFF2-40B4-BE49-F238E27FC236}">
                <a16:creationId xmlns:a16="http://schemas.microsoft.com/office/drawing/2014/main" id="{B9D0F1D2-40C3-41C2-A74E-F25F23547DB8}"/>
              </a:ext>
            </a:extLst>
          </p:cNvPr>
          <p:cNvPicPr/>
          <p:nvPr/>
        </p:nvPicPr>
        <p:blipFill>
          <a:blip r:embed="rId3"/>
          <a:stretch>
            <a:fillRect/>
          </a:stretch>
        </p:blipFill>
        <p:spPr>
          <a:xfrm>
            <a:off x="1289884" y="3467884"/>
            <a:ext cx="4785597" cy="2641714"/>
          </a:xfrm>
          <a:prstGeom prst="roundRect">
            <a:avLst>
              <a:gd name="adj" fmla="val 5678"/>
            </a:avLst>
          </a:prstGeom>
          <a:ln w="28575">
            <a:solidFill>
              <a:schemeClr val="tx1"/>
            </a:solidFill>
          </a:ln>
        </p:spPr>
      </p:pic>
      <p:pic>
        <p:nvPicPr>
          <p:cNvPr id="12" name="Picture 11">
            <a:extLst>
              <a:ext uri="{FF2B5EF4-FFF2-40B4-BE49-F238E27FC236}">
                <a16:creationId xmlns:a16="http://schemas.microsoft.com/office/drawing/2014/main" id="{EC3A40DA-75E2-4642-BC12-3B5E9BCCF8F5}"/>
              </a:ext>
            </a:extLst>
          </p:cNvPr>
          <p:cNvPicPr/>
          <p:nvPr/>
        </p:nvPicPr>
        <p:blipFill>
          <a:blip r:embed="rId4"/>
          <a:stretch>
            <a:fillRect/>
          </a:stretch>
        </p:blipFill>
        <p:spPr>
          <a:xfrm>
            <a:off x="431800" y="770573"/>
            <a:ext cx="3063871" cy="1840742"/>
          </a:xfrm>
          <a:prstGeom prst="roundRect">
            <a:avLst>
              <a:gd name="adj" fmla="val 10825"/>
            </a:avLst>
          </a:prstGeom>
          <a:ln w="28575">
            <a:solidFill>
              <a:schemeClr val="tx1"/>
            </a:solidFill>
          </a:ln>
        </p:spPr>
      </p:pic>
      <p:sp>
        <p:nvSpPr>
          <p:cNvPr id="18" name="Rectangle: Rounded Corners 17">
            <a:extLst>
              <a:ext uri="{FF2B5EF4-FFF2-40B4-BE49-F238E27FC236}">
                <a16:creationId xmlns:a16="http://schemas.microsoft.com/office/drawing/2014/main" id="{412BD9E6-0EAC-4E54-9F93-BB370AFDBD79}"/>
              </a:ext>
            </a:extLst>
          </p:cNvPr>
          <p:cNvSpPr/>
          <p:nvPr/>
        </p:nvSpPr>
        <p:spPr>
          <a:xfrm>
            <a:off x="431800" y="2742317"/>
            <a:ext cx="2894965" cy="377845"/>
          </a:xfrm>
          <a:prstGeom prst="roundRect">
            <a:avLst>
              <a:gd name="adj" fmla="val 18930"/>
            </a:avLst>
          </a:prstGeom>
          <a:solidFill>
            <a:schemeClr val="accent2"/>
          </a:solidFill>
        </p:spPr>
        <p:txBody>
          <a:bodyPr wrap="square" anchor="ctr">
            <a:spAutoFit/>
          </a:bodyPr>
          <a:lstStyle/>
          <a:p>
            <a:pPr algn="ctr"/>
            <a:r>
              <a:rPr lang="en-IN" sz="1600" dirty="0">
                <a:solidFill>
                  <a:schemeClr val="bg1"/>
                </a:solidFill>
                <a:latin typeface="Comic Sans MS" panose="030F0702030302020204" pitchFamily="66" charset="0"/>
              </a:rPr>
              <a:t>Chain Pump</a:t>
            </a:r>
          </a:p>
        </p:txBody>
      </p:sp>
      <p:sp>
        <p:nvSpPr>
          <p:cNvPr id="19" name="Rectangle: Rounded Corners 18">
            <a:extLst>
              <a:ext uri="{FF2B5EF4-FFF2-40B4-BE49-F238E27FC236}">
                <a16:creationId xmlns:a16="http://schemas.microsoft.com/office/drawing/2014/main" id="{BE6DEB00-311C-4F4C-9493-D40F6F45FBC0}"/>
              </a:ext>
            </a:extLst>
          </p:cNvPr>
          <p:cNvSpPr/>
          <p:nvPr/>
        </p:nvSpPr>
        <p:spPr>
          <a:xfrm>
            <a:off x="3779838" y="2771035"/>
            <a:ext cx="3153732" cy="377845"/>
          </a:xfrm>
          <a:prstGeom prst="roundRect">
            <a:avLst>
              <a:gd name="adj" fmla="val 18930"/>
            </a:avLst>
          </a:prstGeom>
          <a:solidFill>
            <a:schemeClr val="accent2"/>
          </a:solidFill>
        </p:spPr>
        <p:txBody>
          <a:bodyPr wrap="square" anchor="ctr">
            <a:spAutoFit/>
          </a:bodyPr>
          <a:lstStyle/>
          <a:p>
            <a:pPr algn="ctr"/>
            <a:r>
              <a:rPr lang="en-IN" sz="1600" dirty="0">
                <a:solidFill>
                  <a:schemeClr val="bg1"/>
                </a:solidFill>
                <a:latin typeface="Comic Sans MS" panose="030F0702030302020204" pitchFamily="66" charset="0"/>
              </a:rPr>
              <a:t>Dhekli</a:t>
            </a:r>
          </a:p>
        </p:txBody>
      </p:sp>
      <p:sp>
        <p:nvSpPr>
          <p:cNvPr id="22" name="Rectangle: Rounded Corners 21">
            <a:extLst>
              <a:ext uri="{FF2B5EF4-FFF2-40B4-BE49-F238E27FC236}">
                <a16:creationId xmlns:a16="http://schemas.microsoft.com/office/drawing/2014/main" id="{0526B1A4-E497-47FA-9C15-0BE3761B2459}"/>
              </a:ext>
            </a:extLst>
          </p:cNvPr>
          <p:cNvSpPr/>
          <p:nvPr/>
        </p:nvSpPr>
        <p:spPr>
          <a:xfrm>
            <a:off x="1289884" y="6225013"/>
            <a:ext cx="4785597" cy="377845"/>
          </a:xfrm>
          <a:prstGeom prst="roundRect">
            <a:avLst>
              <a:gd name="adj" fmla="val 18930"/>
            </a:avLst>
          </a:prstGeom>
          <a:solidFill>
            <a:schemeClr val="accent2"/>
          </a:solidFill>
        </p:spPr>
        <p:txBody>
          <a:bodyPr wrap="square" anchor="ctr">
            <a:spAutoFit/>
          </a:bodyPr>
          <a:lstStyle/>
          <a:p>
            <a:pPr algn="ctr"/>
            <a:r>
              <a:rPr lang="en-IN" sz="1600" dirty="0">
                <a:solidFill>
                  <a:schemeClr val="bg1"/>
                </a:solidFill>
                <a:latin typeface="Comic Sans MS" panose="030F0702030302020204" pitchFamily="66" charset="0"/>
              </a:rPr>
              <a:t>Rahat</a:t>
            </a:r>
          </a:p>
        </p:txBody>
      </p:sp>
      <p:sp>
        <p:nvSpPr>
          <p:cNvPr id="17" name="AutoShape 11">
            <a:extLst>
              <a:ext uri="{FF2B5EF4-FFF2-40B4-BE49-F238E27FC236}">
                <a16:creationId xmlns:a16="http://schemas.microsoft.com/office/drawing/2014/main" id="{DEF3267D-A6A2-4D72-A01D-50B017285081}"/>
              </a:ext>
            </a:extLst>
          </p:cNvPr>
          <p:cNvSpPr>
            <a:spLocks noChangeArrowheads="1"/>
          </p:cNvSpPr>
          <p:nvPr/>
        </p:nvSpPr>
        <p:spPr bwMode="auto">
          <a:xfrm>
            <a:off x="373181" y="6991718"/>
            <a:ext cx="2950029" cy="625475"/>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dirty="0">
                <a:latin typeface="Comic Sans MS" panose="030F0702030302020204" pitchFamily="66" charset="0"/>
              </a:rPr>
              <a:t>Modern Methods</a:t>
            </a:r>
          </a:p>
        </p:txBody>
      </p:sp>
      <p:sp>
        <p:nvSpPr>
          <p:cNvPr id="20" name="Rectangle 19">
            <a:extLst>
              <a:ext uri="{FF2B5EF4-FFF2-40B4-BE49-F238E27FC236}">
                <a16:creationId xmlns:a16="http://schemas.microsoft.com/office/drawing/2014/main" id="{23BBF761-B797-4CFD-BA2C-02136473B265}"/>
              </a:ext>
            </a:extLst>
          </p:cNvPr>
          <p:cNvSpPr/>
          <p:nvPr/>
        </p:nvSpPr>
        <p:spPr>
          <a:xfrm>
            <a:off x="415698" y="7654581"/>
            <a:ext cx="6728278" cy="523220"/>
          </a:xfrm>
          <a:prstGeom prst="rect">
            <a:avLst/>
          </a:prstGeom>
        </p:spPr>
        <p:txBody>
          <a:bodyPr wrap="square">
            <a:spAutoFit/>
          </a:bodyPr>
          <a:lstStyle/>
          <a:p>
            <a:pPr algn="just"/>
            <a:r>
              <a:rPr lang="en-IN" sz="1400" dirty="0">
                <a:latin typeface="Comic Sans MS" panose="030F0702030302020204" pitchFamily="66" charset="0"/>
              </a:rPr>
              <a:t>Modern methods of irrigation help us to use water economically. The main methods used are as follows:</a:t>
            </a:r>
          </a:p>
        </p:txBody>
      </p:sp>
      <p:sp>
        <p:nvSpPr>
          <p:cNvPr id="21" name="Rectangle 20">
            <a:extLst>
              <a:ext uri="{FF2B5EF4-FFF2-40B4-BE49-F238E27FC236}">
                <a16:creationId xmlns:a16="http://schemas.microsoft.com/office/drawing/2014/main" id="{EFCC2958-929C-4364-A807-E87B15E39E9E}"/>
              </a:ext>
            </a:extLst>
          </p:cNvPr>
          <p:cNvSpPr/>
          <p:nvPr/>
        </p:nvSpPr>
        <p:spPr>
          <a:xfrm>
            <a:off x="431800" y="8222250"/>
            <a:ext cx="6728278" cy="1600438"/>
          </a:xfrm>
          <a:prstGeom prst="rect">
            <a:avLst/>
          </a:prstGeom>
        </p:spPr>
        <p:txBody>
          <a:bodyPr wrap="square">
            <a:spAutoFit/>
          </a:bodyPr>
          <a:lstStyle/>
          <a:p>
            <a:pPr algn="just"/>
            <a:r>
              <a:rPr lang="en-IN" sz="1400" b="1" dirty="0">
                <a:latin typeface="Comic Sans MS" panose="030F0702030302020204" pitchFamily="66" charset="0"/>
              </a:rPr>
              <a:t>Sprinkler System</a:t>
            </a:r>
            <a:r>
              <a:rPr lang="en-IN" sz="1400" dirty="0">
                <a:latin typeface="Comic Sans MS" panose="030F0702030302020204" pitchFamily="66" charset="0"/>
              </a:rPr>
              <a:t>: This system is more useful on the uneven land where sufficient water is not available. The perpendicular pipes, having rotating nozzles on top, are joined to the main pipeline at regular intervals. When water is allowed to flow through the main pipe under pressure with the help of a pump, it escapes from the rotating nozzles. It gets sprinkled on the crop as if it is raining. Sprinkler is very useful for lawns, coffee plantation and several other crops</a:t>
            </a:r>
          </a:p>
        </p:txBody>
      </p:sp>
    </p:spTree>
    <p:extLst>
      <p:ext uri="{BB962C8B-B14F-4D97-AF65-F5344CB8AC3E}">
        <p14:creationId xmlns:p14="http://schemas.microsoft.com/office/powerpoint/2010/main" val="2863762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3">
            <a:extLst>
              <a:ext uri="{FF2B5EF4-FFF2-40B4-BE49-F238E27FC236}">
                <a16:creationId xmlns:a16="http://schemas.microsoft.com/office/drawing/2014/main" id="{7BD43924-001A-42A3-B3BD-D3EA4AB04B2C}"/>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3" name="Text Box 45">
            <a:extLst>
              <a:ext uri="{FF2B5EF4-FFF2-40B4-BE49-F238E27FC236}">
                <a16:creationId xmlns:a16="http://schemas.microsoft.com/office/drawing/2014/main" id="{9DB3E5A9-32E4-4130-84CA-2997B370EA1B}"/>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8</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 Box 46">
            <a:extLst>
              <a:ext uri="{FF2B5EF4-FFF2-40B4-BE49-F238E27FC236}">
                <a16:creationId xmlns:a16="http://schemas.microsoft.com/office/drawing/2014/main" id="{AA99EF0F-BDFF-4F66-ABC5-6A37962E561B}"/>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dirty="0">
                <a:ln>
                  <a:noFill/>
                </a:ln>
                <a:solidFill>
                  <a:srgbClr val="000000"/>
                </a:solidFill>
                <a:effectLst/>
                <a:latin typeface="Poppins" panose="00000500000000000000" pitchFamily="2" charset="0"/>
              </a:rPr>
              <a:t>Aayush - CBSE Class 7 Science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 Box 47">
            <a:extLst>
              <a:ext uri="{FF2B5EF4-FFF2-40B4-BE49-F238E27FC236}">
                <a16:creationId xmlns:a16="http://schemas.microsoft.com/office/drawing/2014/main" id="{F53139BB-2C18-4A96-A3BB-E118A5120C2E}"/>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a:solidFill>
                  <a:srgbClr val="000000"/>
                </a:solidFill>
                <a:latin typeface="Poppins" panose="00000500000000000000" pitchFamily="2" charset="0"/>
              </a:rPr>
              <a:t>Crop production and management</a:t>
            </a:r>
            <a:endParaRPr lang="en-IN" sz="1000" dirty="0">
              <a:solidFill>
                <a:srgbClr val="000000"/>
              </a:solidFill>
              <a:latin typeface="Poppins" panose="00000500000000000000" pitchFamily="2" charset="0"/>
            </a:endParaRPr>
          </a:p>
        </p:txBody>
      </p:sp>
      <p:sp>
        <p:nvSpPr>
          <p:cNvPr id="11" name="Rectangle: Rounded Corners 10">
            <a:extLst>
              <a:ext uri="{FF2B5EF4-FFF2-40B4-BE49-F238E27FC236}">
                <a16:creationId xmlns:a16="http://schemas.microsoft.com/office/drawing/2014/main" id="{003B3077-01D1-4B98-8051-0F7EC8CB4B31}"/>
              </a:ext>
            </a:extLst>
          </p:cNvPr>
          <p:cNvSpPr/>
          <p:nvPr/>
        </p:nvSpPr>
        <p:spPr>
          <a:xfrm>
            <a:off x="465137" y="557213"/>
            <a:ext cx="6629400" cy="5200774"/>
          </a:xfrm>
          <a:prstGeom prst="roundRect">
            <a:avLst>
              <a:gd name="adj" fmla="val 4691"/>
            </a:avLst>
          </a:prstGeom>
          <a:solidFill>
            <a:schemeClr val="accent4">
              <a:lumMod val="20000"/>
              <a:lumOff val="80000"/>
            </a:schemeClr>
          </a:solidFill>
          <a:ln w="571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0" name="Picture 9">
            <a:extLst>
              <a:ext uri="{FF2B5EF4-FFF2-40B4-BE49-F238E27FC236}">
                <a16:creationId xmlns:a16="http://schemas.microsoft.com/office/drawing/2014/main" id="{0B67C649-775D-4399-BADD-ADC9BE35A0CE}"/>
              </a:ext>
            </a:extLst>
          </p:cNvPr>
          <p:cNvPicPr/>
          <p:nvPr/>
        </p:nvPicPr>
        <p:blipFill>
          <a:blip r:embed="rId2"/>
          <a:stretch>
            <a:fillRect/>
          </a:stretch>
        </p:blipFill>
        <p:spPr>
          <a:xfrm>
            <a:off x="729021" y="797367"/>
            <a:ext cx="6101632" cy="3991339"/>
          </a:xfrm>
          <a:prstGeom prst="roundRect">
            <a:avLst>
              <a:gd name="adj" fmla="val 3212"/>
            </a:avLst>
          </a:prstGeom>
        </p:spPr>
      </p:pic>
      <p:sp>
        <p:nvSpPr>
          <p:cNvPr id="12" name="Rectangle: Rounded Corners 11">
            <a:extLst>
              <a:ext uri="{FF2B5EF4-FFF2-40B4-BE49-F238E27FC236}">
                <a16:creationId xmlns:a16="http://schemas.microsoft.com/office/drawing/2014/main" id="{229B4510-9D86-41FB-A6B8-130EBB82612B}"/>
              </a:ext>
            </a:extLst>
          </p:cNvPr>
          <p:cNvSpPr/>
          <p:nvPr/>
        </p:nvSpPr>
        <p:spPr>
          <a:xfrm>
            <a:off x="2343614" y="5017985"/>
            <a:ext cx="2872445" cy="377845"/>
          </a:xfrm>
          <a:prstGeom prst="roundRect">
            <a:avLst>
              <a:gd name="adj" fmla="val 18930"/>
            </a:avLst>
          </a:prstGeom>
          <a:solidFill>
            <a:schemeClr val="accent2"/>
          </a:solidFill>
        </p:spPr>
        <p:txBody>
          <a:bodyPr wrap="square" anchor="ctr">
            <a:spAutoFit/>
          </a:bodyPr>
          <a:lstStyle/>
          <a:p>
            <a:pPr algn="ctr"/>
            <a:r>
              <a:rPr lang="en-IN" sz="1600" dirty="0">
                <a:solidFill>
                  <a:schemeClr val="bg1"/>
                </a:solidFill>
                <a:latin typeface="Comic Sans MS" panose="030F0702030302020204" pitchFamily="66" charset="0"/>
              </a:rPr>
              <a:t>Sprinkling System</a:t>
            </a:r>
          </a:p>
        </p:txBody>
      </p:sp>
      <p:sp>
        <p:nvSpPr>
          <p:cNvPr id="13" name="Rectangle 12">
            <a:extLst>
              <a:ext uri="{FF2B5EF4-FFF2-40B4-BE49-F238E27FC236}">
                <a16:creationId xmlns:a16="http://schemas.microsoft.com/office/drawing/2014/main" id="{90508572-619D-4BDB-91E4-20BAD8ABE2DE}"/>
              </a:ext>
            </a:extLst>
          </p:cNvPr>
          <p:cNvSpPr/>
          <p:nvPr/>
        </p:nvSpPr>
        <p:spPr>
          <a:xfrm>
            <a:off x="446992" y="5903107"/>
            <a:ext cx="6665687" cy="954107"/>
          </a:xfrm>
          <a:prstGeom prst="rect">
            <a:avLst/>
          </a:prstGeom>
        </p:spPr>
        <p:txBody>
          <a:bodyPr wrap="square">
            <a:spAutoFit/>
          </a:bodyPr>
          <a:lstStyle/>
          <a:p>
            <a:pPr algn="just"/>
            <a:r>
              <a:rPr lang="en-IN" sz="1400" b="1" dirty="0">
                <a:latin typeface="Comic Sans MS" panose="030F0702030302020204" pitchFamily="66" charset="0"/>
              </a:rPr>
              <a:t>Drip system </a:t>
            </a:r>
            <a:r>
              <a:rPr lang="en-IN" sz="1400" dirty="0">
                <a:latin typeface="Comic Sans MS" panose="030F0702030302020204" pitchFamily="66" charset="0"/>
              </a:rPr>
              <a:t>: In this system, the water falls drop by drop directly near the roots. So it is called drip system. It is the best technique for watering fruit plants, gardens and trees [Fig. 1.5(b)]. Water is not wasted at all. It is a boon in regions where availability of water is poor.</a:t>
            </a:r>
          </a:p>
        </p:txBody>
      </p:sp>
      <p:sp>
        <p:nvSpPr>
          <p:cNvPr id="17" name="AutoShape 23">
            <a:extLst>
              <a:ext uri="{FF2B5EF4-FFF2-40B4-BE49-F238E27FC236}">
                <a16:creationId xmlns:a16="http://schemas.microsoft.com/office/drawing/2014/main" id="{56300DDB-7058-4703-AB1B-E83729C51C57}"/>
              </a:ext>
            </a:extLst>
          </p:cNvPr>
          <p:cNvSpPr>
            <a:spLocks noChangeArrowheads="1"/>
          </p:cNvSpPr>
          <p:nvPr/>
        </p:nvSpPr>
        <p:spPr bwMode="auto">
          <a:xfrm>
            <a:off x="450848" y="6980757"/>
            <a:ext cx="4191001" cy="522288"/>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algn="ctr"/>
            <a:r>
              <a:rPr lang="en-IN" dirty="0">
                <a:solidFill>
                  <a:schemeClr val="bg1"/>
                </a:solidFill>
                <a:latin typeface="Comic Sans MS" panose="030F0702030302020204" pitchFamily="66" charset="0"/>
              </a:rPr>
              <a:t>Protection for crops</a:t>
            </a:r>
          </a:p>
        </p:txBody>
      </p:sp>
      <p:sp>
        <p:nvSpPr>
          <p:cNvPr id="18" name="Title 1">
            <a:extLst>
              <a:ext uri="{FF2B5EF4-FFF2-40B4-BE49-F238E27FC236}">
                <a16:creationId xmlns:a16="http://schemas.microsoft.com/office/drawing/2014/main" id="{92DA43A5-E8E3-4FCF-995D-FEAD1EAE2CEF}"/>
              </a:ext>
            </a:extLst>
          </p:cNvPr>
          <p:cNvSpPr txBox="1">
            <a:spLocks/>
          </p:cNvSpPr>
          <p:nvPr/>
        </p:nvSpPr>
        <p:spPr>
          <a:xfrm>
            <a:off x="480346" y="7015027"/>
            <a:ext cx="464344" cy="466090"/>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5</a:t>
            </a:r>
          </a:p>
        </p:txBody>
      </p:sp>
      <p:sp>
        <p:nvSpPr>
          <p:cNvPr id="19" name="Rectangle 18">
            <a:extLst>
              <a:ext uri="{FF2B5EF4-FFF2-40B4-BE49-F238E27FC236}">
                <a16:creationId xmlns:a16="http://schemas.microsoft.com/office/drawing/2014/main" id="{68A2513F-4CB2-439D-82A7-61690C2ED0D5}"/>
              </a:ext>
            </a:extLst>
          </p:cNvPr>
          <p:cNvSpPr/>
          <p:nvPr/>
        </p:nvSpPr>
        <p:spPr>
          <a:xfrm>
            <a:off x="450848" y="7550016"/>
            <a:ext cx="6665688" cy="1384995"/>
          </a:xfrm>
          <a:prstGeom prst="rect">
            <a:avLst/>
          </a:prstGeom>
        </p:spPr>
        <p:txBody>
          <a:bodyPr wrap="square">
            <a:spAutoFit/>
          </a:bodyPr>
          <a:lstStyle/>
          <a:p>
            <a:pPr algn="just"/>
            <a:r>
              <a:rPr lang="en-IN" sz="1400" dirty="0">
                <a:latin typeface="Comic Sans MS" panose="030F0702030302020204" pitchFamily="66" charset="0"/>
              </a:rPr>
              <a:t>In a field many other undesirable plants may grow naturally along with the crop. These undesirable plants are called </a:t>
            </a:r>
            <a:r>
              <a:rPr lang="en-IN" sz="1400" b="1" dirty="0">
                <a:latin typeface="Comic Sans MS" panose="030F0702030302020204" pitchFamily="66" charset="0"/>
              </a:rPr>
              <a:t>weeds</a:t>
            </a:r>
            <a:r>
              <a:rPr lang="en-IN" sz="1400" dirty="0">
                <a:latin typeface="Comic Sans MS" panose="030F0702030302020204" pitchFamily="66" charset="0"/>
              </a:rPr>
              <a:t>. </a:t>
            </a:r>
          </a:p>
          <a:p>
            <a:pPr algn="just"/>
            <a:r>
              <a:rPr lang="en-IN" sz="1400" dirty="0">
                <a:latin typeface="Comic Sans MS" panose="030F0702030302020204" pitchFamily="66" charset="0"/>
              </a:rPr>
              <a:t>	The removal of weeds is called </a:t>
            </a:r>
            <a:r>
              <a:rPr lang="en-IN" sz="1400" b="1" dirty="0">
                <a:latin typeface="Comic Sans MS" panose="030F0702030302020204" pitchFamily="66" charset="0"/>
              </a:rPr>
              <a:t>weeding</a:t>
            </a:r>
            <a:r>
              <a:rPr lang="en-IN" sz="1400" dirty="0">
                <a:latin typeface="Comic Sans MS" panose="030F0702030302020204" pitchFamily="66" charset="0"/>
              </a:rPr>
              <a:t>. Weeding is necessary since weeds compete with the crop plants for water, nutrients, space and light. Thus, they affect the growth of the crop. Some weeds interfere even in harvesting and may be poisonous for animals and human beings. </a:t>
            </a:r>
          </a:p>
        </p:txBody>
      </p:sp>
      <p:sp>
        <p:nvSpPr>
          <p:cNvPr id="20" name="Rectangle 19">
            <a:extLst>
              <a:ext uri="{FF2B5EF4-FFF2-40B4-BE49-F238E27FC236}">
                <a16:creationId xmlns:a16="http://schemas.microsoft.com/office/drawing/2014/main" id="{294AABC2-C007-49C4-93F7-4BD5076B680A}"/>
              </a:ext>
            </a:extLst>
          </p:cNvPr>
          <p:cNvSpPr/>
          <p:nvPr/>
        </p:nvSpPr>
        <p:spPr>
          <a:xfrm>
            <a:off x="465137" y="8971617"/>
            <a:ext cx="6604000" cy="1169551"/>
          </a:xfrm>
          <a:prstGeom prst="rect">
            <a:avLst/>
          </a:prstGeom>
        </p:spPr>
        <p:txBody>
          <a:bodyPr wrap="square">
            <a:spAutoFit/>
          </a:bodyPr>
          <a:lstStyle/>
          <a:p>
            <a:pPr algn="just"/>
            <a:r>
              <a:rPr lang="en-IN" sz="1400" dirty="0">
                <a:latin typeface="Comic Sans MS" panose="030F0702030302020204" pitchFamily="66" charset="0"/>
              </a:rPr>
              <a:t>Tilling before sowing of crops helps in uprooting and killing of weeds, which may then dry up and get mixed with the soil. The best time for the removal of weeds is before they produce flowers and seeds. The manual removal includes physical removal of weeds by uprooting or cutting them close to the ground, from time to time. This is done with the help of a </a:t>
            </a:r>
            <a:r>
              <a:rPr lang="en-IN" sz="1400" i="1" dirty="0">
                <a:latin typeface="Comic Sans MS" panose="030F0702030302020204" pitchFamily="66" charset="0"/>
              </a:rPr>
              <a:t>khurpi</a:t>
            </a:r>
            <a:r>
              <a:rPr lang="en-IN" sz="1400" dirty="0">
                <a:latin typeface="Comic Sans MS" panose="030F0702030302020204" pitchFamily="66" charset="0"/>
              </a:rPr>
              <a:t>.</a:t>
            </a:r>
          </a:p>
        </p:txBody>
      </p:sp>
    </p:spTree>
    <p:extLst>
      <p:ext uri="{BB962C8B-B14F-4D97-AF65-F5344CB8AC3E}">
        <p14:creationId xmlns:p14="http://schemas.microsoft.com/office/powerpoint/2010/main" val="2367215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98F8E4B1-CAC5-40BB-BFB9-CE98673B791F}"/>
              </a:ext>
            </a:extLst>
          </p:cNvPr>
          <p:cNvSpPr/>
          <p:nvPr/>
        </p:nvSpPr>
        <p:spPr>
          <a:xfrm>
            <a:off x="465137" y="557213"/>
            <a:ext cx="6629400" cy="4556759"/>
          </a:xfrm>
          <a:prstGeom prst="roundRect">
            <a:avLst>
              <a:gd name="adj" fmla="val 4691"/>
            </a:avLst>
          </a:prstGeom>
          <a:solidFill>
            <a:schemeClr val="accent4">
              <a:lumMod val="20000"/>
              <a:lumOff val="80000"/>
            </a:schemeClr>
          </a:solidFill>
          <a:ln w="571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Rounded Corners 4">
            <a:extLst>
              <a:ext uri="{FF2B5EF4-FFF2-40B4-BE49-F238E27FC236}">
                <a16:creationId xmlns:a16="http://schemas.microsoft.com/office/drawing/2014/main" id="{E3F6B8C8-EABF-4197-B3E1-C0A4C8B3E17C}"/>
              </a:ext>
            </a:extLst>
          </p:cNvPr>
          <p:cNvSpPr/>
          <p:nvPr/>
        </p:nvSpPr>
        <p:spPr>
          <a:xfrm>
            <a:off x="2325470" y="4445122"/>
            <a:ext cx="2872445" cy="377845"/>
          </a:xfrm>
          <a:prstGeom prst="roundRect">
            <a:avLst>
              <a:gd name="adj" fmla="val 18930"/>
            </a:avLst>
          </a:prstGeom>
          <a:solidFill>
            <a:schemeClr val="accent2"/>
          </a:solidFill>
        </p:spPr>
        <p:txBody>
          <a:bodyPr wrap="square" anchor="ctr">
            <a:spAutoFit/>
          </a:bodyPr>
          <a:lstStyle/>
          <a:p>
            <a:pPr algn="ctr"/>
            <a:r>
              <a:rPr lang="en-IN" sz="1600" dirty="0">
                <a:solidFill>
                  <a:schemeClr val="bg1"/>
                </a:solidFill>
                <a:latin typeface="Comic Sans MS" panose="030F0702030302020204" pitchFamily="66" charset="0"/>
              </a:rPr>
              <a:t>Drip System</a:t>
            </a:r>
          </a:p>
        </p:txBody>
      </p:sp>
      <p:pic>
        <p:nvPicPr>
          <p:cNvPr id="6" name="Picture 5">
            <a:extLst>
              <a:ext uri="{FF2B5EF4-FFF2-40B4-BE49-F238E27FC236}">
                <a16:creationId xmlns:a16="http://schemas.microsoft.com/office/drawing/2014/main" id="{6A771EEA-9468-439B-884F-A6C316BFE612}"/>
              </a:ext>
            </a:extLst>
          </p:cNvPr>
          <p:cNvPicPr/>
          <p:nvPr/>
        </p:nvPicPr>
        <p:blipFill>
          <a:blip r:embed="rId2"/>
          <a:stretch>
            <a:fillRect/>
          </a:stretch>
        </p:blipFill>
        <p:spPr>
          <a:xfrm>
            <a:off x="712677" y="791549"/>
            <a:ext cx="6128422" cy="3474244"/>
          </a:xfrm>
          <a:prstGeom prst="roundRect">
            <a:avLst>
              <a:gd name="adj" fmla="val 6249"/>
            </a:avLst>
          </a:prstGeom>
        </p:spPr>
      </p:pic>
      <p:sp>
        <p:nvSpPr>
          <p:cNvPr id="10" name="AutoShape 43">
            <a:extLst>
              <a:ext uri="{FF2B5EF4-FFF2-40B4-BE49-F238E27FC236}">
                <a16:creationId xmlns:a16="http://schemas.microsoft.com/office/drawing/2014/main" id="{9C9E9B71-1680-4A24-BA50-CB6B972305A6}"/>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1" name="Text Box 45">
            <a:extLst>
              <a:ext uri="{FF2B5EF4-FFF2-40B4-BE49-F238E27FC236}">
                <a16:creationId xmlns:a16="http://schemas.microsoft.com/office/drawing/2014/main" id="{FBB4BFA3-4F8C-4884-B0B4-4D78B4915C35}"/>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9</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Text Box 46">
            <a:extLst>
              <a:ext uri="{FF2B5EF4-FFF2-40B4-BE49-F238E27FC236}">
                <a16:creationId xmlns:a16="http://schemas.microsoft.com/office/drawing/2014/main" id="{5C025185-8740-4641-93DE-2C43D1BB14B9}"/>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dirty="0">
                <a:ln>
                  <a:noFill/>
                </a:ln>
                <a:solidFill>
                  <a:srgbClr val="000000"/>
                </a:solidFill>
                <a:effectLst/>
                <a:latin typeface="Poppins" panose="00000500000000000000" pitchFamily="2" charset="0"/>
              </a:rPr>
              <a:t>Aayush - CBSE Class 7 Science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 Box 47">
            <a:extLst>
              <a:ext uri="{FF2B5EF4-FFF2-40B4-BE49-F238E27FC236}">
                <a16:creationId xmlns:a16="http://schemas.microsoft.com/office/drawing/2014/main" id="{D664991E-198D-4BA3-8130-B81E520A0005}"/>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a:solidFill>
                  <a:srgbClr val="000000"/>
                </a:solidFill>
                <a:latin typeface="Poppins" panose="00000500000000000000" pitchFamily="2" charset="0"/>
              </a:rPr>
              <a:t>Crop production and management</a:t>
            </a:r>
            <a:endParaRPr lang="en-IN" sz="1000" dirty="0">
              <a:solidFill>
                <a:srgbClr val="000000"/>
              </a:solidFill>
              <a:latin typeface="Poppins" panose="00000500000000000000" pitchFamily="2" charset="0"/>
            </a:endParaRPr>
          </a:p>
        </p:txBody>
      </p:sp>
      <p:sp>
        <p:nvSpPr>
          <p:cNvPr id="14" name="Rectangle 13">
            <a:extLst>
              <a:ext uri="{FF2B5EF4-FFF2-40B4-BE49-F238E27FC236}">
                <a16:creationId xmlns:a16="http://schemas.microsoft.com/office/drawing/2014/main" id="{A34028F6-E4BD-4A31-BF36-F1390C569B62}"/>
              </a:ext>
            </a:extLst>
          </p:cNvPr>
          <p:cNvSpPr/>
          <p:nvPr/>
        </p:nvSpPr>
        <p:spPr>
          <a:xfrm>
            <a:off x="462995" y="5296677"/>
            <a:ext cx="6629400" cy="954107"/>
          </a:xfrm>
          <a:prstGeom prst="rect">
            <a:avLst/>
          </a:prstGeom>
        </p:spPr>
        <p:txBody>
          <a:bodyPr wrap="square">
            <a:spAutoFit/>
          </a:bodyPr>
          <a:lstStyle/>
          <a:p>
            <a:pPr algn="just"/>
            <a:r>
              <a:rPr lang="en-IN" sz="1400" dirty="0">
                <a:latin typeface="Comic Sans MS" panose="030F0702030302020204" pitchFamily="66" charset="0"/>
              </a:rPr>
              <a:t>Weeds are also controlled by using certain chemicals, called weedicides, like 2,4-D. These are sprayed in the fields to kill the weeds. The weedicides are diluted with water to the extent required and sprayed in the fields with a sprayer.</a:t>
            </a:r>
          </a:p>
        </p:txBody>
      </p:sp>
      <p:sp>
        <p:nvSpPr>
          <p:cNvPr id="15" name="Rectangle 14">
            <a:extLst>
              <a:ext uri="{FF2B5EF4-FFF2-40B4-BE49-F238E27FC236}">
                <a16:creationId xmlns:a16="http://schemas.microsoft.com/office/drawing/2014/main" id="{291CA300-2CCE-4177-A71E-1814573D0AC7}"/>
              </a:ext>
            </a:extLst>
          </p:cNvPr>
          <p:cNvSpPr/>
          <p:nvPr/>
        </p:nvSpPr>
        <p:spPr>
          <a:xfrm>
            <a:off x="431800" y="6250784"/>
            <a:ext cx="6662736" cy="523220"/>
          </a:xfrm>
          <a:prstGeom prst="rect">
            <a:avLst/>
          </a:prstGeom>
        </p:spPr>
        <p:txBody>
          <a:bodyPr wrap="square">
            <a:spAutoFit/>
          </a:bodyPr>
          <a:lstStyle/>
          <a:p>
            <a:pPr algn="just"/>
            <a:r>
              <a:rPr lang="en-IN" sz="1400" dirty="0">
                <a:latin typeface="Comic Sans MS" panose="030F0702030302020204" pitchFamily="66" charset="0"/>
              </a:rPr>
              <a:t>Besides this many insects harm crops. Farmers spread insecticides to kill insects in the crop. Farmers also put scarecrows to scare the birds.</a:t>
            </a:r>
          </a:p>
        </p:txBody>
      </p:sp>
      <p:sp>
        <p:nvSpPr>
          <p:cNvPr id="16" name="Rectangle: Rounded Corners 15">
            <a:extLst>
              <a:ext uri="{FF2B5EF4-FFF2-40B4-BE49-F238E27FC236}">
                <a16:creationId xmlns:a16="http://schemas.microsoft.com/office/drawing/2014/main" id="{A8AA3519-F290-49AE-895A-CC9F3BD5F38A}"/>
              </a:ext>
            </a:extLst>
          </p:cNvPr>
          <p:cNvSpPr/>
          <p:nvPr/>
        </p:nvSpPr>
        <p:spPr>
          <a:xfrm>
            <a:off x="609600" y="7048499"/>
            <a:ext cx="6362700" cy="3000375"/>
          </a:xfrm>
          <a:prstGeom prst="roundRect">
            <a:avLst>
              <a:gd name="adj" fmla="val 4691"/>
            </a:avLst>
          </a:prstGeom>
          <a:solidFill>
            <a:schemeClr val="accent4">
              <a:lumMod val="20000"/>
              <a:lumOff val="80000"/>
            </a:schemeClr>
          </a:solidFill>
          <a:ln w="571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7" name="Picture 16">
            <a:extLst>
              <a:ext uri="{FF2B5EF4-FFF2-40B4-BE49-F238E27FC236}">
                <a16:creationId xmlns:a16="http://schemas.microsoft.com/office/drawing/2014/main" id="{458ABF74-8327-4E38-BE44-34DC314F4052}"/>
              </a:ext>
            </a:extLst>
          </p:cNvPr>
          <p:cNvPicPr/>
          <p:nvPr/>
        </p:nvPicPr>
        <p:blipFill>
          <a:blip r:embed="rId3"/>
          <a:stretch>
            <a:fillRect/>
          </a:stretch>
        </p:blipFill>
        <p:spPr>
          <a:xfrm>
            <a:off x="3804920" y="7298526"/>
            <a:ext cx="2901315" cy="1943100"/>
          </a:xfrm>
          <a:prstGeom prst="roundRect">
            <a:avLst>
              <a:gd name="adj" fmla="val 7517"/>
            </a:avLst>
          </a:prstGeom>
          <a:ln w="28575">
            <a:solidFill>
              <a:schemeClr val="tx1"/>
            </a:solidFill>
          </a:ln>
        </p:spPr>
      </p:pic>
      <p:sp>
        <p:nvSpPr>
          <p:cNvPr id="18" name="Rectangle: Rounded Corners 17">
            <a:extLst>
              <a:ext uri="{FF2B5EF4-FFF2-40B4-BE49-F238E27FC236}">
                <a16:creationId xmlns:a16="http://schemas.microsoft.com/office/drawing/2014/main" id="{5D184385-D97C-4C05-A188-9EA2158E28E1}"/>
              </a:ext>
            </a:extLst>
          </p:cNvPr>
          <p:cNvSpPr/>
          <p:nvPr/>
        </p:nvSpPr>
        <p:spPr>
          <a:xfrm>
            <a:off x="3804919" y="9441482"/>
            <a:ext cx="2901315" cy="343495"/>
          </a:xfrm>
          <a:prstGeom prst="roundRect">
            <a:avLst>
              <a:gd name="adj" fmla="val 18930"/>
            </a:avLst>
          </a:prstGeom>
          <a:solidFill>
            <a:schemeClr val="accent2"/>
          </a:solidFill>
        </p:spPr>
        <p:txBody>
          <a:bodyPr wrap="square" anchor="ctr">
            <a:spAutoFit/>
          </a:bodyPr>
          <a:lstStyle/>
          <a:p>
            <a:pPr algn="ctr"/>
            <a:r>
              <a:rPr lang="en-IN" sz="1400" dirty="0">
                <a:solidFill>
                  <a:schemeClr val="bg1"/>
                </a:solidFill>
                <a:latin typeface="Comic Sans MS" panose="030F0702030302020204" pitchFamily="66" charset="0"/>
              </a:rPr>
              <a:t>Farmer spreading weedicides</a:t>
            </a:r>
          </a:p>
        </p:txBody>
      </p:sp>
      <p:pic>
        <p:nvPicPr>
          <p:cNvPr id="19" name="Picture 18">
            <a:extLst>
              <a:ext uri="{FF2B5EF4-FFF2-40B4-BE49-F238E27FC236}">
                <a16:creationId xmlns:a16="http://schemas.microsoft.com/office/drawing/2014/main" id="{DB6F2277-469E-4A12-8497-12F60D49F990}"/>
              </a:ext>
            </a:extLst>
          </p:cNvPr>
          <p:cNvPicPr>
            <a:picLocks noChangeAspect="1"/>
          </p:cNvPicPr>
          <p:nvPr/>
        </p:nvPicPr>
        <p:blipFill rotWithShape="1">
          <a:blip r:embed="rId4">
            <a:extLst>
              <a:ext uri="{28A0092B-C50C-407E-A947-70E740481C1C}">
                <a14:useLocalDpi xmlns:a14="http://schemas.microsoft.com/office/drawing/2010/main" val="0"/>
              </a:ext>
            </a:extLst>
          </a:blip>
          <a:srcRect l="10193" t="8910" r="3341" b="14100"/>
          <a:stretch/>
        </p:blipFill>
        <p:spPr>
          <a:xfrm>
            <a:off x="884714" y="7292699"/>
            <a:ext cx="2467292" cy="1958624"/>
          </a:xfrm>
          <a:prstGeom prst="roundRect">
            <a:avLst>
              <a:gd name="adj" fmla="val 7589"/>
            </a:avLst>
          </a:prstGeom>
          <a:ln w="28575">
            <a:solidFill>
              <a:schemeClr val="tx1"/>
            </a:solidFill>
          </a:ln>
        </p:spPr>
      </p:pic>
      <p:sp>
        <p:nvSpPr>
          <p:cNvPr id="20" name="Rectangle: Rounded Corners 19">
            <a:extLst>
              <a:ext uri="{FF2B5EF4-FFF2-40B4-BE49-F238E27FC236}">
                <a16:creationId xmlns:a16="http://schemas.microsoft.com/office/drawing/2014/main" id="{1B8C8F35-0C2A-4AC2-9FED-49C8002154A3}"/>
              </a:ext>
            </a:extLst>
          </p:cNvPr>
          <p:cNvSpPr/>
          <p:nvPr/>
        </p:nvSpPr>
        <p:spPr>
          <a:xfrm>
            <a:off x="884714" y="9424308"/>
            <a:ext cx="2467292" cy="377845"/>
          </a:xfrm>
          <a:prstGeom prst="roundRect">
            <a:avLst>
              <a:gd name="adj" fmla="val 18930"/>
            </a:avLst>
          </a:prstGeom>
          <a:solidFill>
            <a:schemeClr val="accent2"/>
          </a:solidFill>
        </p:spPr>
        <p:txBody>
          <a:bodyPr wrap="square" anchor="ctr">
            <a:spAutoFit/>
          </a:bodyPr>
          <a:lstStyle/>
          <a:p>
            <a:pPr algn="ctr"/>
            <a:r>
              <a:rPr lang="en-IN" sz="1600" dirty="0">
                <a:solidFill>
                  <a:schemeClr val="bg1"/>
                </a:solidFill>
                <a:latin typeface="Comic Sans MS" panose="030F0702030302020204" pitchFamily="66" charset="0"/>
              </a:rPr>
              <a:t>Scarecrow</a:t>
            </a:r>
          </a:p>
        </p:txBody>
      </p:sp>
    </p:spTree>
    <p:extLst>
      <p:ext uri="{BB962C8B-B14F-4D97-AF65-F5344CB8AC3E}">
        <p14:creationId xmlns:p14="http://schemas.microsoft.com/office/powerpoint/2010/main" val="2735964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3">
            <a:extLst>
              <a:ext uri="{FF2B5EF4-FFF2-40B4-BE49-F238E27FC236}">
                <a16:creationId xmlns:a16="http://schemas.microsoft.com/office/drawing/2014/main" id="{36F44F3E-2C81-420B-830E-E31C9DA656BA}"/>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3" name="Text Box 45">
            <a:extLst>
              <a:ext uri="{FF2B5EF4-FFF2-40B4-BE49-F238E27FC236}">
                <a16:creationId xmlns:a16="http://schemas.microsoft.com/office/drawing/2014/main" id="{B8B3ECE0-53A5-4AF7-AE3A-2E73C7831179}"/>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10</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 Box 46">
            <a:extLst>
              <a:ext uri="{FF2B5EF4-FFF2-40B4-BE49-F238E27FC236}">
                <a16:creationId xmlns:a16="http://schemas.microsoft.com/office/drawing/2014/main" id="{5F9C1B5C-BC1F-4AB9-A72D-98E5E8EB73E2}"/>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dirty="0">
                <a:ln>
                  <a:noFill/>
                </a:ln>
                <a:solidFill>
                  <a:srgbClr val="000000"/>
                </a:solidFill>
                <a:effectLst/>
                <a:latin typeface="Poppins" panose="00000500000000000000" pitchFamily="2" charset="0"/>
              </a:rPr>
              <a:t>Aayush - CBSE Class 7 Science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 Box 47">
            <a:extLst>
              <a:ext uri="{FF2B5EF4-FFF2-40B4-BE49-F238E27FC236}">
                <a16:creationId xmlns:a16="http://schemas.microsoft.com/office/drawing/2014/main" id="{A171B9F3-D53F-4B16-BECA-8C1791418717}"/>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a:solidFill>
                  <a:srgbClr val="000000"/>
                </a:solidFill>
                <a:latin typeface="Poppins" panose="00000500000000000000" pitchFamily="2" charset="0"/>
              </a:rPr>
              <a:t>Crop production and management</a:t>
            </a:r>
            <a:endParaRPr lang="en-IN" sz="1000" dirty="0">
              <a:solidFill>
                <a:srgbClr val="000000"/>
              </a:solidFill>
              <a:latin typeface="Poppins" panose="00000500000000000000" pitchFamily="2" charset="0"/>
            </a:endParaRPr>
          </a:p>
        </p:txBody>
      </p:sp>
      <p:sp>
        <p:nvSpPr>
          <p:cNvPr id="16" name="AutoShape 23">
            <a:extLst>
              <a:ext uri="{FF2B5EF4-FFF2-40B4-BE49-F238E27FC236}">
                <a16:creationId xmlns:a16="http://schemas.microsoft.com/office/drawing/2014/main" id="{F5A3840E-87AD-4349-8536-76F76A6EB0A1}"/>
              </a:ext>
            </a:extLst>
          </p:cNvPr>
          <p:cNvSpPr>
            <a:spLocks noChangeArrowheads="1"/>
          </p:cNvSpPr>
          <p:nvPr/>
        </p:nvSpPr>
        <p:spPr bwMode="auto">
          <a:xfrm>
            <a:off x="431800" y="557213"/>
            <a:ext cx="3692526" cy="522288"/>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algn="ctr"/>
            <a:r>
              <a:rPr lang="en-IN" dirty="0">
                <a:solidFill>
                  <a:schemeClr val="bg1"/>
                </a:solidFill>
                <a:latin typeface="Comic Sans MS" panose="030F0702030302020204" pitchFamily="66" charset="0"/>
              </a:rPr>
              <a:t>Harvesting</a:t>
            </a:r>
          </a:p>
        </p:txBody>
      </p:sp>
      <p:sp>
        <p:nvSpPr>
          <p:cNvPr id="17" name="Title 1">
            <a:extLst>
              <a:ext uri="{FF2B5EF4-FFF2-40B4-BE49-F238E27FC236}">
                <a16:creationId xmlns:a16="http://schemas.microsoft.com/office/drawing/2014/main" id="{B9D270AE-B825-455F-87E9-7159BD573AEA}"/>
              </a:ext>
            </a:extLst>
          </p:cNvPr>
          <p:cNvSpPr txBox="1">
            <a:spLocks/>
          </p:cNvSpPr>
          <p:nvPr/>
        </p:nvSpPr>
        <p:spPr>
          <a:xfrm>
            <a:off x="461297" y="591483"/>
            <a:ext cx="464344" cy="466090"/>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6</a:t>
            </a:r>
          </a:p>
        </p:txBody>
      </p:sp>
      <p:sp>
        <p:nvSpPr>
          <p:cNvPr id="18" name="Rectangle 17">
            <a:extLst>
              <a:ext uri="{FF2B5EF4-FFF2-40B4-BE49-F238E27FC236}">
                <a16:creationId xmlns:a16="http://schemas.microsoft.com/office/drawing/2014/main" id="{DEE06A21-68DE-489E-9B15-01DE7142DDB2}"/>
              </a:ext>
            </a:extLst>
          </p:cNvPr>
          <p:cNvSpPr/>
          <p:nvPr/>
        </p:nvSpPr>
        <p:spPr>
          <a:xfrm>
            <a:off x="388938" y="1170921"/>
            <a:ext cx="6664324" cy="307777"/>
          </a:xfrm>
          <a:prstGeom prst="rect">
            <a:avLst/>
          </a:prstGeom>
        </p:spPr>
        <p:txBody>
          <a:bodyPr wrap="square">
            <a:spAutoFit/>
          </a:bodyPr>
          <a:lstStyle/>
          <a:p>
            <a:pPr algn="just"/>
            <a:r>
              <a:rPr lang="en-IN" sz="1400" dirty="0">
                <a:latin typeface="Comic Sans MS" panose="030F0702030302020204" pitchFamily="66" charset="0"/>
              </a:rPr>
              <a:t>The cutting of crop after it is mature is called </a:t>
            </a:r>
            <a:r>
              <a:rPr lang="en-IN" sz="1400" i="1" dirty="0">
                <a:latin typeface="Comic Sans MS" panose="030F0702030302020204" pitchFamily="66" charset="0"/>
              </a:rPr>
              <a:t>harvesting</a:t>
            </a:r>
            <a:r>
              <a:rPr lang="en-IN" sz="1400" dirty="0">
                <a:latin typeface="Comic Sans MS" panose="030F0702030302020204" pitchFamily="66" charset="0"/>
              </a:rPr>
              <a:t>.</a:t>
            </a:r>
          </a:p>
        </p:txBody>
      </p:sp>
      <p:sp>
        <p:nvSpPr>
          <p:cNvPr id="19" name="Rectangle 18">
            <a:extLst>
              <a:ext uri="{FF2B5EF4-FFF2-40B4-BE49-F238E27FC236}">
                <a16:creationId xmlns:a16="http://schemas.microsoft.com/office/drawing/2014/main" id="{F37E3F52-350E-4036-AEA9-A7CD5D686CA7}"/>
              </a:ext>
            </a:extLst>
          </p:cNvPr>
          <p:cNvSpPr/>
          <p:nvPr/>
        </p:nvSpPr>
        <p:spPr>
          <a:xfrm>
            <a:off x="431800" y="1480494"/>
            <a:ext cx="6621462" cy="738664"/>
          </a:xfrm>
          <a:prstGeom prst="rect">
            <a:avLst/>
          </a:prstGeom>
        </p:spPr>
        <p:txBody>
          <a:bodyPr wrap="square">
            <a:spAutoFit/>
          </a:bodyPr>
          <a:lstStyle/>
          <a:p>
            <a:pPr algn="just"/>
            <a:r>
              <a:rPr lang="en-IN" sz="1400" dirty="0">
                <a:latin typeface="Comic Sans MS" panose="030F0702030302020204" pitchFamily="66" charset="0"/>
              </a:rPr>
              <a:t>It usually takes 3 to 4 months for a cereal crop to mature. Harvesting in our country is either done manually by sickle (Fig. 1.7) or by a machine called </a:t>
            </a:r>
            <a:r>
              <a:rPr lang="en-IN" sz="1400" i="1" dirty="0">
                <a:latin typeface="Comic Sans MS" panose="030F0702030302020204" pitchFamily="66" charset="0"/>
              </a:rPr>
              <a:t>harvester</a:t>
            </a:r>
            <a:r>
              <a:rPr lang="en-IN" sz="1400" dirty="0">
                <a:latin typeface="Comic Sans MS" panose="030F0702030302020204" pitchFamily="66" charset="0"/>
              </a:rPr>
              <a:t>.</a:t>
            </a:r>
          </a:p>
        </p:txBody>
      </p:sp>
      <p:sp>
        <p:nvSpPr>
          <p:cNvPr id="20" name="Rectangle 19">
            <a:extLst>
              <a:ext uri="{FF2B5EF4-FFF2-40B4-BE49-F238E27FC236}">
                <a16:creationId xmlns:a16="http://schemas.microsoft.com/office/drawing/2014/main" id="{B4ACE28A-E080-4BF1-A08C-70412351F3F5}"/>
              </a:ext>
            </a:extLst>
          </p:cNvPr>
          <p:cNvSpPr/>
          <p:nvPr/>
        </p:nvSpPr>
        <p:spPr>
          <a:xfrm>
            <a:off x="462424" y="2227096"/>
            <a:ext cx="6664324" cy="738664"/>
          </a:xfrm>
          <a:prstGeom prst="rect">
            <a:avLst/>
          </a:prstGeom>
        </p:spPr>
        <p:txBody>
          <a:bodyPr wrap="square">
            <a:spAutoFit/>
          </a:bodyPr>
          <a:lstStyle/>
          <a:p>
            <a:pPr algn="just"/>
            <a:r>
              <a:rPr lang="en-IN" sz="1400" dirty="0">
                <a:latin typeface="Comic Sans MS" panose="030F0702030302020204" pitchFamily="66" charset="0"/>
              </a:rPr>
              <a:t>In the harvested crop, the grain seeds need to be separated from the chaff. This process is called </a:t>
            </a:r>
            <a:r>
              <a:rPr lang="en-IN" sz="1400" i="1" dirty="0">
                <a:latin typeface="Comic Sans MS" panose="030F0702030302020204" pitchFamily="66" charset="0"/>
              </a:rPr>
              <a:t>threshing</a:t>
            </a:r>
            <a:r>
              <a:rPr lang="en-IN" sz="1400" dirty="0">
                <a:latin typeface="Comic Sans MS" panose="030F0702030302020204" pitchFamily="66" charset="0"/>
              </a:rPr>
              <a:t>. This is carried out with the help of a machine called ‘combine’ which is in fact a harvester as well as a thresher</a:t>
            </a:r>
          </a:p>
        </p:txBody>
      </p:sp>
      <p:sp>
        <p:nvSpPr>
          <p:cNvPr id="21" name="Rectangle 20">
            <a:extLst>
              <a:ext uri="{FF2B5EF4-FFF2-40B4-BE49-F238E27FC236}">
                <a16:creationId xmlns:a16="http://schemas.microsoft.com/office/drawing/2014/main" id="{829A992A-E57B-48AF-855C-83FDE4330B12}"/>
              </a:ext>
            </a:extLst>
          </p:cNvPr>
          <p:cNvSpPr/>
          <p:nvPr/>
        </p:nvSpPr>
        <p:spPr>
          <a:xfrm>
            <a:off x="462424" y="2959231"/>
            <a:ext cx="6664324" cy="954107"/>
          </a:xfrm>
          <a:prstGeom prst="rect">
            <a:avLst/>
          </a:prstGeom>
        </p:spPr>
        <p:txBody>
          <a:bodyPr wrap="square">
            <a:spAutoFit/>
          </a:bodyPr>
          <a:lstStyle/>
          <a:p>
            <a:pPr algn="just"/>
            <a:r>
              <a:rPr lang="en-IN" sz="1400" dirty="0">
                <a:latin typeface="Comic Sans MS" panose="030F0702030302020204" pitchFamily="66" charset="0"/>
              </a:rPr>
              <a:t>Farmers with small holdings of land do the separation of grain and chaff by </a:t>
            </a:r>
            <a:r>
              <a:rPr lang="en-IN" sz="1400" i="1" dirty="0">
                <a:latin typeface="Comic Sans MS" panose="030F0702030302020204" pitchFamily="66" charset="0"/>
              </a:rPr>
              <a:t>winnowing.</a:t>
            </a:r>
          </a:p>
          <a:p>
            <a:pPr algn="just"/>
            <a:r>
              <a:rPr lang="en-IN" sz="1400" i="1" dirty="0">
                <a:latin typeface="Comic Sans MS" panose="030F0702030302020204" pitchFamily="66" charset="0"/>
              </a:rPr>
              <a:t>	</a:t>
            </a:r>
            <a:r>
              <a:rPr lang="en-IN" sz="1400" dirty="0">
                <a:latin typeface="Comic Sans MS" panose="030F0702030302020204" pitchFamily="66" charset="0"/>
              </a:rPr>
              <a:t>Winnowing is the method in which heavier components of the mixture are separated from the lighter substances with the help of wind.</a:t>
            </a:r>
          </a:p>
        </p:txBody>
      </p:sp>
      <p:sp>
        <p:nvSpPr>
          <p:cNvPr id="22" name="AutoShape 23">
            <a:extLst>
              <a:ext uri="{FF2B5EF4-FFF2-40B4-BE49-F238E27FC236}">
                <a16:creationId xmlns:a16="http://schemas.microsoft.com/office/drawing/2014/main" id="{3C18F531-FB43-44E0-BA47-4E010638B1EF}"/>
              </a:ext>
            </a:extLst>
          </p:cNvPr>
          <p:cNvSpPr>
            <a:spLocks noChangeArrowheads="1"/>
          </p:cNvSpPr>
          <p:nvPr/>
        </p:nvSpPr>
        <p:spPr bwMode="auto">
          <a:xfrm>
            <a:off x="418436" y="3997476"/>
            <a:ext cx="3692526" cy="522288"/>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algn="ctr"/>
            <a:r>
              <a:rPr lang="en-IN">
                <a:solidFill>
                  <a:schemeClr val="bg1"/>
                </a:solidFill>
                <a:latin typeface="Comic Sans MS" panose="030F0702030302020204" pitchFamily="66" charset="0"/>
              </a:rPr>
              <a:t>Storage</a:t>
            </a:r>
            <a:endParaRPr lang="en-IN" dirty="0">
              <a:solidFill>
                <a:schemeClr val="bg1"/>
              </a:solidFill>
              <a:latin typeface="Comic Sans MS" panose="030F0702030302020204" pitchFamily="66" charset="0"/>
            </a:endParaRPr>
          </a:p>
        </p:txBody>
      </p:sp>
      <p:sp>
        <p:nvSpPr>
          <p:cNvPr id="23" name="Title 1">
            <a:extLst>
              <a:ext uri="{FF2B5EF4-FFF2-40B4-BE49-F238E27FC236}">
                <a16:creationId xmlns:a16="http://schemas.microsoft.com/office/drawing/2014/main" id="{5526D20B-DEF4-4D07-BBA5-A237B2DAF7B8}"/>
              </a:ext>
            </a:extLst>
          </p:cNvPr>
          <p:cNvSpPr txBox="1">
            <a:spLocks/>
          </p:cNvSpPr>
          <p:nvPr/>
        </p:nvSpPr>
        <p:spPr>
          <a:xfrm>
            <a:off x="447933" y="4031746"/>
            <a:ext cx="464344" cy="466090"/>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7</a:t>
            </a:r>
          </a:p>
        </p:txBody>
      </p:sp>
      <p:sp>
        <p:nvSpPr>
          <p:cNvPr id="24" name="Rectangle 23">
            <a:extLst>
              <a:ext uri="{FF2B5EF4-FFF2-40B4-BE49-F238E27FC236}">
                <a16:creationId xmlns:a16="http://schemas.microsoft.com/office/drawing/2014/main" id="{24484F4B-0577-4776-8B13-C131C465CEC2}"/>
              </a:ext>
            </a:extLst>
          </p:cNvPr>
          <p:cNvSpPr/>
          <p:nvPr/>
        </p:nvSpPr>
        <p:spPr>
          <a:xfrm>
            <a:off x="418436" y="4557506"/>
            <a:ext cx="6634826" cy="2246769"/>
          </a:xfrm>
          <a:prstGeom prst="rect">
            <a:avLst/>
          </a:prstGeom>
        </p:spPr>
        <p:txBody>
          <a:bodyPr wrap="square">
            <a:spAutoFit/>
          </a:bodyPr>
          <a:lstStyle/>
          <a:p>
            <a:r>
              <a:rPr lang="en-IN" sz="1400" dirty="0">
                <a:latin typeface="Comic Sans MS" panose="030F0702030302020204" pitchFamily="66" charset="0"/>
              </a:rPr>
              <a:t>Storage of produce is an important task. If the harvested grains are to be kept for longer time, they should be safe from moisture, insects, rats and microorganisms. Harvested grains have more moisture. If freshly harvested grains (seeds) are stored without drying, they may get spoilt or attacked by organisms, making them unfit for use or for germination. Hence, before storing them, the grains are properly dried in the sun to reduce the moisture in them. This prevents the attack by insect pests, bacteria and fungi.</a:t>
            </a:r>
          </a:p>
          <a:p>
            <a:r>
              <a:rPr lang="en-IN" sz="1400" dirty="0">
                <a:latin typeface="Comic Sans MS" panose="030F0702030302020204" pitchFamily="66" charset="0"/>
              </a:rPr>
              <a:t>	Farmers store grains in jute bags or metallic bins. However, large scale storage of grains is done in </a:t>
            </a:r>
            <a:r>
              <a:rPr lang="en-IN" sz="1400" i="1" dirty="0">
                <a:latin typeface="Comic Sans MS" panose="030F0702030302020204" pitchFamily="66" charset="0"/>
              </a:rPr>
              <a:t>silos</a:t>
            </a:r>
            <a:r>
              <a:rPr lang="en-IN" sz="1400" dirty="0">
                <a:latin typeface="Comic Sans MS" panose="030F0702030302020204" pitchFamily="66" charset="0"/>
              </a:rPr>
              <a:t> and </a:t>
            </a:r>
            <a:r>
              <a:rPr lang="en-IN" sz="1400" i="1" dirty="0">
                <a:latin typeface="Comic Sans MS" panose="030F0702030302020204" pitchFamily="66" charset="0"/>
              </a:rPr>
              <a:t>granaries</a:t>
            </a:r>
            <a:r>
              <a:rPr lang="en-IN" sz="1400" dirty="0">
                <a:latin typeface="Comic Sans MS" panose="030F0702030302020204" pitchFamily="66" charset="0"/>
              </a:rPr>
              <a:t> to protect them from pests like rats and insects</a:t>
            </a:r>
          </a:p>
        </p:txBody>
      </p:sp>
    </p:spTree>
    <p:extLst>
      <p:ext uri="{BB962C8B-B14F-4D97-AF65-F5344CB8AC3E}">
        <p14:creationId xmlns:p14="http://schemas.microsoft.com/office/powerpoint/2010/main" val="291207107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3062</TotalTime>
  <Words>2023</Words>
  <Application>Microsoft Office PowerPoint</Application>
  <PresentationFormat>Custom</PresentationFormat>
  <Paragraphs>143</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Comic Sans MS</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Saroj Kumar Jha</dc:creator>
  <cp:lastModifiedBy>Saroj Kumar Jha</cp:lastModifiedBy>
  <cp:revision>458</cp:revision>
  <dcterms:created xsi:type="dcterms:W3CDTF">2022-03-28T17:58:27Z</dcterms:created>
  <dcterms:modified xsi:type="dcterms:W3CDTF">2022-05-13T14:30:35Z</dcterms:modified>
</cp:coreProperties>
</file>