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80"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 userDrawn="1">
          <p15:clr>
            <a:srgbClr val="A4A3A4"/>
          </p15:clr>
        </p15:guide>
        <p15:guide id="2" pos="2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A2DC"/>
    <a:srgbClr val="89B8E3"/>
    <a:srgbClr val="F8587C"/>
    <a:srgbClr val="F0587C"/>
    <a:srgbClr val="333333"/>
    <a:srgbClr val="3C7B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82" autoAdjust="0"/>
    <p:restoredTop sz="94291" autoAdjust="0"/>
  </p:normalViewPr>
  <p:slideViewPr>
    <p:cSldViewPr snapToGrid="0">
      <p:cViewPr>
        <p:scale>
          <a:sx n="125" d="100"/>
          <a:sy n="125" d="100"/>
        </p:scale>
        <p:origin x="306" y="-2106"/>
      </p:cViewPr>
      <p:guideLst>
        <p:guide orient="horz" pos="238"/>
        <p:guide pos="27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7848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36216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4216626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50798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65106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574601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897088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73371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dirty="0"/>
              <a:t>Click icon to add picture</a:t>
            </a:r>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722551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1616764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25-05-2022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102426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879B4C5A-57BB-4487-924E-96BB2EDB1DD5}" type="datetimeFigureOut">
              <a:rPr lang="en-IN" smtClean="0"/>
              <a:t>25-05-2022</a:t>
            </a:fld>
            <a:endParaRPr lang="en-IN" dirty="0"/>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71713203-F4FC-49EB-8478-0A42E61A2921}" type="slidenum">
              <a:rPr lang="en-IN" smtClean="0"/>
              <a:t>‹#›</a:t>
            </a:fld>
            <a:endParaRPr lang="en-IN" dirty="0"/>
          </a:p>
        </p:txBody>
      </p:sp>
    </p:spTree>
    <p:extLst>
      <p:ext uri="{BB962C8B-B14F-4D97-AF65-F5344CB8AC3E}">
        <p14:creationId xmlns:p14="http://schemas.microsoft.com/office/powerpoint/2010/main" val="191893657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F08F8D43-74A9-4DE8-BC48-2958AA507D1A}"/>
              </a:ext>
            </a:extLst>
          </p:cNvPr>
          <p:cNvSpPr>
            <a:spLocks noChangeArrowheads="1"/>
          </p:cNvSpPr>
          <p:nvPr/>
        </p:nvSpPr>
        <p:spPr bwMode="auto">
          <a:xfrm>
            <a:off x="0" y="-27147"/>
            <a:ext cx="7559675" cy="2543970"/>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2C6BF1E1-ED12-438B-9FE0-11ADBE2E5AEE}"/>
              </a:ext>
            </a:extLst>
          </p:cNvPr>
          <p:cNvSpPr txBox="1">
            <a:spLocks/>
          </p:cNvSpPr>
          <p:nvPr/>
        </p:nvSpPr>
        <p:spPr>
          <a:xfrm>
            <a:off x="484710" y="825023"/>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3</a:t>
            </a:r>
            <a:endParaRPr lang="en-IN" sz="3200" b="1" dirty="0">
              <a:solidFill>
                <a:srgbClr val="49C0C2"/>
              </a:solidFill>
            </a:endParaRPr>
          </a:p>
        </p:txBody>
      </p:sp>
      <p:sp>
        <p:nvSpPr>
          <p:cNvPr id="6" name="Title 1">
            <a:extLst>
              <a:ext uri="{FF2B5EF4-FFF2-40B4-BE49-F238E27FC236}">
                <a16:creationId xmlns:a16="http://schemas.microsoft.com/office/drawing/2014/main" id="{A4B1CA41-3BB4-42E4-8AEE-4E8736C888DF}"/>
              </a:ext>
            </a:extLst>
          </p:cNvPr>
          <p:cNvSpPr txBox="1">
            <a:spLocks/>
          </p:cNvSpPr>
          <p:nvPr/>
        </p:nvSpPr>
        <p:spPr>
          <a:xfrm>
            <a:off x="1380808" y="-20797"/>
            <a:ext cx="6175215" cy="2537619"/>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4800" b="1" dirty="0">
                <a:ln w="12700">
                  <a:solidFill>
                    <a:schemeClr val="tx1"/>
                  </a:solidFill>
                </a:ln>
                <a:solidFill>
                  <a:schemeClr val="bg1"/>
                </a:solidFill>
                <a:latin typeface="Comic Sans MS" panose="030F0702030302020204" pitchFamily="66" charset="0"/>
              </a:rPr>
              <a:t>Plant Kingdom</a:t>
            </a:r>
          </a:p>
        </p:txBody>
      </p:sp>
      <p:sp>
        <p:nvSpPr>
          <p:cNvPr id="9" name="AutoShape 26">
            <a:extLst>
              <a:ext uri="{FF2B5EF4-FFF2-40B4-BE49-F238E27FC236}">
                <a16:creationId xmlns:a16="http://schemas.microsoft.com/office/drawing/2014/main" id="{AC102B8D-DD39-4388-A9E8-14A77B88EDBF}"/>
              </a:ext>
            </a:extLst>
          </p:cNvPr>
          <p:cNvSpPr>
            <a:spLocks noChangeArrowheads="1"/>
          </p:cNvSpPr>
          <p:nvPr/>
        </p:nvSpPr>
        <p:spPr bwMode="auto">
          <a:xfrm>
            <a:off x="738188" y="2985135"/>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6" name="Title 1">
            <a:extLst>
              <a:ext uri="{FF2B5EF4-FFF2-40B4-BE49-F238E27FC236}">
                <a16:creationId xmlns:a16="http://schemas.microsoft.com/office/drawing/2014/main" id="{6738C533-1962-4500-8318-BD5CEAA5FD82}"/>
              </a:ext>
            </a:extLst>
          </p:cNvPr>
          <p:cNvSpPr txBox="1">
            <a:spLocks/>
          </p:cNvSpPr>
          <p:nvPr/>
        </p:nvSpPr>
        <p:spPr>
          <a:xfrm>
            <a:off x="1387238" y="2948623"/>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9" name="AutoShape 43">
            <a:extLst>
              <a:ext uri="{FF2B5EF4-FFF2-40B4-BE49-F238E27FC236}">
                <a16:creationId xmlns:a16="http://schemas.microsoft.com/office/drawing/2014/main" id="{B6621A89-C4D4-460F-93A6-AED98EDA3F43}"/>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0" name="Text Box 45">
            <a:extLst>
              <a:ext uri="{FF2B5EF4-FFF2-40B4-BE49-F238E27FC236}">
                <a16:creationId xmlns:a16="http://schemas.microsoft.com/office/drawing/2014/main" id="{4816C2C6-96CF-4C9E-AE1E-8FAB75BF5D6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AutoShape 28">
            <a:extLst>
              <a:ext uri="{FF2B5EF4-FFF2-40B4-BE49-F238E27FC236}">
                <a16:creationId xmlns:a16="http://schemas.microsoft.com/office/drawing/2014/main" id="{FDA541CC-7049-4F86-8E76-DE6FF48813E6}"/>
              </a:ext>
            </a:extLst>
          </p:cNvPr>
          <p:cNvSpPr>
            <a:spLocks noChangeArrowheads="1"/>
          </p:cNvSpPr>
          <p:nvPr/>
        </p:nvSpPr>
        <p:spPr bwMode="auto">
          <a:xfrm>
            <a:off x="457993" y="3178550"/>
            <a:ext cx="6660357" cy="1924719"/>
          </a:xfrm>
          <a:prstGeom prst="roundRect">
            <a:avLst>
              <a:gd name="adj" fmla="val 7800"/>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1" name="Text Box 46">
            <a:extLst>
              <a:ext uri="{FF2B5EF4-FFF2-40B4-BE49-F238E27FC236}">
                <a16:creationId xmlns:a16="http://schemas.microsoft.com/office/drawing/2014/main" id="{B12BF99A-36CF-4D64-B965-09BDFC6A74F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sz="1000" dirty="0">
              <a:latin typeface="Arial" panose="020B0604020202020204" pitchFamily="34" charset="0"/>
            </a:endParaRPr>
          </a:p>
        </p:txBody>
      </p:sp>
      <p:sp>
        <p:nvSpPr>
          <p:cNvPr id="22" name="Text Box 47">
            <a:extLst>
              <a:ext uri="{FF2B5EF4-FFF2-40B4-BE49-F238E27FC236}">
                <a16:creationId xmlns:a16="http://schemas.microsoft.com/office/drawing/2014/main" id="{2438314B-F1FA-4310-BEC3-73F9C56B4761}"/>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26" name="AutoShape 29">
            <a:extLst>
              <a:ext uri="{FF2B5EF4-FFF2-40B4-BE49-F238E27FC236}">
                <a16:creationId xmlns:a16="http://schemas.microsoft.com/office/drawing/2014/main" id="{C771DA9E-0B26-4AC8-AA48-987CABFAC6E2}"/>
              </a:ext>
            </a:extLst>
          </p:cNvPr>
          <p:cNvSpPr>
            <a:spLocks noChangeArrowheads="1"/>
          </p:cNvSpPr>
          <p:nvPr/>
        </p:nvSpPr>
        <p:spPr bwMode="auto">
          <a:xfrm>
            <a:off x="1049338" y="2935525"/>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27" name="AutoShape 30">
            <a:extLst>
              <a:ext uri="{FF2B5EF4-FFF2-40B4-BE49-F238E27FC236}">
                <a16:creationId xmlns:a16="http://schemas.microsoft.com/office/drawing/2014/main" id="{5DA2C234-D481-414C-A2E0-85C162DD0EC1}"/>
              </a:ext>
            </a:extLst>
          </p:cNvPr>
          <p:cNvSpPr>
            <a:spLocks noChangeArrowheads="1"/>
          </p:cNvSpPr>
          <p:nvPr/>
        </p:nvSpPr>
        <p:spPr bwMode="auto">
          <a:xfrm>
            <a:off x="787400" y="2976800"/>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8" name="Oval 31">
            <a:extLst>
              <a:ext uri="{FF2B5EF4-FFF2-40B4-BE49-F238E27FC236}">
                <a16:creationId xmlns:a16="http://schemas.microsoft.com/office/drawing/2014/main" id="{E9A01E11-BC22-4488-8A41-8059129F12F3}"/>
              </a:ext>
            </a:extLst>
          </p:cNvPr>
          <p:cNvSpPr>
            <a:spLocks noChangeArrowheads="1"/>
          </p:cNvSpPr>
          <p:nvPr/>
        </p:nvSpPr>
        <p:spPr bwMode="auto">
          <a:xfrm>
            <a:off x="709613" y="2822813"/>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9" name="Title 1">
            <a:extLst>
              <a:ext uri="{FF2B5EF4-FFF2-40B4-BE49-F238E27FC236}">
                <a16:creationId xmlns:a16="http://schemas.microsoft.com/office/drawing/2014/main" id="{CCDC8C65-FA1F-4504-827C-B8A97D26EA65}"/>
              </a:ext>
            </a:extLst>
          </p:cNvPr>
          <p:cNvSpPr txBox="1">
            <a:spLocks/>
          </p:cNvSpPr>
          <p:nvPr/>
        </p:nvSpPr>
        <p:spPr>
          <a:xfrm>
            <a:off x="1455261" y="2918380"/>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2" name="Rectangle 1">
            <a:extLst>
              <a:ext uri="{FF2B5EF4-FFF2-40B4-BE49-F238E27FC236}">
                <a16:creationId xmlns:a16="http://schemas.microsoft.com/office/drawing/2014/main" id="{DBE0614C-76EA-407C-BD21-FE44CAE6B3E8}"/>
              </a:ext>
            </a:extLst>
          </p:cNvPr>
          <p:cNvSpPr/>
          <p:nvPr/>
        </p:nvSpPr>
        <p:spPr>
          <a:xfrm>
            <a:off x="687229" y="3583586"/>
            <a:ext cx="6135328" cy="1384995"/>
          </a:xfrm>
          <a:prstGeom prst="rect">
            <a:avLst/>
          </a:prstGeom>
        </p:spPr>
        <p:txBody>
          <a:bodyPr wrap="square">
            <a:spAutoFit/>
          </a:bodyPr>
          <a:lstStyle/>
          <a:p>
            <a:pPr algn="just">
              <a:spcBef>
                <a:spcPts val="50"/>
              </a:spcBef>
              <a:spcAft>
                <a:spcPts val="50"/>
              </a:spcAft>
            </a:pPr>
            <a:r>
              <a:rPr lang="en-IN" sz="1400" dirty="0">
                <a:latin typeface="Comic Sans MS" panose="030F0702030302020204" pitchFamily="66" charset="0"/>
              </a:rPr>
              <a:t>In the previous chapter, we looked at the broad classification of living organisms under the system proposed by Whittaker (1969) wherein he suggested the Five Kingdom classification viz. Monera, Protista, Fungi, Animalia and Plantae. In this chapter, we will deal in detail with further classification within Kingdom Plantae popularly known as the ‘plant kingdom’.</a:t>
            </a:r>
          </a:p>
        </p:txBody>
      </p:sp>
      <p:sp>
        <p:nvSpPr>
          <p:cNvPr id="18" name="AutoShape 26">
            <a:extLst>
              <a:ext uri="{FF2B5EF4-FFF2-40B4-BE49-F238E27FC236}">
                <a16:creationId xmlns:a16="http://schemas.microsoft.com/office/drawing/2014/main" id="{871EEA2F-0D10-460F-A0E8-0067D8B2ACFE}"/>
              </a:ext>
            </a:extLst>
          </p:cNvPr>
          <p:cNvSpPr>
            <a:spLocks noChangeArrowheads="1"/>
          </p:cNvSpPr>
          <p:nvPr/>
        </p:nvSpPr>
        <p:spPr bwMode="auto">
          <a:xfrm>
            <a:off x="741963" y="5546465"/>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3" name="Title 1">
            <a:extLst>
              <a:ext uri="{FF2B5EF4-FFF2-40B4-BE49-F238E27FC236}">
                <a16:creationId xmlns:a16="http://schemas.microsoft.com/office/drawing/2014/main" id="{714A3C52-2FF6-4DB5-AE4A-58E6725AF4AB}"/>
              </a:ext>
            </a:extLst>
          </p:cNvPr>
          <p:cNvSpPr txBox="1">
            <a:spLocks/>
          </p:cNvSpPr>
          <p:nvPr/>
        </p:nvSpPr>
        <p:spPr>
          <a:xfrm>
            <a:off x="1391013" y="5509953"/>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24" name="AutoShape 28">
            <a:extLst>
              <a:ext uri="{FF2B5EF4-FFF2-40B4-BE49-F238E27FC236}">
                <a16:creationId xmlns:a16="http://schemas.microsoft.com/office/drawing/2014/main" id="{E0A0B63F-DE9D-400A-A3FC-08D341C4F990}"/>
              </a:ext>
            </a:extLst>
          </p:cNvPr>
          <p:cNvSpPr>
            <a:spLocks noChangeArrowheads="1"/>
          </p:cNvSpPr>
          <p:nvPr/>
        </p:nvSpPr>
        <p:spPr bwMode="auto">
          <a:xfrm>
            <a:off x="461768" y="5739880"/>
            <a:ext cx="6660357" cy="1531951"/>
          </a:xfrm>
          <a:prstGeom prst="roundRect">
            <a:avLst>
              <a:gd name="adj" fmla="val 7800"/>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5" name="AutoShape 29">
            <a:extLst>
              <a:ext uri="{FF2B5EF4-FFF2-40B4-BE49-F238E27FC236}">
                <a16:creationId xmlns:a16="http://schemas.microsoft.com/office/drawing/2014/main" id="{41DE76D0-8463-425B-BF98-82F9DEA6373B}"/>
              </a:ext>
            </a:extLst>
          </p:cNvPr>
          <p:cNvSpPr>
            <a:spLocks noChangeArrowheads="1"/>
          </p:cNvSpPr>
          <p:nvPr/>
        </p:nvSpPr>
        <p:spPr bwMode="auto">
          <a:xfrm>
            <a:off x="1053113" y="5496855"/>
            <a:ext cx="4501867"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31" name="AutoShape 30">
            <a:extLst>
              <a:ext uri="{FF2B5EF4-FFF2-40B4-BE49-F238E27FC236}">
                <a16:creationId xmlns:a16="http://schemas.microsoft.com/office/drawing/2014/main" id="{AEBD21AF-053C-46B8-A09D-7181C2A211EE}"/>
              </a:ext>
            </a:extLst>
          </p:cNvPr>
          <p:cNvSpPr>
            <a:spLocks noChangeArrowheads="1"/>
          </p:cNvSpPr>
          <p:nvPr/>
        </p:nvSpPr>
        <p:spPr bwMode="auto">
          <a:xfrm>
            <a:off x="791175" y="5538130"/>
            <a:ext cx="4704749"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2" name="Oval 31">
            <a:extLst>
              <a:ext uri="{FF2B5EF4-FFF2-40B4-BE49-F238E27FC236}">
                <a16:creationId xmlns:a16="http://schemas.microsoft.com/office/drawing/2014/main" id="{3564245A-08C9-40D8-B44A-04756170F77F}"/>
              </a:ext>
            </a:extLst>
          </p:cNvPr>
          <p:cNvSpPr>
            <a:spLocks noChangeArrowheads="1"/>
          </p:cNvSpPr>
          <p:nvPr/>
        </p:nvSpPr>
        <p:spPr bwMode="auto">
          <a:xfrm>
            <a:off x="713388" y="5384143"/>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33" name="Title 1">
            <a:extLst>
              <a:ext uri="{FF2B5EF4-FFF2-40B4-BE49-F238E27FC236}">
                <a16:creationId xmlns:a16="http://schemas.microsoft.com/office/drawing/2014/main" id="{A109BF25-30EB-4B38-B094-B4C41F493E32}"/>
              </a:ext>
            </a:extLst>
          </p:cNvPr>
          <p:cNvSpPr txBox="1">
            <a:spLocks/>
          </p:cNvSpPr>
          <p:nvPr/>
        </p:nvSpPr>
        <p:spPr>
          <a:xfrm>
            <a:off x="1459035" y="5479710"/>
            <a:ext cx="3998707"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General Characteristics of Plants</a:t>
            </a:r>
            <a:endParaRPr lang="en-IN" sz="1500" b="1" dirty="0"/>
          </a:p>
        </p:txBody>
      </p:sp>
      <p:pic>
        <p:nvPicPr>
          <p:cNvPr id="35" name="Graphic 34">
            <a:extLst>
              <a:ext uri="{FF2B5EF4-FFF2-40B4-BE49-F238E27FC236}">
                <a16:creationId xmlns:a16="http://schemas.microsoft.com/office/drawing/2014/main" id="{B3E715DE-ADC9-4EB3-A229-4DF75CC0C5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5827" y="5516413"/>
            <a:ext cx="508927" cy="472337"/>
          </a:xfrm>
          <a:prstGeom prst="rect">
            <a:avLst/>
          </a:prstGeom>
        </p:spPr>
      </p:pic>
      <p:sp>
        <p:nvSpPr>
          <p:cNvPr id="36" name="Rectangle 35">
            <a:extLst>
              <a:ext uri="{FF2B5EF4-FFF2-40B4-BE49-F238E27FC236}">
                <a16:creationId xmlns:a16="http://schemas.microsoft.com/office/drawing/2014/main" id="{83F74B4F-05AD-4944-AB95-085B114599F7}"/>
              </a:ext>
            </a:extLst>
          </p:cNvPr>
          <p:cNvSpPr/>
          <p:nvPr/>
        </p:nvSpPr>
        <p:spPr>
          <a:xfrm>
            <a:off x="691004" y="6116341"/>
            <a:ext cx="6135328" cy="1031051"/>
          </a:xfrm>
          <a:prstGeom prst="rect">
            <a:avLst/>
          </a:prstGeom>
        </p:spPr>
        <p:txBody>
          <a:bodyPr wrap="square">
            <a:spAutoFit/>
          </a:bodyPr>
          <a:lstStyle/>
          <a:p>
            <a:pPr marL="285750" indent="-285750" algn="just">
              <a:spcBef>
                <a:spcPts val="50"/>
              </a:spcBef>
              <a:spcAft>
                <a:spcPts val="50"/>
              </a:spcAft>
              <a:buFontTx/>
              <a:buChar char="-"/>
            </a:pPr>
            <a:r>
              <a:rPr lang="en-IN" sz="1400" dirty="0">
                <a:latin typeface="Comic Sans MS" panose="030F0702030302020204" pitchFamily="66" charset="0"/>
              </a:rPr>
              <a:t>Plants are mainly autotrophs and photosynthetic</a:t>
            </a:r>
          </a:p>
          <a:p>
            <a:pPr marL="285750" indent="-285750" algn="just">
              <a:spcBef>
                <a:spcPts val="50"/>
              </a:spcBef>
              <a:spcAft>
                <a:spcPts val="50"/>
              </a:spcAft>
              <a:buFontTx/>
              <a:buChar char="-"/>
            </a:pPr>
            <a:r>
              <a:rPr lang="en-IN" sz="1400" dirty="0">
                <a:latin typeface="Comic Sans MS" panose="030F0702030302020204" pitchFamily="66" charset="0"/>
              </a:rPr>
              <a:t>Plants are primarily multicellular except some algae</a:t>
            </a:r>
          </a:p>
          <a:p>
            <a:pPr marL="285750" indent="-285750" algn="just">
              <a:spcBef>
                <a:spcPts val="50"/>
              </a:spcBef>
              <a:spcAft>
                <a:spcPts val="50"/>
              </a:spcAft>
              <a:buFontTx/>
              <a:buChar char="-"/>
            </a:pPr>
            <a:r>
              <a:rPr lang="en-IN" sz="1400" dirty="0">
                <a:latin typeface="Comic Sans MS" panose="030F0702030302020204" pitchFamily="66" charset="0"/>
              </a:rPr>
              <a:t>Plant growth is indeterminate</a:t>
            </a:r>
          </a:p>
          <a:p>
            <a:pPr marL="285750" indent="-285750" algn="just">
              <a:spcBef>
                <a:spcPts val="50"/>
              </a:spcBef>
              <a:spcAft>
                <a:spcPts val="50"/>
              </a:spcAft>
              <a:buFontTx/>
              <a:buChar char="-"/>
            </a:pPr>
            <a:r>
              <a:rPr lang="en-IN" sz="1400" dirty="0">
                <a:latin typeface="Comic Sans MS" panose="030F0702030302020204" pitchFamily="66" charset="0"/>
              </a:rPr>
              <a:t>Plant defend themselves without moving</a:t>
            </a:r>
          </a:p>
        </p:txBody>
      </p:sp>
      <p:sp>
        <p:nvSpPr>
          <p:cNvPr id="47" name="AutoShape 26">
            <a:extLst>
              <a:ext uri="{FF2B5EF4-FFF2-40B4-BE49-F238E27FC236}">
                <a16:creationId xmlns:a16="http://schemas.microsoft.com/office/drawing/2014/main" id="{EEE4367A-C4A4-4DC7-9584-8BCB0D490E4B}"/>
              </a:ext>
            </a:extLst>
          </p:cNvPr>
          <p:cNvSpPr>
            <a:spLocks noChangeArrowheads="1"/>
          </p:cNvSpPr>
          <p:nvPr/>
        </p:nvSpPr>
        <p:spPr bwMode="auto">
          <a:xfrm>
            <a:off x="494968" y="7652110"/>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48" name="Title 1">
            <a:extLst>
              <a:ext uri="{FF2B5EF4-FFF2-40B4-BE49-F238E27FC236}">
                <a16:creationId xmlns:a16="http://schemas.microsoft.com/office/drawing/2014/main" id="{5449968A-57F0-43B6-B13D-DF61874B4AD8}"/>
              </a:ext>
            </a:extLst>
          </p:cNvPr>
          <p:cNvSpPr txBox="1">
            <a:spLocks/>
          </p:cNvSpPr>
          <p:nvPr/>
        </p:nvSpPr>
        <p:spPr>
          <a:xfrm>
            <a:off x="1144018" y="7615598"/>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49" name="AutoShape 29">
            <a:extLst>
              <a:ext uri="{FF2B5EF4-FFF2-40B4-BE49-F238E27FC236}">
                <a16:creationId xmlns:a16="http://schemas.microsoft.com/office/drawing/2014/main" id="{02574B1D-D256-471E-84AF-142DDDB9243E}"/>
              </a:ext>
            </a:extLst>
          </p:cNvPr>
          <p:cNvSpPr>
            <a:spLocks noChangeArrowheads="1"/>
          </p:cNvSpPr>
          <p:nvPr/>
        </p:nvSpPr>
        <p:spPr bwMode="auto">
          <a:xfrm>
            <a:off x="806118" y="7602500"/>
            <a:ext cx="4246526"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50" name="AutoShape 30">
            <a:extLst>
              <a:ext uri="{FF2B5EF4-FFF2-40B4-BE49-F238E27FC236}">
                <a16:creationId xmlns:a16="http://schemas.microsoft.com/office/drawing/2014/main" id="{CC09F94D-5294-4B11-A630-AB8C90E0FE47}"/>
              </a:ext>
            </a:extLst>
          </p:cNvPr>
          <p:cNvSpPr>
            <a:spLocks noChangeArrowheads="1"/>
          </p:cNvSpPr>
          <p:nvPr/>
        </p:nvSpPr>
        <p:spPr bwMode="auto">
          <a:xfrm>
            <a:off x="544179" y="7643775"/>
            <a:ext cx="4457254"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1" name="Oval 50">
            <a:extLst>
              <a:ext uri="{FF2B5EF4-FFF2-40B4-BE49-F238E27FC236}">
                <a16:creationId xmlns:a16="http://schemas.microsoft.com/office/drawing/2014/main" id="{BB7EA9FE-57C5-4FD8-AB97-B00F77E9DF61}"/>
              </a:ext>
            </a:extLst>
          </p:cNvPr>
          <p:cNvSpPr>
            <a:spLocks noChangeArrowheads="1"/>
          </p:cNvSpPr>
          <p:nvPr/>
        </p:nvSpPr>
        <p:spPr bwMode="auto">
          <a:xfrm>
            <a:off x="466393" y="7489788"/>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52" name="Title 1">
            <a:extLst>
              <a:ext uri="{FF2B5EF4-FFF2-40B4-BE49-F238E27FC236}">
                <a16:creationId xmlns:a16="http://schemas.microsoft.com/office/drawing/2014/main" id="{F65A2CFC-9155-4A52-B681-1A2AE575B30F}"/>
              </a:ext>
            </a:extLst>
          </p:cNvPr>
          <p:cNvSpPr txBox="1">
            <a:spLocks/>
          </p:cNvSpPr>
          <p:nvPr/>
        </p:nvSpPr>
        <p:spPr>
          <a:xfrm>
            <a:off x="1212041" y="7585355"/>
            <a:ext cx="3264328"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Classification of Plant kingdom</a:t>
            </a:r>
            <a:endParaRPr lang="en-IN" sz="1500" b="1" dirty="0"/>
          </a:p>
        </p:txBody>
      </p:sp>
      <p:pic>
        <p:nvPicPr>
          <p:cNvPr id="53" name="Graphic 52">
            <a:extLst>
              <a:ext uri="{FF2B5EF4-FFF2-40B4-BE49-F238E27FC236}">
                <a16:creationId xmlns:a16="http://schemas.microsoft.com/office/drawing/2014/main" id="{ACEB238D-DC6A-46CC-ACB4-53423C6B6E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8832" y="7622058"/>
            <a:ext cx="508927" cy="472337"/>
          </a:xfrm>
          <a:prstGeom prst="rect">
            <a:avLst/>
          </a:prstGeom>
        </p:spPr>
      </p:pic>
      <p:sp>
        <p:nvSpPr>
          <p:cNvPr id="54" name="AutoShape 23">
            <a:extLst>
              <a:ext uri="{FF2B5EF4-FFF2-40B4-BE49-F238E27FC236}">
                <a16:creationId xmlns:a16="http://schemas.microsoft.com/office/drawing/2014/main" id="{42A5DE75-A7D7-41D3-A707-BD08B8226EDB}"/>
              </a:ext>
            </a:extLst>
          </p:cNvPr>
          <p:cNvSpPr>
            <a:spLocks noChangeArrowheads="1"/>
          </p:cNvSpPr>
          <p:nvPr/>
        </p:nvSpPr>
        <p:spPr bwMode="auto">
          <a:xfrm>
            <a:off x="466394" y="8427213"/>
            <a:ext cx="3797299"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Artificial System</a:t>
            </a:r>
          </a:p>
        </p:txBody>
      </p:sp>
      <p:sp>
        <p:nvSpPr>
          <p:cNvPr id="55" name="Title 1">
            <a:extLst>
              <a:ext uri="{FF2B5EF4-FFF2-40B4-BE49-F238E27FC236}">
                <a16:creationId xmlns:a16="http://schemas.microsoft.com/office/drawing/2014/main" id="{56454728-6E50-42F0-BDCD-C70684179231}"/>
              </a:ext>
            </a:extLst>
          </p:cNvPr>
          <p:cNvSpPr txBox="1">
            <a:spLocks/>
          </p:cNvSpPr>
          <p:nvPr/>
        </p:nvSpPr>
        <p:spPr>
          <a:xfrm>
            <a:off x="495891" y="8461483"/>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1</a:t>
            </a:r>
          </a:p>
        </p:txBody>
      </p:sp>
      <p:pic>
        <p:nvPicPr>
          <p:cNvPr id="37" name="Graphic 36">
            <a:extLst>
              <a:ext uri="{FF2B5EF4-FFF2-40B4-BE49-F238E27FC236}">
                <a16:creationId xmlns:a16="http://schemas.microsoft.com/office/drawing/2014/main" id="{1D6D6BA0-085F-E3C5-56FB-676F7A258E7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65" y="2843351"/>
            <a:ext cx="709654" cy="709654"/>
          </a:xfrm>
          <a:prstGeom prst="rect">
            <a:avLst/>
          </a:prstGeom>
        </p:spPr>
      </p:pic>
      <p:sp>
        <p:nvSpPr>
          <p:cNvPr id="39" name="Rectangle 38">
            <a:extLst>
              <a:ext uri="{FF2B5EF4-FFF2-40B4-BE49-F238E27FC236}">
                <a16:creationId xmlns:a16="http://schemas.microsoft.com/office/drawing/2014/main" id="{AF814D60-FBAA-756B-AB1F-8B12488A02E3}"/>
              </a:ext>
            </a:extLst>
          </p:cNvPr>
          <p:cNvSpPr/>
          <p:nvPr/>
        </p:nvSpPr>
        <p:spPr>
          <a:xfrm>
            <a:off x="466393" y="9051719"/>
            <a:ext cx="6671815" cy="738664"/>
          </a:xfrm>
          <a:prstGeom prst="rect">
            <a:avLst/>
          </a:prstGeom>
        </p:spPr>
        <p:txBody>
          <a:bodyPr wrap="square">
            <a:spAutoFit/>
          </a:bodyPr>
          <a:lstStyle/>
          <a:p>
            <a:pPr algn="just">
              <a:spcBef>
                <a:spcPts val="50"/>
              </a:spcBef>
              <a:spcAft>
                <a:spcPts val="50"/>
              </a:spcAft>
            </a:pPr>
            <a:r>
              <a:rPr lang="en-IN" sz="1400" dirty="0">
                <a:latin typeface="Comic Sans MS" panose="030F0702030302020204" pitchFamily="66" charset="0"/>
              </a:rPr>
              <a:t>Artificial System of classification is the earliest system of classification which was given by Linnaeus. This was based on the vegetative characters such as habitat, colour, size, shape, leaves, etc.</a:t>
            </a:r>
          </a:p>
        </p:txBody>
      </p:sp>
    </p:spTree>
    <p:extLst>
      <p:ext uri="{BB962C8B-B14F-4D97-AF65-F5344CB8AC3E}">
        <p14:creationId xmlns:p14="http://schemas.microsoft.com/office/powerpoint/2010/main" val="1457736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8B9AA5FB-E7FB-4849-BB26-9EEEB9BB3792}"/>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19CD4785-5720-4847-908F-15146D9BAB1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E6533515-5121-4B5A-B436-979C4642E13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sz="1000" dirty="0">
              <a:latin typeface="Arial" panose="020B0604020202020204" pitchFamily="34" charset="0"/>
            </a:endParaRPr>
          </a:p>
        </p:txBody>
      </p:sp>
      <p:sp>
        <p:nvSpPr>
          <p:cNvPr id="7" name="Text Box 47">
            <a:extLst>
              <a:ext uri="{FF2B5EF4-FFF2-40B4-BE49-F238E27FC236}">
                <a16:creationId xmlns:a16="http://schemas.microsoft.com/office/drawing/2014/main" id="{16E31FDB-52E2-41DF-A9EF-C1E8FD4114A9}"/>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31" name="AutoShape 11">
            <a:extLst>
              <a:ext uri="{FF2B5EF4-FFF2-40B4-BE49-F238E27FC236}">
                <a16:creationId xmlns:a16="http://schemas.microsoft.com/office/drawing/2014/main" id="{DB5DAA01-FE7A-4F12-9E8C-EF4F1FB5A7B5}"/>
              </a:ext>
            </a:extLst>
          </p:cNvPr>
          <p:cNvSpPr>
            <a:spLocks noChangeArrowheads="1"/>
          </p:cNvSpPr>
          <p:nvPr/>
        </p:nvSpPr>
        <p:spPr bwMode="auto">
          <a:xfrm>
            <a:off x="457992" y="392114"/>
            <a:ext cx="2780508"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Drawbacks</a:t>
            </a:r>
          </a:p>
        </p:txBody>
      </p:sp>
      <p:sp>
        <p:nvSpPr>
          <p:cNvPr id="32" name="Rectangle 31">
            <a:extLst>
              <a:ext uri="{FF2B5EF4-FFF2-40B4-BE49-F238E27FC236}">
                <a16:creationId xmlns:a16="http://schemas.microsoft.com/office/drawing/2014/main" id="{764BA832-4915-4B44-991D-CF1150BEC273}"/>
              </a:ext>
            </a:extLst>
          </p:cNvPr>
          <p:cNvSpPr/>
          <p:nvPr/>
        </p:nvSpPr>
        <p:spPr>
          <a:xfrm>
            <a:off x="457991" y="1101727"/>
            <a:ext cx="6643687" cy="954107"/>
          </a:xfrm>
          <a:prstGeom prst="rect">
            <a:avLst/>
          </a:prstGeom>
        </p:spPr>
        <p:txBody>
          <a:bodyPr wrap="square">
            <a:spAutoFit/>
          </a:bodyPr>
          <a:lstStyle/>
          <a:p>
            <a:pPr marL="285750" indent="-285750" algn="just">
              <a:buFontTx/>
              <a:buChar char="-"/>
            </a:pPr>
            <a:r>
              <a:rPr lang="en-IN" sz="1400" dirty="0">
                <a:latin typeface="Comic Sans MS" panose="030F0702030302020204" pitchFamily="66" charset="0"/>
              </a:rPr>
              <a:t>The artificial systems don’t give anything about internal structure</a:t>
            </a:r>
          </a:p>
          <a:p>
            <a:pPr marL="285750" indent="-285750" algn="just">
              <a:buFontTx/>
              <a:buChar char="-"/>
            </a:pPr>
            <a:r>
              <a:rPr lang="en-IN" sz="1400" dirty="0">
                <a:latin typeface="Comic Sans MS" panose="030F0702030302020204" pitchFamily="66" charset="0"/>
              </a:rPr>
              <a:t>The artificial systems gave equal weightage to vegetative and sexual characteristics; this is not acceptable since we know that often the vegetative characters are more easily affected by environment</a:t>
            </a:r>
          </a:p>
        </p:txBody>
      </p:sp>
      <p:sp>
        <p:nvSpPr>
          <p:cNvPr id="21" name="AutoShape 23">
            <a:extLst>
              <a:ext uri="{FF2B5EF4-FFF2-40B4-BE49-F238E27FC236}">
                <a16:creationId xmlns:a16="http://schemas.microsoft.com/office/drawing/2014/main" id="{C4AEFAC5-62B3-B960-7153-88A9997F53C0}"/>
              </a:ext>
            </a:extLst>
          </p:cNvPr>
          <p:cNvSpPr>
            <a:spLocks noChangeArrowheads="1"/>
          </p:cNvSpPr>
          <p:nvPr/>
        </p:nvSpPr>
        <p:spPr bwMode="auto">
          <a:xfrm>
            <a:off x="457991" y="2221252"/>
            <a:ext cx="3797299"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Natural System</a:t>
            </a:r>
          </a:p>
        </p:txBody>
      </p:sp>
      <p:sp>
        <p:nvSpPr>
          <p:cNvPr id="22" name="Title 1">
            <a:extLst>
              <a:ext uri="{FF2B5EF4-FFF2-40B4-BE49-F238E27FC236}">
                <a16:creationId xmlns:a16="http://schemas.microsoft.com/office/drawing/2014/main" id="{A91C2B34-6830-B85A-9429-3FBB23E4B1F0}"/>
              </a:ext>
            </a:extLst>
          </p:cNvPr>
          <p:cNvSpPr txBox="1">
            <a:spLocks/>
          </p:cNvSpPr>
          <p:nvPr/>
        </p:nvSpPr>
        <p:spPr>
          <a:xfrm>
            <a:off x="487488" y="2255522"/>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2</a:t>
            </a:r>
          </a:p>
        </p:txBody>
      </p:sp>
      <p:sp>
        <p:nvSpPr>
          <p:cNvPr id="23" name="Rectangle 22">
            <a:extLst>
              <a:ext uri="{FF2B5EF4-FFF2-40B4-BE49-F238E27FC236}">
                <a16:creationId xmlns:a16="http://schemas.microsoft.com/office/drawing/2014/main" id="{9715E42B-C709-87BD-1179-E0783FE06628}"/>
              </a:ext>
            </a:extLst>
          </p:cNvPr>
          <p:cNvSpPr/>
          <p:nvPr/>
        </p:nvSpPr>
        <p:spPr>
          <a:xfrm>
            <a:off x="457990" y="2827678"/>
            <a:ext cx="6643687" cy="738664"/>
          </a:xfrm>
          <a:prstGeom prst="rect">
            <a:avLst/>
          </a:prstGeom>
        </p:spPr>
        <p:txBody>
          <a:bodyPr wrap="square">
            <a:spAutoFit/>
          </a:bodyPr>
          <a:lstStyle/>
          <a:p>
            <a:pPr algn="just"/>
            <a:r>
              <a:rPr lang="en-IN" sz="1400" dirty="0">
                <a:latin typeface="Comic Sans MS" panose="030F0702030302020204" pitchFamily="66" charset="0"/>
              </a:rPr>
              <a:t>Natural System was given by George Bentham and Joseph Dalton Hooker. This system only consider external features, but also internal features, like ultrastructure, anatomy, embryology and phytochemistry.</a:t>
            </a:r>
          </a:p>
        </p:txBody>
      </p:sp>
      <p:sp>
        <p:nvSpPr>
          <p:cNvPr id="25" name="AutoShape 23">
            <a:extLst>
              <a:ext uri="{FF2B5EF4-FFF2-40B4-BE49-F238E27FC236}">
                <a16:creationId xmlns:a16="http://schemas.microsoft.com/office/drawing/2014/main" id="{4ED0CC43-910E-C38E-9DCD-9F71C5E9D709}"/>
              </a:ext>
            </a:extLst>
          </p:cNvPr>
          <p:cNvSpPr>
            <a:spLocks noChangeArrowheads="1"/>
          </p:cNvSpPr>
          <p:nvPr/>
        </p:nvSpPr>
        <p:spPr bwMode="auto">
          <a:xfrm>
            <a:off x="464941" y="3712415"/>
            <a:ext cx="3797299"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Phylogenetic</a:t>
            </a:r>
          </a:p>
        </p:txBody>
      </p:sp>
      <p:sp>
        <p:nvSpPr>
          <p:cNvPr id="26" name="Title 1">
            <a:extLst>
              <a:ext uri="{FF2B5EF4-FFF2-40B4-BE49-F238E27FC236}">
                <a16:creationId xmlns:a16="http://schemas.microsoft.com/office/drawing/2014/main" id="{4C7D3EFF-3784-43F5-D41E-9699F8C5302E}"/>
              </a:ext>
            </a:extLst>
          </p:cNvPr>
          <p:cNvSpPr txBox="1">
            <a:spLocks/>
          </p:cNvSpPr>
          <p:nvPr/>
        </p:nvSpPr>
        <p:spPr>
          <a:xfrm>
            <a:off x="494438" y="3746685"/>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3</a:t>
            </a:r>
          </a:p>
        </p:txBody>
      </p:sp>
      <p:sp>
        <p:nvSpPr>
          <p:cNvPr id="29" name="Rectangle 28">
            <a:extLst>
              <a:ext uri="{FF2B5EF4-FFF2-40B4-BE49-F238E27FC236}">
                <a16:creationId xmlns:a16="http://schemas.microsoft.com/office/drawing/2014/main" id="{C4E35C5E-F3FE-C371-9BE6-2FC8A59251A2}"/>
              </a:ext>
            </a:extLst>
          </p:cNvPr>
          <p:cNvSpPr/>
          <p:nvPr/>
        </p:nvSpPr>
        <p:spPr>
          <a:xfrm>
            <a:off x="464941" y="4328208"/>
            <a:ext cx="6643687" cy="2031325"/>
          </a:xfrm>
          <a:prstGeom prst="rect">
            <a:avLst/>
          </a:prstGeom>
        </p:spPr>
        <p:txBody>
          <a:bodyPr wrap="square">
            <a:spAutoFit/>
          </a:bodyPr>
          <a:lstStyle/>
          <a:p>
            <a:pPr algn="just"/>
            <a:r>
              <a:rPr lang="en-IN" sz="1400" dirty="0">
                <a:latin typeface="Comic Sans MS" panose="030F0702030302020204" pitchFamily="66" charset="0"/>
              </a:rPr>
              <a:t>This system is most acceptable system for nowadays. This system is based on evolutionary relationships between the various organisms are acceptable. This assumes that organisms belonging to the same taxa have a common ancestor. We now use information from many other sources too to help resolve difficulties in classification. We now use some other taxonomy if there is no fossils found which are :-</a:t>
            </a:r>
          </a:p>
          <a:p>
            <a:pPr algn="just"/>
            <a:endParaRPr lang="en-IN" sz="105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Numerical Taxonomy</a:t>
            </a:r>
          </a:p>
          <a:p>
            <a:pPr marL="342900" indent="-342900" algn="just">
              <a:buAutoNum type="arabicPeriod"/>
            </a:pPr>
            <a:r>
              <a:rPr lang="en-IN" sz="1400" dirty="0">
                <a:latin typeface="Comic Sans MS" panose="030F0702030302020204" pitchFamily="66" charset="0"/>
              </a:rPr>
              <a:t>Cytotaxonomy</a:t>
            </a:r>
          </a:p>
        </p:txBody>
      </p:sp>
      <p:sp>
        <p:nvSpPr>
          <p:cNvPr id="30" name="AutoShape 11">
            <a:extLst>
              <a:ext uri="{FF2B5EF4-FFF2-40B4-BE49-F238E27FC236}">
                <a16:creationId xmlns:a16="http://schemas.microsoft.com/office/drawing/2014/main" id="{727B32D4-9FB4-5720-6489-0875AD6D1593}"/>
              </a:ext>
            </a:extLst>
          </p:cNvPr>
          <p:cNvSpPr>
            <a:spLocks noChangeArrowheads="1"/>
          </p:cNvSpPr>
          <p:nvPr/>
        </p:nvSpPr>
        <p:spPr bwMode="auto">
          <a:xfrm>
            <a:off x="501388" y="6498131"/>
            <a:ext cx="3285399"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Numerical Taxonomy</a:t>
            </a:r>
          </a:p>
        </p:txBody>
      </p:sp>
      <p:sp>
        <p:nvSpPr>
          <p:cNvPr id="33" name="Rectangle 32">
            <a:extLst>
              <a:ext uri="{FF2B5EF4-FFF2-40B4-BE49-F238E27FC236}">
                <a16:creationId xmlns:a16="http://schemas.microsoft.com/office/drawing/2014/main" id="{E41D4BF2-E398-A5E4-30CA-CB0A690F294E}"/>
              </a:ext>
            </a:extLst>
          </p:cNvPr>
          <p:cNvSpPr/>
          <p:nvPr/>
        </p:nvSpPr>
        <p:spPr>
          <a:xfrm>
            <a:off x="501388" y="7207744"/>
            <a:ext cx="6643687" cy="738664"/>
          </a:xfrm>
          <a:prstGeom prst="rect">
            <a:avLst/>
          </a:prstGeom>
        </p:spPr>
        <p:txBody>
          <a:bodyPr wrap="square">
            <a:spAutoFit/>
          </a:bodyPr>
          <a:lstStyle/>
          <a:p>
            <a:pPr algn="just"/>
            <a:r>
              <a:rPr lang="en-IN" sz="1400" dirty="0">
                <a:latin typeface="Comic Sans MS" panose="030F0702030302020204" pitchFamily="66" charset="0"/>
              </a:rPr>
              <a:t>Numerical taxonomy is based on all the observable characteristics in microorganisms and each character is given equal weightage. Using computers, hundreds of characteristics can be considered simultaneously</a:t>
            </a:r>
            <a:r>
              <a:rPr lang="en-IN" sz="1400" b="0" i="0" dirty="0">
                <a:solidFill>
                  <a:srgbClr val="333333"/>
                </a:solidFill>
                <a:effectLst/>
                <a:latin typeface="Roboto" panose="020B0604020202020204" pitchFamily="2" charset="0"/>
              </a:rPr>
              <a:t>.</a:t>
            </a:r>
          </a:p>
        </p:txBody>
      </p:sp>
      <p:sp>
        <p:nvSpPr>
          <p:cNvPr id="35" name="AutoShape 11">
            <a:extLst>
              <a:ext uri="{FF2B5EF4-FFF2-40B4-BE49-F238E27FC236}">
                <a16:creationId xmlns:a16="http://schemas.microsoft.com/office/drawing/2014/main" id="{987FC4EA-48DB-8927-0058-C405ED47CDF3}"/>
              </a:ext>
            </a:extLst>
          </p:cNvPr>
          <p:cNvSpPr>
            <a:spLocks noChangeArrowheads="1"/>
          </p:cNvSpPr>
          <p:nvPr/>
        </p:nvSpPr>
        <p:spPr bwMode="auto">
          <a:xfrm>
            <a:off x="464941" y="8047987"/>
            <a:ext cx="3285399"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Cytotaxonomy</a:t>
            </a:r>
          </a:p>
        </p:txBody>
      </p:sp>
      <p:sp>
        <p:nvSpPr>
          <p:cNvPr id="36" name="Rectangle 35">
            <a:extLst>
              <a:ext uri="{FF2B5EF4-FFF2-40B4-BE49-F238E27FC236}">
                <a16:creationId xmlns:a16="http://schemas.microsoft.com/office/drawing/2014/main" id="{F138D875-D083-9A18-1D13-0C6D70C28E41}"/>
              </a:ext>
            </a:extLst>
          </p:cNvPr>
          <p:cNvSpPr/>
          <p:nvPr/>
        </p:nvSpPr>
        <p:spPr>
          <a:xfrm>
            <a:off x="464941" y="8757600"/>
            <a:ext cx="6643687" cy="954107"/>
          </a:xfrm>
          <a:prstGeom prst="rect">
            <a:avLst/>
          </a:prstGeom>
        </p:spPr>
        <p:txBody>
          <a:bodyPr wrap="square">
            <a:spAutoFit/>
          </a:bodyPr>
          <a:lstStyle/>
          <a:p>
            <a:pPr algn="just"/>
            <a:r>
              <a:rPr lang="en-IN" sz="1400" dirty="0">
                <a:latin typeface="Comic Sans MS" panose="030F0702030302020204" pitchFamily="66" charset="0"/>
              </a:rPr>
              <a:t>Cytotaxonomy refers to the classification of organisms based on their cellular structure such as chromosome number, structure, behaviour and chemotaxonomy that uses the chemical constituents of the plant to resolve confusions, are also used by taxonomists these days. </a:t>
            </a:r>
          </a:p>
        </p:txBody>
      </p:sp>
    </p:spTree>
    <p:extLst>
      <p:ext uri="{BB962C8B-B14F-4D97-AF65-F5344CB8AC3E}">
        <p14:creationId xmlns:p14="http://schemas.microsoft.com/office/powerpoint/2010/main" val="3284366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423BFD97-93EC-9935-6F1E-7266AF0ADBE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2DECCE98-D5FC-D525-1782-2584D1D12C8D}"/>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3</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AEC1080C-2070-AFD8-75C7-D93D72CE4F64}"/>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A75290F6-B402-8E23-1499-3DF1C601DE86}"/>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0" name="AutoShape 11">
            <a:extLst>
              <a:ext uri="{FF2B5EF4-FFF2-40B4-BE49-F238E27FC236}">
                <a16:creationId xmlns:a16="http://schemas.microsoft.com/office/drawing/2014/main" id="{2D68DB70-B221-7C4D-6382-A82267E1C7FA}"/>
              </a:ext>
            </a:extLst>
          </p:cNvPr>
          <p:cNvSpPr>
            <a:spLocks noChangeArrowheads="1"/>
          </p:cNvSpPr>
          <p:nvPr/>
        </p:nvSpPr>
        <p:spPr bwMode="auto">
          <a:xfrm>
            <a:off x="4844457" y="531815"/>
            <a:ext cx="2296717" cy="516646"/>
          </a:xfrm>
          <a:prstGeom prst="roundRect">
            <a:avLst>
              <a:gd name="adj" fmla="val 50000"/>
            </a:avLst>
          </a:prstGeom>
          <a:solidFill>
            <a:srgbClr val="92D050"/>
          </a:solidFill>
          <a:ln>
            <a:noFill/>
          </a:ln>
          <a:effectLst/>
        </p:spPr>
        <p:txBody>
          <a:bodyPr vert="horz" wrap="square" lIns="36576" tIns="36576" rIns="36576" bIns="36576" numCol="1" anchor="ctr" anchorCtr="0" compatLnSpc="1">
            <a:prstTxWarp prst="textNoShape">
              <a:avLst/>
            </a:prstTxWarp>
          </a:bodyPr>
          <a:lstStyle/>
          <a:p>
            <a:pPr algn="ctr"/>
            <a:r>
              <a:rPr lang="en-IN" dirty="0">
                <a:solidFill>
                  <a:schemeClr val="bg1"/>
                </a:solidFill>
                <a:latin typeface="Comic Sans MS" panose="030F0702030302020204" pitchFamily="66" charset="0"/>
              </a:rPr>
              <a:t>Plants</a:t>
            </a:r>
          </a:p>
        </p:txBody>
      </p:sp>
      <p:sp>
        <p:nvSpPr>
          <p:cNvPr id="11" name="AutoShape 11">
            <a:extLst>
              <a:ext uri="{FF2B5EF4-FFF2-40B4-BE49-F238E27FC236}">
                <a16:creationId xmlns:a16="http://schemas.microsoft.com/office/drawing/2014/main" id="{427F4DF0-7861-AB87-A8AD-5E2F44353B30}"/>
              </a:ext>
            </a:extLst>
          </p:cNvPr>
          <p:cNvSpPr>
            <a:spLocks noChangeArrowheads="1"/>
          </p:cNvSpPr>
          <p:nvPr/>
        </p:nvSpPr>
        <p:spPr bwMode="auto">
          <a:xfrm>
            <a:off x="4837312" y="1286669"/>
            <a:ext cx="2303862" cy="518254"/>
          </a:xfrm>
          <a:prstGeom prst="roundRect">
            <a:avLst>
              <a:gd name="adj" fmla="val 50000"/>
            </a:avLst>
          </a:prstGeom>
          <a:solidFill>
            <a:srgbClr val="90A2DC"/>
          </a:solidFill>
          <a:ln>
            <a:noFill/>
          </a:ln>
          <a:effectLst/>
        </p:spPr>
        <p:txBody>
          <a:bodyPr vert="horz" wrap="square" lIns="36576" tIns="36576" rIns="36576" bIns="36576" numCol="1" anchor="ctr" anchorCtr="0" compatLnSpc="1">
            <a:prstTxWarp prst="textNoShape">
              <a:avLst/>
            </a:prstTxWarp>
          </a:bodyPr>
          <a:lstStyle/>
          <a:p>
            <a:pPr algn="ctr"/>
            <a:r>
              <a:rPr lang="en-IN" dirty="0">
                <a:solidFill>
                  <a:schemeClr val="bg1"/>
                </a:solidFill>
                <a:latin typeface="Comic Sans MS" panose="030F0702030302020204" pitchFamily="66" charset="0"/>
              </a:rPr>
              <a:t>Algae</a:t>
            </a:r>
          </a:p>
        </p:txBody>
      </p:sp>
      <p:cxnSp>
        <p:nvCxnSpPr>
          <p:cNvPr id="14" name="Straight Arrow Connector 13">
            <a:extLst>
              <a:ext uri="{FF2B5EF4-FFF2-40B4-BE49-F238E27FC236}">
                <a16:creationId xmlns:a16="http://schemas.microsoft.com/office/drawing/2014/main" id="{076CAAC7-5128-F66F-7585-E3389A3F516E}"/>
              </a:ext>
            </a:extLst>
          </p:cNvPr>
          <p:cNvCxnSpPr>
            <a:cxnSpLocks/>
            <a:stCxn id="10" idx="2"/>
            <a:endCxn id="11" idx="0"/>
          </p:cNvCxnSpPr>
          <p:nvPr/>
        </p:nvCxnSpPr>
        <p:spPr>
          <a:xfrm flipH="1">
            <a:off x="5989243" y="1048461"/>
            <a:ext cx="3573" cy="2382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AutoShape 11">
            <a:extLst>
              <a:ext uri="{FF2B5EF4-FFF2-40B4-BE49-F238E27FC236}">
                <a16:creationId xmlns:a16="http://schemas.microsoft.com/office/drawing/2014/main" id="{66E4EE7D-A6EC-6708-776C-E9445A54AD66}"/>
              </a:ext>
            </a:extLst>
          </p:cNvPr>
          <p:cNvSpPr>
            <a:spLocks noChangeArrowheads="1"/>
          </p:cNvSpPr>
          <p:nvPr/>
        </p:nvSpPr>
        <p:spPr bwMode="auto">
          <a:xfrm>
            <a:off x="4837312" y="2053432"/>
            <a:ext cx="2303862" cy="518254"/>
          </a:xfrm>
          <a:prstGeom prst="roundRect">
            <a:avLst>
              <a:gd name="adj" fmla="val 50000"/>
            </a:avLst>
          </a:prstGeom>
          <a:solidFill>
            <a:schemeClr val="tx2">
              <a:lumMod val="75000"/>
            </a:schemeClr>
          </a:solidFill>
          <a:ln>
            <a:noFill/>
          </a:ln>
          <a:effectLst/>
        </p:spPr>
        <p:txBody>
          <a:bodyPr vert="horz" wrap="square" lIns="36576" tIns="36576" rIns="36576" bIns="36576" numCol="1" anchor="ctr" anchorCtr="0" compatLnSpc="1">
            <a:prstTxWarp prst="textNoShape">
              <a:avLst/>
            </a:prstTxWarp>
          </a:bodyPr>
          <a:lstStyle/>
          <a:p>
            <a:pPr algn="ctr"/>
            <a:r>
              <a:rPr lang="en-IN" dirty="0">
                <a:solidFill>
                  <a:schemeClr val="bg1"/>
                </a:solidFill>
                <a:latin typeface="Comic Sans MS" panose="030F0702030302020204" pitchFamily="66" charset="0"/>
              </a:rPr>
              <a:t>Bryophyta</a:t>
            </a:r>
          </a:p>
        </p:txBody>
      </p:sp>
      <p:cxnSp>
        <p:nvCxnSpPr>
          <p:cNvPr id="18" name="Straight Arrow Connector 17">
            <a:extLst>
              <a:ext uri="{FF2B5EF4-FFF2-40B4-BE49-F238E27FC236}">
                <a16:creationId xmlns:a16="http://schemas.microsoft.com/office/drawing/2014/main" id="{E257161C-E146-5399-6404-D6231F21DCFA}"/>
              </a:ext>
            </a:extLst>
          </p:cNvPr>
          <p:cNvCxnSpPr>
            <a:cxnSpLocks/>
            <a:endCxn id="17" idx="0"/>
          </p:cNvCxnSpPr>
          <p:nvPr/>
        </p:nvCxnSpPr>
        <p:spPr>
          <a:xfrm>
            <a:off x="5989243" y="1843023"/>
            <a:ext cx="0" cy="210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AutoShape 11">
            <a:extLst>
              <a:ext uri="{FF2B5EF4-FFF2-40B4-BE49-F238E27FC236}">
                <a16:creationId xmlns:a16="http://schemas.microsoft.com/office/drawing/2014/main" id="{F22D3D50-88A7-2E96-EF87-ECF4A5D21410}"/>
              </a:ext>
            </a:extLst>
          </p:cNvPr>
          <p:cNvSpPr>
            <a:spLocks noChangeArrowheads="1"/>
          </p:cNvSpPr>
          <p:nvPr/>
        </p:nvSpPr>
        <p:spPr bwMode="auto">
          <a:xfrm>
            <a:off x="4837312" y="2839641"/>
            <a:ext cx="2303862" cy="518254"/>
          </a:xfrm>
          <a:prstGeom prst="roundRect">
            <a:avLst>
              <a:gd name="adj" fmla="val 50000"/>
            </a:avLst>
          </a:prstGeom>
          <a:solidFill>
            <a:schemeClr val="accent3">
              <a:lumMod val="75000"/>
            </a:schemeClr>
          </a:solidFill>
          <a:ln>
            <a:noFill/>
          </a:ln>
          <a:effectLst/>
        </p:spPr>
        <p:txBody>
          <a:bodyPr vert="horz" wrap="square" lIns="36576" tIns="36576" rIns="36576" bIns="36576" numCol="1" anchor="ctr" anchorCtr="0" compatLnSpc="1">
            <a:prstTxWarp prst="textNoShape">
              <a:avLst/>
            </a:prstTxWarp>
          </a:bodyPr>
          <a:lstStyle/>
          <a:p>
            <a:pPr algn="ctr"/>
            <a:r>
              <a:rPr lang="en-IN" dirty="0">
                <a:solidFill>
                  <a:schemeClr val="bg1"/>
                </a:solidFill>
                <a:latin typeface="Comic Sans MS" panose="030F0702030302020204" pitchFamily="66" charset="0"/>
              </a:rPr>
              <a:t>Pteridophyte</a:t>
            </a:r>
          </a:p>
        </p:txBody>
      </p:sp>
      <p:cxnSp>
        <p:nvCxnSpPr>
          <p:cNvPr id="21" name="Straight Arrow Connector 20">
            <a:extLst>
              <a:ext uri="{FF2B5EF4-FFF2-40B4-BE49-F238E27FC236}">
                <a16:creationId xmlns:a16="http://schemas.microsoft.com/office/drawing/2014/main" id="{113FF22C-2977-95F0-F42A-FB7FBE0C1D51}"/>
              </a:ext>
            </a:extLst>
          </p:cNvPr>
          <p:cNvCxnSpPr>
            <a:cxnSpLocks/>
            <a:stCxn id="17" idx="2"/>
            <a:endCxn id="20" idx="0"/>
          </p:cNvCxnSpPr>
          <p:nvPr/>
        </p:nvCxnSpPr>
        <p:spPr>
          <a:xfrm>
            <a:off x="5989243" y="2571686"/>
            <a:ext cx="0" cy="267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AutoShape 11">
            <a:extLst>
              <a:ext uri="{FF2B5EF4-FFF2-40B4-BE49-F238E27FC236}">
                <a16:creationId xmlns:a16="http://schemas.microsoft.com/office/drawing/2014/main" id="{047DB936-F659-229E-C653-CBA7C8D0C1AD}"/>
              </a:ext>
            </a:extLst>
          </p:cNvPr>
          <p:cNvSpPr>
            <a:spLocks noChangeArrowheads="1"/>
          </p:cNvSpPr>
          <p:nvPr/>
        </p:nvSpPr>
        <p:spPr bwMode="auto">
          <a:xfrm>
            <a:off x="4837312" y="3604219"/>
            <a:ext cx="2303859" cy="518253"/>
          </a:xfrm>
          <a:prstGeom prst="roundRect">
            <a:avLst>
              <a:gd name="adj" fmla="val 50000"/>
            </a:avLst>
          </a:prstGeom>
          <a:solidFill>
            <a:schemeClr val="accent5">
              <a:lumMod val="75000"/>
            </a:schemeClr>
          </a:solidFill>
          <a:ln>
            <a:noFill/>
          </a:ln>
          <a:effectLst/>
        </p:spPr>
        <p:txBody>
          <a:bodyPr vert="horz" wrap="square" lIns="36576" tIns="36576" rIns="36576" bIns="36576" numCol="1" anchor="ctr" anchorCtr="0" compatLnSpc="1">
            <a:prstTxWarp prst="textNoShape">
              <a:avLst/>
            </a:prstTxWarp>
          </a:bodyPr>
          <a:lstStyle/>
          <a:p>
            <a:pPr algn="ctr"/>
            <a:r>
              <a:rPr lang="en-IN" dirty="0">
                <a:solidFill>
                  <a:schemeClr val="bg1"/>
                </a:solidFill>
                <a:latin typeface="Comic Sans MS" panose="030F0702030302020204" pitchFamily="66" charset="0"/>
              </a:rPr>
              <a:t>Gymnosperms</a:t>
            </a:r>
          </a:p>
        </p:txBody>
      </p:sp>
      <p:cxnSp>
        <p:nvCxnSpPr>
          <p:cNvPr id="25" name="Straight Arrow Connector 24">
            <a:extLst>
              <a:ext uri="{FF2B5EF4-FFF2-40B4-BE49-F238E27FC236}">
                <a16:creationId xmlns:a16="http://schemas.microsoft.com/office/drawing/2014/main" id="{F6C9EF56-F877-9D3B-B77B-E1F96CD48DD3}"/>
              </a:ext>
            </a:extLst>
          </p:cNvPr>
          <p:cNvCxnSpPr>
            <a:cxnSpLocks/>
            <a:stCxn id="20" idx="2"/>
            <a:endCxn id="24" idx="0"/>
          </p:cNvCxnSpPr>
          <p:nvPr/>
        </p:nvCxnSpPr>
        <p:spPr>
          <a:xfrm flipH="1">
            <a:off x="5989242" y="3357895"/>
            <a:ext cx="1" cy="2463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AutoShape 11">
            <a:extLst>
              <a:ext uri="{FF2B5EF4-FFF2-40B4-BE49-F238E27FC236}">
                <a16:creationId xmlns:a16="http://schemas.microsoft.com/office/drawing/2014/main" id="{95601878-B86D-3C58-7E9B-F3FFEBAE01AB}"/>
              </a:ext>
            </a:extLst>
          </p:cNvPr>
          <p:cNvSpPr>
            <a:spLocks noChangeArrowheads="1"/>
          </p:cNvSpPr>
          <p:nvPr/>
        </p:nvSpPr>
        <p:spPr bwMode="auto">
          <a:xfrm>
            <a:off x="4844457" y="4406899"/>
            <a:ext cx="2296714" cy="516646"/>
          </a:xfrm>
          <a:prstGeom prst="roundRect">
            <a:avLst>
              <a:gd name="adj" fmla="val 50000"/>
            </a:avLst>
          </a:prstGeom>
          <a:solidFill>
            <a:schemeClr val="accent2">
              <a:lumMod val="75000"/>
            </a:schemeClr>
          </a:solidFill>
          <a:ln>
            <a:noFill/>
          </a:ln>
          <a:effectLst/>
        </p:spPr>
        <p:txBody>
          <a:bodyPr vert="horz" wrap="square" lIns="36576" tIns="36576" rIns="36576" bIns="36576" numCol="1" anchor="ctr" anchorCtr="0" compatLnSpc="1">
            <a:prstTxWarp prst="textNoShape">
              <a:avLst/>
            </a:prstTxWarp>
          </a:bodyPr>
          <a:lstStyle/>
          <a:p>
            <a:pPr algn="ctr"/>
            <a:r>
              <a:rPr lang="en-IN" dirty="0">
                <a:solidFill>
                  <a:schemeClr val="bg1"/>
                </a:solidFill>
                <a:latin typeface="Comic Sans MS" panose="030F0702030302020204" pitchFamily="66" charset="0"/>
              </a:rPr>
              <a:t>Angiosperms</a:t>
            </a:r>
          </a:p>
        </p:txBody>
      </p:sp>
      <p:cxnSp>
        <p:nvCxnSpPr>
          <p:cNvPr id="28" name="Straight Arrow Connector 27">
            <a:extLst>
              <a:ext uri="{FF2B5EF4-FFF2-40B4-BE49-F238E27FC236}">
                <a16:creationId xmlns:a16="http://schemas.microsoft.com/office/drawing/2014/main" id="{AAAF0A45-BAD0-AD2B-F452-68537E5859E3}"/>
              </a:ext>
            </a:extLst>
          </p:cNvPr>
          <p:cNvCxnSpPr>
            <a:cxnSpLocks/>
            <a:stCxn id="24" idx="2"/>
            <a:endCxn id="27" idx="0"/>
          </p:cNvCxnSpPr>
          <p:nvPr/>
        </p:nvCxnSpPr>
        <p:spPr>
          <a:xfrm>
            <a:off x="5989242" y="4122472"/>
            <a:ext cx="3572" cy="2844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AutoShape 26">
            <a:extLst>
              <a:ext uri="{FF2B5EF4-FFF2-40B4-BE49-F238E27FC236}">
                <a16:creationId xmlns:a16="http://schemas.microsoft.com/office/drawing/2014/main" id="{1AAA705D-6D81-7DE8-EE0A-7987C30DE3C9}"/>
              </a:ext>
            </a:extLst>
          </p:cNvPr>
          <p:cNvSpPr>
            <a:spLocks noChangeArrowheads="1"/>
          </p:cNvSpPr>
          <p:nvPr/>
        </p:nvSpPr>
        <p:spPr bwMode="auto">
          <a:xfrm>
            <a:off x="477542" y="600475"/>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0" name="Title 1">
            <a:extLst>
              <a:ext uri="{FF2B5EF4-FFF2-40B4-BE49-F238E27FC236}">
                <a16:creationId xmlns:a16="http://schemas.microsoft.com/office/drawing/2014/main" id="{1D338F3D-0108-F6E8-8391-5D23B05A6A33}"/>
              </a:ext>
            </a:extLst>
          </p:cNvPr>
          <p:cNvSpPr txBox="1">
            <a:spLocks/>
          </p:cNvSpPr>
          <p:nvPr/>
        </p:nvSpPr>
        <p:spPr>
          <a:xfrm>
            <a:off x="1126592" y="563963"/>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52" name="AutoShape 29">
            <a:extLst>
              <a:ext uri="{FF2B5EF4-FFF2-40B4-BE49-F238E27FC236}">
                <a16:creationId xmlns:a16="http://schemas.microsoft.com/office/drawing/2014/main" id="{177F4566-5921-00D1-4868-D59331ACBED0}"/>
              </a:ext>
            </a:extLst>
          </p:cNvPr>
          <p:cNvSpPr>
            <a:spLocks noChangeArrowheads="1"/>
          </p:cNvSpPr>
          <p:nvPr/>
        </p:nvSpPr>
        <p:spPr bwMode="auto">
          <a:xfrm>
            <a:off x="788692" y="550865"/>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53" name="AutoShape 30">
            <a:extLst>
              <a:ext uri="{FF2B5EF4-FFF2-40B4-BE49-F238E27FC236}">
                <a16:creationId xmlns:a16="http://schemas.microsoft.com/office/drawing/2014/main" id="{43187508-2DA6-1F94-CF74-AF26DFB2F1DC}"/>
              </a:ext>
            </a:extLst>
          </p:cNvPr>
          <p:cNvSpPr>
            <a:spLocks noChangeArrowheads="1"/>
          </p:cNvSpPr>
          <p:nvPr/>
        </p:nvSpPr>
        <p:spPr bwMode="auto">
          <a:xfrm>
            <a:off x="526754" y="592140"/>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4" name="Oval 31">
            <a:extLst>
              <a:ext uri="{FF2B5EF4-FFF2-40B4-BE49-F238E27FC236}">
                <a16:creationId xmlns:a16="http://schemas.microsoft.com/office/drawing/2014/main" id="{43ED0B89-93E8-4527-A2F6-27670955FAC3}"/>
              </a:ext>
            </a:extLst>
          </p:cNvPr>
          <p:cNvSpPr>
            <a:spLocks noChangeArrowheads="1"/>
          </p:cNvSpPr>
          <p:nvPr/>
        </p:nvSpPr>
        <p:spPr bwMode="auto">
          <a:xfrm>
            <a:off x="448967" y="438153"/>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55" name="Title 1">
            <a:extLst>
              <a:ext uri="{FF2B5EF4-FFF2-40B4-BE49-F238E27FC236}">
                <a16:creationId xmlns:a16="http://schemas.microsoft.com/office/drawing/2014/main" id="{43C38DDB-1D00-2903-59B7-ECA20863525B}"/>
              </a:ext>
            </a:extLst>
          </p:cNvPr>
          <p:cNvSpPr txBox="1">
            <a:spLocks/>
          </p:cNvSpPr>
          <p:nvPr/>
        </p:nvSpPr>
        <p:spPr>
          <a:xfrm>
            <a:off x="1194615" y="533720"/>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Algae</a:t>
            </a:r>
            <a:endParaRPr lang="en-IN" sz="1500" b="1" dirty="0"/>
          </a:p>
        </p:txBody>
      </p:sp>
      <p:pic>
        <p:nvPicPr>
          <p:cNvPr id="57" name="Graphic 56">
            <a:extLst>
              <a:ext uri="{FF2B5EF4-FFF2-40B4-BE49-F238E27FC236}">
                <a16:creationId xmlns:a16="http://schemas.microsoft.com/office/drawing/2014/main" id="{9A0B578D-1DB6-0061-8C90-E557899CBD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3319" y="458691"/>
            <a:ext cx="709654" cy="709654"/>
          </a:xfrm>
          <a:prstGeom prst="rect">
            <a:avLst/>
          </a:prstGeom>
        </p:spPr>
      </p:pic>
      <p:sp>
        <p:nvSpPr>
          <p:cNvPr id="58" name="Rectangle 57">
            <a:extLst>
              <a:ext uri="{FF2B5EF4-FFF2-40B4-BE49-F238E27FC236}">
                <a16:creationId xmlns:a16="http://schemas.microsoft.com/office/drawing/2014/main" id="{E3A026A2-442C-617A-48FC-6DB5A66CA022}"/>
              </a:ext>
            </a:extLst>
          </p:cNvPr>
          <p:cNvSpPr/>
          <p:nvPr/>
        </p:nvSpPr>
        <p:spPr>
          <a:xfrm>
            <a:off x="440335" y="1201684"/>
            <a:ext cx="4286446" cy="738664"/>
          </a:xfrm>
          <a:prstGeom prst="rect">
            <a:avLst/>
          </a:prstGeom>
        </p:spPr>
        <p:txBody>
          <a:bodyPr wrap="square">
            <a:spAutoFit/>
          </a:bodyPr>
          <a:lstStyle/>
          <a:p>
            <a:pPr algn="just"/>
            <a:r>
              <a:rPr lang="en-IN" sz="1400" dirty="0">
                <a:latin typeface="Comic Sans MS" panose="030F0702030302020204" pitchFamily="66" charset="0"/>
              </a:rPr>
              <a:t>Algae are the primitive type of plants, chlorophyll-bearing, simple, thalloid, autotrophic and largely aquatic.</a:t>
            </a:r>
          </a:p>
        </p:txBody>
      </p:sp>
      <p:sp>
        <p:nvSpPr>
          <p:cNvPr id="59" name="AutoShape 23">
            <a:extLst>
              <a:ext uri="{FF2B5EF4-FFF2-40B4-BE49-F238E27FC236}">
                <a16:creationId xmlns:a16="http://schemas.microsoft.com/office/drawing/2014/main" id="{6E26F686-170B-8A2D-4AB1-2031EAC6CCBC}"/>
              </a:ext>
            </a:extLst>
          </p:cNvPr>
          <p:cNvSpPr>
            <a:spLocks noChangeArrowheads="1"/>
          </p:cNvSpPr>
          <p:nvPr/>
        </p:nvSpPr>
        <p:spPr bwMode="auto">
          <a:xfrm>
            <a:off x="418502" y="2028520"/>
            <a:ext cx="2419948" cy="457466"/>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Habitat</a:t>
            </a:r>
          </a:p>
        </p:txBody>
      </p:sp>
      <p:sp>
        <p:nvSpPr>
          <p:cNvPr id="60" name="Title 1">
            <a:extLst>
              <a:ext uri="{FF2B5EF4-FFF2-40B4-BE49-F238E27FC236}">
                <a16:creationId xmlns:a16="http://schemas.microsoft.com/office/drawing/2014/main" id="{A1CAC9A6-F62C-4033-A1E1-2D35DBCED3ED}"/>
              </a:ext>
            </a:extLst>
          </p:cNvPr>
          <p:cNvSpPr txBox="1">
            <a:spLocks/>
          </p:cNvSpPr>
          <p:nvPr/>
        </p:nvSpPr>
        <p:spPr>
          <a:xfrm>
            <a:off x="468938" y="2068280"/>
            <a:ext cx="407361" cy="375401"/>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1</a:t>
            </a:r>
          </a:p>
        </p:txBody>
      </p:sp>
      <p:sp>
        <p:nvSpPr>
          <p:cNvPr id="61" name="Rectangle 60">
            <a:extLst>
              <a:ext uri="{FF2B5EF4-FFF2-40B4-BE49-F238E27FC236}">
                <a16:creationId xmlns:a16="http://schemas.microsoft.com/office/drawing/2014/main" id="{FA378B11-45F4-9A13-AF91-038E433311C2}"/>
              </a:ext>
            </a:extLst>
          </p:cNvPr>
          <p:cNvSpPr/>
          <p:nvPr/>
        </p:nvSpPr>
        <p:spPr>
          <a:xfrm>
            <a:off x="418501" y="2516167"/>
            <a:ext cx="4286446" cy="1600438"/>
          </a:xfrm>
          <a:prstGeom prst="rect">
            <a:avLst/>
          </a:prstGeom>
        </p:spPr>
        <p:txBody>
          <a:bodyPr wrap="square">
            <a:spAutoFit/>
          </a:bodyPr>
          <a:lstStyle/>
          <a:p>
            <a:pPr marL="285750" indent="-285750" algn="just">
              <a:buFont typeface="Wingdings" panose="05000000000000000000" pitchFamily="2" charset="2"/>
              <a:buChar char="v"/>
            </a:pPr>
            <a:r>
              <a:rPr lang="en-IN" sz="1400" dirty="0">
                <a:latin typeface="Comic Sans MS" panose="030F0702030302020204" pitchFamily="66" charset="0"/>
              </a:rPr>
              <a:t>Algae are mainly aquatic and can live in fresh water, marine and brackish water (both fresh and marine mix water).</a:t>
            </a:r>
          </a:p>
          <a:p>
            <a:pPr marL="285750" indent="-285750" algn="just">
              <a:buFont typeface="Wingdings" panose="05000000000000000000" pitchFamily="2" charset="2"/>
              <a:buChar char="v"/>
            </a:pPr>
            <a:r>
              <a:rPr lang="en-IN" sz="1400" dirty="0">
                <a:latin typeface="Comic Sans MS" panose="030F0702030302020204" pitchFamily="66" charset="0"/>
              </a:rPr>
              <a:t>Some of algae also occur in moist soil, moist stone, wood, lichens, sloth bear (trichophiles).</a:t>
            </a:r>
          </a:p>
          <a:p>
            <a:pPr marL="285750" indent="-285750" algn="just">
              <a:buFont typeface="Wingdings" panose="05000000000000000000" pitchFamily="2" charset="2"/>
              <a:buChar char="v"/>
            </a:pPr>
            <a:r>
              <a:rPr lang="en-IN" sz="1400" dirty="0">
                <a:latin typeface="Comic Sans MS" panose="030F0702030302020204" pitchFamily="66" charset="0"/>
              </a:rPr>
              <a:t>Algae can grows in salt pans(Halophytic alga).</a:t>
            </a:r>
          </a:p>
          <a:p>
            <a:pPr marL="285750" indent="-285750" algn="just">
              <a:buFont typeface="Wingdings" panose="05000000000000000000" pitchFamily="2" charset="2"/>
              <a:buChar char="v"/>
            </a:pPr>
            <a:r>
              <a:rPr lang="en-IN" sz="1400" dirty="0">
                <a:latin typeface="Comic Sans MS" panose="030F0702030302020204" pitchFamily="66" charset="0"/>
              </a:rPr>
              <a:t>Algae growing in snow are called Cryophytes.</a:t>
            </a:r>
          </a:p>
        </p:txBody>
      </p:sp>
      <p:sp>
        <p:nvSpPr>
          <p:cNvPr id="62" name="AutoShape 23">
            <a:extLst>
              <a:ext uri="{FF2B5EF4-FFF2-40B4-BE49-F238E27FC236}">
                <a16:creationId xmlns:a16="http://schemas.microsoft.com/office/drawing/2014/main" id="{CFD55960-088F-BB97-5C91-264BDEAFE6E7}"/>
              </a:ext>
            </a:extLst>
          </p:cNvPr>
          <p:cNvSpPr>
            <a:spLocks noChangeArrowheads="1"/>
          </p:cNvSpPr>
          <p:nvPr/>
        </p:nvSpPr>
        <p:spPr bwMode="auto">
          <a:xfrm>
            <a:off x="418501" y="4187336"/>
            <a:ext cx="2419948" cy="457466"/>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Structure</a:t>
            </a:r>
          </a:p>
        </p:txBody>
      </p:sp>
      <p:sp>
        <p:nvSpPr>
          <p:cNvPr id="63" name="Title 1">
            <a:extLst>
              <a:ext uri="{FF2B5EF4-FFF2-40B4-BE49-F238E27FC236}">
                <a16:creationId xmlns:a16="http://schemas.microsoft.com/office/drawing/2014/main" id="{1DA3740E-1CF4-0A5C-DE63-C1756AE1FD73}"/>
              </a:ext>
            </a:extLst>
          </p:cNvPr>
          <p:cNvSpPr txBox="1">
            <a:spLocks/>
          </p:cNvSpPr>
          <p:nvPr/>
        </p:nvSpPr>
        <p:spPr>
          <a:xfrm>
            <a:off x="468937" y="4227096"/>
            <a:ext cx="407361" cy="375401"/>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2</a:t>
            </a:r>
          </a:p>
        </p:txBody>
      </p:sp>
      <p:sp>
        <p:nvSpPr>
          <p:cNvPr id="64" name="Rectangle 63">
            <a:extLst>
              <a:ext uri="{FF2B5EF4-FFF2-40B4-BE49-F238E27FC236}">
                <a16:creationId xmlns:a16="http://schemas.microsoft.com/office/drawing/2014/main" id="{7DD4E426-3DD9-DFC0-B409-1AEBE33E39CC}"/>
              </a:ext>
            </a:extLst>
          </p:cNvPr>
          <p:cNvSpPr/>
          <p:nvPr/>
        </p:nvSpPr>
        <p:spPr>
          <a:xfrm>
            <a:off x="418500" y="4674983"/>
            <a:ext cx="4286446" cy="954107"/>
          </a:xfrm>
          <a:prstGeom prst="rect">
            <a:avLst/>
          </a:prstGeom>
        </p:spPr>
        <p:txBody>
          <a:bodyPr wrap="square">
            <a:spAutoFit/>
          </a:bodyPr>
          <a:lstStyle/>
          <a:p>
            <a:pPr algn="just"/>
            <a:r>
              <a:rPr lang="en-IN" sz="1400" dirty="0">
                <a:latin typeface="Comic Sans MS" panose="030F0702030302020204" pitchFamily="66" charset="0"/>
              </a:rPr>
              <a:t>Algae are very simple, thalloid (don’t have roots, leaves, stems), mainly multicellular (can be unicellular) &amp; eukaryotic and don’t have definite shape.</a:t>
            </a:r>
          </a:p>
        </p:txBody>
      </p:sp>
      <p:sp>
        <p:nvSpPr>
          <p:cNvPr id="67" name="AutoShape 11">
            <a:extLst>
              <a:ext uri="{FF2B5EF4-FFF2-40B4-BE49-F238E27FC236}">
                <a16:creationId xmlns:a16="http://schemas.microsoft.com/office/drawing/2014/main" id="{22134274-4F4A-BCF3-C5E1-408EAFAC8707}"/>
              </a:ext>
            </a:extLst>
          </p:cNvPr>
          <p:cNvSpPr>
            <a:spLocks noChangeArrowheads="1"/>
          </p:cNvSpPr>
          <p:nvPr/>
        </p:nvSpPr>
        <p:spPr bwMode="auto">
          <a:xfrm>
            <a:off x="418500" y="5429679"/>
            <a:ext cx="2510971"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External Structure</a:t>
            </a:r>
          </a:p>
        </p:txBody>
      </p:sp>
      <p:sp>
        <p:nvSpPr>
          <p:cNvPr id="68" name="Rectangle 67">
            <a:extLst>
              <a:ext uri="{FF2B5EF4-FFF2-40B4-BE49-F238E27FC236}">
                <a16:creationId xmlns:a16="http://schemas.microsoft.com/office/drawing/2014/main" id="{95B0F797-AF06-C7BE-4B89-437475D295AF}"/>
              </a:ext>
            </a:extLst>
          </p:cNvPr>
          <p:cNvSpPr/>
          <p:nvPr/>
        </p:nvSpPr>
        <p:spPr>
          <a:xfrm>
            <a:off x="440334" y="5934454"/>
            <a:ext cx="6700836" cy="738664"/>
          </a:xfrm>
          <a:prstGeom prst="rect">
            <a:avLst/>
          </a:prstGeom>
        </p:spPr>
        <p:txBody>
          <a:bodyPr wrap="square">
            <a:spAutoFit/>
          </a:bodyPr>
          <a:lstStyle/>
          <a:p>
            <a:pPr algn="just"/>
            <a:r>
              <a:rPr lang="en-IN" sz="1400" dirty="0">
                <a:latin typeface="Comic Sans MS" panose="030F0702030302020204" pitchFamily="66" charset="0"/>
              </a:rPr>
              <a:t>Algae can be both multicellular and unicellular (e.g. </a:t>
            </a:r>
            <a:r>
              <a:rPr lang="en-IN" sz="1400" i="1" dirty="0">
                <a:latin typeface="Comic Sans MS" panose="030F0702030302020204" pitchFamily="66" charset="0"/>
              </a:rPr>
              <a:t>Chlamydomonas</a:t>
            </a:r>
            <a:r>
              <a:rPr lang="en-IN" sz="1400" dirty="0">
                <a:latin typeface="Comic Sans MS" panose="030F0702030302020204" pitchFamily="66" charset="0"/>
              </a:rPr>
              <a:t>) and vary in form and size. Multicellular algae can be found as filamentous, branched and colonial. Algae can be microscopic to 100m length brown algae.</a:t>
            </a:r>
          </a:p>
        </p:txBody>
      </p:sp>
    </p:spTree>
    <p:extLst>
      <p:ext uri="{BB962C8B-B14F-4D97-AF65-F5344CB8AC3E}">
        <p14:creationId xmlns:p14="http://schemas.microsoft.com/office/powerpoint/2010/main" val="1315029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423BFD97-93EC-9935-6F1E-7266AF0ADBE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2DECCE98-D5FC-D525-1782-2584D1D12C8D}"/>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4</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AEC1080C-2070-AFD8-75C7-D93D72CE4F64}"/>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A75290F6-B402-8E23-1499-3DF1C601DE86}"/>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67" name="AutoShape 11">
            <a:extLst>
              <a:ext uri="{FF2B5EF4-FFF2-40B4-BE49-F238E27FC236}">
                <a16:creationId xmlns:a16="http://schemas.microsoft.com/office/drawing/2014/main" id="{22134274-4F4A-BCF3-C5E1-408EAFAC8707}"/>
              </a:ext>
            </a:extLst>
          </p:cNvPr>
          <p:cNvSpPr>
            <a:spLocks noChangeArrowheads="1"/>
          </p:cNvSpPr>
          <p:nvPr/>
        </p:nvSpPr>
        <p:spPr bwMode="auto">
          <a:xfrm>
            <a:off x="431800" y="377825"/>
            <a:ext cx="3536473"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Internal Structure or Cell detail</a:t>
            </a:r>
          </a:p>
        </p:txBody>
      </p:sp>
      <p:sp>
        <p:nvSpPr>
          <p:cNvPr id="68" name="Rectangle 67">
            <a:extLst>
              <a:ext uri="{FF2B5EF4-FFF2-40B4-BE49-F238E27FC236}">
                <a16:creationId xmlns:a16="http://schemas.microsoft.com/office/drawing/2014/main" id="{95B0F797-AF06-C7BE-4B89-437475D295AF}"/>
              </a:ext>
            </a:extLst>
          </p:cNvPr>
          <p:cNvSpPr/>
          <p:nvPr/>
        </p:nvSpPr>
        <p:spPr>
          <a:xfrm>
            <a:off x="453634" y="882600"/>
            <a:ext cx="6700836" cy="1815882"/>
          </a:xfrm>
          <a:prstGeom prst="rect">
            <a:avLst/>
          </a:prstGeom>
        </p:spPr>
        <p:txBody>
          <a:bodyPr wrap="square">
            <a:spAutoFit/>
          </a:bodyPr>
          <a:lstStyle/>
          <a:p>
            <a:pPr algn="just"/>
            <a:r>
              <a:rPr lang="en-IN" sz="1400" dirty="0">
                <a:latin typeface="Comic Sans MS" panose="030F0702030302020204" pitchFamily="66" charset="0"/>
              </a:rPr>
              <a:t>Algae can be classified into:-</a:t>
            </a:r>
          </a:p>
          <a:p>
            <a:pPr marL="285750" indent="-285750" algn="just">
              <a:buFont typeface="Wingdings" panose="05000000000000000000" pitchFamily="2" charset="2"/>
              <a:buChar char="Ø"/>
            </a:pPr>
            <a:r>
              <a:rPr lang="en-IN" sz="1400" dirty="0">
                <a:latin typeface="Comic Sans MS" panose="030F0702030302020204" pitchFamily="66" charset="0"/>
              </a:rPr>
              <a:t>Green algae (Chlorophyceae)</a:t>
            </a:r>
          </a:p>
          <a:p>
            <a:pPr marL="285750" indent="-285750" algn="just">
              <a:buFont typeface="Wingdings" panose="05000000000000000000" pitchFamily="2" charset="2"/>
              <a:buChar char="Ø"/>
            </a:pPr>
            <a:r>
              <a:rPr lang="en-IN" sz="1400" dirty="0">
                <a:latin typeface="Comic Sans MS" panose="030F0702030302020204" pitchFamily="66" charset="0"/>
              </a:rPr>
              <a:t>Brown algae (Phaeophycean)</a:t>
            </a:r>
          </a:p>
          <a:p>
            <a:pPr marL="285750" indent="-285750" algn="just">
              <a:buFont typeface="Wingdings" panose="05000000000000000000" pitchFamily="2" charset="2"/>
              <a:buChar char="Ø"/>
            </a:pPr>
            <a:r>
              <a:rPr lang="en-IN" sz="1400" dirty="0">
                <a:latin typeface="Comic Sans MS" panose="030F0702030302020204" pitchFamily="66" charset="0"/>
              </a:rPr>
              <a:t>Red algae (Rhodophyceae)</a:t>
            </a:r>
          </a:p>
          <a:p>
            <a:pPr marL="285750" indent="-285750" algn="just">
              <a:buFont typeface="Wingdings" panose="05000000000000000000" pitchFamily="2" charset="2"/>
              <a:buChar char="Ø"/>
            </a:pPr>
            <a:endParaRPr lang="en-IN" sz="1400" dirty="0">
              <a:latin typeface="Comic Sans MS" panose="030F0702030302020204" pitchFamily="66" charset="0"/>
            </a:endParaRPr>
          </a:p>
          <a:p>
            <a:pPr algn="just"/>
            <a:r>
              <a:rPr lang="en-IN" sz="1400" dirty="0">
                <a:latin typeface="Comic Sans MS" panose="030F0702030302020204" pitchFamily="66" charset="0"/>
              </a:rPr>
              <a:t>Now we will learn about cell organelles that is different in every type such as:-</a:t>
            </a:r>
          </a:p>
          <a:p>
            <a:pPr algn="just"/>
            <a:r>
              <a:rPr lang="en-IN" sz="1400" dirty="0">
                <a:latin typeface="Comic Sans MS" panose="030F0702030302020204" pitchFamily="66" charset="0"/>
              </a:rPr>
              <a:t>1. Cell wall     2. Flagella    3. Pigment    4. Storage</a:t>
            </a:r>
          </a:p>
        </p:txBody>
      </p:sp>
      <p:sp>
        <p:nvSpPr>
          <p:cNvPr id="33" name="AutoShape 11">
            <a:extLst>
              <a:ext uri="{FF2B5EF4-FFF2-40B4-BE49-F238E27FC236}">
                <a16:creationId xmlns:a16="http://schemas.microsoft.com/office/drawing/2014/main" id="{D4EB079E-B744-965A-C939-84668A67CCF5}"/>
              </a:ext>
            </a:extLst>
          </p:cNvPr>
          <p:cNvSpPr>
            <a:spLocks noChangeArrowheads="1"/>
          </p:cNvSpPr>
          <p:nvPr/>
        </p:nvSpPr>
        <p:spPr bwMode="auto">
          <a:xfrm>
            <a:off x="431800" y="2763519"/>
            <a:ext cx="2242820"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Cell Wall</a:t>
            </a:r>
          </a:p>
        </p:txBody>
      </p:sp>
      <p:sp>
        <p:nvSpPr>
          <p:cNvPr id="34" name="Rectangle 33">
            <a:extLst>
              <a:ext uri="{FF2B5EF4-FFF2-40B4-BE49-F238E27FC236}">
                <a16:creationId xmlns:a16="http://schemas.microsoft.com/office/drawing/2014/main" id="{CC79DAAB-A6A0-0E6B-CCD0-04026999C9A0}"/>
              </a:ext>
            </a:extLst>
          </p:cNvPr>
          <p:cNvSpPr/>
          <p:nvPr/>
        </p:nvSpPr>
        <p:spPr>
          <a:xfrm>
            <a:off x="453634" y="3240475"/>
            <a:ext cx="6700836" cy="1815882"/>
          </a:xfrm>
          <a:prstGeom prst="rect">
            <a:avLst/>
          </a:prstGeom>
        </p:spPr>
        <p:txBody>
          <a:bodyPr wrap="square">
            <a:spAutoFit/>
          </a:bodyPr>
          <a:lstStyle/>
          <a:p>
            <a:pPr algn="just"/>
            <a:r>
              <a:rPr lang="en-IN" sz="1400" dirty="0">
                <a:latin typeface="Comic Sans MS" panose="030F0702030302020204" pitchFamily="66" charset="0"/>
              </a:rPr>
              <a:t>Algae contains cell wall which is made up of different chemicals</a:t>
            </a:r>
          </a:p>
          <a:p>
            <a:pPr marL="285750" indent="-285750" algn="just">
              <a:buFontTx/>
              <a:buChar char="-"/>
            </a:pPr>
            <a:r>
              <a:rPr lang="en-IN" sz="1400" dirty="0">
                <a:latin typeface="Comic Sans MS" panose="030F0702030302020204" pitchFamily="66" charset="0"/>
              </a:rPr>
              <a:t>Green algae  –  Cellulose, pectin</a:t>
            </a:r>
          </a:p>
          <a:p>
            <a:pPr marL="285750" indent="-285750" algn="just">
              <a:buFontTx/>
              <a:buChar char="-"/>
            </a:pPr>
            <a:r>
              <a:rPr lang="en-IN" sz="1400" dirty="0">
                <a:latin typeface="Comic Sans MS" panose="030F0702030302020204" pitchFamily="66" charset="0"/>
              </a:rPr>
              <a:t>Brown algae  –  Cellulose, algin</a:t>
            </a:r>
          </a:p>
          <a:p>
            <a:pPr marL="285750" indent="-285750" algn="just">
              <a:buFontTx/>
              <a:buChar char="-"/>
            </a:pPr>
            <a:r>
              <a:rPr lang="en-IN" sz="1400" dirty="0">
                <a:latin typeface="Comic Sans MS" panose="030F0702030302020204" pitchFamily="66" charset="0"/>
              </a:rPr>
              <a:t>Red algae      –  Cellulose, carageen</a:t>
            </a:r>
          </a:p>
          <a:p>
            <a:pPr algn="just"/>
            <a:endParaRPr lang="en-IN" sz="1400" dirty="0">
              <a:latin typeface="Comic Sans MS" panose="030F0702030302020204" pitchFamily="66" charset="0"/>
            </a:endParaRPr>
          </a:p>
          <a:p>
            <a:pPr algn="just"/>
            <a:r>
              <a:rPr lang="en-IN" sz="1400" dirty="0">
                <a:latin typeface="Comic Sans MS" panose="030F0702030302020204" pitchFamily="66" charset="0"/>
              </a:rPr>
              <a:t>In the outer layer of cell wall of brown and red algae contain chemical deposit that is used to hold water (hydrocolloids) e.g. algin (brown algae) and carrageen (red algae).</a:t>
            </a:r>
          </a:p>
        </p:txBody>
      </p:sp>
      <p:sp>
        <p:nvSpPr>
          <p:cNvPr id="10" name="AutoShape 11">
            <a:extLst>
              <a:ext uri="{FF2B5EF4-FFF2-40B4-BE49-F238E27FC236}">
                <a16:creationId xmlns:a16="http://schemas.microsoft.com/office/drawing/2014/main" id="{C1999CDF-9D9F-B34C-DFB9-6F16C4CF6951}"/>
              </a:ext>
            </a:extLst>
          </p:cNvPr>
          <p:cNvSpPr>
            <a:spLocks noChangeArrowheads="1"/>
          </p:cNvSpPr>
          <p:nvPr/>
        </p:nvSpPr>
        <p:spPr bwMode="auto">
          <a:xfrm>
            <a:off x="431800" y="5155406"/>
            <a:ext cx="2242820"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Flagella</a:t>
            </a:r>
          </a:p>
        </p:txBody>
      </p:sp>
      <p:sp>
        <p:nvSpPr>
          <p:cNvPr id="11" name="Rectangle 10">
            <a:extLst>
              <a:ext uri="{FF2B5EF4-FFF2-40B4-BE49-F238E27FC236}">
                <a16:creationId xmlns:a16="http://schemas.microsoft.com/office/drawing/2014/main" id="{99ACA558-3366-8029-53AB-C3CA6E55130F}"/>
              </a:ext>
            </a:extLst>
          </p:cNvPr>
          <p:cNvSpPr/>
          <p:nvPr/>
        </p:nvSpPr>
        <p:spPr>
          <a:xfrm>
            <a:off x="444109" y="5632362"/>
            <a:ext cx="6700836" cy="2246769"/>
          </a:xfrm>
          <a:prstGeom prst="rect">
            <a:avLst/>
          </a:prstGeom>
        </p:spPr>
        <p:txBody>
          <a:bodyPr wrap="square">
            <a:spAutoFit/>
          </a:bodyPr>
          <a:lstStyle/>
          <a:p>
            <a:pPr algn="just"/>
            <a:r>
              <a:rPr lang="en-IN" sz="1400" dirty="0">
                <a:latin typeface="Comic Sans MS" panose="030F0702030302020204" pitchFamily="66" charset="0"/>
              </a:rPr>
              <a:t>Functions of flagella :–</a:t>
            </a:r>
          </a:p>
          <a:p>
            <a:pPr marL="285750" indent="-285750" algn="just">
              <a:buFontTx/>
              <a:buChar char="-"/>
            </a:pPr>
            <a:r>
              <a:rPr lang="en-IN" sz="1400" dirty="0">
                <a:latin typeface="Comic Sans MS" panose="030F0702030302020204" pitchFamily="66" charset="0"/>
              </a:rPr>
              <a:t>Flagella facilitates movement and locomotion in organisms</a:t>
            </a:r>
          </a:p>
          <a:p>
            <a:pPr marL="285750" indent="-285750" algn="just">
              <a:buFontTx/>
              <a:buChar char="-"/>
            </a:pPr>
            <a:r>
              <a:rPr lang="en-IN" sz="1400" dirty="0">
                <a:latin typeface="Comic Sans MS" panose="030F0702030302020204" pitchFamily="66" charset="0"/>
              </a:rPr>
              <a:t>Flagella can help detect changes in pH and temperature</a:t>
            </a:r>
          </a:p>
          <a:p>
            <a:pPr marL="285750" indent="-285750" algn="just">
              <a:buFontTx/>
              <a:buChar char="-"/>
            </a:pPr>
            <a:r>
              <a:rPr lang="en-IN" sz="1400" dirty="0">
                <a:latin typeface="Comic Sans MS" panose="030F0702030302020204" pitchFamily="66" charset="0"/>
              </a:rPr>
              <a:t>They help eukaryotes to enhance their reproductive rates</a:t>
            </a:r>
          </a:p>
          <a:p>
            <a:pPr marL="285750" indent="-285750" algn="just">
              <a:buFontTx/>
              <a:buChar char="-"/>
            </a:pPr>
            <a:r>
              <a:rPr lang="en-IN" sz="1400" dirty="0">
                <a:latin typeface="Comic Sans MS" panose="030F0702030302020204" pitchFamily="66" charset="0"/>
              </a:rPr>
              <a:t>They help in the identification of certain types of organisms</a:t>
            </a:r>
          </a:p>
          <a:p>
            <a:pPr algn="just"/>
            <a:endParaRPr lang="en-IN" sz="1400" dirty="0">
              <a:latin typeface="Comic Sans MS" panose="030F0702030302020204" pitchFamily="66" charset="0"/>
            </a:endParaRPr>
          </a:p>
          <a:p>
            <a:pPr algn="just"/>
            <a:r>
              <a:rPr lang="en-IN" sz="1400" dirty="0">
                <a:latin typeface="Comic Sans MS" panose="030F0702030302020204" pitchFamily="66" charset="0"/>
              </a:rPr>
              <a:t>There are different type of flagella present in algae :-</a:t>
            </a:r>
          </a:p>
          <a:p>
            <a:pPr marL="285750" indent="-285750" algn="just">
              <a:buFont typeface="Wingdings" panose="05000000000000000000" pitchFamily="2" charset="2"/>
              <a:buChar char="Ø"/>
            </a:pPr>
            <a:r>
              <a:rPr lang="en-IN" sz="1400" dirty="0">
                <a:latin typeface="Comic Sans MS" panose="030F0702030302020204" pitchFamily="66" charset="0"/>
              </a:rPr>
              <a:t>Green algae     Apical flagella with same height, 2 to 8 in number</a:t>
            </a:r>
          </a:p>
          <a:p>
            <a:pPr marL="285750" indent="-285750" algn="just">
              <a:buFont typeface="Wingdings" panose="05000000000000000000" pitchFamily="2" charset="2"/>
              <a:buChar char="Ø"/>
            </a:pPr>
            <a:r>
              <a:rPr lang="en-IN" sz="1400" dirty="0">
                <a:latin typeface="Comic Sans MS" panose="030F0702030302020204" pitchFamily="66" charset="0"/>
              </a:rPr>
              <a:t>Brown algae     2 Lateral unequal flagella</a:t>
            </a:r>
          </a:p>
          <a:p>
            <a:pPr marL="285750" indent="-285750" algn="just">
              <a:buFont typeface="Wingdings" panose="05000000000000000000" pitchFamily="2" charset="2"/>
              <a:buChar char="Ø"/>
            </a:pPr>
            <a:r>
              <a:rPr lang="en-IN" sz="1400" dirty="0">
                <a:latin typeface="Comic Sans MS" panose="030F0702030302020204" pitchFamily="66" charset="0"/>
              </a:rPr>
              <a:t>Red algae         Flagella absent (non-motile)</a:t>
            </a:r>
          </a:p>
        </p:txBody>
      </p:sp>
      <p:sp>
        <p:nvSpPr>
          <p:cNvPr id="13" name="TextBox 12">
            <a:extLst>
              <a:ext uri="{FF2B5EF4-FFF2-40B4-BE49-F238E27FC236}">
                <a16:creationId xmlns:a16="http://schemas.microsoft.com/office/drawing/2014/main" id="{E5D125D4-40AC-050D-5450-BAF8EFF3E5AF}"/>
              </a:ext>
            </a:extLst>
          </p:cNvPr>
          <p:cNvSpPr txBox="1"/>
          <p:nvPr/>
        </p:nvSpPr>
        <p:spPr>
          <a:xfrm>
            <a:off x="1795462" y="7130942"/>
            <a:ext cx="233363" cy="738664"/>
          </a:xfrm>
          <a:prstGeom prst="rect">
            <a:avLst/>
          </a:prstGeom>
          <a:noFill/>
        </p:spPr>
        <p:txBody>
          <a:bodyPr wrap="square">
            <a:spAutoFit/>
          </a:bodyPr>
          <a:lstStyle/>
          <a:p>
            <a:r>
              <a:rPr lang="en-IN" sz="1400" dirty="0">
                <a:latin typeface="Comic Sans MS" panose="030F0702030302020204" pitchFamily="66" charset="0"/>
              </a:rPr>
              <a:t>-</a:t>
            </a:r>
          </a:p>
          <a:p>
            <a:r>
              <a:rPr lang="en-IN" sz="1400" dirty="0">
                <a:latin typeface="Comic Sans MS" panose="030F0702030302020204" pitchFamily="66" charset="0"/>
              </a:rPr>
              <a:t>-</a:t>
            </a:r>
          </a:p>
          <a:p>
            <a:r>
              <a:rPr lang="en-IN" sz="1400" dirty="0">
                <a:latin typeface="Comic Sans MS" panose="030F0702030302020204" pitchFamily="66" charset="0"/>
              </a:rPr>
              <a:t>-</a:t>
            </a:r>
            <a:endParaRPr lang="en-IN" sz="1400" dirty="0"/>
          </a:p>
        </p:txBody>
      </p:sp>
      <p:sp>
        <p:nvSpPr>
          <p:cNvPr id="19" name="AutoShape 11">
            <a:extLst>
              <a:ext uri="{FF2B5EF4-FFF2-40B4-BE49-F238E27FC236}">
                <a16:creationId xmlns:a16="http://schemas.microsoft.com/office/drawing/2014/main" id="{885B84D9-7023-DC6F-FAA3-41D1C1949E84}"/>
              </a:ext>
            </a:extLst>
          </p:cNvPr>
          <p:cNvSpPr>
            <a:spLocks noChangeArrowheads="1"/>
          </p:cNvSpPr>
          <p:nvPr/>
        </p:nvSpPr>
        <p:spPr bwMode="auto">
          <a:xfrm>
            <a:off x="410718" y="7917288"/>
            <a:ext cx="2242820"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Pigment</a:t>
            </a:r>
          </a:p>
        </p:txBody>
      </p:sp>
      <p:sp>
        <p:nvSpPr>
          <p:cNvPr id="20" name="Rectangle 19">
            <a:extLst>
              <a:ext uri="{FF2B5EF4-FFF2-40B4-BE49-F238E27FC236}">
                <a16:creationId xmlns:a16="http://schemas.microsoft.com/office/drawing/2014/main" id="{37C6176D-6B35-FD6C-776B-DAD3ABFCDABC}"/>
              </a:ext>
            </a:extLst>
          </p:cNvPr>
          <p:cNvSpPr/>
          <p:nvPr/>
        </p:nvSpPr>
        <p:spPr>
          <a:xfrm>
            <a:off x="423027" y="8348524"/>
            <a:ext cx="6700836" cy="1815882"/>
          </a:xfrm>
          <a:prstGeom prst="rect">
            <a:avLst/>
          </a:prstGeom>
        </p:spPr>
        <p:txBody>
          <a:bodyPr wrap="square">
            <a:spAutoFit/>
          </a:bodyPr>
          <a:lstStyle/>
          <a:p>
            <a:pPr algn="just"/>
            <a:r>
              <a:rPr lang="en-IN" sz="1400" dirty="0">
                <a:latin typeface="Comic Sans MS" panose="030F0702030302020204" pitchFamily="66" charset="0"/>
              </a:rPr>
              <a:t>There are different kinds of pigment that are present in plastid of algae:-</a:t>
            </a:r>
          </a:p>
          <a:p>
            <a:pPr marL="285750" indent="-285750" algn="just">
              <a:buFontTx/>
              <a:buChar char="-"/>
            </a:pPr>
            <a:r>
              <a:rPr lang="en-IN" sz="1400" dirty="0">
                <a:latin typeface="Comic Sans MS" panose="030F0702030302020204" pitchFamily="66" charset="0"/>
              </a:rPr>
              <a:t>Chlorophyll  (Chlorophyll a, b, c, d)</a:t>
            </a:r>
          </a:p>
          <a:p>
            <a:pPr marL="285750" indent="-285750" algn="just">
              <a:buFontTx/>
              <a:buChar char="-"/>
            </a:pPr>
            <a:r>
              <a:rPr lang="en-IN" sz="1400" dirty="0">
                <a:latin typeface="Comic Sans MS" panose="030F0702030302020204" pitchFamily="66" charset="0"/>
              </a:rPr>
              <a:t>Carotenoids (Carotin, Xanthophyll)</a:t>
            </a:r>
          </a:p>
          <a:p>
            <a:pPr marL="285750" indent="-285750" algn="just">
              <a:buFontTx/>
              <a:buChar char="-"/>
            </a:pPr>
            <a:endParaRPr lang="en-IN" sz="1400" dirty="0">
              <a:latin typeface="Comic Sans MS" panose="030F0702030302020204" pitchFamily="66" charset="0"/>
            </a:endParaRPr>
          </a:p>
          <a:p>
            <a:pPr algn="just"/>
            <a:r>
              <a:rPr lang="en-IN" sz="1400" dirty="0">
                <a:latin typeface="Comic Sans MS" panose="030F0702030302020204" pitchFamily="66" charset="0"/>
              </a:rPr>
              <a:t>Different type of algae posses different pigments</a:t>
            </a:r>
          </a:p>
          <a:p>
            <a:pPr marL="285750" indent="-285750" algn="just">
              <a:buFont typeface="Wingdings" panose="05000000000000000000" pitchFamily="2" charset="2"/>
              <a:buChar char="Ø"/>
            </a:pPr>
            <a:r>
              <a:rPr lang="en-IN" sz="1400" dirty="0">
                <a:latin typeface="Comic Sans MS" panose="030F0702030302020204" pitchFamily="66" charset="0"/>
              </a:rPr>
              <a:t>Green algae – Chlorophyll a &amp; b</a:t>
            </a:r>
          </a:p>
          <a:p>
            <a:pPr marL="285750" indent="-285750" algn="just">
              <a:buFont typeface="Wingdings" panose="05000000000000000000" pitchFamily="2" charset="2"/>
              <a:buChar char="Ø"/>
            </a:pPr>
            <a:r>
              <a:rPr lang="en-IN" sz="1400" dirty="0">
                <a:latin typeface="Comic Sans MS" panose="030F0702030302020204" pitchFamily="66" charset="0"/>
              </a:rPr>
              <a:t>Brown algae – Chlorophyll a &amp; c, Fucoxanthin (brown in colour)</a:t>
            </a:r>
          </a:p>
          <a:p>
            <a:pPr marL="285750" indent="-285750" algn="just">
              <a:buFont typeface="Wingdings" panose="05000000000000000000" pitchFamily="2" charset="2"/>
              <a:buChar char="Ø"/>
            </a:pPr>
            <a:r>
              <a:rPr lang="en-IN" sz="1400" dirty="0">
                <a:latin typeface="Comic Sans MS" panose="030F0702030302020204" pitchFamily="66" charset="0"/>
              </a:rPr>
              <a:t>Red algae     – Chlorophyll a &amp; d, Phycoerythrin (red in colour)</a:t>
            </a:r>
          </a:p>
        </p:txBody>
      </p:sp>
    </p:spTree>
    <p:extLst>
      <p:ext uri="{BB962C8B-B14F-4D97-AF65-F5344CB8AC3E}">
        <p14:creationId xmlns:p14="http://schemas.microsoft.com/office/powerpoint/2010/main" val="868060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BCF999BB-5B17-07D3-BAD8-FE0491C4888F}"/>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A528AD4C-06AF-2B9E-7352-CC19DFB8294E}"/>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5</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B36E8102-2486-C679-9756-8C43258A89E5}"/>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551F4C91-55DB-D45C-7646-1EAB86F9AFDB}"/>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8" name="AutoShape 11">
            <a:extLst>
              <a:ext uri="{FF2B5EF4-FFF2-40B4-BE49-F238E27FC236}">
                <a16:creationId xmlns:a16="http://schemas.microsoft.com/office/drawing/2014/main" id="{10B9CFDF-CEB1-CCC8-F845-8F64AD00C14D}"/>
              </a:ext>
            </a:extLst>
          </p:cNvPr>
          <p:cNvSpPr>
            <a:spLocks noChangeArrowheads="1"/>
          </p:cNvSpPr>
          <p:nvPr/>
        </p:nvSpPr>
        <p:spPr bwMode="auto">
          <a:xfrm>
            <a:off x="431800" y="377825"/>
            <a:ext cx="2242820"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Storage</a:t>
            </a:r>
          </a:p>
        </p:txBody>
      </p:sp>
      <p:sp>
        <p:nvSpPr>
          <p:cNvPr id="9" name="Rectangle 8">
            <a:extLst>
              <a:ext uri="{FF2B5EF4-FFF2-40B4-BE49-F238E27FC236}">
                <a16:creationId xmlns:a16="http://schemas.microsoft.com/office/drawing/2014/main" id="{69D000E8-6F49-B424-6EFC-926F3F74428D}"/>
              </a:ext>
            </a:extLst>
          </p:cNvPr>
          <p:cNvSpPr/>
          <p:nvPr/>
        </p:nvSpPr>
        <p:spPr>
          <a:xfrm>
            <a:off x="444109" y="809061"/>
            <a:ext cx="6700836" cy="1169551"/>
          </a:xfrm>
          <a:prstGeom prst="rect">
            <a:avLst/>
          </a:prstGeom>
        </p:spPr>
        <p:txBody>
          <a:bodyPr wrap="square">
            <a:spAutoFit/>
          </a:bodyPr>
          <a:lstStyle/>
          <a:p>
            <a:pPr algn="just"/>
            <a:r>
              <a:rPr lang="en-IN" sz="1400" dirty="0">
                <a:latin typeface="Comic Sans MS" panose="030F0702030302020204" pitchFamily="66" charset="0"/>
              </a:rPr>
              <a:t>All algae are autotrophs and make their food using the process of photosynthesis. Food is stored in different algae are:-</a:t>
            </a:r>
          </a:p>
          <a:p>
            <a:pPr marL="285750" indent="-285750" algn="just">
              <a:buFont typeface="Wingdings" panose="05000000000000000000" pitchFamily="2" charset="2"/>
              <a:buChar char="Ø"/>
            </a:pPr>
            <a:r>
              <a:rPr lang="en-IN" sz="1400" dirty="0">
                <a:latin typeface="Comic Sans MS" panose="030F0702030302020204" pitchFamily="66" charset="0"/>
              </a:rPr>
              <a:t>Green algae  -  Starch</a:t>
            </a:r>
          </a:p>
          <a:p>
            <a:pPr marL="285750" indent="-285750" algn="just">
              <a:buFont typeface="Wingdings" panose="05000000000000000000" pitchFamily="2" charset="2"/>
              <a:buChar char="Ø"/>
            </a:pPr>
            <a:r>
              <a:rPr lang="en-IN" sz="1400" dirty="0">
                <a:latin typeface="Comic Sans MS" panose="030F0702030302020204" pitchFamily="66" charset="0"/>
              </a:rPr>
              <a:t>Brown algae  -  Laminarian starch, Mannitol</a:t>
            </a:r>
          </a:p>
          <a:p>
            <a:pPr marL="285750" indent="-285750" algn="just">
              <a:buFont typeface="Wingdings" panose="05000000000000000000" pitchFamily="2" charset="2"/>
              <a:buChar char="Ø"/>
            </a:pPr>
            <a:r>
              <a:rPr lang="en-IN" sz="1400" dirty="0">
                <a:latin typeface="Comic Sans MS" panose="030F0702030302020204" pitchFamily="66" charset="0"/>
              </a:rPr>
              <a:t>Red algae      -  Floridian starch</a:t>
            </a:r>
          </a:p>
        </p:txBody>
      </p:sp>
      <p:sp>
        <p:nvSpPr>
          <p:cNvPr id="11" name="Rectangle 10">
            <a:extLst>
              <a:ext uri="{FF2B5EF4-FFF2-40B4-BE49-F238E27FC236}">
                <a16:creationId xmlns:a16="http://schemas.microsoft.com/office/drawing/2014/main" id="{259E4CFE-ABF9-B623-14AE-56D2791F6E38}"/>
              </a:ext>
            </a:extLst>
          </p:cNvPr>
          <p:cNvSpPr/>
          <p:nvPr/>
        </p:nvSpPr>
        <p:spPr>
          <a:xfrm>
            <a:off x="427039" y="2603407"/>
            <a:ext cx="6700836" cy="738664"/>
          </a:xfrm>
          <a:prstGeom prst="rect">
            <a:avLst/>
          </a:prstGeom>
        </p:spPr>
        <p:txBody>
          <a:bodyPr wrap="square">
            <a:spAutoFit/>
          </a:bodyPr>
          <a:lstStyle/>
          <a:p>
            <a:pPr algn="just"/>
            <a:r>
              <a:rPr lang="en-IN" sz="1400" dirty="0">
                <a:latin typeface="Comic Sans MS" panose="030F0702030302020204" pitchFamily="66" charset="0"/>
              </a:rPr>
              <a:t>All plants make their food by the process of photosynthesis which takes place in the presence of light in plastid where oxygen is the by-product (oxygenic photosynthesis).</a:t>
            </a:r>
          </a:p>
        </p:txBody>
      </p:sp>
      <p:sp>
        <p:nvSpPr>
          <p:cNvPr id="13" name="AutoShape 23">
            <a:extLst>
              <a:ext uri="{FF2B5EF4-FFF2-40B4-BE49-F238E27FC236}">
                <a16:creationId xmlns:a16="http://schemas.microsoft.com/office/drawing/2014/main" id="{465EB239-C9E3-0F8E-6E20-6B95B7384A93}"/>
              </a:ext>
            </a:extLst>
          </p:cNvPr>
          <p:cNvSpPr>
            <a:spLocks noChangeArrowheads="1"/>
          </p:cNvSpPr>
          <p:nvPr/>
        </p:nvSpPr>
        <p:spPr bwMode="auto">
          <a:xfrm>
            <a:off x="444109" y="2100376"/>
            <a:ext cx="2419948" cy="457466"/>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Nutrition</a:t>
            </a:r>
          </a:p>
        </p:txBody>
      </p:sp>
      <p:sp>
        <p:nvSpPr>
          <p:cNvPr id="14" name="Title 1">
            <a:extLst>
              <a:ext uri="{FF2B5EF4-FFF2-40B4-BE49-F238E27FC236}">
                <a16:creationId xmlns:a16="http://schemas.microsoft.com/office/drawing/2014/main" id="{AFE78EE6-5A44-F125-36F1-B09C8749F880}"/>
              </a:ext>
            </a:extLst>
          </p:cNvPr>
          <p:cNvSpPr txBox="1">
            <a:spLocks/>
          </p:cNvSpPr>
          <p:nvPr/>
        </p:nvSpPr>
        <p:spPr>
          <a:xfrm>
            <a:off x="494545" y="2140136"/>
            <a:ext cx="407361" cy="375401"/>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3</a:t>
            </a:r>
          </a:p>
        </p:txBody>
      </p:sp>
      <p:sp>
        <p:nvSpPr>
          <p:cNvPr id="15" name="AutoShape 23">
            <a:extLst>
              <a:ext uri="{FF2B5EF4-FFF2-40B4-BE49-F238E27FC236}">
                <a16:creationId xmlns:a16="http://schemas.microsoft.com/office/drawing/2014/main" id="{FF517EA8-E2AF-B78D-BE28-398FF6591CB5}"/>
              </a:ext>
            </a:extLst>
          </p:cNvPr>
          <p:cNvSpPr>
            <a:spLocks noChangeArrowheads="1"/>
          </p:cNvSpPr>
          <p:nvPr/>
        </p:nvSpPr>
        <p:spPr bwMode="auto">
          <a:xfrm>
            <a:off x="444108" y="3509400"/>
            <a:ext cx="3590925" cy="457466"/>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Reproduction</a:t>
            </a:r>
          </a:p>
        </p:txBody>
      </p:sp>
      <p:sp>
        <p:nvSpPr>
          <p:cNvPr id="16" name="Title 1">
            <a:extLst>
              <a:ext uri="{FF2B5EF4-FFF2-40B4-BE49-F238E27FC236}">
                <a16:creationId xmlns:a16="http://schemas.microsoft.com/office/drawing/2014/main" id="{5502F74C-D74F-2DCE-356C-792F9EDCDC52}"/>
              </a:ext>
            </a:extLst>
          </p:cNvPr>
          <p:cNvSpPr txBox="1">
            <a:spLocks/>
          </p:cNvSpPr>
          <p:nvPr/>
        </p:nvSpPr>
        <p:spPr>
          <a:xfrm>
            <a:off x="494545" y="3549160"/>
            <a:ext cx="407361" cy="375401"/>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4</a:t>
            </a:r>
          </a:p>
        </p:txBody>
      </p:sp>
      <p:sp>
        <p:nvSpPr>
          <p:cNvPr id="17" name="AutoShape 11">
            <a:extLst>
              <a:ext uri="{FF2B5EF4-FFF2-40B4-BE49-F238E27FC236}">
                <a16:creationId xmlns:a16="http://schemas.microsoft.com/office/drawing/2014/main" id="{C0C4AB81-2834-ED0F-11CC-05F17AAD84E1}"/>
              </a:ext>
            </a:extLst>
          </p:cNvPr>
          <p:cNvSpPr>
            <a:spLocks noChangeArrowheads="1"/>
          </p:cNvSpPr>
          <p:nvPr/>
        </p:nvSpPr>
        <p:spPr bwMode="auto">
          <a:xfrm>
            <a:off x="417371" y="4572674"/>
            <a:ext cx="3173554"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Vegetative reproduction</a:t>
            </a:r>
          </a:p>
        </p:txBody>
      </p:sp>
      <p:sp>
        <p:nvSpPr>
          <p:cNvPr id="24" name="AutoShape 11">
            <a:extLst>
              <a:ext uri="{FF2B5EF4-FFF2-40B4-BE49-F238E27FC236}">
                <a16:creationId xmlns:a16="http://schemas.microsoft.com/office/drawing/2014/main" id="{005CAE14-545C-7B4D-1F29-C68399155FBA}"/>
              </a:ext>
            </a:extLst>
          </p:cNvPr>
          <p:cNvSpPr>
            <a:spLocks noChangeArrowheads="1"/>
          </p:cNvSpPr>
          <p:nvPr/>
        </p:nvSpPr>
        <p:spPr bwMode="auto">
          <a:xfrm>
            <a:off x="424395" y="5923004"/>
            <a:ext cx="2611578"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Cell division or fission</a:t>
            </a:r>
          </a:p>
        </p:txBody>
      </p:sp>
      <p:sp>
        <p:nvSpPr>
          <p:cNvPr id="25" name="TextBox 24">
            <a:extLst>
              <a:ext uri="{FF2B5EF4-FFF2-40B4-BE49-F238E27FC236}">
                <a16:creationId xmlns:a16="http://schemas.microsoft.com/office/drawing/2014/main" id="{24E863AD-9538-E509-9EEC-866F75134C4D}"/>
              </a:ext>
            </a:extLst>
          </p:cNvPr>
          <p:cNvSpPr txBox="1"/>
          <p:nvPr/>
        </p:nvSpPr>
        <p:spPr>
          <a:xfrm>
            <a:off x="424395" y="6333192"/>
            <a:ext cx="6727574" cy="1169551"/>
          </a:xfrm>
          <a:prstGeom prst="rect">
            <a:avLst/>
          </a:prstGeom>
          <a:noFill/>
        </p:spPr>
        <p:txBody>
          <a:bodyPr wrap="square">
            <a:spAutoFit/>
          </a:bodyPr>
          <a:lstStyle/>
          <a:p>
            <a:pPr algn="just" fontAlgn="base"/>
            <a:r>
              <a:rPr lang="en-IN" sz="1400" dirty="0">
                <a:latin typeface="Comic Sans MS" panose="030F0702030302020204" pitchFamily="66" charset="0"/>
              </a:rPr>
              <a:t>It is the simplest method of reproduction. The unicellular forms of algae commonly reproduce by this simple process, often called binary fission as found in </a:t>
            </a:r>
            <a:r>
              <a:rPr lang="en-IN" sz="1400" i="1" dirty="0">
                <a:latin typeface="Comic Sans MS" panose="030F0702030302020204" pitchFamily="66" charset="0"/>
              </a:rPr>
              <a:t>Chlamydomonas</a:t>
            </a:r>
            <a:r>
              <a:rPr lang="en-IN" sz="1400" dirty="0">
                <a:latin typeface="Comic Sans MS" panose="030F0702030302020204" pitchFamily="66" charset="0"/>
              </a:rPr>
              <a:t>, </a:t>
            </a:r>
            <a:r>
              <a:rPr lang="en-IN" sz="1400" i="1" dirty="0">
                <a:latin typeface="Comic Sans MS" panose="030F0702030302020204" pitchFamily="66" charset="0"/>
              </a:rPr>
              <a:t>diatoms</a:t>
            </a:r>
            <a:r>
              <a:rPr lang="en-IN" sz="1400" dirty="0">
                <a:latin typeface="Comic Sans MS" panose="030F0702030302020204" pitchFamily="66" charset="0"/>
              </a:rPr>
              <a:t> etc. In this method the vegetative cell divides mitotically into two daughter cells, those finally behave as new individual.</a:t>
            </a:r>
            <a:endParaRPr lang="en-IN" dirty="0"/>
          </a:p>
        </p:txBody>
      </p:sp>
      <p:sp>
        <p:nvSpPr>
          <p:cNvPr id="26" name="AutoShape 11">
            <a:extLst>
              <a:ext uri="{FF2B5EF4-FFF2-40B4-BE49-F238E27FC236}">
                <a16:creationId xmlns:a16="http://schemas.microsoft.com/office/drawing/2014/main" id="{A5BD98BB-0437-7399-9F97-3316D4F785CA}"/>
              </a:ext>
            </a:extLst>
          </p:cNvPr>
          <p:cNvSpPr>
            <a:spLocks noChangeArrowheads="1"/>
          </p:cNvSpPr>
          <p:nvPr/>
        </p:nvSpPr>
        <p:spPr bwMode="auto">
          <a:xfrm>
            <a:off x="421752" y="7635491"/>
            <a:ext cx="2611578"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Fragmentation</a:t>
            </a:r>
          </a:p>
        </p:txBody>
      </p:sp>
      <p:sp>
        <p:nvSpPr>
          <p:cNvPr id="30" name="TextBox 29">
            <a:extLst>
              <a:ext uri="{FF2B5EF4-FFF2-40B4-BE49-F238E27FC236}">
                <a16:creationId xmlns:a16="http://schemas.microsoft.com/office/drawing/2014/main" id="{049962DB-AAA4-0FD0-2B6D-F41B8CAA0C9B}"/>
              </a:ext>
            </a:extLst>
          </p:cNvPr>
          <p:cNvSpPr txBox="1"/>
          <p:nvPr/>
        </p:nvSpPr>
        <p:spPr>
          <a:xfrm>
            <a:off x="407324" y="8045587"/>
            <a:ext cx="6727574" cy="738664"/>
          </a:xfrm>
          <a:prstGeom prst="rect">
            <a:avLst/>
          </a:prstGeom>
          <a:noFill/>
        </p:spPr>
        <p:txBody>
          <a:bodyPr wrap="square">
            <a:spAutoFit/>
          </a:bodyPr>
          <a:lstStyle/>
          <a:p>
            <a:pPr algn="just" fontAlgn="base"/>
            <a:r>
              <a:rPr lang="en-IN" sz="1400" dirty="0">
                <a:latin typeface="Comic Sans MS" panose="030F0702030302020204" pitchFamily="66" charset="0"/>
              </a:rPr>
              <a:t>Fragmentation is the process of breaking up of the body of an organism into two or more parts called </a:t>
            </a:r>
            <a:r>
              <a:rPr lang="en-IN" sz="1400" b="1" i="1" dirty="0">
                <a:latin typeface="Comic Sans MS" panose="030F0702030302020204" pitchFamily="66" charset="0"/>
              </a:rPr>
              <a:t>fragments</a:t>
            </a:r>
            <a:r>
              <a:rPr lang="en-IN" sz="1400" dirty="0">
                <a:latin typeface="Comic Sans MS" panose="030F0702030302020204" pitchFamily="66" charset="0"/>
              </a:rPr>
              <a:t>, each of which grows into a new individual. E.g. spirogyra, Ulothrix, etc.</a:t>
            </a:r>
          </a:p>
        </p:txBody>
      </p:sp>
      <p:sp>
        <p:nvSpPr>
          <p:cNvPr id="31" name="TextBox 30">
            <a:extLst>
              <a:ext uri="{FF2B5EF4-FFF2-40B4-BE49-F238E27FC236}">
                <a16:creationId xmlns:a16="http://schemas.microsoft.com/office/drawing/2014/main" id="{1CB72DCC-160E-0401-78DA-B0A0F91F7B2C}"/>
              </a:ext>
            </a:extLst>
          </p:cNvPr>
          <p:cNvSpPr txBox="1"/>
          <p:nvPr/>
        </p:nvSpPr>
        <p:spPr>
          <a:xfrm>
            <a:off x="424395" y="5050236"/>
            <a:ext cx="6693435" cy="738664"/>
          </a:xfrm>
          <a:prstGeom prst="rect">
            <a:avLst/>
          </a:prstGeom>
          <a:noFill/>
        </p:spPr>
        <p:txBody>
          <a:bodyPr wrap="square">
            <a:spAutoFit/>
          </a:bodyPr>
          <a:lstStyle/>
          <a:p>
            <a:pPr algn="just"/>
            <a:r>
              <a:rPr lang="en-IN" sz="1400" dirty="0">
                <a:latin typeface="Comic Sans MS" panose="030F0702030302020204" pitchFamily="66" charset="0"/>
              </a:rPr>
              <a:t>In this type, any vegetative part of the thallus develops into new individual. It does not involve any spore formation and there is no alternation of generations. It is the most common method of reproduction in algae.</a:t>
            </a:r>
          </a:p>
        </p:txBody>
      </p:sp>
      <p:sp>
        <p:nvSpPr>
          <p:cNvPr id="32" name="TextBox 31">
            <a:extLst>
              <a:ext uri="{FF2B5EF4-FFF2-40B4-BE49-F238E27FC236}">
                <a16:creationId xmlns:a16="http://schemas.microsoft.com/office/drawing/2014/main" id="{42111B46-5DA0-9A24-7EF6-0D76A42AF328}"/>
              </a:ext>
            </a:extLst>
          </p:cNvPr>
          <p:cNvSpPr txBox="1"/>
          <p:nvPr/>
        </p:nvSpPr>
        <p:spPr>
          <a:xfrm>
            <a:off x="431799" y="4012501"/>
            <a:ext cx="6696075" cy="523220"/>
          </a:xfrm>
          <a:prstGeom prst="rect">
            <a:avLst/>
          </a:prstGeom>
          <a:noFill/>
        </p:spPr>
        <p:txBody>
          <a:bodyPr wrap="square">
            <a:spAutoFit/>
          </a:bodyPr>
          <a:lstStyle/>
          <a:p>
            <a:pPr algn="just"/>
            <a:r>
              <a:rPr lang="en-IN" sz="1400" dirty="0">
                <a:latin typeface="Comic Sans MS" panose="030F0702030302020204" pitchFamily="66" charset="0"/>
              </a:rPr>
              <a:t>The algae reproduce by three different methods, namely, vegetative reproduction, asexual reproduction and sexual reproduction.</a:t>
            </a:r>
          </a:p>
        </p:txBody>
      </p:sp>
      <p:sp>
        <p:nvSpPr>
          <p:cNvPr id="33" name="AutoShape 11">
            <a:extLst>
              <a:ext uri="{FF2B5EF4-FFF2-40B4-BE49-F238E27FC236}">
                <a16:creationId xmlns:a16="http://schemas.microsoft.com/office/drawing/2014/main" id="{646F3E22-D3BC-1B69-3A34-963ABA5BF15B}"/>
              </a:ext>
            </a:extLst>
          </p:cNvPr>
          <p:cNvSpPr>
            <a:spLocks noChangeArrowheads="1"/>
          </p:cNvSpPr>
          <p:nvPr/>
        </p:nvSpPr>
        <p:spPr bwMode="auto">
          <a:xfrm>
            <a:off x="444108" y="8890301"/>
            <a:ext cx="3590924"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Formation of Adventitious Branches</a:t>
            </a:r>
          </a:p>
        </p:txBody>
      </p:sp>
      <p:sp>
        <p:nvSpPr>
          <p:cNvPr id="34" name="TextBox 33">
            <a:extLst>
              <a:ext uri="{FF2B5EF4-FFF2-40B4-BE49-F238E27FC236}">
                <a16:creationId xmlns:a16="http://schemas.microsoft.com/office/drawing/2014/main" id="{E7675D6C-3F9D-7762-C658-33B87379637B}"/>
              </a:ext>
            </a:extLst>
          </p:cNvPr>
          <p:cNvSpPr txBox="1"/>
          <p:nvPr/>
        </p:nvSpPr>
        <p:spPr>
          <a:xfrm>
            <a:off x="417371" y="9311940"/>
            <a:ext cx="6727574" cy="738664"/>
          </a:xfrm>
          <a:prstGeom prst="rect">
            <a:avLst/>
          </a:prstGeom>
          <a:noFill/>
        </p:spPr>
        <p:txBody>
          <a:bodyPr wrap="square">
            <a:spAutoFit/>
          </a:bodyPr>
          <a:lstStyle/>
          <a:p>
            <a:pPr algn="just" fontAlgn="base"/>
            <a:r>
              <a:rPr lang="en-IN" sz="1400" dirty="0">
                <a:latin typeface="Comic Sans MS" panose="030F0702030302020204" pitchFamily="66" charset="0"/>
              </a:rPr>
              <a:t>Various big thalloid algae create adventitious branches, that when detached from the body of the plant grow into new individuals. This type is seen in Fucus, Dictyota)</a:t>
            </a:r>
          </a:p>
        </p:txBody>
      </p:sp>
    </p:spTree>
    <p:extLst>
      <p:ext uri="{BB962C8B-B14F-4D97-AF65-F5344CB8AC3E}">
        <p14:creationId xmlns:p14="http://schemas.microsoft.com/office/powerpoint/2010/main" val="3504684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BB07864F-6ED6-65EA-E387-6F8B8FFBB800}"/>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6E76D42D-AF86-A1BF-CA87-2B042E6CACDE}"/>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6</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F13EF071-AAF8-D94F-233E-73666395C4E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434C2180-67F1-D679-F4CE-24A87AA842ED}"/>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6" name="AutoShape 11">
            <a:extLst>
              <a:ext uri="{FF2B5EF4-FFF2-40B4-BE49-F238E27FC236}">
                <a16:creationId xmlns:a16="http://schemas.microsoft.com/office/drawing/2014/main" id="{46321CB0-265B-4366-C963-5565AFCA7A20}"/>
              </a:ext>
            </a:extLst>
          </p:cNvPr>
          <p:cNvSpPr>
            <a:spLocks noChangeArrowheads="1"/>
          </p:cNvSpPr>
          <p:nvPr/>
        </p:nvSpPr>
        <p:spPr bwMode="auto">
          <a:xfrm>
            <a:off x="444108" y="377825"/>
            <a:ext cx="2306712"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Budding</a:t>
            </a:r>
          </a:p>
        </p:txBody>
      </p:sp>
      <p:sp>
        <p:nvSpPr>
          <p:cNvPr id="17" name="TextBox 16">
            <a:extLst>
              <a:ext uri="{FF2B5EF4-FFF2-40B4-BE49-F238E27FC236}">
                <a16:creationId xmlns:a16="http://schemas.microsoft.com/office/drawing/2014/main" id="{635176F2-C049-7049-009A-7626BB922D42}"/>
              </a:ext>
            </a:extLst>
          </p:cNvPr>
          <p:cNvSpPr txBox="1"/>
          <p:nvPr/>
        </p:nvSpPr>
        <p:spPr>
          <a:xfrm>
            <a:off x="417371" y="799464"/>
            <a:ext cx="6727574" cy="738664"/>
          </a:xfrm>
          <a:prstGeom prst="rect">
            <a:avLst/>
          </a:prstGeom>
          <a:noFill/>
        </p:spPr>
        <p:txBody>
          <a:bodyPr wrap="square">
            <a:spAutoFit/>
          </a:bodyPr>
          <a:lstStyle/>
          <a:p>
            <a:pPr algn="just" fontAlgn="base"/>
            <a:r>
              <a:rPr lang="en-IN" sz="1400" dirty="0">
                <a:latin typeface="Comic Sans MS" panose="030F0702030302020204" pitchFamily="66" charset="0"/>
              </a:rPr>
              <a:t>In Protosiphon bud-like struc­tures are formed due to proliferation of vesicles delimited from the parental body by a septum, which, after detach­ment, grow into a new plant.</a:t>
            </a:r>
          </a:p>
        </p:txBody>
      </p:sp>
      <p:sp>
        <p:nvSpPr>
          <p:cNvPr id="18" name="AutoShape 11">
            <a:extLst>
              <a:ext uri="{FF2B5EF4-FFF2-40B4-BE49-F238E27FC236}">
                <a16:creationId xmlns:a16="http://schemas.microsoft.com/office/drawing/2014/main" id="{E6DC16BB-C1ED-D1E4-41A9-7C9A6F6AE813}"/>
              </a:ext>
            </a:extLst>
          </p:cNvPr>
          <p:cNvSpPr>
            <a:spLocks noChangeArrowheads="1"/>
          </p:cNvSpPr>
          <p:nvPr/>
        </p:nvSpPr>
        <p:spPr bwMode="auto">
          <a:xfrm>
            <a:off x="425116" y="1680879"/>
            <a:ext cx="3173554"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Asexual reproduction</a:t>
            </a:r>
          </a:p>
        </p:txBody>
      </p:sp>
      <p:sp>
        <p:nvSpPr>
          <p:cNvPr id="19" name="TextBox 18">
            <a:extLst>
              <a:ext uri="{FF2B5EF4-FFF2-40B4-BE49-F238E27FC236}">
                <a16:creationId xmlns:a16="http://schemas.microsoft.com/office/drawing/2014/main" id="{B2395B61-D3A3-E23B-D4B0-F544D01F0182}"/>
              </a:ext>
            </a:extLst>
          </p:cNvPr>
          <p:cNvSpPr txBox="1"/>
          <p:nvPr/>
        </p:nvSpPr>
        <p:spPr>
          <a:xfrm>
            <a:off x="436421" y="2156813"/>
            <a:ext cx="6643367" cy="7540526"/>
          </a:xfrm>
          <a:prstGeom prst="rect">
            <a:avLst/>
          </a:prstGeom>
          <a:noFill/>
        </p:spPr>
        <p:txBody>
          <a:bodyPr wrap="square">
            <a:spAutoFit/>
          </a:bodyPr>
          <a:lstStyle/>
          <a:p>
            <a:pPr algn="just" fontAlgn="base"/>
            <a:r>
              <a:rPr lang="en-IN" sz="1400" dirty="0">
                <a:latin typeface="Comic Sans MS" panose="030F0702030302020204" pitchFamily="66" charset="0"/>
              </a:rPr>
              <a:t>Asexual reproduction involves the formation of certain type of spores (either naked or freshly walled spores). It is a process of rejuvenation of the protoplast without any sexual fusion. Each and every spore germinates into a new plant. In this method, there is no alternation of genera­tions.</a:t>
            </a:r>
          </a:p>
          <a:p>
            <a:pPr algn="just" fontAlgn="base"/>
            <a:endParaRPr lang="en-IN" sz="500" dirty="0">
              <a:latin typeface="Comic Sans MS" panose="030F0702030302020204" pitchFamily="66" charset="0"/>
            </a:endParaRPr>
          </a:p>
          <a:p>
            <a:pPr algn="just" fontAlgn="base"/>
            <a:r>
              <a:rPr lang="en-IN" sz="1400" dirty="0">
                <a:latin typeface="Comic Sans MS" panose="030F0702030302020204" pitchFamily="66" charset="0"/>
              </a:rPr>
              <a:t>The asexual spores may be of various types:</a:t>
            </a:r>
          </a:p>
          <a:p>
            <a:pPr algn="just" fontAlgn="base"/>
            <a:endParaRPr lang="en-IN" sz="500" dirty="0">
              <a:latin typeface="Comic Sans MS" panose="030F0702030302020204" pitchFamily="66" charset="0"/>
            </a:endParaRPr>
          </a:p>
          <a:p>
            <a:pPr algn="just" fontAlgn="base"/>
            <a:r>
              <a:rPr lang="en-IN" sz="1400" dirty="0">
                <a:solidFill>
                  <a:srgbClr val="0070C0"/>
                </a:solidFill>
                <a:latin typeface="Comic Sans MS" panose="030F0702030302020204" pitchFamily="66" charset="0"/>
              </a:rPr>
              <a:t>Zoospores</a:t>
            </a:r>
            <a:r>
              <a:rPr lang="en-IN" sz="1400" dirty="0">
                <a:latin typeface="Comic Sans MS" panose="030F0702030302020204" pitchFamily="66" charset="0"/>
              </a:rPr>
              <a:t> : Zoospores are formed within the zoosporangium and are motile exposed spores containing two, four, or several flagella, and are respectively referred to as bi-, quadri-, or multi flagellated zoospores. Biflagellate zoospores are found in Chlamydomonas, Ulothrix Ectocarpus etc., quadriflagellate zoos­pores are found in Ulothrix and multiflagellate zoospores are found in Oedogonium.</a:t>
            </a:r>
          </a:p>
          <a:p>
            <a:pPr algn="just" fontAlgn="base"/>
            <a:endParaRPr lang="en-IN" sz="600" dirty="0">
              <a:latin typeface="Comic Sans MS" panose="030F0702030302020204" pitchFamily="66" charset="0"/>
            </a:endParaRPr>
          </a:p>
          <a:p>
            <a:pPr algn="just" fontAlgn="base"/>
            <a:r>
              <a:rPr lang="en-IN" sz="1400" dirty="0">
                <a:latin typeface="Comic Sans MS" panose="030F0702030302020204" pitchFamily="66" charset="0"/>
              </a:rPr>
              <a:t>Each zoospore has a chloroplast and an eye spot. The zoospores may be are either haploid or diploid depending on the nature of plant body, gametophytic or sporophytic on which it develops.</a:t>
            </a:r>
          </a:p>
          <a:p>
            <a:pPr algn="just" fontAlgn="base"/>
            <a:endParaRPr lang="en-IN" sz="900" dirty="0">
              <a:latin typeface="Comic Sans MS" panose="030F0702030302020204" pitchFamily="66" charset="0"/>
            </a:endParaRPr>
          </a:p>
          <a:p>
            <a:pPr algn="just" fontAlgn="base"/>
            <a:r>
              <a:rPr lang="en-IN" sz="1400" dirty="0">
                <a:latin typeface="Comic Sans MS" panose="030F0702030302020204" pitchFamily="66" charset="0"/>
              </a:rPr>
              <a:t>The zoospores are liberated either by the disintegration of the zoosporangial wall or by the formation of an apical pore on the zoosporangium. After liberation the zoospores swim for a while, then with­draw their flagella, encyst and ulti­mately germinate into new plants.</a:t>
            </a:r>
          </a:p>
          <a:p>
            <a:pPr algn="just" fontAlgn="base"/>
            <a:endParaRPr lang="en-IN" sz="1400" dirty="0">
              <a:latin typeface="Comic Sans MS" panose="030F0702030302020204" pitchFamily="66" charset="0"/>
            </a:endParaRPr>
          </a:p>
          <a:p>
            <a:pPr algn="just" fontAlgn="base"/>
            <a:r>
              <a:rPr lang="en-IN" sz="1400" dirty="0">
                <a:solidFill>
                  <a:srgbClr val="0070C0"/>
                </a:solidFill>
                <a:latin typeface="Comic Sans MS" panose="030F0702030302020204" pitchFamily="66" charset="0"/>
              </a:rPr>
              <a:t>Aplanospores : </a:t>
            </a:r>
            <a:r>
              <a:rPr lang="en-IN" sz="1400" dirty="0">
                <a:latin typeface="Comic Sans MS" panose="030F0702030302020204" pitchFamily="66" charset="0"/>
              </a:rPr>
              <a:t>Aplanospores are non- motile spores. These spores are formed either singly or its protoplast may divide to form many aplanospores inside spo­rangium during unfavourable conditions, especially in drought (e.g., Ulothrix). The aplanospores may also be formed in certain algae of semiaquatic habitat.</a:t>
            </a:r>
          </a:p>
          <a:p>
            <a:pPr algn="just" fontAlgn="base"/>
            <a:endParaRPr lang="en-IN" sz="700" dirty="0">
              <a:latin typeface="Comic Sans MS" panose="030F0702030302020204" pitchFamily="66" charset="0"/>
            </a:endParaRPr>
          </a:p>
          <a:p>
            <a:pPr algn="l" fontAlgn="base"/>
            <a:r>
              <a:rPr lang="en-IN" sz="1400" dirty="0">
                <a:latin typeface="Comic Sans MS" panose="030F0702030302020204" pitchFamily="66" charset="0"/>
              </a:rPr>
              <a:t>When they appear identical to the parent cell, they are referred to as autospores (e.g., Scenedesmus, Chlorella etc.). Aplanospores with thickened wall and abundant food reserve are known as hypnospores (e.g., Pediastram, Sphaerella etc.).</a:t>
            </a:r>
          </a:p>
          <a:p>
            <a:pPr algn="l" fontAlgn="base"/>
            <a:endParaRPr lang="en-IN" sz="900" dirty="0">
              <a:latin typeface="Comic Sans MS" panose="030F0702030302020204" pitchFamily="66" charset="0"/>
            </a:endParaRPr>
          </a:p>
          <a:p>
            <a:pPr algn="l" fontAlgn="base"/>
            <a:r>
              <a:rPr lang="en-IN" sz="1400" dirty="0">
                <a:latin typeface="Comic Sans MS" panose="030F0702030302020204" pitchFamily="66" charset="0"/>
              </a:rPr>
              <a:t>They are formed to overcome prolonged period of desiccation. With the onset of favourable condition the hypnospores either directly germinate into a new individual or their protoplasts may form zoospores.</a:t>
            </a:r>
          </a:p>
        </p:txBody>
      </p:sp>
      <p:sp>
        <p:nvSpPr>
          <p:cNvPr id="10" name="AutoShape 11">
            <a:extLst>
              <a:ext uri="{FF2B5EF4-FFF2-40B4-BE49-F238E27FC236}">
                <a16:creationId xmlns:a16="http://schemas.microsoft.com/office/drawing/2014/main" id="{41EA5668-BE22-EA86-786E-95F01791A169}"/>
              </a:ext>
            </a:extLst>
          </p:cNvPr>
          <p:cNvSpPr>
            <a:spLocks noChangeArrowheads="1"/>
          </p:cNvSpPr>
          <p:nvPr/>
        </p:nvSpPr>
        <p:spPr bwMode="auto">
          <a:xfrm>
            <a:off x="431800" y="9635584"/>
            <a:ext cx="3173554"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Sexual reproduction</a:t>
            </a:r>
          </a:p>
        </p:txBody>
      </p:sp>
    </p:spTree>
    <p:extLst>
      <p:ext uri="{BB962C8B-B14F-4D97-AF65-F5344CB8AC3E}">
        <p14:creationId xmlns:p14="http://schemas.microsoft.com/office/powerpoint/2010/main" val="577158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4A85BD18-E911-9539-2A42-898D4A442DC0}"/>
              </a:ext>
            </a:extLst>
          </p:cNvPr>
          <p:cNvSpPr/>
          <p:nvPr/>
        </p:nvSpPr>
        <p:spPr>
          <a:xfrm>
            <a:off x="574736" y="4048208"/>
            <a:ext cx="2669361" cy="3038475"/>
          </a:xfrm>
          <a:prstGeom prst="roundRect">
            <a:avLst>
              <a:gd name="adj" fmla="val 953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0444B73A-9B9B-1E43-C5F7-0416C185616C}"/>
              </a:ext>
            </a:extLst>
          </p:cNvPr>
          <p:cNvSpPr txBox="1"/>
          <p:nvPr/>
        </p:nvSpPr>
        <p:spPr>
          <a:xfrm>
            <a:off x="431800" y="377825"/>
            <a:ext cx="6734684" cy="2462213"/>
          </a:xfrm>
          <a:prstGeom prst="rect">
            <a:avLst/>
          </a:prstGeom>
          <a:noFill/>
        </p:spPr>
        <p:txBody>
          <a:bodyPr wrap="square">
            <a:spAutoFit/>
          </a:bodyPr>
          <a:lstStyle/>
          <a:p>
            <a:pPr algn="just"/>
            <a:r>
              <a:rPr lang="en-IN" sz="1400" dirty="0">
                <a:latin typeface="Comic Sans MS" panose="030F0702030302020204" pitchFamily="66" charset="0"/>
              </a:rPr>
              <a:t>Sexual reproduction takes place by the fusion of the sexual reproductive units called gametes. Gametes are haploid structures and are formed in sac-like </a:t>
            </a:r>
            <a:r>
              <a:rPr lang="en-IN" sz="1400" i="1" dirty="0">
                <a:latin typeface="Comic Sans MS" panose="030F0702030302020204" pitchFamily="66" charset="0"/>
              </a:rPr>
              <a:t>gametangia</a:t>
            </a:r>
            <a:r>
              <a:rPr lang="en-IN" sz="1400" dirty="0">
                <a:latin typeface="Comic Sans MS" panose="030F0702030302020204" pitchFamily="66" charset="0"/>
              </a:rPr>
              <a:t>.</a:t>
            </a:r>
          </a:p>
          <a:p>
            <a:pPr algn="just"/>
            <a:endParaRPr lang="en-IN" sz="1400" dirty="0">
              <a:latin typeface="Comic Sans MS" panose="030F0702030302020204" pitchFamily="66" charset="0"/>
            </a:endParaRPr>
          </a:p>
          <a:p>
            <a:pPr algn="just"/>
            <a:r>
              <a:rPr lang="en-IN" sz="1400" dirty="0">
                <a:latin typeface="Comic Sans MS" panose="030F0702030302020204" pitchFamily="66" charset="0"/>
              </a:rPr>
              <a:t>When male and female gametes are on the same thallus, the condition is called a </a:t>
            </a:r>
            <a:r>
              <a:rPr lang="en-IN" sz="1400" i="1" dirty="0">
                <a:latin typeface="Comic Sans MS" panose="030F0702030302020204" pitchFamily="66" charset="0"/>
              </a:rPr>
              <a:t>homothallic</a:t>
            </a:r>
            <a:r>
              <a:rPr lang="en-IN" sz="1400" dirty="0">
                <a:latin typeface="Comic Sans MS" panose="030F0702030302020204" pitchFamily="66" charset="0"/>
              </a:rPr>
              <a:t> </a:t>
            </a:r>
            <a:r>
              <a:rPr lang="en-IN" sz="1400" i="1" dirty="0">
                <a:latin typeface="Comic Sans MS" panose="030F0702030302020204" pitchFamily="66" charset="0"/>
              </a:rPr>
              <a:t>stage</a:t>
            </a:r>
            <a:r>
              <a:rPr lang="en-IN" sz="1400" dirty="0">
                <a:latin typeface="Comic Sans MS" panose="030F0702030302020204" pitchFamily="66" charset="0"/>
              </a:rPr>
              <a:t>. While male and female gametes are present on different thalli, the condition is called a </a:t>
            </a:r>
            <a:r>
              <a:rPr lang="en-IN" sz="1400" i="1" dirty="0">
                <a:latin typeface="Comic Sans MS" panose="030F0702030302020204" pitchFamily="66" charset="0"/>
              </a:rPr>
              <a:t>heterothallic stage</a:t>
            </a:r>
            <a:r>
              <a:rPr lang="en-IN" sz="1400" dirty="0">
                <a:latin typeface="Comic Sans MS" panose="030F0702030302020204" pitchFamily="66" charset="0"/>
              </a:rPr>
              <a:t>. The haploid gametes fertilise to form a diploid </a:t>
            </a:r>
            <a:r>
              <a:rPr lang="en-IN" sz="1400" i="1" dirty="0">
                <a:latin typeface="Comic Sans MS" panose="030F0702030302020204" pitchFamily="66" charset="0"/>
              </a:rPr>
              <a:t>zygote</a:t>
            </a:r>
            <a:r>
              <a:rPr lang="en-IN" sz="1400" dirty="0">
                <a:latin typeface="Comic Sans MS" panose="030F0702030302020204" pitchFamily="66" charset="0"/>
              </a:rPr>
              <a:t>.</a:t>
            </a:r>
          </a:p>
          <a:p>
            <a:pPr algn="just"/>
            <a:endParaRPr lang="en-IN" sz="1400" dirty="0">
              <a:latin typeface="Comic Sans MS" panose="030F0702030302020204" pitchFamily="66" charset="0"/>
            </a:endParaRPr>
          </a:p>
          <a:p>
            <a:pPr algn="just"/>
            <a:r>
              <a:rPr lang="en-IN" sz="1400" dirty="0">
                <a:latin typeface="Comic Sans MS" panose="030F0702030302020204" pitchFamily="66" charset="0"/>
              </a:rPr>
              <a:t>On the basis of behaviour, function, and structure of gametes, sexual reproduction is of the following types:</a:t>
            </a:r>
          </a:p>
        </p:txBody>
      </p:sp>
      <p:sp>
        <p:nvSpPr>
          <p:cNvPr id="8" name="AutoShape 11">
            <a:extLst>
              <a:ext uri="{FF2B5EF4-FFF2-40B4-BE49-F238E27FC236}">
                <a16:creationId xmlns:a16="http://schemas.microsoft.com/office/drawing/2014/main" id="{9D7868F3-E47C-ED88-C64C-C646C7B9FF69}"/>
              </a:ext>
            </a:extLst>
          </p:cNvPr>
          <p:cNvSpPr>
            <a:spLocks noChangeArrowheads="1"/>
          </p:cNvSpPr>
          <p:nvPr/>
        </p:nvSpPr>
        <p:spPr bwMode="auto">
          <a:xfrm>
            <a:off x="431800" y="2947921"/>
            <a:ext cx="2611578"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Isogamy</a:t>
            </a:r>
          </a:p>
        </p:txBody>
      </p:sp>
      <p:sp>
        <p:nvSpPr>
          <p:cNvPr id="10" name="TextBox 9">
            <a:extLst>
              <a:ext uri="{FF2B5EF4-FFF2-40B4-BE49-F238E27FC236}">
                <a16:creationId xmlns:a16="http://schemas.microsoft.com/office/drawing/2014/main" id="{5FD5EC3F-D84F-F5BF-4EE7-26B284E9D5DB}"/>
              </a:ext>
            </a:extLst>
          </p:cNvPr>
          <p:cNvSpPr txBox="1"/>
          <p:nvPr/>
        </p:nvSpPr>
        <p:spPr>
          <a:xfrm>
            <a:off x="431801" y="3448622"/>
            <a:ext cx="6734683" cy="523220"/>
          </a:xfrm>
          <a:prstGeom prst="rect">
            <a:avLst/>
          </a:prstGeom>
          <a:noFill/>
        </p:spPr>
        <p:txBody>
          <a:bodyPr wrap="square">
            <a:spAutoFit/>
          </a:bodyPr>
          <a:lstStyle/>
          <a:p>
            <a:pPr algn="just"/>
            <a:r>
              <a:rPr lang="en-IN" sz="1400" dirty="0">
                <a:latin typeface="Comic Sans MS" panose="030F0702030302020204" pitchFamily="66" charset="0"/>
              </a:rPr>
              <a:t>This is a simple type of sexual reproduction in which fusing gametes are morphologically similar and are called </a:t>
            </a:r>
            <a:r>
              <a:rPr lang="en-IN" sz="1400" i="1" dirty="0">
                <a:latin typeface="Comic Sans MS" panose="030F0702030302020204" pitchFamily="66" charset="0"/>
              </a:rPr>
              <a:t>isogametes.</a:t>
            </a:r>
          </a:p>
        </p:txBody>
      </p:sp>
      <p:pic>
        <p:nvPicPr>
          <p:cNvPr id="12" name="Graphic 11">
            <a:extLst>
              <a:ext uri="{FF2B5EF4-FFF2-40B4-BE49-F238E27FC236}">
                <a16:creationId xmlns:a16="http://schemas.microsoft.com/office/drawing/2014/main" id="{B630CC52-307D-902B-5201-58FEDA8E37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981" y="3340739"/>
            <a:ext cx="2542870" cy="2983706"/>
          </a:xfrm>
          <a:prstGeom prst="rect">
            <a:avLst/>
          </a:prstGeom>
        </p:spPr>
      </p:pic>
      <p:sp>
        <p:nvSpPr>
          <p:cNvPr id="14" name="Rectangle: Rounded Corners 13">
            <a:extLst>
              <a:ext uri="{FF2B5EF4-FFF2-40B4-BE49-F238E27FC236}">
                <a16:creationId xmlns:a16="http://schemas.microsoft.com/office/drawing/2014/main" id="{D52C16DC-B907-027F-0669-0D82A8326478}"/>
              </a:ext>
            </a:extLst>
          </p:cNvPr>
          <p:cNvSpPr/>
          <p:nvPr/>
        </p:nvSpPr>
        <p:spPr>
          <a:xfrm>
            <a:off x="4395523" y="4048208"/>
            <a:ext cx="2669361" cy="3038475"/>
          </a:xfrm>
          <a:prstGeom prst="roundRect">
            <a:avLst>
              <a:gd name="adj" fmla="val 953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Graphic 15">
            <a:extLst>
              <a:ext uri="{FF2B5EF4-FFF2-40B4-BE49-F238E27FC236}">
                <a16:creationId xmlns:a16="http://schemas.microsoft.com/office/drawing/2014/main" id="{DF30BB6A-88C2-F4B9-F89E-B3EBC2BD0B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58832" y="4086257"/>
            <a:ext cx="2426168" cy="2846772"/>
          </a:xfrm>
          <a:prstGeom prst="rect">
            <a:avLst/>
          </a:prstGeom>
        </p:spPr>
      </p:pic>
      <p:sp>
        <p:nvSpPr>
          <p:cNvPr id="9" name="TextBox 8">
            <a:extLst>
              <a:ext uri="{FF2B5EF4-FFF2-40B4-BE49-F238E27FC236}">
                <a16:creationId xmlns:a16="http://schemas.microsoft.com/office/drawing/2014/main" id="{D89FBA80-B676-C0D9-E589-5445B8506426}"/>
              </a:ext>
            </a:extLst>
          </p:cNvPr>
          <p:cNvSpPr txBox="1"/>
          <p:nvPr/>
        </p:nvSpPr>
        <p:spPr>
          <a:xfrm>
            <a:off x="574736" y="7163049"/>
            <a:ext cx="2669362" cy="523220"/>
          </a:xfrm>
          <a:prstGeom prst="rect">
            <a:avLst/>
          </a:prstGeom>
          <a:noFill/>
        </p:spPr>
        <p:txBody>
          <a:bodyPr wrap="square">
            <a:spAutoFit/>
          </a:bodyPr>
          <a:lstStyle/>
          <a:p>
            <a:pPr algn="ctr"/>
            <a:r>
              <a:rPr lang="en-IN" sz="1400" dirty="0">
                <a:latin typeface="Comic Sans MS" panose="030F0702030302020204" pitchFamily="66" charset="0"/>
              </a:rPr>
              <a:t>Non-motile isogametes e.g.</a:t>
            </a:r>
            <a:r>
              <a:rPr lang="en-IN" sz="1400" i="1" dirty="0">
                <a:latin typeface="Comic Sans MS" panose="030F0702030302020204" pitchFamily="66" charset="0"/>
              </a:rPr>
              <a:t> Spirogyra </a:t>
            </a:r>
          </a:p>
        </p:txBody>
      </p:sp>
      <p:sp>
        <p:nvSpPr>
          <p:cNvPr id="11" name="TextBox 10">
            <a:extLst>
              <a:ext uri="{FF2B5EF4-FFF2-40B4-BE49-F238E27FC236}">
                <a16:creationId xmlns:a16="http://schemas.microsoft.com/office/drawing/2014/main" id="{0E4625BA-81C3-2273-2DAB-ACE5EAAC9C15}"/>
              </a:ext>
            </a:extLst>
          </p:cNvPr>
          <p:cNvSpPr txBox="1"/>
          <p:nvPr/>
        </p:nvSpPr>
        <p:spPr>
          <a:xfrm>
            <a:off x="4437235" y="7140418"/>
            <a:ext cx="2669362" cy="738664"/>
          </a:xfrm>
          <a:prstGeom prst="rect">
            <a:avLst/>
          </a:prstGeom>
          <a:noFill/>
        </p:spPr>
        <p:txBody>
          <a:bodyPr wrap="square">
            <a:spAutoFit/>
          </a:bodyPr>
          <a:lstStyle/>
          <a:p>
            <a:pPr algn="ctr"/>
            <a:r>
              <a:rPr lang="en-IN" sz="1400" dirty="0">
                <a:latin typeface="Comic Sans MS" panose="030F0702030302020204" pitchFamily="66" charset="0"/>
              </a:rPr>
              <a:t>Motile isogametes e.g.</a:t>
            </a:r>
            <a:r>
              <a:rPr lang="en-IN" sz="1400" i="1" dirty="0">
                <a:latin typeface="Comic Sans MS" panose="030F0702030302020204" pitchFamily="66" charset="0"/>
              </a:rPr>
              <a:t> Chlamydomonas, Ulothrix, Cladophora, etc. </a:t>
            </a:r>
          </a:p>
        </p:txBody>
      </p:sp>
      <p:sp>
        <p:nvSpPr>
          <p:cNvPr id="25" name="AutoShape 11">
            <a:extLst>
              <a:ext uri="{FF2B5EF4-FFF2-40B4-BE49-F238E27FC236}">
                <a16:creationId xmlns:a16="http://schemas.microsoft.com/office/drawing/2014/main" id="{5F07F1DA-AC5B-2F38-A97F-052A1CF264EC}"/>
              </a:ext>
            </a:extLst>
          </p:cNvPr>
          <p:cNvSpPr>
            <a:spLocks noChangeArrowheads="1"/>
          </p:cNvSpPr>
          <p:nvPr/>
        </p:nvSpPr>
        <p:spPr bwMode="auto">
          <a:xfrm>
            <a:off x="431800" y="8023843"/>
            <a:ext cx="2611578"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Heterogamy</a:t>
            </a:r>
          </a:p>
        </p:txBody>
      </p:sp>
      <p:sp>
        <p:nvSpPr>
          <p:cNvPr id="26" name="TextBox 25">
            <a:extLst>
              <a:ext uri="{FF2B5EF4-FFF2-40B4-BE49-F238E27FC236}">
                <a16:creationId xmlns:a16="http://schemas.microsoft.com/office/drawing/2014/main" id="{712891C5-C23B-8D74-0B2D-5EBDE8BE9918}"/>
              </a:ext>
            </a:extLst>
          </p:cNvPr>
          <p:cNvSpPr txBox="1"/>
          <p:nvPr/>
        </p:nvSpPr>
        <p:spPr>
          <a:xfrm>
            <a:off x="509323" y="8416661"/>
            <a:ext cx="6734683" cy="1600438"/>
          </a:xfrm>
          <a:prstGeom prst="rect">
            <a:avLst/>
          </a:prstGeom>
          <a:noFill/>
        </p:spPr>
        <p:txBody>
          <a:bodyPr wrap="square">
            <a:spAutoFit/>
          </a:bodyPr>
          <a:lstStyle/>
          <a:p>
            <a:pPr algn="just"/>
            <a:r>
              <a:rPr lang="en-IN" sz="1400" dirty="0">
                <a:latin typeface="Comic Sans MS" panose="030F0702030302020204" pitchFamily="66" charset="0"/>
              </a:rPr>
              <a:t>It is bit advance type of sexual reproduction where tow (male and female) gametes differ both morphologically and physiologically. Male gametes are usually smaller in size. This kind of reproduction may be of two type – anisogamous and oogamous.</a:t>
            </a:r>
          </a:p>
          <a:p>
            <a:pPr marL="400050" indent="-400050" algn="just">
              <a:buAutoNum type="romanLcPeriod"/>
            </a:pPr>
            <a:r>
              <a:rPr lang="en-IN" sz="1400" dirty="0">
                <a:latin typeface="Comic Sans MS" panose="030F0702030302020204" pitchFamily="66" charset="0"/>
              </a:rPr>
              <a:t>Anisogamous : Here both type of gametes are motile but male gametes are comparatively smaller in size and more active, e.g., </a:t>
            </a:r>
            <a:r>
              <a:rPr lang="en-IN" sz="1400" i="1" dirty="0">
                <a:latin typeface="Comic Sans MS" panose="030F0702030302020204" pitchFamily="66" charset="0"/>
              </a:rPr>
              <a:t>Chlamydomonas  braunii</a:t>
            </a:r>
            <a:r>
              <a:rPr lang="en-IN" sz="1400" dirty="0">
                <a:latin typeface="Comic Sans MS" panose="030F0702030302020204" pitchFamily="66" charset="0"/>
              </a:rPr>
              <a:t>.</a:t>
            </a:r>
          </a:p>
        </p:txBody>
      </p:sp>
      <p:sp>
        <p:nvSpPr>
          <p:cNvPr id="27" name="AutoShape 43">
            <a:extLst>
              <a:ext uri="{FF2B5EF4-FFF2-40B4-BE49-F238E27FC236}">
                <a16:creationId xmlns:a16="http://schemas.microsoft.com/office/drawing/2014/main" id="{7111F75D-06C6-5294-4B0D-B0009ADD102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8" name="Text Box 45">
            <a:extLst>
              <a:ext uri="{FF2B5EF4-FFF2-40B4-BE49-F238E27FC236}">
                <a16:creationId xmlns:a16="http://schemas.microsoft.com/office/drawing/2014/main" id="{72A469E3-B983-2E3C-B443-C881344B57E6}"/>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7</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Text Box 46">
            <a:extLst>
              <a:ext uri="{FF2B5EF4-FFF2-40B4-BE49-F238E27FC236}">
                <a16:creationId xmlns:a16="http://schemas.microsoft.com/office/drawing/2014/main" id="{854B334C-05D6-EB2F-C686-A398043D1BF4}"/>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30" name="Text Box 47">
            <a:extLst>
              <a:ext uri="{FF2B5EF4-FFF2-40B4-BE49-F238E27FC236}">
                <a16:creationId xmlns:a16="http://schemas.microsoft.com/office/drawing/2014/main" id="{5C7F4900-5F2D-B602-AF73-C657C5F50003}"/>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Tree>
    <p:extLst>
      <p:ext uri="{BB962C8B-B14F-4D97-AF65-F5344CB8AC3E}">
        <p14:creationId xmlns:p14="http://schemas.microsoft.com/office/powerpoint/2010/main" val="26566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996DF7-59B7-DC4E-1394-8405806B1068}"/>
              </a:ext>
            </a:extLst>
          </p:cNvPr>
          <p:cNvSpPr txBox="1"/>
          <p:nvPr/>
        </p:nvSpPr>
        <p:spPr>
          <a:xfrm>
            <a:off x="446995" y="392793"/>
            <a:ext cx="6636656" cy="2031325"/>
          </a:xfrm>
          <a:prstGeom prst="rect">
            <a:avLst/>
          </a:prstGeom>
          <a:noFill/>
        </p:spPr>
        <p:txBody>
          <a:bodyPr wrap="square">
            <a:spAutoFit/>
          </a:bodyPr>
          <a:lstStyle/>
          <a:p>
            <a:pPr marL="400050" indent="-400050" algn="just">
              <a:buFont typeface="+mj-lt"/>
              <a:buAutoNum type="romanLcPeriod" startAt="2"/>
            </a:pPr>
            <a:r>
              <a:rPr lang="en-IN" sz="1400" dirty="0">
                <a:latin typeface="Comic Sans MS" panose="030F0702030302020204" pitchFamily="66" charset="0"/>
              </a:rPr>
              <a:t>Oogamous : Being an advanced type of sexual reproduction, it is quite common among the higher algae. The male gametes are motile and are formed in large number whereas female gametes are non-motile and bigger in size, and produced few in number. Male gametes (the antherozoids) are produced in the antheridium (male reproductive bodes) where the female gamete, an or ovum, is produced in oogonium (female reproduction body). Some complex type of reproductive bodies found in </a:t>
            </a:r>
            <a:r>
              <a:rPr lang="en-IN" sz="1400" i="1" dirty="0">
                <a:latin typeface="Comic Sans MS" panose="030F0702030302020204" pitchFamily="66" charset="0"/>
              </a:rPr>
              <a:t>Rhodophyceae</a:t>
            </a:r>
            <a:r>
              <a:rPr lang="en-IN" sz="1400" dirty="0">
                <a:latin typeface="Comic Sans MS" panose="030F0702030302020204" pitchFamily="66" charset="0"/>
              </a:rPr>
              <a:t> are called </a:t>
            </a:r>
            <a:r>
              <a:rPr lang="en-IN" sz="1400" i="1" dirty="0">
                <a:latin typeface="Comic Sans MS" panose="030F0702030302020204" pitchFamily="66" charset="0"/>
              </a:rPr>
              <a:t>spermatium</a:t>
            </a:r>
            <a:r>
              <a:rPr lang="en-IN" sz="1400" dirty="0">
                <a:latin typeface="Comic Sans MS" panose="030F0702030302020204" pitchFamily="66" charset="0"/>
              </a:rPr>
              <a:t> and </a:t>
            </a:r>
            <a:r>
              <a:rPr lang="en-IN" sz="1400" i="1" dirty="0">
                <a:latin typeface="Comic Sans MS" panose="030F0702030302020204" pitchFamily="66" charset="0"/>
              </a:rPr>
              <a:t>carpogonium</a:t>
            </a:r>
            <a:r>
              <a:rPr lang="en-IN" sz="1400" dirty="0">
                <a:latin typeface="Comic Sans MS" panose="030F0702030302020204" pitchFamily="66" charset="0"/>
              </a:rPr>
              <a:t>, the male and female reproductive bodes, respectively.</a:t>
            </a:r>
          </a:p>
        </p:txBody>
      </p:sp>
      <p:sp>
        <p:nvSpPr>
          <p:cNvPr id="8" name="AutoShape 11">
            <a:extLst>
              <a:ext uri="{FF2B5EF4-FFF2-40B4-BE49-F238E27FC236}">
                <a16:creationId xmlns:a16="http://schemas.microsoft.com/office/drawing/2014/main" id="{C746BC63-0D7A-6D99-D537-D17346134F77}"/>
              </a:ext>
            </a:extLst>
          </p:cNvPr>
          <p:cNvSpPr>
            <a:spLocks noChangeArrowheads="1"/>
          </p:cNvSpPr>
          <p:nvPr/>
        </p:nvSpPr>
        <p:spPr bwMode="auto">
          <a:xfrm>
            <a:off x="431800" y="2487618"/>
            <a:ext cx="400050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Fertilisation in sexual reproduction</a:t>
            </a:r>
          </a:p>
        </p:txBody>
      </p:sp>
      <p:sp>
        <p:nvSpPr>
          <p:cNvPr id="9" name="TextBox 8">
            <a:extLst>
              <a:ext uri="{FF2B5EF4-FFF2-40B4-BE49-F238E27FC236}">
                <a16:creationId xmlns:a16="http://schemas.microsoft.com/office/drawing/2014/main" id="{396F7CB0-56A7-31AB-7793-5D2269A9E9A5}"/>
              </a:ext>
            </a:extLst>
          </p:cNvPr>
          <p:cNvSpPr txBox="1"/>
          <p:nvPr/>
        </p:nvSpPr>
        <p:spPr>
          <a:xfrm>
            <a:off x="431800" y="2965457"/>
            <a:ext cx="6636656" cy="1384995"/>
          </a:xfrm>
          <a:prstGeom prst="rect">
            <a:avLst/>
          </a:prstGeom>
          <a:noFill/>
        </p:spPr>
        <p:txBody>
          <a:bodyPr wrap="square">
            <a:spAutoFit/>
          </a:bodyPr>
          <a:lstStyle/>
          <a:p>
            <a:pPr algn="just"/>
            <a:r>
              <a:rPr lang="en-IN" sz="1400" dirty="0">
                <a:latin typeface="Comic Sans MS" panose="030F0702030302020204" pitchFamily="66" charset="0"/>
              </a:rPr>
              <a:t>In isogamous and anisogamous types of sexual reproduction both gametes are first released from their respective gametangia and the fertilisation takes place outside gametangia, the process being called </a:t>
            </a:r>
            <a:r>
              <a:rPr lang="en-IN" sz="1400" i="1" dirty="0">
                <a:latin typeface="Comic Sans MS" panose="030F0702030302020204" pitchFamily="66" charset="0"/>
              </a:rPr>
              <a:t>external fertilisation</a:t>
            </a:r>
            <a:r>
              <a:rPr lang="en-IN" sz="1400" dirty="0">
                <a:latin typeface="Comic Sans MS" panose="030F0702030302020204" pitchFamily="66" charset="0"/>
              </a:rPr>
              <a:t>. In oogamous, the male gametes are liberated from male gametangium which swims to the oogonium. Fertilisation takes place inside the oogonium (</a:t>
            </a:r>
            <a:r>
              <a:rPr lang="en-IN" sz="1400" i="1" dirty="0">
                <a:latin typeface="Comic Sans MS" panose="030F0702030302020204" pitchFamily="66" charset="0"/>
              </a:rPr>
              <a:t>internal fertilisation</a:t>
            </a:r>
            <a:r>
              <a:rPr lang="en-IN" sz="1400" dirty="0">
                <a:latin typeface="Comic Sans MS" panose="030F0702030302020204" pitchFamily="66" charset="0"/>
              </a:rPr>
              <a:t>).</a:t>
            </a:r>
          </a:p>
        </p:txBody>
      </p:sp>
      <p:sp>
        <p:nvSpPr>
          <p:cNvPr id="10" name="AutoShape 11">
            <a:extLst>
              <a:ext uri="{FF2B5EF4-FFF2-40B4-BE49-F238E27FC236}">
                <a16:creationId xmlns:a16="http://schemas.microsoft.com/office/drawing/2014/main" id="{7FB321DB-F623-69A2-C9FA-481C4CBE3217}"/>
              </a:ext>
            </a:extLst>
          </p:cNvPr>
          <p:cNvSpPr>
            <a:spLocks noChangeArrowheads="1"/>
          </p:cNvSpPr>
          <p:nvPr/>
        </p:nvSpPr>
        <p:spPr bwMode="auto">
          <a:xfrm>
            <a:off x="446995" y="4395071"/>
            <a:ext cx="2334305"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Zygote</a:t>
            </a:r>
          </a:p>
        </p:txBody>
      </p:sp>
      <p:sp>
        <p:nvSpPr>
          <p:cNvPr id="11" name="TextBox 10">
            <a:extLst>
              <a:ext uri="{FF2B5EF4-FFF2-40B4-BE49-F238E27FC236}">
                <a16:creationId xmlns:a16="http://schemas.microsoft.com/office/drawing/2014/main" id="{5FBBB4D5-9217-2F67-DDDF-E76F011356B5}"/>
              </a:ext>
            </a:extLst>
          </p:cNvPr>
          <p:cNvSpPr txBox="1"/>
          <p:nvPr/>
        </p:nvSpPr>
        <p:spPr>
          <a:xfrm>
            <a:off x="446995" y="4872910"/>
            <a:ext cx="6636656" cy="1384995"/>
          </a:xfrm>
          <a:prstGeom prst="rect">
            <a:avLst/>
          </a:prstGeom>
          <a:noFill/>
        </p:spPr>
        <p:txBody>
          <a:bodyPr wrap="square">
            <a:spAutoFit/>
          </a:bodyPr>
          <a:lstStyle/>
          <a:p>
            <a:pPr algn="just"/>
            <a:r>
              <a:rPr lang="en-IN" sz="1400" dirty="0">
                <a:latin typeface="Comic Sans MS" panose="030F0702030302020204" pitchFamily="66" charset="0"/>
              </a:rPr>
              <a:t>The tow gametes after fusion form the zygote. Zygote being diploid cell represents the sporophytic phase of the life cycle. It may undergo a period of rest or may germinate immediately after fertilisation. In higher algae, e.g., members of </a:t>
            </a:r>
            <a:r>
              <a:rPr lang="en-IN" sz="1400" i="1" dirty="0">
                <a:latin typeface="Comic Sans MS" panose="030F0702030302020204" pitchFamily="66" charset="0"/>
              </a:rPr>
              <a:t>Phaeophyceae</a:t>
            </a:r>
            <a:r>
              <a:rPr lang="en-IN" sz="1400" dirty="0">
                <a:latin typeface="Comic Sans MS" panose="030F0702030302020204" pitchFamily="66" charset="0"/>
              </a:rPr>
              <a:t>, the gametophytic generation lasts for a short time. However, in majority of alae, the gametophytic phase is the dominant phase of the life cycle.</a:t>
            </a:r>
          </a:p>
        </p:txBody>
      </p:sp>
      <p:sp>
        <p:nvSpPr>
          <p:cNvPr id="14" name="AutoShape 11">
            <a:extLst>
              <a:ext uri="{FF2B5EF4-FFF2-40B4-BE49-F238E27FC236}">
                <a16:creationId xmlns:a16="http://schemas.microsoft.com/office/drawing/2014/main" id="{FE885858-F0B3-7F09-FB17-6CC2D7BAFE1B}"/>
              </a:ext>
            </a:extLst>
          </p:cNvPr>
          <p:cNvSpPr>
            <a:spLocks noChangeArrowheads="1"/>
          </p:cNvSpPr>
          <p:nvPr/>
        </p:nvSpPr>
        <p:spPr bwMode="auto">
          <a:xfrm>
            <a:off x="446995" y="6358121"/>
            <a:ext cx="3225119"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Germination of zygote</a:t>
            </a:r>
          </a:p>
        </p:txBody>
      </p:sp>
      <p:sp>
        <p:nvSpPr>
          <p:cNvPr id="15" name="TextBox 14">
            <a:extLst>
              <a:ext uri="{FF2B5EF4-FFF2-40B4-BE49-F238E27FC236}">
                <a16:creationId xmlns:a16="http://schemas.microsoft.com/office/drawing/2014/main" id="{A4A4321B-3FB3-624C-AE3E-9610AE736581}"/>
              </a:ext>
            </a:extLst>
          </p:cNvPr>
          <p:cNvSpPr txBox="1"/>
          <p:nvPr/>
        </p:nvSpPr>
        <p:spPr>
          <a:xfrm>
            <a:off x="446995" y="6835960"/>
            <a:ext cx="6636656" cy="1292662"/>
          </a:xfrm>
          <a:prstGeom prst="rect">
            <a:avLst/>
          </a:prstGeom>
          <a:noFill/>
        </p:spPr>
        <p:txBody>
          <a:bodyPr wrap="square">
            <a:spAutoFit/>
          </a:bodyPr>
          <a:lstStyle/>
          <a:p>
            <a:pPr algn="just"/>
            <a:r>
              <a:rPr lang="en-IN" sz="1400" dirty="0">
                <a:latin typeface="Comic Sans MS" panose="030F0702030302020204" pitchFamily="66" charset="0"/>
              </a:rPr>
              <a:t>The germination of zygote may be of direct or indirect type.</a:t>
            </a:r>
          </a:p>
          <a:p>
            <a:pPr marL="342900" indent="-342900" algn="just">
              <a:buAutoNum type="alphaLcPeriod"/>
            </a:pPr>
            <a:r>
              <a:rPr lang="en-IN" sz="1400" b="1" i="1" dirty="0">
                <a:latin typeface="Comic Sans MS" panose="030F0702030302020204" pitchFamily="66" charset="0"/>
              </a:rPr>
              <a:t>Direct type</a:t>
            </a:r>
            <a:r>
              <a:rPr lang="en-IN" sz="1400" dirty="0">
                <a:latin typeface="Comic Sans MS" panose="030F0702030302020204" pitchFamily="66" charset="0"/>
              </a:rPr>
              <a:t> : In such type of germination, the zygote after meiotic division develops directly into a new plant without producing any intermediate spore-like structure, e.g., </a:t>
            </a:r>
            <a:r>
              <a:rPr lang="en-IN" sz="1400" i="1" dirty="0">
                <a:latin typeface="Comic Sans MS" panose="030F0702030302020204" pitchFamily="66" charset="0"/>
              </a:rPr>
              <a:t>Spirogyra</a:t>
            </a:r>
            <a:r>
              <a:rPr lang="en-IN" sz="1400" dirty="0">
                <a:latin typeface="Comic Sans MS" panose="030F0702030302020204" pitchFamily="66" charset="0"/>
              </a:rPr>
              <a:t>.</a:t>
            </a:r>
          </a:p>
          <a:p>
            <a:pPr marL="342900" indent="-342900" algn="just">
              <a:buAutoNum type="alphaLcPeriod"/>
            </a:pPr>
            <a:endParaRPr lang="en-IN" sz="500" dirty="0">
              <a:latin typeface="Comic Sans MS" panose="030F0702030302020204" pitchFamily="66" charset="0"/>
            </a:endParaRPr>
          </a:p>
          <a:p>
            <a:pPr marL="342900" indent="-342900" algn="just">
              <a:buAutoNum type="alphaLcPeriod"/>
            </a:pPr>
            <a:r>
              <a:rPr lang="en-IN" sz="1400" b="1" i="1" dirty="0">
                <a:latin typeface="Comic Sans MS" panose="030F0702030302020204" pitchFamily="66" charset="0"/>
              </a:rPr>
              <a:t>Indirect germination </a:t>
            </a:r>
            <a:r>
              <a:rPr lang="en-IN" sz="1400" dirty="0">
                <a:latin typeface="Comic Sans MS" panose="030F0702030302020204" pitchFamily="66" charset="0"/>
              </a:rPr>
              <a:t>: It may be  of following two types:</a:t>
            </a:r>
          </a:p>
        </p:txBody>
      </p:sp>
      <p:sp>
        <p:nvSpPr>
          <p:cNvPr id="16" name="TextBox 15">
            <a:extLst>
              <a:ext uri="{FF2B5EF4-FFF2-40B4-BE49-F238E27FC236}">
                <a16:creationId xmlns:a16="http://schemas.microsoft.com/office/drawing/2014/main" id="{24A92CE1-1234-D4DB-5E00-3D4028E693D5}"/>
              </a:ext>
            </a:extLst>
          </p:cNvPr>
          <p:cNvSpPr txBox="1"/>
          <p:nvPr/>
        </p:nvSpPr>
        <p:spPr>
          <a:xfrm>
            <a:off x="812800" y="7999136"/>
            <a:ext cx="6299879" cy="1384995"/>
          </a:xfrm>
          <a:prstGeom prst="rect">
            <a:avLst/>
          </a:prstGeom>
          <a:noFill/>
        </p:spPr>
        <p:txBody>
          <a:bodyPr wrap="square">
            <a:spAutoFit/>
          </a:bodyPr>
          <a:lstStyle/>
          <a:p>
            <a:pPr marL="400050" indent="-400050" algn="just">
              <a:buAutoNum type="romanLcPeriod"/>
            </a:pPr>
            <a:r>
              <a:rPr lang="en-IN" sz="1400" dirty="0">
                <a:latin typeface="Comic Sans MS" panose="030F0702030302020204" pitchFamily="66" charset="0"/>
              </a:rPr>
              <a:t>Zygote divides meiotically and forms motile or non-motile haploid spores, of which each develops into a new plant, e.g., </a:t>
            </a:r>
            <a:r>
              <a:rPr lang="en-IN" sz="1400" i="1" dirty="0">
                <a:latin typeface="Comic Sans MS" panose="030F0702030302020204" pitchFamily="66" charset="0"/>
              </a:rPr>
              <a:t>Chlamydomonas </a:t>
            </a:r>
            <a:r>
              <a:rPr lang="en-IN" sz="1400" dirty="0">
                <a:latin typeface="Comic Sans MS" panose="030F0702030302020204" pitchFamily="66" charset="0"/>
              </a:rPr>
              <a:t>and </a:t>
            </a:r>
            <a:r>
              <a:rPr lang="en-IN" sz="1400" i="1" dirty="0">
                <a:latin typeface="Comic Sans MS" panose="030F0702030302020204" pitchFamily="66" charset="0"/>
              </a:rPr>
              <a:t>Ulothrix</a:t>
            </a:r>
          </a:p>
          <a:p>
            <a:pPr marL="400050" indent="-400050" algn="just">
              <a:buAutoNum type="romanLcPeriod"/>
            </a:pPr>
            <a:r>
              <a:rPr lang="en-IN" sz="1400" dirty="0">
                <a:latin typeface="Comic Sans MS" panose="030F0702030302020204" pitchFamily="66" charset="0"/>
              </a:rPr>
              <a:t>Zygote divides mitotically and forms a diploid plant. Later, plant reproduces by meiotic division and produces spores. Each spore develops into a new plant, e.g.,</a:t>
            </a:r>
            <a:r>
              <a:rPr lang="en-IN" sz="1400" i="1" dirty="0">
                <a:latin typeface="Comic Sans MS" panose="030F0702030302020204" pitchFamily="66" charset="0"/>
              </a:rPr>
              <a:t> Ectocarpus.</a:t>
            </a:r>
          </a:p>
        </p:txBody>
      </p:sp>
      <p:sp>
        <p:nvSpPr>
          <p:cNvPr id="17" name="AutoShape 43">
            <a:extLst>
              <a:ext uri="{FF2B5EF4-FFF2-40B4-BE49-F238E27FC236}">
                <a16:creationId xmlns:a16="http://schemas.microsoft.com/office/drawing/2014/main" id="{84F051FB-C449-DB6A-A20B-7EC1F53618A5}"/>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8" name="Text Box 45">
            <a:extLst>
              <a:ext uri="{FF2B5EF4-FFF2-40B4-BE49-F238E27FC236}">
                <a16:creationId xmlns:a16="http://schemas.microsoft.com/office/drawing/2014/main" id="{969AE925-A627-F0D6-66E3-4C2F08C6B7DC}"/>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8</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 Box 46">
            <a:extLst>
              <a:ext uri="{FF2B5EF4-FFF2-40B4-BE49-F238E27FC236}">
                <a16:creationId xmlns:a16="http://schemas.microsoft.com/office/drawing/2014/main" id="{A1BCA257-3CAA-B7DA-FE2E-0A17A482C2EF}"/>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20" name="Text Box 47">
            <a:extLst>
              <a:ext uri="{FF2B5EF4-FFF2-40B4-BE49-F238E27FC236}">
                <a16:creationId xmlns:a16="http://schemas.microsoft.com/office/drawing/2014/main" id="{D491A2EB-3F4D-0759-2413-5EC4D3322A68}"/>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21" name="AutoShape 23">
            <a:extLst>
              <a:ext uri="{FF2B5EF4-FFF2-40B4-BE49-F238E27FC236}">
                <a16:creationId xmlns:a16="http://schemas.microsoft.com/office/drawing/2014/main" id="{9D459B28-996A-8DEB-C5E9-7C3FDB791ED6}"/>
              </a:ext>
            </a:extLst>
          </p:cNvPr>
          <p:cNvSpPr>
            <a:spLocks noChangeArrowheads="1"/>
          </p:cNvSpPr>
          <p:nvPr/>
        </p:nvSpPr>
        <p:spPr bwMode="auto">
          <a:xfrm>
            <a:off x="481920" y="9561931"/>
            <a:ext cx="4598080" cy="457466"/>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Classification of Algae</a:t>
            </a:r>
          </a:p>
        </p:txBody>
      </p:sp>
      <p:sp>
        <p:nvSpPr>
          <p:cNvPr id="22" name="Title 1">
            <a:extLst>
              <a:ext uri="{FF2B5EF4-FFF2-40B4-BE49-F238E27FC236}">
                <a16:creationId xmlns:a16="http://schemas.microsoft.com/office/drawing/2014/main" id="{DF0E7A8B-3196-E91A-1C2F-BD23F9BFB422}"/>
              </a:ext>
            </a:extLst>
          </p:cNvPr>
          <p:cNvSpPr txBox="1">
            <a:spLocks/>
          </p:cNvSpPr>
          <p:nvPr/>
        </p:nvSpPr>
        <p:spPr>
          <a:xfrm>
            <a:off x="532357" y="9601691"/>
            <a:ext cx="407361" cy="375401"/>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5</a:t>
            </a:r>
          </a:p>
        </p:txBody>
      </p:sp>
    </p:spTree>
    <p:extLst>
      <p:ext uri="{BB962C8B-B14F-4D97-AF65-F5344CB8AC3E}">
        <p14:creationId xmlns:p14="http://schemas.microsoft.com/office/powerpoint/2010/main" val="1849408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3">
            <a:extLst>
              <a:ext uri="{FF2B5EF4-FFF2-40B4-BE49-F238E27FC236}">
                <a16:creationId xmlns:a16="http://schemas.microsoft.com/office/drawing/2014/main" id="{380CC8EA-9BD4-A2FE-08F5-FE2091FB690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16F84EC3-8E4A-6448-D315-F33200605A75}"/>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9</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17195F66-98D3-B750-5B3F-5345B72C2B0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9" name="Text Box 47">
            <a:extLst>
              <a:ext uri="{FF2B5EF4-FFF2-40B4-BE49-F238E27FC236}">
                <a16:creationId xmlns:a16="http://schemas.microsoft.com/office/drawing/2014/main" id="{A6D02FB7-C520-AEBD-F3D7-F55808DB562D}"/>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0" name="TextBox 9">
            <a:extLst>
              <a:ext uri="{FF2B5EF4-FFF2-40B4-BE49-F238E27FC236}">
                <a16:creationId xmlns:a16="http://schemas.microsoft.com/office/drawing/2014/main" id="{221F56A9-E4D1-3690-AE96-CE9877BF888E}"/>
              </a:ext>
            </a:extLst>
          </p:cNvPr>
          <p:cNvSpPr txBox="1"/>
          <p:nvPr/>
        </p:nvSpPr>
        <p:spPr>
          <a:xfrm>
            <a:off x="446995" y="392793"/>
            <a:ext cx="6636656" cy="8356134"/>
          </a:xfrm>
          <a:prstGeom prst="rect">
            <a:avLst/>
          </a:prstGeom>
          <a:noFill/>
        </p:spPr>
        <p:txBody>
          <a:bodyPr wrap="square">
            <a:spAutoFit/>
          </a:bodyPr>
          <a:lstStyle/>
          <a:p>
            <a:pPr algn="just"/>
            <a:r>
              <a:rPr lang="en-IN" sz="1400" dirty="0">
                <a:latin typeface="Comic Sans MS" panose="030F0702030302020204" pitchFamily="66" charset="0"/>
              </a:rPr>
              <a:t>Harvey (1836), for the first time, divided algae into three groups:</a:t>
            </a:r>
          </a:p>
          <a:p>
            <a:pPr marL="342900" indent="-342900" algn="just">
              <a:buAutoNum type="alphaLcPeriod"/>
            </a:pPr>
            <a:r>
              <a:rPr lang="en-IN" sz="1400" dirty="0">
                <a:latin typeface="Comic Sans MS" panose="030F0702030302020204" pitchFamily="66" charset="0"/>
              </a:rPr>
              <a:t>Chlorospermae (green and fresh water forms)</a:t>
            </a:r>
          </a:p>
          <a:p>
            <a:pPr marL="342900" indent="-342900" algn="just">
              <a:buAutoNum type="alphaLcPeriod"/>
            </a:pPr>
            <a:r>
              <a:rPr lang="en-IN" sz="1400" dirty="0">
                <a:latin typeface="Comic Sans MS" panose="030F0702030302020204" pitchFamily="66" charset="0"/>
              </a:rPr>
              <a:t>Melanospermae (living)</a:t>
            </a:r>
          </a:p>
          <a:p>
            <a:pPr marL="342900" indent="-342900" algn="just">
              <a:buAutoNum type="alphaLcPeriod"/>
            </a:pPr>
            <a:r>
              <a:rPr lang="en-IN" sz="1400" dirty="0">
                <a:latin typeface="Comic Sans MS" panose="030F0702030302020204" pitchFamily="66" charset="0"/>
              </a:rPr>
              <a:t>Rhodospermae (small and red coloured forms)</a:t>
            </a:r>
          </a:p>
          <a:p>
            <a:pPr marL="342900" indent="-342900" algn="just">
              <a:buAutoNum type="alphaLcPeriod"/>
            </a:pPr>
            <a:endParaRPr lang="en-IN" sz="1400" dirty="0">
              <a:latin typeface="Comic Sans MS" panose="030F0702030302020204" pitchFamily="66" charset="0"/>
            </a:endParaRPr>
          </a:p>
          <a:p>
            <a:pPr algn="just"/>
            <a:r>
              <a:rPr lang="en-IN" sz="1400" dirty="0">
                <a:latin typeface="Comic Sans MS" panose="030F0702030302020204" pitchFamily="66" charset="0"/>
              </a:rPr>
              <a:t>Thereafter, Engler and Prantl (1912), in their publication </a:t>
            </a:r>
            <a:r>
              <a:rPr lang="en-IN" sz="1400" i="1" dirty="0">
                <a:latin typeface="Comic Sans MS" panose="030F0702030302020204" pitchFamily="66" charset="0"/>
              </a:rPr>
              <a:t>Syllabus der Plflanzen familien</a:t>
            </a:r>
            <a:r>
              <a:rPr lang="en-IN" sz="1400" dirty="0">
                <a:latin typeface="Comic Sans MS" panose="030F0702030302020204" pitchFamily="66" charset="0"/>
              </a:rPr>
              <a:t>, proposed an excellent system of classification of plant kingdom. They believed that the fungi have been derived from algae and, therefor, mixed the two as follow:</a:t>
            </a:r>
          </a:p>
          <a:p>
            <a:pPr marL="342900" indent="-342900" algn="just">
              <a:buAutoNum type="alphaLcPeriod"/>
            </a:pPr>
            <a:r>
              <a:rPr lang="en-IN" sz="1400" dirty="0">
                <a:latin typeface="Comic Sans MS" panose="030F0702030302020204" pitchFamily="66" charset="0"/>
              </a:rPr>
              <a:t>Schizophyta</a:t>
            </a:r>
          </a:p>
          <a:p>
            <a:pPr marL="342900" indent="-342900" algn="just">
              <a:buAutoNum type="alphaLcPeriod"/>
            </a:pPr>
            <a:r>
              <a:rPr lang="en-IN" sz="1400" dirty="0">
                <a:latin typeface="Comic Sans MS" panose="030F0702030302020204" pitchFamily="66" charset="0"/>
              </a:rPr>
              <a:t>Phytosarcodina</a:t>
            </a:r>
          </a:p>
          <a:p>
            <a:pPr marL="342900" indent="-342900" algn="just">
              <a:buAutoNum type="alphaLcPeriod"/>
            </a:pPr>
            <a:r>
              <a:rPr lang="en-IN" sz="1400" dirty="0">
                <a:latin typeface="Comic Sans MS" panose="030F0702030302020204" pitchFamily="66" charset="0"/>
              </a:rPr>
              <a:t>Flagellata</a:t>
            </a:r>
          </a:p>
          <a:p>
            <a:pPr marL="342900" indent="-342900" algn="just">
              <a:buAutoNum type="alphaLcPeriod"/>
            </a:pPr>
            <a:r>
              <a:rPr lang="en-IN" sz="1400" dirty="0">
                <a:latin typeface="Comic Sans MS" panose="030F0702030302020204" pitchFamily="66" charset="0"/>
              </a:rPr>
              <a:t>Dinoflagellata</a:t>
            </a:r>
          </a:p>
          <a:p>
            <a:pPr marL="342900" indent="-342900" algn="just">
              <a:buAutoNum type="alphaLcPeriod"/>
            </a:pPr>
            <a:r>
              <a:rPr lang="en-IN" sz="1400" dirty="0">
                <a:latin typeface="Comic Sans MS" panose="030F0702030302020204" pitchFamily="66" charset="0"/>
              </a:rPr>
              <a:t>Bacillariophyta</a:t>
            </a:r>
          </a:p>
          <a:p>
            <a:pPr marL="342900" indent="-342900" algn="just">
              <a:buAutoNum type="alphaLcPeriod"/>
            </a:pPr>
            <a:r>
              <a:rPr lang="en-IN" sz="1400" dirty="0">
                <a:latin typeface="Comic Sans MS" panose="030F0702030302020204" pitchFamily="66" charset="0"/>
              </a:rPr>
              <a:t>Conjugatae</a:t>
            </a:r>
          </a:p>
          <a:p>
            <a:pPr marL="342900" indent="-342900" algn="just">
              <a:buAutoNum type="alphaLcPeriod"/>
            </a:pPr>
            <a:endParaRPr lang="en-IN" sz="1400" dirty="0">
              <a:latin typeface="Comic Sans MS" panose="030F0702030302020204" pitchFamily="66" charset="0"/>
            </a:endParaRPr>
          </a:p>
          <a:p>
            <a:pPr algn="just"/>
            <a:r>
              <a:rPr lang="en-IN" sz="1400" dirty="0">
                <a:latin typeface="Comic Sans MS" panose="030F0702030302020204" pitchFamily="66" charset="0"/>
              </a:rPr>
              <a:t>West in 1916 attempted to classify algae on the basis of reproductive structures particularly on the presence of flagella and their nature and divided algae into:-</a:t>
            </a:r>
          </a:p>
          <a:p>
            <a:pPr marL="400050" indent="-400050" algn="just">
              <a:buAutoNum type="romanLcPeriod"/>
            </a:pPr>
            <a:r>
              <a:rPr lang="en-IN" sz="1400" dirty="0">
                <a:latin typeface="Comic Sans MS" panose="030F0702030302020204" pitchFamily="66" charset="0"/>
              </a:rPr>
              <a:t>Isokotae (flagella of equal size)</a:t>
            </a:r>
          </a:p>
          <a:p>
            <a:pPr marL="400050" indent="-400050" algn="just">
              <a:buAutoNum type="romanLcPeriod"/>
            </a:pPr>
            <a:r>
              <a:rPr lang="en-IN" sz="1400" dirty="0">
                <a:latin typeface="Comic Sans MS" panose="030F0702030302020204" pitchFamily="66" charset="0"/>
              </a:rPr>
              <a:t>Heterokontae (flagella of unequal size)</a:t>
            </a:r>
          </a:p>
          <a:p>
            <a:pPr marL="400050" indent="-400050" algn="just">
              <a:buAutoNum type="romanLcPeriod"/>
            </a:pPr>
            <a:r>
              <a:rPr lang="en-IN" sz="1400" dirty="0">
                <a:latin typeface="Comic Sans MS" panose="030F0702030302020204" pitchFamily="66" charset="0"/>
              </a:rPr>
              <a:t>Stephanokotae (flagella crowned)</a:t>
            </a:r>
          </a:p>
          <a:p>
            <a:pPr marL="400050" indent="-400050" algn="just">
              <a:buAutoNum type="romanLcPeriod"/>
            </a:pPr>
            <a:r>
              <a:rPr lang="en-IN" sz="1400" dirty="0">
                <a:latin typeface="Comic Sans MS" panose="030F0702030302020204" pitchFamily="66" charset="0"/>
              </a:rPr>
              <a:t>Akontae (flagella absent)</a:t>
            </a:r>
          </a:p>
          <a:p>
            <a:pPr marL="400050" indent="-400050" algn="just">
              <a:buAutoNum type="romanLcPeriod"/>
            </a:pPr>
            <a:endParaRPr lang="en-IN" sz="1400" dirty="0">
              <a:latin typeface="Comic Sans MS" panose="030F0702030302020204" pitchFamily="66" charset="0"/>
            </a:endParaRPr>
          </a:p>
          <a:p>
            <a:pPr algn="just"/>
            <a:r>
              <a:rPr lang="en-IN" sz="1400" dirty="0">
                <a:latin typeface="Comic Sans MS" panose="030F0702030302020204" pitchFamily="66" charset="0"/>
              </a:rPr>
              <a:t>But Pascher (1931) laid stress on phylogeny and interrelationships of various groups. He divided alae directly into eight divisions as follows:-</a:t>
            </a:r>
          </a:p>
          <a:p>
            <a:pPr algn="just"/>
            <a:endParaRPr lang="en-IN" sz="2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Chrysophyta</a:t>
            </a:r>
          </a:p>
          <a:p>
            <a:pPr marL="342900" indent="-342900" algn="just">
              <a:buAutoNum type="arabicPeriod"/>
            </a:pPr>
            <a:endParaRPr lang="en-IN" sz="1400" dirty="0">
              <a:latin typeface="Comic Sans MS" panose="030F0702030302020204" pitchFamily="66" charset="0"/>
            </a:endParaRPr>
          </a:p>
          <a:p>
            <a:pPr marL="342900" indent="-342900" algn="just">
              <a:buAutoNum type="arabicPeriod"/>
            </a:pPr>
            <a:endParaRPr lang="en-IN" sz="1400" dirty="0">
              <a:latin typeface="Comic Sans MS" panose="030F0702030302020204" pitchFamily="66" charset="0"/>
            </a:endParaRPr>
          </a:p>
          <a:p>
            <a:pPr marL="342900" indent="-342900" algn="just">
              <a:buAutoNum type="arabicPeriod"/>
            </a:pPr>
            <a:endParaRPr lang="en-IN" sz="1400" dirty="0">
              <a:latin typeface="Comic Sans MS" panose="030F0702030302020204" pitchFamily="66" charset="0"/>
            </a:endParaRPr>
          </a:p>
          <a:p>
            <a:pPr marL="342900" indent="-342900" algn="just">
              <a:buAutoNum type="arabicPeriod"/>
            </a:pPr>
            <a:endParaRPr lang="en-IN" sz="3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Phaeophyta</a:t>
            </a:r>
          </a:p>
          <a:p>
            <a:pPr marL="342900" indent="-342900" algn="just">
              <a:buAutoNum type="arabicPeriod"/>
            </a:pPr>
            <a:endParaRPr lang="en-IN" sz="1400" dirty="0">
              <a:latin typeface="Comic Sans MS" panose="030F0702030302020204" pitchFamily="66" charset="0"/>
            </a:endParaRPr>
          </a:p>
          <a:p>
            <a:pPr marL="342900" indent="-342900" algn="just">
              <a:buAutoNum type="arabicPeriod"/>
            </a:pPr>
            <a:endParaRPr lang="en-IN" sz="2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Pyrrophyta</a:t>
            </a:r>
          </a:p>
          <a:p>
            <a:pPr marL="342900" indent="-342900" algn="just">
              <a:buAutoNum type="arabicPeriod"/>
            </a:pPr>
            <a:endParaRPr lang="en-IN" sz="1400" dirty="0">
              <a:latin typeface="Comic Sans MS" panose="030F0702030302020204" pitchFamily="66" charset="0"/>
            </a:endParaRPr>
          </a:p>
          <a:p>
            <a:pPr marL="342900" indent="-342900" algn="just">
              <a:buAutoNum type="arabicPeriod"/>
            </a:pPr>
            <a:endParaRPr lang="en-IN" sz="1400" dirty="0">
              <a:latin typeface="Comic Sans MS" panose="030F0702030302020204" pitchFamily="66" charset="0"/>
            </a:endParaRPr>
          </a:p>
          <a:p>
            <a:pPr marL="342900" indent="-342900" algn="just">
              <a:buAutoNum type="arabicPeriod"/>
            </a:pPr>
            <a:endParaRPr lang="en-IN" sz="14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Euglenophyta</a:t>
            </a:r>
          </a:p>
        </p:txBody>
      </p:sp>
      <p:sp>
        <p:nvSpPr>
          <p:cNvPr id="11" name="TextBox 10">
            <a:extLst>
              <a:ext uri="{FF2B5EF4-FFF2-40B4-BE49-F238E27FC236}">
                <a16:creationId xmlns:a16="http://schemas.microsoft.com/office/drawing/2014/main" id="{618281C3-F203-A63E-6248-08CE6F3C77AF}"/>
              </a:ext>
            </a:extLst>
          </p:cNvPr>
          <p:cNvSpPr txBox="1"/>
          <p:nvPr/>
        </p:nvSpPr>
        <p:spPr>
          <a:xfrm>
            <a:off x="804863" y="6210597"/>
            <a:ext cx="3781424" cy="692497"/>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Chrysophyceae</a:t>
            </a:r>
          </a:p>
          <a:p>
            <a:pPr marL="400050" indent="-400050" algn="just">
              <a:buAutoNum type="romanLcPeriod"/>
            </a:pPr>
            <a:r>
              <a:rPr lang="en-IN" sz="1300" dirty="0">
                <a:latin typeface="Comic Sans MS" panose="030F0702030302020204" pitchFamily="66" charset="0"/>
              </a:rPr>
              <a:t>Diatomae</a:t>
            </a:r>
          </a:p>
          <a:p>
            <a:pPr marL="400050" indent="-400050" algn="just">
              <a:buAutoNum type="romanLcPeriod"/>
            </a:pPr>
            <a:r>
              <a:rPr lang="en-IN" sz="1300" dirty="0">
                <a:latin typeface="Comic Sans MS" panose="030F0702030302020204" pitchFamily="66" charset="0"/>
              </a:rPr>
              <a:t>Heterokotae</a:t>
            </a:r>
          </a:p>
        </p:txBody>
      </p:sp>
      <p:sp>
        <p:nvSpPr>
          <p:cNvPr id="12" name="TextBox 11">
            <a:extLst>
              <a:ext uri="{FF2B5EF4-FFF2-40B4-BE49-F238E27FC236}">
                <a16:creationId xmlns:a16="http://schemas.microsoft.com/office/drawing/2014/main" id="{2D5B0D9D-C7B3-AAB5-C913-693832899C05}"/>
              </a:ext>
            </a:extLst>
          </p:cNvPr>
          <p:cNvSpPr txBox="1"/>
          <p:nvPr/>
        </p:nvSpPr>
        <p:spPr>
          <a:xfrm>
            <a:off x="800100" y="7119672"/>
            <a:ext cx="3781424" cy="292388"/>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Phaeophyceae</a:t>
            </a:r>
          </a:p>
        </p:txBody>
      </p:sp>
      <p:sp>
        <p:nvSpPr>
          <p:cNvPr id="13" name="TextBox 12">
            <a:extLst>
              <a:ext uri="{FF2B5EF4-FFF2-40B4-BE49-F238E27FC236}">
                <a16:creationId xmlns:a16="http://schemas.microsoft.com/office/drawing/2014/main" id="{B55DCA2C-F4FE-734D-BDF3-8780A2629B14}"/>
              </a:ext>
            </a:extLst>
          </p:cNvPr>
          <p:cNvSpPr txBox="1"/>
          <p:nvPr/>
        </p:nvSpPr>
        <p:spPr>
          <a:xfrm>
            <a:off x="4429125" y="2342673"/>
            <a:ext cx="2654526" cy="1169551"/>
          </a:xfrm>
          <a:prstGeom prst="rect">
            <a:avLst/>
          </a:prstGeom>
          <a:noFill/>
        </p:spPr>
        <p:txBody>
          <a:bodyPr wrap="square">
            <a:spAutoFit/>
          </a:bodyPr>
          <a:lstStyle/>
          <a:p>
            <a:pPr marL="342900" indent="-342900" algn="just">
              <a:buFont typeface="+mj-lt"/>
              <a:buAutoNum type="alphaLcPeriod" startAt="7"/>
            </a:pPr>
            <a:r>
              <a:rPr lang="en-IN" sz="1400" dirty="0">
                <a:latin typeface="Comic Sans MS" panose="030F0702030302020204" pitchFamily="66" charset="0"/>
              </a:rPr>
              <a:t>Chlorophyceae</a:t>
            </a:r>
          </a:p>
          <a:p>
            <a:pPr marL="342900" indent="-342900" algn="just">
              <a:buFont typeface="+mj-lt"/>
              <a:buAutoNum type="alphaLcPeriod" startAt="7"/>
            </a:pPr>
            <a:r>
              <a:rPr lang="en-IN" sz="1400" dirty="0">
                <a:latin typeface="Comic Sans MS" panose="030F0702030302020204" pitchFamily="66" charset="0"/>
              </a:rPr>
              <a:t>Charophyta</a:t>
            </a:r>
          </a:p>
          <a:p>
            <a:pPr marL="342900" indent="-342900" algn="just">
              <a:buFont typeface="+mj-lt"/>
              <a:buAutoNum type="alphaLcPeriod" startAt="7"/>
            </a:pPr>
            <a:r>
              <a:rPr lang="en-IN" sz="1400" dirty="0">
                <a:latin typeface="Comic Sans MS" panose="030F0702030302020204" pitchFamily="66" charset="0"/>
              </a:rPr>
              <a:t>Phaeophyceae</a:t>
            </a:r>
          </a:p>
          <a:p>
            <a:pPr marL="342900" indent="-342900" algn="just">
              <a:buFont typeface="+mj-lt"/>
              <a:buAutoNum type="alphaLcPeriod" startAt="7"/>
            </a:pPr>
            <a:r>
              <a:rPr lang="en-IN" sz="1400" dirty="0">
                <a:latin typeface="Comic Sans MS" panose="030F0702030302020204" pitchFamily="66" charset="0"/>
              </a:rPr>
              <a:t>Rhodophyceae</a:t>
            </a:r>
          </a:p>
          <a:p>
            <a:pPr marL="342900" indent="-342900" algn="just">
              <a:buFont typeface="+mj-lt"/>
              <a:buAutoNum type="alphaLcPeriod" startAt="7"/>
            </a:pPr>
            <a:r>
              <a:rPr lang="en-IN" sz="1400" dirty="0">
                <a:latin typeface="Comic Sans MS" panose="030F0702030302020204" pitchFamily="66" charset="0"/>
              </a:rPr>
              <a:t>Eumycetes (true fungi)</a:t>
            </a:r>
          </a:p>
        </p:txBody>
      </p:sp>
      <p:sp>
        <p:nvSpPr>
          <p:cNvPr id="14" name="TextBox 13">
            <a:extLst>
              <a:ext uri="{FF2B5EF4-FFF2-40B4-BE49-F238E27FC236}">
                <a16:creationId xmlns:a16="http://schemas.microsoft.com/office/drawing/2014/main" id="{097BB236-2FC8-A1EF-4A89-C6CA14AE5B99}"/>
              </a:ext>
            </a:extLst>
          </p:cNvPr>
          <p:cNvSpPr txBox="1"/>
          <p:nvPr/>
        </p:nvSpPr>
        <p:spPr>
          <a:xfrm>
            <a:off x="800100" y="7562368"/>
            <a:ext cx="3781424" cy="692497"/>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Cryptophyceae</a:t>
            </a:r>
          </a:p>
          <a:p>
            <a:pPr marL="400050" indent="-400050" algn="just">
              <a:buAutoNum type="romanLcPeriod"/>
            </a:pPr>
            <a:r>
              <a:rPr lang="en-IN" sz="1300" dirty="0">
                <a:latin typeface="Comic Sans MS" panose="030F0702030302020204" pitchFamily="66" charset="0"/>
              </a:rPr>
              <a:t>Desmokontae</a:t>
            </a:r>
          </a:p>
          <a:p>
            <a:pPr marL="400050" indent="-400050" algn="just">
              <a:buAutoNum type="romanLcPeriod"/>
            </a:pPr>
            <a:r>
              <a:rPr lang="en-IN" sz="1300" dirty="0">
                <a:latin typeface="Comic Sans MS" panose="030F0702030302020204" pitchFamily="66" charset="0"/>
              </a:rPr>
              <a:t>Dinophyceae</a:t>
            </a:r>
          </a:p>
        </p:txBody>
      </p:sp>
      <p:sp>
        <p:nvSpPr>
          <p:cNvPr id="19" name="TextBox 18">
            <a:extLst>
              <a:ext uri="{FF2B5EF4-FFF2-40B4-BE49-F238E27FC236}">
                <a16:creationId xmlns:a16="http://schemas.microsoft.com/office/drawing/2014/main" id="{8992AF84-FBD5-F4EB-2532-DCC3BBFCD57C}"/>
              </a:ext>
            </a:extLst>
          </p:cNvPr>
          <p:cNvSpPr txBox="1"/>
          <p:nvPr/>
        </p:nvSpPr>
        <p:spPr>
          <a:xfrm>
            <a:off x="3979183" y="5996368"/>
            <a:ext cx="3133498" cy="2025686"/>
          </a:xfrm>
          <a:prstGeom prst="rect">
            <a:avLst/>
          </a:prstGeom>
          <a:noFill/>
        </p:spPr>
        <p:txBody>
          <a:bodyPr wrap="square">
            <a:spAutoFit/>
          </a:bodyPr>
          <a:lstStyle/>
          <a:p>
            <a:pPr marL="342900" indent="-342900" algn="just">
              <a:buFont typeface="+mj-lt"/>
              <a:buAutoNum type="arabicPeriod" startAt="5"/>
            </a:pPr>
            <a:r>
              <a:rPr lang="en-IN" sz="1400" dirty="0">
                <a:latin typeface="Comic Sans MS" panose="030F0702030302020204" pitchFamily="66" charset="0"/>
              </a:rPr>
              <a:t>Chlorophyta</a:t>
            </a:r>
          </a:p>
          <a:p>
            <a:pPr marL="342900" indent="-342900" algn="just">
              <a:buFont typeface="+mj-lt"/>
              <a:buAutoNum type="arabicPeriod" startAt="5"/>
            </a:pPr>
            <a:endParaRPr lang="en-IN" sz="1400" dirty="0">
              <a:latin typeface="Comic Sans MS" panose="030F0702030302020204" pitchFamily="66" charset="0"/>
            </a:endParaRPr>
          </a:p>
          <a:p>
            <a:pPr marL="342900" indent="-342900" algn="just">
              <a:buFont typeface="+mj-lt"/>
              <a:buAutoNum type="arabicPeriod" startAt="5"/>
            </a:pPr>
            <a:endParaRPr lang="en-IN" sz="1400" dirty="0">
              <a:latin typeface="Comic Sans MS" panose="030F0702030302020204" pitchFamily="66" charset="0"/>
            </a:endParaRPr>
          </a:p>
          <a:p>
            <a:pPr marL="342900" indent="-342900" algn="just">
              <a:buFont typeface="+mj-lt"/>
              <a:buAutoNum type="arabicPeriod" startAt="5"/>
            </a:pPr>
            <a:r>
              <a:rPr lang="en-IN" sz="1400" dirty="0">
                <a:latin typeface="Comic Sans MS" panose="030F0702030302020204" pitchFamily="66" charset="0"/>
              </a:rPr>
              <a:t>Charophyta</a:t>
            </a:r>
          </a:p>
          <a:p>
            <a:pPr marL="342900" indent="-342900" algn="just">
              <a:buFont typeface="+mj-lt"/>
              <a:buAutoNum type="arabicPeriod" startAt="5"/>
            </a:pPr>
            <a:endParaRPr lang="en-IN" sz="1400" dirty="0">
              <a:latin typeface="Comic Sans MS" panose="030F0702030302020204" pitchFamily="66" charset="0"/>
            </a:endParaRPr>
          </a:p>
          <a:p>
            <a:pPr marL="342900" indent="-342900" algn="just">
              <a:buFont typeface="+mj-lt"/>
              <a:buAutoNum type="arabicPeriod" startAt="5"/>
            </a:pPr>
            <a:r>
              <a:rPr lang="en-IN" sz="1400" dirty="0">
                <a:latin typeface="Comic Sans MS" panose="030F0702030302020204" pitchFamily="66" charset="0"/>
              </a:rPr>
              <a:t>Rhodophyta</a:t>
            </a:r>
          </a:p>
          <a:p>
            <a:pPr marL="342900" indent="-342900" algn="just">
              <a:buFont typeface="+mj-lt"/>
              <a:buAutoNum type="arabicPeriod" startAt="5"/>
            </a:pPr>
            <a:endParaRPr lang="en-IN" sz="1400" dirty="0">
              <a:latin typeface="Comic Sans MS" panose="030F0702030302020204" pitchFamily="66" charset="0"/>
            </a:endParaRPr>
          </a:p>
          <a:p>
            <a:pPr marL="342900" indent="-342900" algn="just">
              <a:buFont typeface="+mj-lt"/>
              <a:buAutoNum type="arabicPeriod" startAt="5"/>
            </a:pPr>
            <a:endParaRPr lang="en-IN" sz="1400" dirty="0">
              <a:latin typeface="Comic Sans MS" panose="030F0702030302020204" pitchFamily="66" charset="0"/>
            </a:endParaRPr>
          </a:p>
          <a:p>
            <a:pPr marL="342900" indent="-342900" algn="just">
              <a:buFont typeface="+mj-lt"/>
              <a:buAutoNum type="arabicPeriod" startAt="5"/>
            </a:pPr>
            <a:r>
              <a:rPr lang="en-IN" sz="1400" dirty="0">
                <a:latin typeface="Comic Sans MS" panose="030F0702030302020204" pitchFamily="66" charset="0"/>
              </a:rPr>
              <a:t>Cyanophyta</a:t>
            </a:r>
          </a:p>
        </p:txBody>
      </p:sp>
      <p:sp>
        <p:nvSpPr>
          <p:cNvPr id="15" name="TextBox 14">
            <a:extLst>
              <a:ext uri="{FF2B5EF4-FFF2-40B4-BE49-F238E27FC236}">
                <a16:creationId xmlns:a16="http://schemas.microsoft.com/office/drawing/2014/main" id="{03EB496E-57F0-A8A1-2715-30FFFE5B3C13}"/>
              </a:ext>
            </a:extLst>
          </p:cNvPr>
          <p:cNvSpPr txBox="1"/>
          <p:nvPr/>
        </p:nvSpPr>
        <p:spPr>
          <a:xfrm>
            <a:off x="800100" y="8422262"/>
            <a:ext cx="3781424" cy="292388"/>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Eugleninae</a:t>
            </a:r>
          </a:p>
        </p:txBody>
      </p:sp>
      <p:sp>
        <p:nvSpPr>
          <p:cNvPr id="16" name="TextBox 15">
            <a:extLst>
              <a:ext uri="{FF2B5EF4-FFF2-40B4-BE49-F238E27FC236}">
                <a16:creationId xmlns:a16="http://schemas.microsoft.com/office/drawing/2014/main" id="{0D9B55E4-6EBE-D9E0-D45B-9802BC8DCE1D}"/>
              </a:ext>
            </a:extLst>
          </p:cNvPr>
          <p:cNvSpPr txBox="1"/>
          <p:nvPr/>
        </p:nvSpPr>
        <p:spPr>
          <a:xfrm>
            <a:off x="4253820" y="6216630"/>
            <a:ext cx="2883034" cy="491076"/>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Chlorophyceae</a:t>
            </a:r>
          </a:p>
          <a:p>
            <a:pPr marL="400050" indent="-400050" algn="just">
              <a:buAutoNum type="romanLcPeriod"/>
            </a:pPr>
            <a:r>
              <a:rPr lang="en-IN" sz="1300" dirty="0">
                <a:latin typeface="Comic Sans MS" panose="030F0702030302020204" pitchFamily="66" charset="0"/>
              </a:rPr>
              <a:t>Conjugatae</a:t>
            </a:r>
          </a:p>
        </p:txBody>
      </p:sp>
      <p:sp>
        <p:nvSpPr>
          <p:cNvPr id="17" name="TextBox 16">
            <a:extLst>
              <a:ext uri="{FF2B5EF4-FFF2-40B4-BE49-F238E27FC236}">
                <a16:creationId xmlns:a16="http://schemas.microsoft.com/office/drawing/2014/main" id="{39AF99B0-56E5-551D-68DA-64E344840625}"/>
              </a:ext>
            </a:extLst>
          </p:cNvPr>
          <p:cNvSpPr txBox="1"/>
          <p:nvPr/>
        </p:nvSpPr>
        <p:spPr>
          <a:xfrm>
            <a:off x="4253820" y="6849301"/>
            <a:ext cx="2883034" cy="291576"/>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Charophyceae</a:t>
            </a:r>
          </a:p>
        </p:txBody>
      </p:sp>
      <p:sp>
        <p:nvSpPr>
          <p:cNvPr id="18" name="TextBox 17">
            <a:extLst>
              <a:ext uri="{FF2B5EF4-FFF2-40B4-BE49-F238E27FC236}">
                <a16:creationId xmlns:a16="http://schemas.microsoft.com/office/drawing/2014/main" id="{EAC18255-6D77-77CC-3073-7FF04AA9690E}"/>
              </a:ext>
            </a:extLst>
          </p:cNvPr>
          <p:cNvSpPr txBox="1"/>
          <p:nvPr/>
        </p:nvSpPr>
        <p:spPr>
          <a:xfrm>
            <a:off x="4253820" y="7283860"/>
            <a:ext cx="2883034" cy="491076"/>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Bangiineae</a:t>
            </a:r>
          </a:p>
          <a:p>
            <a:pPr marL="400050" indent="-400050" algn="just">
              <a:buAutoNum type="romanLcPeriod"/>
            </a:pPr>
            <a:r>
              <a:rPr lang="en-IN" sz="1300" dirty="0">
                <a:latin typeface="Comic Sans MS" panose="030F0702030302020204" pitchFamily="66" charset="0"/>
              </a:rPr>
              <a:t>Floridinae</a:t>
            </a:r>
          </a:p>
        </p:txBody>
      </p:sp>
      <p:sp>
        <p:nvSpPr>
          <p:cNvPr id="22" name="TextBox 21">
            <a:extLst>
              <a:ext uri="{FF2B5EF4-FFF2-40B4-BE49-F238E27FC236}">
                <a16:creationId xmlns:a16="http://schemas.microsoft.com/office/drawing/2014/main" id="{7F070625-6F8C-8DEE-4E7C-39519639BB11}"/>
              </a:ext>
            </a:extLst>
          </p:cNvPr>
          <p:cNvSpPr txBox="1"/>
          <p:nvPr/>
        </p:nvSpPr>
        <p:spPr>
          <a:xfrm>
            <a:off x="4282599" y="7949902"/>
            <a:ext cx="2883034" cy="291576"/>
          </a:xfrm>
          <a:prstGeom prst="rect">
            <a:avLst/>
          </a:prstGeom>
          <a:noFill/>
        </p:spPr>
        <p:txBody>
          <a:bodyPr wrap="square">
            <a:spAutoFit/>
          </a:bodyPr>
          <a:lstStyle/>
          <a:p>
            <a:pPr marL="400050" indent="-400050" algn="just">
              <a:buAutoNum type="romanLcPeriod"/>
            </a:pPr>
            <a:r>
              <a:rPr lang="en-IN" sz="1300" dirty="0">
                <a:latin typeface="Comic Sans MS" panose="030F0702030302020204" pitchFamily="66" charset="0"/>
              </a:rPr>
              <a:t>Myxophyceae</a:t>
            </a:r>
          </a:p>
        </p:txBody>
      </p:sp>
      <p:sp>
        <p:nvSpPr>
          <p:cNvPr id="23" name="TextBox 22">
            <a:extLst>
              <a:ext uri="{FF2B5EF4-FFF2-40B4-BE49-F238E27FC236}">
                <a16:creationId xmlns:a16="http://schemas.microsoft.com/office/drawing/2014/main" id="{3F0BDE56-B595-C167-47FD-95C466EB786E}"/>
              </a:ext>
            </a:extLst>
          </p:cNvPr>
          <p:cNvSpPr txBox="1"/>
          <p:nvPr/>
        </p:nvSpPr>
        <p:spPr>
          <a:xfrm>
            <a:off x="446995" y="8759155"/>
            <a:ext cx="6636656" cy="1384995"/>
          </a:xfrm>
          <a:prstGeom prst="rect">
            <a:avLst/>
          </a:prstGeom>
          <a:noFill/>
        </p:spPr>
        <p:txBody>
          <a:bodyPr wrap="square">
            <a:spAutoFit/>
          </a:bodyPr>
          <a:lstStyle/>
          <a:p>
            <a:pPr algn="just"/>
            <a:r>
              <a:rPr lang="en-IN" sz="1400" dirty="0">
                <a:latin typeface="Comic Sans MS" panose="030F0702030302020204" pitchFamily="66" charset="0"/>
              </a:rPr>
              <a:t>Soon after Pascher’s classification, Lady Tilden (1933) extended her views about algae classification and emphasised on certain fundamental criteria of classification, e.g., pigmentation, reserve food material, etc. She divided algae five classes:-</a:t>
            </a:r>
          </a:p>
          <a:p>
            <a:pPr marL="400050" indent="-400050" algn="just">
              <a:buAutoNum type="romanLcPeriod"/>
            </a:pPr>
            <a:r>
              <a:rPr lang="en-IN" sz="1400" dirty="0">
                <a:latin typeface="Comic Sans MS" panose="030F0702030302020204" pitchFamily="66" charset="0"/>
              </a:rPr>
              <a:t>Chlorophyceae</a:t>
            </a:r>
          </a:p>
          <a:p>
            <a:pPr marL="400050" indent="-400050" algn="just">
              <a:buAutoNum type="romanLcPeriod"/>
            </a:pPr>
            <a:r>
              <a:rPr lang="en-IN" sz="1400" dirty="0">
                <a:latin typeface="Comic Sans MS" panose="030F0702030302020204" pitchFamily="66" charset="0"/>
              </a:rPr>
              <a:t>Myxophyceae</a:t>
            </a:r>
          </a:p>
        </p:txBody>
      </p:sp>
      <p:sp>
        <p:nvSpPr>
          <p:cNvPr id="24" name="TextBox 23">
            <a:extLst>
              <a:ext uri="{FF2B5EF4-FFF2-40B4-BE49-F238E27FC236}">
                <a16:creationId xmlns:a16="http://schemas.microsoft.com/office/drawing/2014/main" id="{DDB4360A-7E73-BD2C-4E0E-279D0FF4E023}"/>
              </a:ext>
            </a:extLst>
          </p:cNvPr>
          <p:cNvSpPr txBox="1"/>
          <p:nvPr/>
        </p:nvSpPr>
        <p:spPr>
          <a:xfrm>
            <a:off x="2849346" y="9631158"/>
            <a:ext cx="1860981" cy="523220"/>
          </a:xfrm>
          <a:prstGeom prst="rect">
            <a:avLst/>
          </a:prstGeom>
          <a:noFill/>
        </p:spPr>
        <p:txBody>
          <a:bodyPr wrap="square">
            <a:spAutoFit/>
          </a:bodyPr>
          <a:lstStyle/>
          <a:p>
            <a:pPr marL="400050" indent="-400050" algn="just">
              <a:buFont typeface="+mj-lt"/>
              <a:buAutoNum type="romanLcPeriod" startAt="3"/>
            </a:pPr>
            <a:r>
              <a:rPr lang="en-IN" sz="1400" dirty="0">
                <a:latin typeface="Comic Sans MS" panose="030F0702030302020204" pitchFamily="66" charset="0"/>
              </a:rPr>
              <a:t>Rhodophyceae</a:t>
            </a:r>
          </a:p>
          <a:p>
            <a:pPr marL="400050" indent="-400050" algn="just">
              <a:buAutoNum type="romanLcPeriod" startAt="3"/>
            </a:pPr>
            <a:r>
              <a:rPr lang="en-IN" sz="1400" dirty="0">
                <a:latin typeface="Comic Sans MS" panose="030F0702030302020204" pitchFamily="66" charset="0"/>
              </a:rPr>
              <a:t>Phaeophyceae</a:t>
            </a:r>
          </a:p>
        </p:txBody>
      </p:sp>
      <p:sp>
        <p:nvSpPr>
          <p:cNvPr id="25" name="TextBox 24">
            <a:extLst>
              <a:ext uri="{FF2B5EF4-FFF2-40B4-BE49-F238E27FC236}">
                <a16:creationId xmlns:a16="http://schemas.microsoft.com/office/drawing/2014/main" id="{B8D1CF66-91DB-84FD-4BB6-1C762208ED99}"/>
              </a:ext>
            </a:extLst>
          </p:cNvPr>
          <p:cNvSpPr txBox="1"/>
          <p:nvPr/>
        </p:nvSpPr>
        <p:spPr>
          <a:xfrm>
            <a:off x="5222670" y="9679655"/>
            <a:ext cx="1860981" cy="307777"/>
          </a:xfrm>
          <a:prstGeom prst="rect">
            <a:avLst/>
          </a:prstGeom>
          <a:noFill/>
        </p:spPr>
        <p:txBody>
          <a:bodyPr wrap="square">
            <a:spAutoFit/>
          </a:bodyPr>
          <a:lstStyle/>
          <a:p>
            <a:pPr marL="400050" indent="-400050" algn="just">
              <a:buFont typeface="+mj-lt"/>
              <a:buAutoNum type="romanLcPeriod" startAt="5"/>
            </a:pPr>
            <a:r>
              <a:rPr lang="en-IN" sz="1400" dirty="0">
                <a:latin typeface="Comic Sans MS" panose="030F0702030302020204" pitchFamily="66" charset="0"/>
              </a:rPr>
              <a:t>Chrysophyceae</a:t>
            </a:r>
          </a:p>
        </p:txBody>
      </p:sp>
    </p:spTree>
    <p:extLst>
      <p:ext uri="{BB962C8B-B14F-4D97-AF65-F5344CB8AC3E}">
        <p14:creationId xmlns:p14="http://schemas.microsoft.com/office/powerpoint/2010/main" val="399604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3">
            <a:extLst>
              <a:ext uri="{FF2B5EF4-FFF2-40B4-BE49-F238E27FC236}">
                <a16:creationId xmlns:a16="http://schemas.microsoft.com/office/drawing/2014/main" id="{31A1B886-2E74-1AD5-B562-812799A40200}"/>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ext Box 45">
            <a:extLst>
              <a:ext uri="{FF2B5EF4-FFF2-40B4-BE49-F238E27FC236}">
                <a16:creationId xmlns:a16="http://schemas.microsoft.com/office/drawing/2014/main" id="{501DE292-1A6F-3F25-18E5-97435386466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10</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46">
            <a:extLst>
              <a:ext uri="{FF2B5EF4-FFF2-40B4-BE49-F238E27FC236}">
                <a16:creationId xmlns:a16="http://schemas.microsoft.com/office/drawing/2014/main" id="{697B39A3-01BB-66AD-4D67-A6ACEDDE4DF6}"/>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11" name="Text Box 47">
            <a:extLst>
              <a:ext uri="{FF2B5EF4-FFF2-40B4-BE49-F238E27FC236}">
                <a16:creationId xmlns:a16="http://schemas.microsoft.com/office/drawing/2014/main" id="{6ECAAB79-2FF7-7974-7E3A-6234D01DA3DB}"/>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2" name="TextBox 11">
            <a:extLst>
              <a:ext uri="{FF2B5EF4-FFF2-40B4-BE49-F238E27FC236}">
                <a16:creationId xmlns:a16="http://schemas.microsoft.com/office/drawing/2014/main" id="{281BBC51-8BA4-3910-0F7B-DE335707DC17}"/>
              </a:ext>
            </a:extLst>
          </p:cNvPr>
          <p:cNvSpPr txBox="1"/>
          <p:nvPr/>
        </p:nvSpPr>
        <p:spPr>
          <a:xfrm>
            <a:off x="452120" y="398145"/>
            <a:ext cx="6636656" cy="2677656"/>
          </a:xfrm>
          <a:prstGeom prst="rect">
            <a:avLst/>
          </a:prstGeom>
          <a:noFill/>
        </p:spPr>
        <p:txBody>
          <a:bodyPr wrap="square">
            <a:spAutoFit/>
          </a:bodyPr>
          <a:lstStyle/>
          <a:p>
            <a:pPr algn="just"/>
            <a:r>
              <a:rPr lang="en-IN" sz="1400" dirty="0">
                <a:latin typeface="Comic Sans MS" panose="030F0702030302020204" pitchFamily="66" charset="0"/>
              </a:rPr>
              <a:t>Fritsch (1935) in his book entitled </a:t>
            </a:r>
            <a:r>
              <a:rPr lang="en-IN" sz="1400" i="1" dirty="0">
                <a:latin typeface="Comic Sans MS" panose="030F0702030302020204" pitchFamily="66" charset="0"/>
              </a:rPr>
              <a:t>The Structure and Reproduction of the Algae</a:t>
            </a:r>
            <a:r>
              <a:rPr lang="en-IN" sz="1400" dirty="0">
                <a:latin typeface="Comic Sans MS" panose="030F0702030302020204" pitchFamily="66" charset="0"/>
              </a:rPr>
              <a:t>, has classified algae considering phylogeny, affinities and inter-relationships of various forms. In classifying algae he has taken a prenotion from the contribution of Pascher and to a certain Tilden. He has considered algae as one group equivalent to a division and has divided living forms of this group into 11 classes as follows.</a:t>
            </a:r>
          </a:p>
          <a:p>
            <a:pPr marL="400050" indent="-400050" algn="just">
              <a:buAutoNum type="romanLcPeriod"/>
            </a:pPr>
            <a:r>
              <a:rPr lang="en-IN" sz="1400" i="1" dirty="0">
                <a:latin typeface="Comic Sans MS" panose="030F0702030302020204" pitchFamily="66" charset="0"/>
              </a:rPr>
              <a:t>Chlorophyceae</a:t>
            </a:r>
          </a:p>
          <a:p>
            <a:pPr marL="400050" indent="-400050" algn="just">
              <a:buAutoNum type="romanLcPeriod"/>
            </a:pPr>
            <a:r>
              <a:rPr lang="en-IN" sz="1400" i="1" dirty="0">
                <a:latin typeface="Comic Sans MS" panose="030F0702030302020204" pitchFamily="66" charset="0"/>
              </a:rPr>
              <a:t>Xanthophyceae</a:t>
            </a:r>
          </a:p>
          <a:p>
            <a:pPr marL="400050" indent="-400050" algn="just">
              <a:buAutoNum type="romanLcPeriod"/>
            </a:pPr>
            <a:r>
              <a:rPr lang="en-IN" sz="1400" i="1" dirty="0">
                <a:latin typeface="Comic Sans MS" panose="030F0702030302020204" pitchFamily="66" charset="0"/>
              </a:rPr>
              <a:t>Chrysophyceae</a:t>
            </a:r>
          </a:p>
          <a:p>
            <a:pPr marL="400050" indent="-400050" algn="just">
              <a:buAutoNum type="romanLcPeriod"/>
            </a:pPr>
            <a:r>
              <a:rPr lang="en-IN" sz="1400" i="1" dirty="0">
                <a:latin typeface="Comic Sans MS" panose="030F0702030302020204" pitchFamily="66" charset="0"/>
              </a:rPr>
              <a:t>Bacillariophyceae</a:t>
            </a:r>
          </a:p>
          <a:p>
            <a:pPr marL="400050" indent="-400050" algn="just">
              <a:buAutoNum type="romanLcPeriod"/>
            </a:pPr>
            <a:r>
              <a:rPr lang="en-IN" sz="1400" i="1" dirty="0">
                <a:latin typeface="Comic Sans MS" panose="030F0702030302020204" pitchFamily="66" charset="0"/>
              </a:rPr>
              <a:t>Cryptophyceae</a:t>
            </a:r>
          </a:p>
          <a:p>
            <a:pPr marL="400050" indent="-400050" algn="just">
              <a:buAutoNum type="romanLcPeriod"/>
            </a:pPr>
            <a:r>
              <a:rPr lang="en-IN" sz="1400" i="1" dirty="0">
                <a:latin typeface="Comic Sans MS" panose="030F0702030302020204" pitchFamily="66" charset="0"/>
              </a:rPr>
              <a:t>Dinophyceae</a:t>
            </a:r>
          </a:p>
        </p:txBody>
      </p:sp>
      <p:sp>
        <p:nvSpPr>
          <p:cNvPr id="14" name="TextBox 13">
            <a:extLst>
              <a:ext uri="{FF2B5EF4-FFF2-40B4-BE49-F238E27FC236}">
                <a16:creationId xmlns:a16="http://schemas.microsoft.com/office/drawing/2014/main" id="{6CE469B0-8F9C-3808-0FD0-19F3A91C64AA}"/>
              </a:ext>
            </a:extLst>
          </p:cNvPr>
          <p:cNvSpPr txBox="1"/>
          <p:nvPr/>
        </p:nvSpPr>
        <p:spPr>
          <a:xfrm>
            <a:off x="4869180" y="1736973"/>
            <a:ext cx="2238375" cy="1169551"/>
          </a:xfrm>
          <a:prstGeom prst="rect">
            <a:avLst/>
          </a:prstGeom>
          <a:noFill/>
        </p:spPr>
        <p:txBody>
          <a:bodyPr wrap="square">
            <a:spAutoFit/>
          </a:bodyPr>
          <a:lstStyle/>
          <a:p>
            <a:pPr marL="400050" indent="-400050" algn="just">
              <a:buFont typeface="+mj-lt"/>
              <a:buAutoNum type="romanLcPeriod" startAt="7"/>
            </a:pPr>
            <a:r>
              <a:rPr lang="en-IN" sz="1400" i="1" dirty="0">
                <a:latin typeface="Comic Sans MS" panose="030F0702030302020204" pitchFamily="66" charset="0"/>
              </a:rPr>
              <a:t>Chloromonadineae</a:t>
            </a:r>
          </a:p>
          <a:p>
            <a:pPr marL="400050" indent="-400050" algn="just">
              <a:buFont typeface="+mj-lt"/>
              <a:buAutoNum type="romanLcPeriod" startAt="7"/>
            </a:pPr>
            <a:r>
              <a:rPr lang="en-IN" sz="1400" i="1" dirty="0">
                <a:latin typeface="Comic Sans MS" panose="030F0702030302020204" pitchFamily="66" charset="0"/>
              </a:rPr>
              <a:t>Euglenineae</a:t>
            </a:r>
          </a:p>
          <a:p>
            <a:pPr marL="400050" indent="-400050" algn="just">
              <a:buFont typeface="+mj-lt"/>
              <a:buAutoNum type="romanLcPeriod" startAt="7"/>
            </a:pPr>
            <a:r>
              <a:rPr lang="en-IN" sz="1400" i="1" dirty="0">
                <a:latin typeface="Comic Sans MS" panose="030F0702030302020204" pitchFamily="66" charset="0"/>
              </a:rPr>
              <a:t>Phaeophyceae</a:t>
            </a:r>
          </a:p>
          <a:p>
            <a:pPr marL="400050" indent="-400050" algn="just">
              <a:buFont typeface="+mj-lt"/>
              <a:buAutoNum type="romanLcPeriod" startAt="7"/>
            </a:pPr>
            <a:r>
              <a:rPr lang="en-IN" sz="1400" i="1" dirty="0">
                <a:latin typeface="Comic Sans MS" panose="030F0702030302020204" pitchFamily="66" charset="0"/>
              </a:rPr>
              <a:t>Rhodophyceae</a:t>
            </a:r>
          </a:p>
          <a:p>
            <a:pPr marL="400050" indent="-400050" algn="just">
              <a:buFont typeface="+mj-lt"/>
              <a:buAutoNum type="romanLcPeriod" startAt="7"/>
            </a:pPr>
            <a:r>
              <a:rPr lang="en-IN" sz="1400" i="1" dirty="0">
                <a:latin typeface="Comic Sans MS" panose="030F0702030302020204" pitchFamily="66" charset="0"/>
              </a:rPr>
              <a:t>Myxophyceae</a:t>
            </a:r>
          </a:p>
        </p:txBody>
      </p:sp>
      <p:sp>
        <p:nvSpPr>
          <p:cNvPr id="13" name="AutoShape 11">
            <a:extLst>
              <a:ext uri="{FF2B5EF4-FFF2-40B4-BE49-F238E27FC236}">
                <a16:creationId xmlns:a16="http://schemas.microsoft.com/office/drawing/2014/main" id="{338C25B0-0318-B3DC-57AF-28D1043140F0}"/>
              </a:ext>
            </a:extLst>
          </p:cNvPr>
          <p:cNvSpPr>
            <a:spLocks noChangeArrowheads="1"/>
          </p:cNvSpPr>
          <p:nvPr/>
        </p:nvSpPr>
        <p:spPr bwMode="auto">
          <a:xfrm>
            <a:off x="431800" y="3213971"/>
            <a:ext cx="396875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Chlorophyceae </a:t>
            </a:r>
            <a:r>
              <a:rPr lang="en-IN" sz="1400" dirty="0">
                <a:latin typeface="Comic Sans MS" panose="030F0702030302020204" pitchFamily="66" charset="0"/>
              </a:rPr>
              <a:t>(Grass-green)</a:t>
            </a:r>
          </a:p>
        </p:txBody>
      </p:sp>
      <p:sp>
        <p:nvSpPr>
          <p:cNvPr id="15" name="TextBox 14">
            <a:extLst>
              <a:ext uri="{FF2B5EF4-FFF2-40B4-BE49-F238E27FC236}">
                <a16:creationId xmlns:a16="http://schemas.microsoft.com/office/drawing/2014/main" id="{A4204C9D-2B7A-78CF-2D4B-AA0816254C2D}"/>
              </a:ext>
            </a:extLst>
          </p:cNvPr>
          <p:cNvSpPr txBox="1"/>
          <p:nvPr/>
        </p:nvSpPr>
        <p:spPr>
          <a:xfrm>
            <a:off x="442595" y="3653710"/>
            <a:ext cx="6636656" cy="954107"/>
          </a:xfrm>
          <a:prstGeom prst="rect">
            <a:avLst/>
          </a:prstGeom>
          <a:noFill/>
        </p:spPr>
        <p:txBody>
          <a:bodyPr wrap="square">
            <a:spAutoFit/>
          </a:bodyPr>
          <a:lstStyle/>
          <a:p>
            <a:pPr algn="just"/>
            <a:r>
              <a:rPr lang="en-IN" sz="1400" dirty="0">
                <a:latin typeface="Comic Sans MS" panose="030F0702030302020204" pitchFamily="66" charset="0"/>
              </a:rPr>
              <a:t>The class Chlorophyceae is characterised by the members possessing grass-green chromatophores (also known as green algae). The other distinguishing features of the class are the presence of starch as reserve food material, pyrenoid, etc. which we will learn about these in this class.</a:t>
            </a:r>
            <a:endParaRPr lang="en-IN" sz="1400" i="1" dirty="0">
              <a:latin typeface="Comic Sans MS" panose="030F0702030302020204" pitchFamily="66" charset="0"/>
            </a:endParaRPr>
          </a:p>
        </p:txBody>
      </p:sp>
      <p:sp>
        <p:nvSpPr>
          <p:cNvPr id="16" name="AutoShape 11">
            <a:extLst>
              <a:ext uri="{FF2B5EF4-FFF2-40B4-BE49-F238E27FC236}">
                <a16:creationId xmlns:a16="http://schemas.microsoft.com/office/drawing/2014/main" id="{1788A668-82E8-8EDA-DE70-A9A7D60B7FBE}"/>
              </a:ext>
            </a:extLst>
          </p:cNvPr>
          <p:cNvSpPr>
            <a:spLocks noChangeArrowheads="1"/>
          </p:cNvSpPr>
          <p:nvPr/>
        </p:nvSpPr>
        <p:spPr bwMode="auto">
          <a:xfrm>
            <a:off x="431800" y="4731642"/>
            <a:ext cx="2611578"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Habitat</a:t>
            </a:r>
          </a:p>
        </p:txBody>
      </p:sp>
      <p:sp>
        <p:nvSpPr>
          <p:cNvPr id="17" name="TextBox 16">
            <a:extLst>
              <a:ext uri="{FF2B5EF4-FFF2-40B4-BE49-F238E27FC236}">
                <a16:creationId xmlns:a16="http://schemas.microsoft.com/office/drawing/2014/main" id="{DB422EBD-3A94-EA8E-7FC5-A938331AF5AD}"/>
              </a:ext>
            </a:extLst>
          </p:cNvPr>
          <p:cNvSpPr txBox="1"/>
          <p:nvPr/>
        </p:nvSpPr>
        <p:spPr>
          <a:xfrm>
            <a:off x="442595" y="5120035"/>
            <a:ext cx="6636656" cy="5047536"/>
          </a:xfrm>
          <a:prstGeom prst="rect">
            <a:avLst/>
          </a:prstGeom>
          <a:noFill/>
        </p:spPr>
        <p:txBody>
          <a:bodyPr wrap="square">
            <a:spAutoFit/>
          </a:bodyPr>
          <a:lstStyle/>
          <a:p>
            <a:pPr marL="400050" indent="-400050">
              <a:buAutoNum type="romanLcPeriod"/>
            </a:pPr>
            <a:r>
              <a:rPr lang="en-IN" sz="1400" b="1" dirty="0">
                <a:latin typeface="Comic Sans MS" panose="030F0702030302020204" pitchFamily="66" charset="0"/>
              </a:rPr>
              <a:t>Free living fresh water forms -</a:t>
            </a:r>
            <a:r>
              <a:rPr lang="en-IN" sz="1400" dirty="0">
                <a:latin typeface="Comic Sans MS" panose="030F0702030302020204" pitchFamily="66" charset="0"/>
              </a:rPr>
              <a:t> e.g., Members of Chaetophorales.</a:t>
            </a:r>
          </a:p>
          <a:p>
            <a:pPr marL="400050" indent="-400050">
              <a:buAutoNum type="romanLcPeriod"/>
            </a:pPr>
            <a:r>
              <a:rPr lang="en-IN" sz="1400" b="1" dirty="0">
                <a:latin typeface="Comic Sans MS" panose="030F0702030302020204" pitchFamily="66" charset="0"/>
              </a:rPr>
              <a:t>Attached fresh water forms</a:t>
            </a:r>
            <a:r>
              <a:rPr lang="en-IN" sz="1400" dirty="0">
                <a:latin typeface="Comic Sans MS" panose="030F0702030302020204" pitchFamily="66" charset="0"/>
              </a:rPr>
              <a:t> - e.g., Members of Chaetophorales.</a:t>
            </a:r>
          </a:p>
          <a:p>
            <a:pPr marL="400050" indent="-400050">
              <a:buAutoNum type="romanLcPeriod"/>
            </a:pPr>
            <a:r>
              <a:rPr lang="en-IN" sz="1400" b="1" dirty="0">
                <a:latin typeface="Comic Sans MS" panose="030F0702030302020204" pitchFamily="66" charset="0"/>
              </a:rPr>
              <a:t>Floating fresh water forms -</a:t>
            </a:r>
            <a:r>
              <a:rPr lang="en-IN" sz="1400" dirty="0">
                <a:latin typeface="Comic Sans MS" panose="030F0702030302020204" pitchFamily="66" charset="0"/>
              </a:rPr>
              <a:t> e.g. Members of </a:t>
            </a:r>
            <a:r>
              <a:rPr lang="en-IN" sz="1400" i="1" dirty="0">
                <a:latin typeface="Comic Sans MS" panose="030F0702030302020204" pitchFamily="66" charset="0"/>
              </a:rPr>
              <a:t>Zygnemaceae, Oedogonium, Puhophora</a:t>
            </a:r>
            <a:r>
              <a:rPr lang="en-IN" sz="1400" dirty="0">
                <a:latin typeface="Comic Sans MS" panose="030F0702030302020204" pitchFamily="66" charset="0"/>
              </a:rPr>
              <a:t>, etc. They may also grow as submerged masses.</a:t>
            </a:r>
          </a:p>
          <a:p>
            <a:pPr marL="400050" indent="-400050">
              <a:buAutoNum type="romanLcPeriod"/>
            </a:pPr>
            <a:r>
              <a:rPr lang="en-IN" sz="1400" b="1" dirty="0">
                <a:latin typeface="Comic Sans MS" panose="030F0702030302020204" pitchFamily="66" charset="0"/>
              </a:rPr>
              <a:t>Subaerial forms -</a:t>
            </a:r>
            <a:r>
              <a:rPr lang="en-IN" sz="1400" dirty="0">
                <a:latin typeface="Comic Sans MS" panose="030F0702030302020204" pitchFamily="66" charset="0"/>
              </a:rPr>
              <a:t> e.g., Trentipohiia.</a:t>
            </a:r>
          </a:p>
          <a:p>
            <a:pPr marL="400050" indent="-400050">
              <a:buAutoNum type="romanLcPeriod"/>
            </a:pPr>
            <a:r>
              <a:rPr lang="en-IN" sz="1400" b="1" dirty="0">
                <a:latin typeface="Comic Sans MS" panose="030F0702030302020204" pitchFamily="66" charset="0"/>
              </a:rPr>
              <a:t>Forms growing attached on shells of molluscs – </a:t>
            </a:r>
            <a:r>
              <a:rPr lang="en-IN" sz="1400" dirty="0">
                <a:latin typeface="Comic Sans MS" panose="030F0702030302020204" pitchFamily="66" charset="0"/>
              </a:rPr>
              <a:t>e.g. </a:t>
            </a:r>
            <a:r>
              <a:rPr lang="en-IN" sz="1400" i="1" dirty="0">
                <a:latin typeface="Comic Sans MS" panose="030F0702030302020204" pitchFamily="66" charset="0"/>
              </a:rPr>
              <a:t>Cladophora </a:t>
            </a:r>
            <a:r>
              <a:rPr lang="en-IN" sz="1400" dirty="0">
                <a:latin typeface="Comic Sans MS" panose="030F0702030302020204" pitchFamily="66" charset="0"/>
              </a:rPr>
              <a:t>and some members of Chaetophorales.</a:t>
            </a:r>
          </a:p>
          <a:p>
            <a:pPr marL="400050" indent="-400050">
              <a:buAutoNum type="romanLcPeriod"/>
            </a:pPr>
            <a:r>
              <a:rPr lang="en-IN" sz="1400" b="1" dirty="0">
                <a:latin typeface="Comic Sans MS" panose="030F0702030302020204" pitchFamily="66" charset="0"/>
              </a:rPr>
              <a:t>Epizoic forms – </a:t>
            </a:r>
            <a:r>
              <a:rPr lang="en-IN" sz="1400" dirty="0">
                <a:latin typeface="Comic Sans MS" panose="030F0702030302020204" pitchFamily="66" charset="0"/>
              </a:rPr>
              <a:t>Some species of </a:t>
            </a:r>
            <a:r>
              <a:rPr lang="en-IN" sz="1400" i="1" dirty="0">
                <a:latin typeface="Comic Sans MS" panose="030F0702030302020204" pitchFamily="66" charset="0"/>
              </a:rPr>
              <a:t>Characium </a:t>
            </a:r>
            <a:r>
              <a:rPr lang="en-IN" sz="1400" dirty="0">
                <a:latin typeface="Comic Sans MS" panose="030F0702030302020204" pitchFamily="66" charset="0"/>
              </a:rPr>
              <a:t>grow on small Crustaceans and a few species of </a:t>
            </a:r>
            <a:r>
              <a:rPr lang="en-IN" sz="1400" i="1" dirty="0">
                <a:latin typeface="Comic Sans MS" panose="030F0702030302020204" pitchFamily="66" charset="0"/>
              </a:rPr>
              <a:t>Chlamdomonas and </a:t>
            </a:r>
            <a:r>
              <a:rPr lang="en-IN" sz="1400" dirty="0">
                <a:latin typeface="Comic Sans MS" panose="030F0702030302020204" pitchFamily="66" charset="0"/>
              </a:rPr>
              <a:t>Chlorangiopsis </a:t>
            </a:r>
            <a:r>
              <a:rPr lang="en-IN" sz="1400" i="1" dirty="0">
                <a:latin typeface="Comic Sans MS" panose="030F0702030302020204" pitchFamily="66" charset="0"/>
              </a:rPr>
              <a:t>grow on tiny animalculae.</a:t>
            </a:r>
          </a:p>
          <a:p>
            <a:pPr marL="400050" indent="-400050">
              <a:buAutoNum type="romanLcPeriod"/>
            </a:pPr>
            <a:r>
              <a:rPr lang="en-IN" sz="1400" b="1" dirty="0">
                <a:latin typeface="Comic Sans MS" panose="030F0702030302020204" pitchFamily="66" charset="0"/>
              </a:rPr>
              <a:t>Space parasite – </a:t>
            </a:r>
            <a:r>
              <a:rPr lang="en-IN" sz="1400" i="1" dirty="0">
                <a:latin typeface="Comic Sans MS" panose="030F0702030302020204" pitchFamily="66" charset="0"/>
              </a:rPr>
              <a:t>Chlorochytrium lemnae </a:t>
            </a:r>
            <a:r>
              <a:rPr lang="en-IN" sz="1400" dirty="0">
                <a:latin typeface="Comic Sans MS" panose="030F0702030302020204" pitchFamily="66" charset="0"/>
              </a:rPr>
              <a:t>lives inside the tissue of </a:t>
            </a:r>
            <a:r>
              <a:rPr lang="en-IN" sz="1400" i="1" dirty="0">
                <a:latin typeface="Comic Sans MS" panose="030F0702030302020204" pitchFamily="66" charset="0"/>
              </a:rPr>
              <a:t>Lemna </a:t>
            </a:r>
            <a:r>
              <a:rPr lang="en-IN" sz="1400" dirty="0">
                <a:latin typeface="Comic Sans MS" panose="030F0702030302020204" pitchFamily="66" charset="0"/>
              </a:rPr>
              <a:t>(an angiosperm).</a:t>
            </a:r>
          </a:p>
          <a:p>
            <a:pPr marL="400050" indent="-400050">
              <a:buAutoNum type="romanLcPeriod"/>
            </a:pPr>
            <a:r>
              <a:rPr lang="en-IN" sz="1400" b="1" dirty="0">
                <a:latin typeface="Comic Sans MS" panose="030F0702030302020204" pitchFamily="66" charset="0"/>
              </a:rPr>
              <a:t>True parasite </a:t>
            </a:r>
            <a:r>
              <a:rPr lang="en-IN" sz="1400" dirty="0">
                <a:latin typeface="Comic Sans MS" panose="030F0702030302020204" pitchFamily="66" charset="0"/>
              </a:rPr>
              <a:t>– </a:t>
            </a:r>
            <a:r>
              <a:rPr lang="en-IN" sz="1400" i="1" dirty="0">
                <a:latin typeface="Comic Sans MS" panose="030F0702030302020204" pitchFamily="66" charset="0"/>
              </a:rPr>
              <a:t>Phyllobium sphagnicolum </a:t>
            </a:r>
            <a:r>
              <a:rPr lang="en-IN" sz="1400" dirty="0">
                <a:latin typeface="Comic Sans MS" panose="030F0702030302020204" pitchFamily="66" charset="0"/>
              </a:rPr>
              <a:t>on the leaves of </a:t>
            </a:r>
            <a:r>
              <a:rPr lang="en-IN" sz="1400" i="1" dirty="0">
                <a:latin typeface="Comic Sans MS" panose="030F0702030302020204" pitchFamily="66" charset="0"/>
              </a:rPr>
              <a:t>Sphagnum</a:t>
            </a:r>
            <a:r>
              <a:rPr lang="en-IN" sz="1400" dirty="0">
                <a:latin typeface="Comic Sans MS" panose="030F0702030302020204" pitchFamily="66" charset="0"/>
              </a:rPr>
              <a:t> (bryophyte), </a:t>
            </a:r>
            <a:r>
              <a:rPr lang="en-IN" sz="1400" i="1" dirty="0">
                <a:latin typeface="Comic Sans MS" panose="030F0702030302020204" pitchFamily="66" charset="0"/>
              </a:rPr>
              <a:t>Rhodochytrium spilanthidis </a:t>
            </a:r>
            <a:r>
              <a:rPr lang="en-IN" sz="1400" dirty="0">
                <a:latin typeface="Comic Sans MS" panose="030F0702030302020204" pitchFamily="66" charset="0"/>
              </a:rPr>
              <a:t>on the leaves of </a:t>
            </a:r>
            <a:r>
              <a:rPr lang="en-IN" sz="1400" i="1" dirty="0">
                <a:latin typeface="Comic Sans MS" panose="030F0702030302020204" pitchFamily="66" charset="0"/>
              </a:rPr>
              <a:t>Ambrasia</a:t>
            </a:r>
            <a:r>
              <a:rPr lang="en-IN" sz="1400" dirty="0">
                <a:latin typeface="Comic Sans MS" panose="030F0702030302020204" pitchFamily="66" charset="0"/>
              </a:rPr>
              <a:t> and </a:t>
            </a:r>
            <a:r>
              <a:rPr lang="en-IN" sz="1400" i="1" dirty="0">
                <a:latin typeface="Comic Sans MS" panose="030F0702030302020204" pitchFamily="66" charset="0"/>
              </a:rPr>
              <a:t>Cephaleuros</a:t>
            </a:r>
            <a:r>
              <a:rPr lang="en-IN" sz="1400" dirty="0">
                <a:latin typeface="Comic Sans MS" panose="030F0702030302020204" pitchFamily="66" charset="0"/>
              </a:rPr>
              <a:t> on the leave of </a:t>
            </a:r>
            <a:r>
              <a:rPr lang="en-IN" sz="1400" i="1" dirty="0">
                <a:latin typeface="Comic Sans MS" panose="030F0702030302020204" pitchFamily="66" charset="0"/>
              </a:rPr>
              <a:t>Thea</a:t>
            </a:r>
            <a:r>
              <a:rPr lang="en-IN" sz="1400" dirty="0">
                <a:latin typeface="Comic Sans MS" panose="030F0702030302020204" pitchFamily="66" charset="0"/>
              </a:rPr>
              <a:t>, </a:t>
            </a:r>
            <a:r>
              <a:rPr lang="en-IN" sz="1400" i="1" dirty="0">
                <a:latin typeface="Comic Sans MS" panose="030F0702030302020204" pitchFamily="66" charset="0"/>
              </a:rPr>
              <a:t>Piper</a:t>
            </a:r>
            <a:r>
              <a:rPr lang="en-IN" sz="1400" dirty="0">
                <a:latin typeface="Comic Sans MS" panose="030F0702030302020204" pitchFamily="66" charset="0"/>
              </a:rPr>
              <a:t> and a number of other tropical trees.</a:t>
            </a:r>
          </a:p>
          <a:p>
            <a:pPr marL="400050" indent="-400050">
              <a:buAutoNum type="romanLcPeriod"/>
            </a:pPr>
            <a:r>
              <a:rPr lang="en-IN" sz="1400" b="1" dirty="0">
                <a:latin typeface="Comic Sans MS" panose="030F0702030302020204" pitchFamily="66" charset="0"/>
              </a:rPr>
              <a:t>Symbiotic forms </a:t>
            </a:r>
            <a:r>
              <a:rPr lang="en-IN" sz="1400" dirty="0">
                <a:latin typeface="Comic Sans MS" panose="030F0702030302020204" pitchFamily="66" charset="0"/>
              </a:rPr>
              <a:t>– </a:t>
            </a:r>
            <a:r>
              <a:rPr lang="en-IN" sz="1400" i="1" dirty="0">
                <a:latin typeface="Comic Sans MS" panose="030F0702030302020204" pitchFamily="66" charset="0"/>
              </a:rPr>
              <a:t>Trebauxia, Chlorella, Coccomyxa </a:t>
            </a:r>
            <a:r>
              <a:rPr lang="en-IN" sz="1400" dirty="0">
                <a:latin typeface="Comic Sans MS" panose="030F0702030302020204" pitchFamily="66" charset="0"/>
              </a:rPr>
              <a:t>are known to live symbiotically with various fungi in lichens. </a:t>
            </a:r>
            <a:r>
              <a:rPr lang="en-IN" sz="1400" i="1" dirty="0">
                <a:latin typeface="Comic Sans MS" panose="030F0702030302020204" pitchFamily="66" charset="0"/>
              </a:rPr>
              <a:t>Zoochlorella</a:t>
            </a:r>
            <a:r>
              <a:rPr lang="en-IN" sz="1400" dirty="0">
                <a:latin typeface="Comic Sans MS" panose="030F0702030302020204" pitchFamily="66" charset="0"/>
              </a:rPr>
              <a:t> and </a:t>
            </a:r>
            <a:r>
              <a:rPr lang="en-IN" sz="1400" i="1" dirty="0">
                <a:latin typeface="Comic Sans MS" panose="030F0702030302020204" pitchFamily="66" charset="0"/>
              </a:rPr>
              <a:t>Carteria</a:t>
            </a:r>
            <a:r>
              <a:rPr lang="en-IN" sz="1400" dirty="0">
                <a:latin typeface="Comic Sans MS" panose="030F0702030302020204" pitchFamily="66" charset="0"/>
              </a:rPr>
              <a:t> are known to live symbiotically in association with </a:t>
            </a:r>
            <a:r>
              <a:rPr lang="en-IN" sz="1400" i="1" dirty="0">
                <a:latin typeface="Comic Sans MS" panose="030F0702030302020204" pitchFamily="66" charset="0"/>
              </a:rPr>
              <a:t>Hydra</a:t>
            </a:r>
            <a:r>
              <a:rPr lang="en-IN" sz="1400" dirty="0">
                <a:latin typeface="Comic Sans MS" panose="030F0702030302020204" pitchFamily="66" charset="0"/>
              </a:rPr>
              <a:t> and </a:t>
            </a:r>
            <a:r>
              <a:rPr lang="en-IN" sz="1400" i="1" dirty="0">
                <a:latin typeface="Comic Sans MS" panose="030F0702030302020204" pitchFamily="66" charset="0"/>
              </a:rPr>
              <a:t>Convoluta</a:t>
            </a:r>
            <a:r>
              <a:rPr lang="en-IN" sz="1400" dirty="0">
                <a:latin typeface="Comic Sans MS" panose="030F0702030302020204" pitchFamily="66" charset="0"/>
              </a:rPr>
              <a:t> (animals).</a:t>
            </a:r>
          </a:p>
          <a:p>
            <a:pPr marL="400050" indent="-400050">
              <a:buAutoNum type="romanLcPeriod"/>
            </a:pPr>
            <a:r>
              <a:rPr lang="en-IN" sz="1400" b="1" dirty="0">
                <a:latin typeface="Comic Sans MS" panose="030F0702030302020204" pitchFamily="66" charset="0"/>
              </a:rPr>
              <a:t>Marine forms – </a:t>
            </a:r>
            <a:r>
              <a:rPr lang="en-IN" sz="1400" dirty="0">
                <a:latin typeface="Comic Sans MS" panose="030F0702030302020204" pitchFamily="66" charset="0"/>
              </a:rPr>
              <a:t>Most members of siphonales inhabit the sea, e.g. </a:t>
            </a:r>
            <a:r>
              <a:rPr lang="en-IN" sz="1400" i="1" dirty="0">
                <a:latin typeface="Comic Sans MS" panose="030F0702030302020204" pitchFamily="66" charset="0"/>
              </a:rPr>
              <a:t>Bryopsis, Caulerpa, Acetabularia, Codium</a:t>
            </a:r>
            <a:r>
              <a:rPr lang="en-IN" sz="1400" dirty="0">
                <a:latin typeface="Comic Sans MS" panose="030F0702030302020204" pitchFamily="66" charset="0"/>
              </a:rPr>
              <a:t> etc. The tow species of </a:t>
            </a:r>
            <a:r>
              <a:rPr lang="en-IN" sz="1400" i="1" dirty="0">
                <a:latin typeface="Comic Sans MS" panose="030F0702030302020204" pitchFamily="66" charset="0"/>
              </a:rPr>
              <a:t>Ulothrix</a:t>
            </a:r>
            <a:r>
              <a:rPr lang="en-IN" sz="1400" dirty="0">
                <a:latin typeface="Comic Sans MS" panose="030F0702030302020204" pitchFamily="66" charset="0"/>
              </a:rPr>
              <a:t>, </a:t>
            </a:r>
            <a:r>
              <a:rPr lang="en-IN" sz="1400" i="1" dirty="0">
                <a:latin typeface="Comic Sans MS" panose="030F0702030302020204" pitchFamily="66" charset="0"/>
              </a:rPr>
              <a:t>Ulothrix facca </a:t>
            </a:r>
            <a:r>
              <a:rPr lang="en-IN" sz="1400" dirty="0">
                <a:latin typeface="Comic Sans MS" panose="030F0702030302020204" pitchFamily="66" charset="0"/>
              </a:rPr>
              <a:t>and </a:t>
            </a:r>
            <a:r>
              <a:rPr lang="en-IN" sz="1400" i="1" dirty="0">
                <a:latin typeface="Comic Sans MS" panose="030F0702030302020204" pitchFamily="66" charset="0"/>
              </a:rPr>
              <a:t>Ulothrix impexa </a:t>
            </a:r>
            <a:r>
              <a:rPr lang="en-IN" sz="1400" dirty="0">
                <a:latin typeface="Comic Sans MS" panose="030F0702030302020204" pitchFamily="66" charset="0"/>
              </a:rPr>
              <a:t>are also marine.</a:t>
            </a:r>
          </a:p>
        </p:txBody>
      </p:sp>
    </p:spTree>
    <p:extLst>
      <p:ext uri="{BB962C8B-B14F-4D97-AF65-F5344CB8AC3E}">
        <p14:creationId xmlns:p14="http://schemas.microsoft.com/office/powerpoint/2010/main" val="2297277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ABCAB07C-3D9C-124F-B4FA-F5119D0BBBBF}"/>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063EF568-E66C-C13B-5AEA-D588F09B09F5}"/>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49A71F11-C63B-F968-7F3E-2D3C530A8A02}"/>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601EBD0D-7A07-917B-58C6-7018983B272E}"/>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8" name="AutoShape 11">
            <a:extLst>
              <a:ext uri="{FF2B5EF4-FFF2-40B4-BE49-F238E27FC236}">
                <a16:creationId xmlns:a16="http://schemas.microsoft.com/office/drawing/2014/main" id="{58AD0718-ADD4-0107-66B0-96EE0C5E4063}"/>
              </a:ext>
            </a:extLst>
          </p:cNvPr>
          <p:cNvSpPr>
            <a:spLocks noChangeArrowheads="1"/>
          </p:cNvSpPr>
          <p:nvPr/>
        </p:nvSpPr>
        <p:spPr bwMode="auto">
          <a:xfrm>
            <a:off x="431799" y="407292"/>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External Structure</a:t>
            </a:r>
          </a:p>
        </p:txBody>
      </p:sp>
      <p:sp>
        <p:nvSpPr>
          <p:cNvPr id="9" name="TextBox 8">
            <a:extLst>
              <a:ext uri="{FF2B5EF4-FFF2-40B4-BE49-F238E27FC236}">
                <a16:creationId xmlns:a16="http://schemas.microsoft.com/office/drawing/2014/main" id="{BEFEAE2F-B2AD-EAE9-BE25-D5A15EA065EF}"/>
              </a:ext>
            </a:extLst>
          </p:cNvPr>
          <p:cNvSpPr txBox="1"/>
          <p:nvPr/>
        </p:nvSpPr>
        <p:spPr>
          <a:xfrm>
            <a:off x="442595" y="795685"/>
            <a:ext cx="6636656" cy="523220"/>
          </a:xfrm>
          <a:prstGeom prst="rect">
            <a:avLst/>
          </a:prstGeom>
          <a:noFill/>
        </p:spPr>
        <p:txBody>
          <a:bodyPr wrap="square">
            <a:spAutoFit/>
          </a:bodyPr>
          <a:lstStyle/>
          <a:p>
            <a:pPr marL="400050" indent="-400050">
              <a:buAutoNum type="romanLcPeriod"/>
            </a:pPr>
            <a:r>
              <a:rPr lang="en-IN" sz="1400" b="1" dirty="0">
                <a:latin typeface="Comic Sans MS" panose="030F0702030302020204" pitchFamily="66" charset="0"/>
              </a:rPr>
              <a:t>Colonial </a:t>
            </a:r>
            <a:r>
              <a:rPr lang="en-IN" sz="1400" dirty="0">
                <a:latin typeface="Comic Sans MS" panose="030F0702030302020204" pitchFamily="66" charset="0"/>
              </a:rPr>
              <a:t>– e.g. – </a:t>
            </a:r>
            <a:r>
              <a:rPr lang="en-IN" sz="1400" i="1" dirty="0">
                <a:latin typeface="Comic Sans MS" panose="030F0702030302020204" pitchFamily="66" charset="0"/>
              </a:rPr>
              <a:t>Volvox.</a:t>
            </a:r>
          </a:p>
          <a:p>
            <a:pPr marL="400050" indent="-400050">
              <a:buAutoNum type="romanLcPeriod"/>
            </a:pPr>
            <a:r>
              <a:rPr lang="en-IN" sz="1400" b="1" dirty="0">
                <a:latin typeface="Comic Sans MS" panose="030F0702030302020204" pitchFamily="66" charset="0"/>
              </a:rPr>
              <a:t>Filamentous </a:t>
            </a:r>
            <a:r>
              <a:rPr lang="en-IN" sz="1400" dirty="0">
                <a:latin typeface="Comic Sans MS" panose="030F0702030302020204" pitchFamily="66" charset="0"/>
              </a:rPr>
              <a:t>– e.g. – </a:t>
            </a:r>
            <a:r>
              <a:rPr lang="en-IN" sz="1400" i="1" dirty="0">
                <a:latin typeface="Comic Sans MS" panose="030F0702030302020204" pitchFamily="66" charset="0"/>
              </a:rPr>
              <a:t>Ulothrix, Spirogyra. Etc.</a:t>
            </a:r>
          </a:p>
        </p:txBody>
      </p:sp>
      <p:sp>
        <p:nvSpPr>
          <p:cNvPr id="10" name="AutoShape 11">
            <a:extLst>
              <a:ext uri="{FF2B5EF4-FFF2-40B4-BE49-F238E27FC236}">
                <a16:creationId xmlns:a16="http://schemas.microsoft.com/office/drawing/2014/main" id="{3E9B984B-2476-5BD9-200C-5FD9B94620D8}"/>
              </a:ext>
            </a:extLst>
          </p:cNvPr>
          <p:cNvSpPr>
            <a:spLocks noChangeArrowheads="1"/>
          </p:cNvSpPr>
          <p:nvPr/>
        </p:nvSpPr>
        <p:spPr bwMode="auto">
          <a:xfrm>
            <a:off x="431798" y="1311649"/>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Internal Structure</a:t>
            </a:r>
          </a:p>
        </p:txBody>
      </p:sp>
      <p:sp>
        <p:nvSpPr>
          <p:cNvPr id="11" name="TextBox 10">
            <a:extLst>
              <a:ext uri="{FF2B5EF4-FFF2-40B4-BE49-F238E27FC236}">
                <a16:creationId xmlns:a16="http://schemas.microsoft.com/office/drawing/2014/main" id="{2497D4C8-764C-BF78-849A-7B72C6B8A961}"/>
              </a:ext>
            </a:extLst>
          </p:cNvPr>
          <p:cNvSpPr txBox="1"/>
          <p:nvPr/>
        </p:nvSpPr>
        <p:spPr>
          <a:xfrm>
            <a:off x="431798" y="1705747"/>
            <a:ext cx="6636656" cy="1169551"/>
          </a:xfrm>
          <a:prstGeom prst="rect">
            <a:avLst/>
          </a:prstGeom>
          <a:noFill/>
        </p:spPr>
        <p:txBody>
          <a:bodyPr wrap="square">
            <a:spAutoFit/>
          </a:bodyPr>
          <a:lstStyle/>
          <a:p>
            <a:pPr marL="400050" indent="-400050">
              <a:buAutoNum type="romanLcPeriod"/>
            </a:pPr>
            <a:r>
              <a:rPr lang="en-IN" sz="1400" b="1" dirty="0">
                <a:latin typeface="Comic Sans MS" panose="030F0702030302020204" pitchFamily="66" charset="0"/>
              </a:rPr>
              <a:t>Cell wall </a:t>
            </a:r>
            <a:r>
              <a:rPr lang="en-IN" sz="1400" dirty="0">
                <a:latin typeface="Comic Sans MS" panose="030F0702030302020204" pitchFamily="66" charset="0"/>
              </a:rPr>
              <a:t>– Cell wall is made up of cellulose.</a:t>
            </a:r>
            <a:endParaRPr lang="en-IN" sz="1400" i="1" dirty="0">
              <a:latin typeface="Comic Sans MS" panose="030F0702030302020204" pitchFamily="66" charset="0"/>
            </a:endParaRPr>
          </a:p>
          <a:p>
            <a:pPr marL="400050" indent="-400050">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Apical flagella with same height, 2 to 8 in number.</a:t>
            </a:r>
          </a:p>
          <a:p>
            <a:pPr marL="400050" indent="-400050">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Starch and oil.</a:t>
            </a:r>
          </a:p>
          <a:p>
            <a:pPr marL="400050" indent="-400050">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The chief pigments are chlorophyll </a:t>
            </a:r>
            <a:r>
              <a:rPr lang="en-IN" sz="1400" i="1" dirty="0">
                <a:latin typeface="Comic Sans MS" panose="030F0702030302020204" pitchFamily="66" charset="0"/>
              </a:rPr>
              <a:t>a </a:t>
            </a:r>
            <a:r>
              <a:rPr lang="en-IN" sz="1400" dirty="0">
                <a:latin typeface="Comic Sans MS" panose="030F0702030302020204" pitchFamily="66" charset="0"/>
              </a:rPr>
              <a:t>and </a:t>
            </a:r>
            <a:r>
              <a:rPr lang="en-IN" sz="1400" i="1" dirty="0">
                <a:latin typeface="Comic Sans MS" panose="030F0702030302020204" pitchFamily="66" charset="0"/>
              </a:rPr>
              <a:t>b</a:t>
            </a:r>
            <a:r>
              <a:rPr lang="en-IN" sz="1400" dirty="0">
                <a:latin typeface="Comic Sans MS" panose="030F0702030302020204" pitchFamily="66" charset="0"/>
              </a:rPr>
              <a:t> and two yellow pigments (carotenoids). Thus chromatophores are grass-green in colour.</a:t>
            </a:r>
          </a:p>
        </p:txBody>
      </p:sp>
      <p:sp>
        <p:nvSpPr>
          <p:cNvPr id="16" name="AutoShape 11">
            <a:extLst>
              <a:ext uri="{FF2B5EF4-FFF2-40B4-BE49-F238E27FC236}">
                <a16:creationId xmlns:a16="http://schemas.microsoft.com/office/drawing/2014/main" id="{BEF45276-E323-3EC6-E44E-E729488367E9}"/>
              </a:ext>
            </a:extLst>
          </p:cNvPr>
          <p:cNvSpPr>
            <a:spLocks noChangeArrowheads="1"/>
          </p:cNvSpPr>
          <p:nvPr/>
        </p:nvSpPr>
        <p:spPr bwMode="auto">
          <a:xfrm>
            <a:off x="431798" y="4024462"/>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Reproduction</a:t>
            </a:r>
          </a:p>
        </p:txBody>
      </p:sp>
      <p:sp>
        <p:nvSpPr>
          <p:cNvPr id="17" name="TextBox 16">
            <a:extLst>
              <a:ext uri="{FF2B5EF4-FFF2-40B4-BE49-F238E27FC236}">
                <a16:creationId xmlns:a16="http://schemas.microsoft.com/office/drawing/2014/main" id="{C50B4969-2C70-C068-99D2-B583BD039362}"/>
              </a:ext>
            </a:extLst>
          </p:cNvPr>
          <p:cNvSpPr txBox="1"/>
          <p:nvPr/>
        </p:nvSpPr>
        <p:spPr>
          <a:xfrm>
            <a:off x="431798" y="4418560"/>
            <a:ext cx="6636656" cy="738664"/>
          </a:xfrm>
          <a:prstGeom prst="rect">
            <a:avLst/>
          </a:prstGeom>
          <a:noFill/>
        </p:spPr>
        <p:txBody>
          <a:bodyPr wrap="square">
            <a:spAutoFit/>
          </a:bodyPr>
          <a:lstStyle/>
          <a:p>
            <a:pPr marL="400050" indent="-400050">
              <a:buAutoNum type="romanLcPeriod"/>
            </a:pPr>
            <a:r>
              <a:rPr lang="en-IN" sz="1400" b="1" dirty="0">
                <a:latin typeface="Comic Sans MS" panose="030F0702030302020204" pitchFamily="66" charset="0"/>
              </a:rPr>
              <a:t>Vegetative </a:t>
            </a:r>
            <a:r>
              <a:rPr lang="en-IN" sz="1400" dirty="0">
                <a:latin typeface="Comic Sans MS" panose="030F0702030302020204" pitchFamily="66" charset="0"/>
              </a:rPr>
              <a:t>– Fragmentation</a:t>
            </a:r>
          </a:p>
          <a:p>
            <a:pPr marL="400050" indent="-400050">
              <a:buAutoNum type="romanLcPeriod"/>
            </a:pPr>
            <a:r>
              <a:rPr lang="en-IN" sz="1400" b="1" dirty="0">
                <a:latin typeface="Comic Sans MS" panose="030F0702030302020204" pitchFamily="66" charset="0"/>
              </a:rPr>
              <a:t>Asexual </a:t>
            </a:r>
            <a:r>
              <a:rPr lang="en-IN" sz="1400" dirty="0">
                <a:latin typeface="Comic Sans MS" panose="030F0702030302020204" pitchFamily="66" charset="0"/>
              </a:rPr>
              <a:t>– Zoospores</a:t>
            </a:r>
          </a:p>
          <a:p>
            <a:pPr marL="400050" indent="-400050">
              <a:buAutoNum type="romanLcPeriod"/>
            </a:pPr>
            <a:r>
              <a:rPr lang="en-IN" sz="1400" b="1" dirty="0">
                <a:latin typeface="Comic Sans MS" panose="030F0702030302020204" pitchFamily="66" charset="0"/>
              </a:rPr>
              <a:t>Sexual </a:t>
            </a:r>
            <a:r>
              <a:rPr lang="en-IN" sz="1400" dirty="0">
                <a:latin typeface="Comic Sans MS" panose="030F0702030302020204" pitchFamily="66" charset="0"/>
              </a:rPr>
              <a:t>– Isogamous, Anisogamous, Oogamous</a:t>
            </a:r>
          </a:p>
        </p:txBody>
      </p:sp>
      <p:sp>
        <p:nvSpPr>
          <p:cNvPr id="18" name="AutoShape 11">
            <a:extLst>
              <a:ext uri="{FF2B5EF4-FFF2-40B4-BE49-F238E27FC236}">
                <a16:creationId xmlns:a16="http://schemas.microsoft.com/office/drawing/2014/main" id="{E7D15528-8A7B-1237-C935-94BE9A2A2637}"/>
              </a:ext>
            </a:extLst>
          </p:cNvPr>
          <p:cNvSpPr>
            <a:spLocks noChangeArrowheads="1"/>
          </p:cNvSpPr>
          <p:nvPr/>
        </p:nvSpPr>
        <p:spPr bwMode="auto">
          <a:xfrm>
            <a:off x="431798" y="2872352"/>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Pyrenoids</a:t>
            </a:r>
          </a:p>
        </p:txBody>
      </p:sp>
      <p:sp>
        <p:nvSpPr>
          <p:cNvPr id="26" name="TextBox 25">
            <a:extLst>
              <a:ext uri="{FF2B5EF4-FFF2-40B4-BE49-F238E27FC236}">
                <a16:creationId xmlns:a16="http://schemas.microsoft.com/office/drawing/2014/main" id="{FB1DC39E-1707-8BC2-475D-8C4265957125}"/>
              </a:ext>
            </a:extLst>
          </p:cNvPr>
          <p:cNvSpPr txBox="1"/>
          <p:nvPr/>
        </p:nvSpPr>
        <p:spPr>
          <a:xfrm>
            <a:off x="442595" y="6111145"/>
            <a:ext cx="6636656" cy="2569934"/>
          </a:xfrm>
          <a:prstGeom prst="rect">
            <a:avLst/>
          </a:prstGeom>
          <a:noFill/>
        </p:spPr>
        <p:txBody>
          <a:bodyPr wrap="square">
            <a:spAutoFit/>
          </a:bodyPr>
          <a:lstStyle/>
          <a:p>
            <a:pPr algn="just"/>
            <a:r>
              <a:rPr lang="en-IN" sz="1400" b="1" dirty="0">
                <a:latin typeface="Comic Sans MS" panose="030F0702030302020204" pitchFamily="66" charset="0"/>
              </a:rPr>
              <a:t>Order 1 Volvocales –</a:t>
            </a:r>
            <a:endParaRPr lang="en-IN" sz="1400" dirty="0">
              <a:latin typeface="Comic Sans MS" panose="030F0702030302020204" pitchFamily="66" charset="0"/>
            </a:endParaRPr>
          </a:p>
          <a:p>
            <a:pPr marL="400050" indent="-400050" algn="just">
              <a:buAutoNum type="romanLcPeriod"/>
            </a:pPr>
            <a:r>
              <a:rPr lang="en-IN" sz="1400" dirty="0">
                <a:latin typeface="Comic Sans MS" panose="030F0702030302020204" pitchFamily="66" charset="0"/>
              </a:rPr>
              <a:t>The forms are unicellular and colonial.</a:t>
            </a:r>
          </a:p>
          <a:p>
            <a:pPr marL="400050" indent="-400050" algn="just">
              <a:buAutoNum type="romanLcPeriod"/>
            </a:pPr>
            <a:r>
              <a:rPr lang="en-IN" sz="1400" dirty="0">
                <a:latin typeface="Comic Sans MS" panose="030F0702030302020204" pitchFamily="66" charset="0"/>
              </a:rPr>
              <a:t>They remain motile throughout their life.</a:t>
            </a:r>
          </a:p>
          <a:p>
            <a:pPr marL="400050" indent="-400050" algn="just">
              <a:buAutoNum type="romanLcPeriod"/>
            </a:pPr>
            <a:r>
              <a:rPr lang="en-IN" sz="1400" dirty="0">
                <a:latin typeface="Comic Sans MS" panose="030F0702030302020204" pitchFamily="66" charset="0"/>
              </a:rPr>
              <a:t>They are mainly fresh water forms.</a:t>
            </a:r>
          </a:p>
          <a:p>
            <a:pPr marL="400050" indent="-400050" algn="just">
              <a:buAutoNum type="romanLcPeriod"/>
            </a:pPr>
            <a:r>
              <a:rPr lang="en-IN" sz="1400" dirty="0">
                <a:latin typeface="Comic Sans MS" panose="030F0702030302020204" pitchFamily="66" charset="0"/>
              </a:rPr>
              <a:t>They reproduce both sexually and asexually. Asexual reproduction takes place by zoospo­res, aplanospores, etc. and sex­ual reproduction is takes place by isogamy, anisogamy and oogamy.</a:t>
            </a:r>
          </a:p>
          <a:p>
            <a:pPr marL="400050" indent="-400050" algn="just">
              <a:buAutoNum type="romanLcPeriod"/>
            </a:pPr>
            <a:endParaRPr lang="en-IN" sz="400" i="1" dirty="0">
              <a:latin typeface="Comic Sans MS" panose="030F0702030302020204" pitchFamily="66" charset="0"/>
            </a:endParaRPr>
          </a:p>
          <a:p>
            <a:pPr algn="just"/>
            <a:r>
              <a:rPr lang="en-IN" sz="1400" dirty="0">
                <a:latin typeface="Comic Sans MS" panose="030F0702030302020204" pitchFamily="66" charset="0"/>
              </a:rPr>
              <a:t>The order </a:t>
            </a:r>
            <a:r>
              <a:rPr lang="en-IN" sz="1400" i="1" dirty="0">
                <a:latin typeface="Comic Sans MS" panose="030F0702030302020204" pitchFamily="66" charset="0"/>
              </a:rPr>
              <a:t>Volvocales</a:t>
            </a:r>
            <a:r>
              <a:rPr lang="en-IN" sz="1400" dirty="0">
                <a:latin typeface="Comic Sans MS" panose="030F0702030302020204" pitchFamily="66" charset="0"/>
              </a:rPr>
              <a:t> is divided into three sub-orders - </a:t>
            </a:r>
            <a:r>
              <a:rPr lang="en-IN" sz="1400" i="1" dirty="0">
                <a:latin typeface="Comic Sans MS" panose="030F0702030302020204" pitchFamily="66" charset="0"/>
              </a:rPr>
              <a:t>Chlamydomonadaceae</a:t>
            </a:r>
            <a:r>
              <a:rPr lang="en-IN" sz="1400" dirty="0">
                <a:latin typeface="Comic Sans MS" panose="030F0702030302020204" pitchFamily="66" charset="0"/>
              </a:rPr>
              <a:t>, </a:t>
            </a:r>
            <a:r>
              <a:rPr lang="en-IN" sz="1400" i="1" dirty="0">
                <a:latin typeface="Comic Sans MS" panose="030F0702030302020204" pitchFamily="66" charset="0"/>
              </a:rPr>
              <a:t>Tetrasporineae</a:t>
            </a:r>
            <a:r>
              <a:rPr lang="en-IN" sz="1400" dirty="0">
                <a:latin typeface="Comic Sans MS" panose="030F0702030302020204" pitchFamily="66" charset="0"/>
              </a:rPr>
              <a:t> and </a:t>
            </a:r>
            <a:r>
              <a:rPr lang="en-IN" sz="1400" i="1" dirty="0">
                <a:latin typeface="Comic Sans MS" panose="030F0702030302020204" pitchFamily="66" charset="0"/>
              </a:rPr>
              <a:t>Chlorodendrineae</a:t>
            </a:r>
            <a:r>
              <a:rPr lang="en-IN" sz="1400" dirty="0">
                <a:latin typeface="Comic Sans MS" panose="030F0702030302020204" pitchFamily="66" charset="0"/>
              </a:rPr>
              <a:t>.</a:t>
            </a:r>
            <a:endParaRPr lang="en-IN" sz="1400" i="1" dirty="0">
              <a:latin typeface="Comic Sans MS" panose="030F0702030302020204" pitchFamily="66" charset="0"/>
            </a:endParaRPr>
          </a:p>
          <a:p>
            <a:pPr marL="400050" indent="-400050" algn="just">
              <a:buAutoNum type="romanLcPeriod"/>
            </a:pPr>
            <a:endParaRPr lang="en-IN" sz="300" i="1" dirty="0">
              <a:latin typeface="Comic Sans MS" panose="030F0702030302020204" pitchFamily="66" charset="0"/>
            </a:endParaRPr>
          </a:p>
          <a:p>
            <a:pPr marL="400050" indent="-400050" algn="just">
              <a:buFont typeface="+mj-lt"/>
              <a:buAutoNum type="romanLcPeriod" startAt="4"/>
            </a:pPr>
            <a:r>
              <a:rPr lang="en-IN" sz="1400" dirty="0">
                <a:latin typeface="Comic Sans MS" panose="030F0702030302020204" pitchFamily="66" charset="0"/>
              </a:rPr>
              <a:t>Common examples – </a:t>
            </a:r>
            <a:r>
              <a:rPr lang="en-IN" sz="1400" i="1" dirty="0">
                <a:latin typeface="Comic Sans MS" panose="030F0702030302020204" pitchFamily="66" charset="0"/>
              </a:rPr>
              <a:t>Sphaerella, Volvox, Gonium, Pandorina,</a:t>
            </a:r>
            <a:r>
              <a:rPr lang="en-IN" sz="1400" dirty="0">
                <a:latin typeface="Comic Sans MS" panose="030F0702030302020204" pitchFamily="66" charset="0"/>
              </a:rPr>
              <a:t> </a:t>
            </a:r>
            <a:r>
              <a:rPr lang="en-IN" sz="1400" i="1" dirty="0">
                <a:latin typeface="Comic Sans MS" panose="030F0702030302020204" pitchFamily="66" charset="0"/>
              </a:rPr>
              <a:t>Chlamydomonas, </a:t>
            </a:r>
            <a:r>
              <a:rPr lang="en-IN" sz="1400" dirty="0">
                <a:latin typeface="Comic Sans MS" panose="030F0702030302020204" pitchFamily="66" charset="0"/>
              </a:rPr>
              <a:t>etcetera.</a:t>
            </a:r>
          </a:p>
        </p:txBody>
      </p:sp>
      <p:sp>
        <p:nvSpPr>
          <p:cNvPr id="19" name="TextBox 18">
            <a:extLst>
              <a:ext uri="{FF2B5EF4-FFF2-40B4-BE49-F238E27FC236}">
                <a16:creationId xmlns:a16="http://schemas.microsoft.com/office/drawing/2014/main" id="{6ED33569-3272-170E-0C7F-91768768D10B}"/>
              </a:ext>
            </a:extLst>
          </p:cNvPr>
          <p:cNvSpPr txBox="1"/>
          <p:nvPr/>
        </p:nvSpPr>
        <p:spPr>
          <a:xfrm>
            <a:off x="431798" y="3266450"/>
            <a:ext cx="6636656" cy="738664"/>
          </a:xfrm>
          <a:prstGeom prst="rect">
            <a:avLst/>
          </a:prstGeom>
          <a:noFill/>
        </p:spPr>
        <p:txBody>
          <a:bodyPr wrap="square">
            <a:spAutoFit/>
          </a:bodyPr>
          <a:lstStyle/>
          <a:p>
            <a:pPr algn="just"/>
            <a:r>
              <a:rPr lang="en-IN" sz="1400" dirty="0">
                <a:latin typeface="Comic Sans MS" panose="030F0702030302020204" pitchFamily="66" charset="0"/>
              </a:rPr>
              <a:t>Most of the members of </a:t>
            </a:r>
            <a:r>
              <a:rPr lang="en-IN" sz="1400" i="1" dirty="0">
                <a:latin typeface="Comic Sans MS" panose="030F0702030302020204" pitchFamily="66" charset="0"/>
              </a:rPr>
              <a:t>Chlorophyceae</a:t>
            </a:r>
            <a:r>
              <a:rPr lang="en-IN" sz="1400" dirty="0">
                <a:latin typeface="Comic Sans MS" panose="030F0702030302020204" pitchFamily="66" charset="0"/>
              </a:rPr>
              <a:t> class possess one or more pyrenoids  in plastid which are nothing but storage bodies seen in chloroplasts. Pyrenoids</a:t>
            </a:r>
            <a:r>
              <a:rPr lang="fr-FR" sz="1400" dirty="0">
                <a:latin typeface="Comic Sans MS" panose="030F0702030302020204" pitchFamily="66" charset="0"/>
              </a:rPr>
              <a:t> </a:t>
            </a:r>
            <a:r>
              <a:rPr lang="en-IN" sz="1400" dirty="0">
                <a:latin typeface="Comic Sans MS" panose="030F0702030302020204" pitchFamily="66" charset="0"/>
              </a:rPr>
              <a:t>contain</a:t>
            </a:r>
            <a:r>
              <a:rPr lang="fr-FR" sz="1400" dirty="0">
                <a:latin typeface="Comic Sans MS" panose="030F0702030302020204" pitchFamily="66" charset="0"/>
              </a:rPr>
              <a:t> </a:t>
            </a:r>
            <a:r>
              <a:rPr lang="en-IN" sz="1400" dirty="0">
                <a:latin typeface="Comic Sans MS" panose="030F0702030302020204" pitchFamily="66" charset="0"/>
              </a:rPr>
              <a:t>protein</a:t>
            </a:r>
            <a:r>
              <a:rPr lang="fr-FR" sz="1400" dirty="0">
                <a:latin typeface="Comic Sans MS" panose="030F0702030302020204" pitchFamily="66" charset="0"/>
              </a:rPr>
              <a:t> besides starch. </a:t>
            </a:r>
            <a:endParaRPr lang="en-IN" sz="1400" dirty="0">
              <a:latin typeface="Comic Sans MS" panose="030F0702030302020204" pitchFamily="66" charset="0"/>
            </a:endParaRPr>
          </a:p>
        </p:txBody>
      </p:sp>
      <p:sp>
        <p:nvSpPr>
          <p:cNvPr id="22" name="AutoShape 11">
            <a:extLst>
              <a:ext uri="{FF2B5EF4-FFF2-40B4-BE49-F238E27FC236}">
                <a16:creationId xmlns:a16="http://schemas.microsoft.com/office/drawing/2014/main" id="{6C375EDB-5727-CF71-3A8D-039EF0B493AB}"/>
              </a:ext>
            </a:extLst>
          </p:cNvPr>
          <p:cNvSpPr>
            <a:spLocks noChangeArrowheads="1"/>
          </p:cNvSpPr>
          <p:nvPr/>
        </p:nvSpPr>
        <p:spPr bwMode="auto">
          <a:xfrm>
            <a:off x="431797" y="5260177"/>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Classification of </a:t>
            </a:r>
            <a:r>
              <a:rPr lang="en-IN" sz="1400" i="1" kern="1200" dirty="0">
                <a:solidFill>
                  <a:srgbClr val="000000"/>
                </a:solidFill>
                <a:effectLst/>
                <a:latin typeface="Comic Sans MS" panose="030F0702030302020204" pitchFamily="66" charset="0"/>
                <a:ea typeface="+mn-ea"/>
                <a:cs typeface="+mn-cs"/>
              </a:rPr>
              <a:t>Chlorophyceae</a:t>
            </a:r>
            <a:endParaRPr lang="en-IN" sz="1400" dirty="0">
              <a:latin typeface="Comic Sans MS" panose="030F0702030302020204" pitchFamily="66" charset="0"/>
            </a:endParaRPr>
          </a:p>
        </p:txBody>
      </p:sp>
      <p:sp>
        <p:nvSpPr>
          <p:cNvPr id="23" name="TextBox 22">
            <a:extLst>
              <a:ext uri="{FF2B5EF4-FFF2-40B4-BE49-F238E27FC236}">
                <a16:creationId xmlns:a16="http://schemas.microsoft.com/office/drawing/2014/main" id="{AE02B0DA-FCA9-62F3-109A-BCD3F17559D9}"/>
              </a:ext>
            </a:extLst>
          </p:cNvPr>
          <p:cNvSpPr txBox="1"/>
          <p:nvPr/>
        </p:nvSpPr>
        <p:spPr>
          <a:xfrm>
            <a:off x="431797" y="5641759"/>
            <a:ext cx="6636656" cy="523220"/>
          </a:xfrm>
          <a:prstGeom prst="rect">
            <a:avLst/>
          </a:prstGeom>
          <a:noFill/>
        </p:spPr>
        <p:txBody>
          <a:bodyPr wrap="square">
            <a:spAutoFit/>
          </a:bodyPr>
          <a:lstStyle/>
          <a:p>
            <a:pPr algn="just"/>
            <a:r>
              <a:rPr lang="en-IN" sz="1400" dirty="0">
                <a:latin typeface="Comic Sans MS" panose="030F0702030302020204" pitchFamily="66" charset="0"/>
              </a:rPr>
              <a:t>Fritsch (1935) divided class </a:t>
            </a:r>
            <a:r>
              <a:rPr lang="en-IN" sz="1400" i="1" dirty="0">
                <a:latin typeface="Comic Sans MS" panose="030F0702030302020204" pitchFamily="66" charset="0"/>
              </a:rPr>
              <a:t>Chlorophyceae </a:t>
            </a:r>
            <a:r>
              <a:rPr lang="en-IN" sz="1400" dirty="0">
                <a:latin typeface="Comic Sans MS" panose="030F0702030302020204" pitchFamily="66" charset="0"/>
              </a:rPr>
              <a:t>into 9 orders, their brief characters are discussed here.</a:t>
            </a:r>
            <a:endParaRPr lang="en-IN" sz="1400" i="1" dirty="0">
              <a:latin typeface="Comic Sans MS" panose="030F0702030302020204" pitchFamily="66" charset="0"/>
            </a:endParaRPr>
          </a:p>
        </p:txBody>
      </p:sp>
      <p:sp>
        <p:nvSpPr>
          <p:cNvPr id="27" name="TextBox 26">
            <a:extLst>
              <a:ext uri="{FF2B5EF4-FFF2-40B4-BE49-F238E27FC236}">
                <a16:creationId xmlns:a16="http://schemas.microsoft.com/office/drawing/2014/main" id="{B006E11F-AFB4-5613-1B36-6722DC9B2D37}"/>
              </a:ext>
            </a:extLst>
          </p:cNvPr>
          <p:cNvSpPr txBox="1"/>
          <p:nvPr/>
        </p:nvSpPr>
        <p:spPr>
          <a:xfrm>
            <a:off x="453393" y="8620117"/>
            <a:ext cx="6636656" cy="1631216"/>
          </a:xfrm>
          <a:prstGeom prst="rect">
            <a:avLst/>
          </a:prstGeom>
          <a:noFill/>
        </p:spPr>
        <p:txBody>
          <a:bodyPr wrap="square">
            <a:spAutoFit/>
          </a:bodyPr>
          <a:lstStyle/>
          <a:p>
            <a:pPr algn="just"/>
            <a:r>
              <a:rPr lang="en-IN" sz="1400" b="1" dirty="0">
                <a:latin typeface="Comic Sans MS" panose="030F0702030302020204" pitchFamily="66" charset="0"/>
              </a:rPr>
              <a:t>Order 2 Chlorococcales –</a:t>
            </a:r>
          </a:p>
          <a:p>
            <a:pPr marL="400050" indent="-400050" algn="just">
              <a:buAutoNum type="romanLcPeriod"/>
            </a:pPr>
            <a:r>
              <a:rPr lang="en-IN" sz="1400" dirty="0">
                <a:latin typeface="Comic Sans MS" panose="030F0702030302020204" pitchFamily="66" charset="0"/>
              </a:rPr>
              <a:t>The forms are unicellular to colonial.</a:t>
            </a:r>
          </a:p>
          <a:p>
            <a:pPr marL="400050" indent="-400050" algn="just">
              <a:buAutoNum type="romanLcPeriod"/>
            </a:pPr>
            <a:r>
              <a:rPr lang="en-IN" sz="1400" dirty="0">
                <a:latin typeface="Comic Sans MS" panose="030F0702030302020204" pitchFamily="66" charset="0"/>
              </a:rPr>
              <a:t>They are non-motile.</a:t>
            </a:r>
          </a:p>
          <a:p>
            <a:pPr marL="400050" indent="-400050" algn="just">
              <a:buAutoNum type="romanLcPeriod"/>
            </a:pPr>
            <a:r>
              <a:rPr lang="en-IN" sz="1400" dirty="0">
                <a:latin typeface="Comic Sans MS" panose="030F0702030302020204" pitchFamily="66" charset="0"/>
              </a:rPr>
              <a:t>Vegetative reproduction is absent.</a:t>
            </a:r>
          </a:p>
          <a:p>
            <a:pPr marL="400050" indent="-400050" algn="just">
              <a:buAutoNum type="romanLcPeriod"/>
            </a:pPr>
            <a:r>
              <a:rPr lang="en-IN" sz="1400" dirty="0">
                <a:latin typeface="Comic Sans MS" panose="030F0702030302020204" pitchFamily="66" charset="0"/>
              </a:rPr>
              <a:t>They occur as planktonic or terrestrial forms.</a:t>
            </a:r>
          </a:p>
          <a:p>
            <a:pPr marL="400050" indent="-400050" algn="just">
              <a:buAutoNum type="romanLcPeriod"/>
            </a:pPr>
            <a:endParaRPr lang="en-IN" sz="200" dirty="0">
              <a:latin typeface="Comic Sans MS" panose="030F0702030302020204" pitchFamily="66" charset="0"/>
            </a:endParaRPr>
          </a:p>
          <a:p>
            <a:pPr algn="just"/>
            <a:r>
              <a:rPr lang="en-IN" sz="1400" dirty="0">
                <a:latin typeface="Comic Sans MS" panose="030F0702030302020204" pitchFamily="66" charset="0"/>
              </a:rPr>
              <a:t>The order is divided into eight families - .</a:t>
            </a:r>
          </a:p>
          <a:p>
            <a:pPr marL="400050" indent="-400050" algn="just">
              <a:buFont typeface="+mj-lt"/>
              <a:buAutoNum type="romanLcPeriod" startAt="5"/>
            </a:pPr>
            <a:r>
              <a:rPr lang="en-IN" sz="1400" dirty="0">
                <a:latin typeface="Comic Sans MS" panose="030F0702030302020204" pitchFamily="66" charset="0"/>
              </a:rPr>
              <a:t>Common examples –  </a:t>
            </a:r>
            <a:r>
              <a:rPr lang="en-IN" sz="1400" i="1" dirty="0">
                <a:latin typeface="Comic Sans MS" panose="030F0702030302020204" pitchFamily="66" charset="0"/>
              </a:rPr>
              <a:t>Pediastrum, Hydrodictyon, etcetera.</a:t>
            </a:r>
            <a:endParaRPr lang="en-IN" sz="1400" dirty="0">
              <a:latin typeface="Comic Sans MS" panose="030F0702030302020204" pitchFamily="66" charset="0"/>
            </a:endParaRPr>
          </a:p>
        </p:txBody>
      </p:sp>
    </p:spTree>
    <p:extLst>
      <p:ext uri="{BB962C8B-B14F-4D97-AF65-F5344CB8AC3E}">
        <p14:creationId xmlns:p14="http://schemas.microsoft.com/office/powerpoint/2010/main" val="2557771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AC65FA41-B1B3-6DE9-1C87-89BB5774C84B}"/>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72455B6B-EC8C-85ED-9569-948B402AFA2C}"/>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12</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06EA9973-53D0-FF7B-BB41-18326026F5F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51E725D0-8694-D646-E692-904CD3A27D24}"/>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8" name="TextBox 7">
            <a:extLst>
              <a:ext uri="{FF2B5EF4-FFF2-40B4-BE49-F238E27FC236}">
                <a16:creationId xmlns:a16="http://schemas.microsoft.com/office/drawing/2014/main" id="{A8DA6054-3A7B-6637-F447-15DD52A98190}"/>
              </a:ext>
            </a:extLst>
          </p:cNvPr>
          <p:cNvSpPr txBox="1"/>
          <p:nvPr/>
        </p:nvSpPr>
        <p:spPr>
          <a:xfrm>
            <a:off x="444500" y="392449"/>
            <a:ext cx="6636656" cy="2369880"/>
          </a:xfrm>
          <a:prstGeom prst="rect">
            <a:avLst/>
          </a:prstGeom>
          <a:noFill/>
        </p:spPr>
        <p:txBody>
          <a:bodyPr wrap="square">
            <a:spAutoFit/>
          </a:bodyPr>
          <a:lstStyle/>
          <a:p>
            <a:pPr algn="just"/>
            <a:r>
              <a:rPr lang="en-IN" sz="1400" b="1" dirty="0">
                <a:latin typeface="Comic Sans MS" panose="030F0702030302020204" pitchFamily="66" charset="0"/>
              </a:rPr>
              <a:t>Order 3 Ulotrichales –</a:t>
            </a:r>
          </a:p>
          <a:p>
            <a:pPr marL="400050" indent="-400050" algn="just">
              <a:buAutoNum type="romanLcPeriod"/>
            </a:pPr>
            <a:r>
              <a:rPr lang="en-IN" sz="1400" dirty="0">
                <a:latin typeface="Comic Sans MS" panose="030F0702030302020204" pitchFamily="66" charset="0"/>
              </a:rPr>
              <a:t>The plant body consists of a simple, unbranched filament.</a:t>
            </a:r>
          </a:p>
          <a:p>
            <a:pPr marL="400050" indent="-400050" algn="just">
              <a:buAutoNum type="romanLcPeriod"/>
            </a:pPr>
            <a:r>
              <a:rPr lang="en-IN" sz="1400" dirty="0">
                <a:latin typeface="Comic Sans MS" panose="030F0702030302020204" pitchFamily="66" charset="0"/>
              </a:rPr>
              <a:t>Most of the forms are fresh water.</a:t>
            </a:r>
          </a:p>
          <a:p>
            <a:pPr marL="400050" indent="-400050" algn="just">
              <a:buAutoNum type="romanLcPeriod"/>
            </a:pPr>
            <a:r>
              <a:rPr lang="en-IN" sz="1400" dirty="0">
                <a:latin typeface="Comic Sans MS" panose="030F0702030302020204" pitchFamily="66" charset="0"/>
              </a:rPr>
              <a:t>Most forms have single parietal band-shaped chloroplast, each with several pyrenoids.</a:t>
            </a:r>
          </a:p>
          <a:p>
            <a:pPr algn="just"/>
            <a:endParaRPr lang="en-IN" sz="300" dirty="0">
              <a:latin typeface="Comic Sans MS" panose="030F0702030302020204" pitchFamily="66" charset="0"/>
            </a:endParaRPr>
          </a:p>
          <a:p>
            <a:pPr algn="just"/>
            <a:r>
              <a:rPr lang="en-IN" sz="1400" dirty="0">
                <a:latin typeface="Comic Sans MS" panose="030F0702030302020204" pitchFamily="66" charset="0"/>
              </a:rPr>
              <a:t>The order is divided into tow sub-orders – </a:t>
            </a:r>
            <a:r>
              <a:rPr lang="en-IN" sz="1400" i="1" dirty="0">
                <a:latin typeface="Comic Sans MS" panose="030F0702030302020204" pitchFamily="66" charset="0"/>
              </a:rPr>
              <a:t>Ulotrichineae</a:t>
            </a:r>
            <a:r>
              <a:rPr lang="en-IN" sz="1400" dirty="0">
                <a:latin typeface="Comic Sans MS" panose="030F0702030302020204" pitchFamily="66" charset="0"/>
              </a:rPr>
              <a:t> and </a:t>
            </a:r>
            <a:r>
              <a:rPr lang="en-IN" sz="1400" i="1" dirty="0">
                <a:latin typeface="Comic Sans MS" panose="030F0702030302020204" pitchFamily="66" charset="0"/>
              </a:rPr>
              <a:t>Prasiolineae</a:t>
            </a:r>
          </a:p>
          <a:p>
            <a:pPr algn="just"/>
            <a:endParaRPr lang="en-IN" sz="200" dirty="0">
              <a:latin typeface="Comic Sans MS" panose="030F0702030302020204" pitchFamily="66" charset="0"/>
            </a:endParaRPr>
          </a:p>
          <a:p>
            <a:pPr algn="just"/>
            <a:r>
              <a:rPr lang="en-IN" sz="1400" dirty="0">
                <a:latin typeface="Comic Sans MS" panose="030F0702030302020204" pitchFamily="66" charset="0"/>
              </a:rPr>
              <a:t>The order is divided into four families – </a:t>
            </a:r>
            <a:r>
              <a:rPr lang="en-IN" sz="1400" i="1" dirty="0">
                <a:latin typeface="Comic Sans MS" panose="030F0702030302020204" pitchFamily="66" charset="0"/>
              </a:rPr>
              <a:t>Ulotrichaceae, Microsporaceae, Cylinrocapsaceae</a:t>
            </a:r>
            <a:r>
              <a:rPr lang="en-IN" sz="1400" dirty="0">
                <a:latin typeface="Comic Sans MS" panose="030F0702030302020204" pitchFamily="66" charset="0"/>
              </a:rPr>
              <a:t> and </a:t>
            </a:r>
            <a:r>
              <a:rPr lang="en-IN" sz="1400" i="1" dirty="0">
                <a:latin typeface="Comic Sans MS" panose="030F0702030302020204" pitchFamily="66" charset="0"/>
              </a:rPr>
              <a:t>Ulvaceae</a:t>
            </a:r>
            <a:r>
              <a:rPr lang="en-IN" sz="1400" dirty="0">
                <a:latin typeface="Comic Sans MS" panose="030F0702030302020204" pitchFamily="66" charset="0"/>
              </a:rPr>
              <a:t>.</a:t>
            </a:r>
          </a:p>
          <a:p>
            <a:pPr algn="just"/>
            <a:endParaRPr lang="en-IN" sz="300" dirty="0">
              <a:latin typeface="Comic Sans MS" panose="030F0702030302020204" pitchFamily="66" charset="0"/>
            </a:endParaRPr>
          </a:p>
          <a:p>
            <a:pPr marL="400050" indent="-400050" algn="just">
              <a:buFont typeface="+mj-lt"/>
              <a:buAutoNum type="romanLcPeriod" startAt="4"/>
            </a:pPr>
            <a:r>
              <a:rPr lang="en-IN" sz="1400" dirty="0">
                <a:latin typeface="Comic Sans MS" panose="030F0702030302020204" pitchFamily="66" charset="0"/>
              </a:rPr>
              <a:t>Common examples –  </a:t>
            </a:r>
            <a:r>
              <a:rPr lang="en-IN" sz="1400" i="1" dirty="0">
                <a:latin typeface="Comic Sans MS" panose="030F0702030302020204" pitchFamily="66" charset="0"/>
              </a:rPr>
              <a:t>Ulothrix, Hormidium, Enteromorpha, Monostroma, Ulva, etcetera.</a:t>
            </a:r>
            <a:endParaRPr lang="en-IN" sz="1400" dirty="0">
              <a:latin typeface="Comic Sans MS" panose="030F0702030302020204" pitchFamily="66" charset="0"/>
            </a:endParaRPr>
          </a:p>
        </p:txBody>
      </p:sp>
      <p:sp>
        <p:nvSpPr>
          <p:cNvPr id="9" name="TextBox 8">
            <a:extLst>
              <a:ext uri="{FF2B5EF4-FFF2-40B4-BE49-F238E27FC236}">
                <a16:creationId xmlns:a16="http://schemas.microsoft.com/office/drawing/2014/main" id="{4721A9D5-CEBA-6602-8E5A-B040698C2923}"/>
              </a:ext>
            </a:extLst>
          </p:cNvPr>
          <p:cNvSpPr txBox="1"/>
          <p:nvPr/>
        </p:nvSpPr>
        <p:spPr>
          <a:xfrm>
            <a:off x="450850" y="2781379"/>
            <a:ext cx="6636656" cy="1600438"/>
          </a:xfrm>
          <a:prstGeom prst="rect">
            <a:avLst/>
          </a:prstGeom>
          <a:noFill/>
        </p:spPr>
        <p:txBody>
          <a:bodyPr wrap="square">
            <a:spAutoFit/>
          </a:bodyPr>
          <a:lstStyle/>
          <a:p>
            <a:pPr algn="just"/>
            <a:r>
              <a:rPr lang="en-IN" sz="1400" b="1" dirty="0">
                <a:latin typeface="Comic Sans MS" panose="030F0702030302020204" pitchFamily="66" charset="0"/>
              </a:rPr>
              <a:t>Order 4 Cladophorales –</a:t>
            </a:r>
          </a:p>
          <a:p>
            <a:pPr marL="400050" indent="-400050" algn="just">
              <a:buAutoNum type="romanLcPeriod"/>
            </a:pPr>
            <a:r>
              <a:rPr lang="en-IN" sz="1400" dirty="0">
                <a:latin typeface="Comic Sans MS" panose="030F0702030302020204" pitchFamily="66" charset="0"/>
              </a:rPr>
              <a:t>The plant body consists of branched filaments.</a:t>
            </a:r>
          </a:p>
          <a:p>
            <a:pPr marL="400050" indent="-400050" algn="just">
              <a:buAutoNum type="romanLcPeriod"/>
            </a:pPr>
            <a:r>
              <a:rPr lang="en-IN" sz="1400" dirty="0">
                <a:latin typeface="Comic Sans MS" panose="030F0702030302020204" pitchFamily="66" charset="0"/>
              </a:rPr>
              <a:t>Most of the forms occur in fresh water.</a:t>
            </a:r>
          </a:p>
          <a:p>
            <a:pPr marL="400050" indent="-400050" algn="just">
              <a:buAutoNum type="romanLcPeriod"/>
            </a:pPr>
            <a:r>
              <a:rPr lang="en-IN" sz="1400" dirty="0">
                <a:latin typeface="Comic Sans MS" panose="030F0702030302020204" pitchFamily="66" charset="0"/>
              </a:rPr>
              <a:t>Cells are cylindrical. Each cell is uninucleate (single nucleus) with a reticulate chloroplast.</a:t>
            </a:r>
          </a:p>
          <a:p>
            <a:pPr marL="400050" indent="-400050" algn="just">
              <a:buAutoNum type="romanLcPeriod"/>
            </a:pPr>
            <a:r>
              <a:rPr lang="en-IN" sz="1400" dirty="0">
                <a:latin typeface="Comic Sans MS" panose="030F0702030302020204" pitchFamily="66" charset="0"/>
              </a:rPr>
              <a:t>Families – Cladophoraceae.</a:t>
            </a:r>
          </a:p>
          <a:p>
            <a:pPr marL="400050" indent="-400050" algn="just">
              <a:buAutoNum type="romanLcPeriod"/>
            </a:pPr>
            <a:r>
              <a:rPr lang="en-IN" sz="1400" dirty="0">
                <a:latin typeface="Comic Sans MS" panose="030F0702030302020204" pitchFamily="66" charset="0"/>
              </a:rPr>
              <a:t>Common examples – </a:t>
            </a:r>
            <a:r>
              <a:rPr lang="en-IN" sz="1400" i="1" dirty="0">
                <a:latin typeface="Comic Sans MS" panose="030F0702030302020204" pitchFamily="66" charset="0"/>
              </a:rPr>
              <a:t>Cladophora, Pithophora, etcetera.</a:t>
            </a:r>
          </a:p>
        </p:txBody>
      </p:sp>
      <p:sp>
        <p:nvSpPr>
          <p:cNvPr id="10" name="TextBox 9">
            <a:extLst>
              <a:ext uri="{FF2B5EF4-FFF2-40B4-BE49-F238E27FC236}">
                <a16:creationId xmlns:a16="http://schemas.microsoft.com/office/drawing/2014/main" id="{1B7157B4-8391-390C-768F-5B3EAE9F4BFF}"/>
              </a:ext>
            </a:extLst>
          </p:cNvPr>
          <p:cNvSpPr txBox="1"/>
          <p:nvPr/>
        </p:nvSpPr>
        <p:spPr>
          <a:xfrm>
            <a:off x="439420" y="4397375"/>
            <a:ext cx="6636656" cy="1815882"/>
          </a:xfrm>
          <a:prstGeom prst="rect">
            <a:avLst/>
          </a:prstGeom>
          <a:noFill/>
        </p:spPr>
        <p:txBody>
          <a:bodyPr wrap="square">
            <a:spAutoFit/>
          </a:bodyPr>
          <a:lstStyle/>
          <a:p>
            <a:pPr algn="just"/>
            <a:r>
              <a:rPr lang="en-IN" sz="1400" b="1" dirty="0">
                <a:latin typeface="Comic Sans MS" panose="030F0702030302020204" pitchFamily="66" charset="0"/>
              </a:rPr>
              <a:t>Order 5 Chaetophorales –</a:t>
            </a:r>
          </a:p>
          <a:p>
            <a:pPr marL="400050" indent="-400050" algn="just">
              <a:buAutoNum type="romanLcPeriod"/>
            </a:pPr>
            <a:r>
              <a:rPr lang="en-IN" sz="1400" dirty="0">
                <a:latin typeface="Comic Sans MS" panose="030F0702030302020204" pitchFamily="66" charset="0"/>
              </a:rPr>
              <a:t>The plant body consists of branched.</a:t>
            </a:r>
          </a:p>
          <a:p>
            <a:pPr marL="400050" indent="-400050" algn="just">
              <a:buAutoNum type="romanLcPeriod"/>
            </a:pPr>
            <a:r>
              <a:rPr lang="en-IN" sz="1400" dirty="0">
                <a:latin typeface="Comic Sans MS" panose="030F0702030302020204" pitchFamily="66" charset="0"/>
              </a:rPr>
              <a:t>Apical cell of the filament is sharply pointed.</a:t>
            </a:r>
          </a:p>
          <a:p>
            <a:pPr marL="400050" indent="-400050" algn="just">
              <a:buAutoNum type="romanLcPeriod"/>
            </a:pPr>
            <a:r>
              <a:rPr lang="en-IN" sz="1400" dirty="0">
                <a:latin typeface="Comic Sans MS" panose="030F0702030302020204" pitchFamily="66" charset="0"/>
              </a:rPr>
              <a:t>Most of the forms occur in fresh water.</a:t>
            </a:r>
          </a:p>
          <a:p>
            <a:pPr marL="400050" indent="-400050" algn="just">
              <a:buAutoNum type="romanLcPeriod"/>
            </a:pPr>
            <a:r>
              <a:rPr lang="en-IN" sz="1400" dirty="0">
                <a:latin typeface="Comic Sans MS" panose="030F0702030302020204" pitchFamily="66" charset="0"/>
              </a:rPr>
              <a:t>Families – Chaetophoraceae, Trentipohliaceae, Coleochaetaceae, Chaetosphaeridiaceae and Pleurococcaceae.</a:t>
            </a:r>
          </a:p>
          <a:p>
            <a:pPr marL="400050" indent="-400050" algn="just">
              <a:buAutoNum type="romanLcPeriod"/>
            </a:pPr>
            <a:r>
              <a:rPr lang="en-IN" sz="1400" dirty="0">
                <a:latin typeface="Comic Sans MS" panose="030F0702030302020204" pitchFamily="66" charset="0"/>
              </a:rPr>
              <a:t>Common examples – </a:t>
            </a:r>
            <a:r>
              <a:rPr lang="en-IN" sz="1400" i="1" dirty="0">
                <a:latin typeface="Comic Sans MS" panose="030F0702030302020204" pitchFamily="66" charset="0"/>
              </a:rPr>
              <a:t>Coleochaete, Stigeoclonium, Draparnaldia, Draparnaldiopsis, etcetera.</a:t>
            </a:r>
          </a:p>
        </p:txBody>
      </p:sp>
      <p:sp>
        <p:nvSpPr>
          <p:cNvPr id="11" name="TextBox 10">
            <a:extLst>
              <a:ext uri="{FF2B5EF4-FFF2-40B4-BE49-F238E27FC236}">
                <a16:creationId xmlns:a16="http://schemas.microsoft.com/office/drawing/2014/main" id="{79E8E48C-4AA6-67D4-24CA-33530CD0D94D}"/>
              </a:ext>
            </a:extLst>
          </p:cNvPr>
          <p:cNvSpPr txBox="1"/>
          <p:nvPr/>
        </p:nvSpPr>
        <p:spPr>
          <a:xfrm>
            <a:off x="431800" y="6228497"/>
            <a:ext cx="6636656" cy="1169551"/>
          </a:xfrm>
          <a:prstGeom prst="rect">
            <a:avLst/>
          </a:prstGeom>
          <a:noFill/>
        </p:spPr>
        <p:txBody>
          <a:bodyPr wrap="square">
            <a:spAutoFit/>
          </a:bodyPr>
          <a:lstStyle/>
          <a:p>
            <a:pPr algn="just"/>
            <a:r>
              <a:rPr lang="en-IN" sz="1400" b="1" dirty="0">
                <a:latin typeface="Comic Sans MS" panose="030F0702030302020204" pitchFamily="66" charset="0"/>
              </a:rPr>
              <a:t>Order 6 Oedogoniales –</a:t>
            </a:r>
          </a:p>
          <a:p>
            <a:pPr marL="400050" indent="-400050" algn="just">
              <a:buAutoNum type="romanLcPeriod"/>
            </a:pPr>
            <a:r>
              <a:rPr lang="en-IN" sz="1400" dirty="0">
                <a:latin typeface="Comic Sans MS" panose="030F0702030302020204" pitchFamily="66" charset="0"/>
              </a:rPr>
              <a:t>The plant body is unbranched and filamentous.</a:t>
            </a:r>
          </a:p>
          <a:p>
            <a:pPr marL="400050" indent="-400050" algn="just">
              <a:buAutoNum type="romanLcPeriod"/>
            </a:pPr>
            <a:r>
              <a:rPr lang="en-IN" sz="1400" dirty="0">
                <a:latin typeface="Comic Sans MS" panose="030F0702030302020204" pitchFamily="66" charset="0"/>
              </a:rPr>
              <a:t>Sexual reproduction is advanced oogamous type.</a:t>
            </a:r>
          </a:p>
          <a:p>
            <a:pPr marL="400050" indent="-400050" algn="just">
              <a:buAutoNum type="romanLcPeriod"/>
            </a:pPr>
            <a:r>
              <a:rPr lang="en-IN" sz="1400" dirty="0">
                <a:latin typeface="Comic Sans MS" panose="030F0702030302020204" pitchFamily="66" charset="0"/>
              </a:rPr>
              <a:t>Most of the forms are fresh water.</a:t>
            </a:r>
          </a:p>
          <a:p>
            <a:pPr marL="400050" indent="-400050" algn="just">
              <a:buAutoNum type="romanLcPeriod"/>
            </a:pPr>
            <a:r>
              <a:rPr lang="en-IN" sz="1400" dirty="0">
                <a:latin typeface="Comic Sans MS" panose="030F0702030302020204" pitchFamily="66" charset="0"/>
              </a:rPr>
              <a:t>Families – Oedogoniaceae.</a:t>
            </a:r>
          </a:p>
        </p:txBody>
      </p:sp>
      <p:sp>
        <p:nvSpPr>
          <p:cNvPr id="12" name="TextBox 11">
            <a:extLst>
              <a:ext uri="{FF2B5EF4-FFF2-40B4-BE49-F238E27FC236}">
                <a16:creationId xmlns:a16="http://schemas.microsoft.com/office/drawing/2014/main" id="{9FAF3D2C-A04D-ED49-549A-0A468E3C8B8E}"/>
              </a:ext>
            </a:extLst>
          </p:cNvPr>
          <p:cNvSpPr txBox="1"/>
          <p:nvPr/>
        </p:nvSpPr>
        <p:spPr>
          <a:xfrm>
            <a:off x="443230" y="7382154"/>
            <a:ext cx="6636656" cy="1384995"/>
          </a:xfrm>
          <a:prstGeom prst="rect">
            <a:avLst/>
          </a:prstGeom>
          <a:noFill/>
        </p:spPr>
        <p:txBody>
          <a:bodyPr wrap="square">
            <a:spAutoFit/>
          </a:bodyPr>
          <a:lstStyle/>
          <a:p>
            <a:pPr algn="just"/>
            <a:r>
              <a:rPr lang="en-IN" sz="1400" b="1" dirty="0">
                <a:latin typeface="Comic Sans MS" panose="030F0702030302020204" pitchFamily="66" charset="0"/>
              </a:rPr>
              <a:t>Order 7 Conjugales –</a:t>
            </a:r>
          </a:p>
          <a:p>
            <a:pPr marL="400050" indent="-400050" algn="just">
              <a:buAutoNum type="romanLcPeriod"/>
            </a:pPr>
            <a:r>
              <a:rPr lang="en-IN" sz="1400" dirty="0">
                <a:latin typeface="Comic Sans MS" panose="030F0702030302020204" pitchFamily="66" charset="0"/>
              </a:rPr>
              <a:t>The plant body is simple filamentous.</a:t>
            </a:r>
          </a:p>
          <a:p>
            <a:pPr marL="400050" indent="-400050" algn="just">
              <a:buAutoNum type="romanLcPeriod"/>
            </a:pPr>
            <a:r>
              <a:rPr lang="en-IN" sz="1400" dirty="0">
                <a:latin typeface="Comic Sans MS" panose="030F0702030302020204" pitchFamily="66" charset="0"/>
              </a:rPr>
              <a:t>No phase is motile in life cycle</a:t>
            </a:r>
          </a:p>
          <a:p>
            <a:pPr marL="400050" indent="-400050" algn="just">
              <a:buAutoNum type="romanLcPeriod"/>
            </a:pPr>
            <a:r>
              <a:rPr lang="en-IN" sz="1400" dirty="0">
                <a:latin typeface="Comic Sans MS" panose="030F0702030302020204" pitchFamily="66" charset="0"/>
              </a:rPr>
              <a:t>Most of the forms occur in fresh water.</a:t>
            </a:r>
          </a:p>
          <a:p>
            <a:pPr marL="400050" indent="-400050" algn="just">
              <a:buAutoNum type="romanLcPeriod"/>
            </a:pPr>
            <a:r>
              <a:rPr lang="en-IN" sz="1400" dirty="0">
                <a:latin typeface="Comic Sans MS" panose="030F0702030302020204" pitchFamily="66" charset="0"/>
              </a:rPr>
              <a:t>Families – Euconjugatae and Desmidiaceae.</a:t>
            </a:r>
          </a:p>
          <a:p>
            <a:pPr marL="400050" indent="-400050" algn="just">
              <a:buAutoNum type="romanLcPeriod"/>
            </a:pPr>
            <a:r>
              <a:rPr lang="en-IN" sz="1400" dirty="0">
                <a:latin typeface="Comic Sans MS" panose="030F0702030302020204" pitchFamily="66" charset="0"/>
              </a:rPr>
              <a:t>Common examples – </a:t>
            </a:r>
            <a:r>
              <a:rPr lang="en-IN" sz="1400" i="1" dirty="0">
                <a:latin typeface="Comic Sans MS" panose="030F0702030302020204" pitchFamily="66" charset="0"/>
              </a:rPr>
              <a:t>Debarya, Zygnema </a:t>
            </a:r>
            <a:r>
              <a:rPr lang="en-IN" sz="1400" dirty="0">
                <a:latin typeface="Comic Sans MS" panose="030F0702030302020204" pitchFamily="66" charset="0"/>
              </a:rPr>
              <a:t>and </a:t>
            </a:r>
            <a:r>
              <a:rPr lang="en-IN" sz="1400" i="1" dirty="0">
                <a:latin typeface="Comic Sans MS" panose="030F0702030302020204" pitchFamily="66" charset="0"/>
              </a:rPr>
              <a:t>Spirogyra.</a:t>
            </a:r>
          </a:p>
        </p:txBody>
      </p:sp>
      <p:sp>
        <p:nvSpPr>
          <p:cNvPr id="13" name="TextBox 12">
            <a:extLst>
              <a:ext uri="{FF2B5EF4-FFF2-40B4-BE49-F238E27FC236}">
                <a16:creationId xmlns:a16="http://schemas.microsoft.com/office/drawing/2014/main" id="{82B0A65A-DCAF-2513-35AA-EEEADD6D44BA}"/>
              </a:ext>
            </a:extLst>
          </p:cNvPr>
          <p:cNvSpPr txBox="1"/>
          <p:nvPr/>
        </p:nvSpPr>
        <p:spPr>
          <a:xfrm>
            <a:off x="431800" y="8725158"/>
            <a:ext cx="6636656" cy="1384995"/>
          </a:xfrm>
          <a:prstGeom prst="rect">
            <a:avLst/>
          </a:prstGeom>
          <a:noFill/>
        </p:spPr>
        <p:txBody>
          <a:bodyPr wrap="square">
            <a:spAutoFit/>
          </a:bodyPr>
          <a:lstStyle/>
          <a:p>
            <a:pPr algn="just"/>
            <a:r>
              <a:rPr lang="en-IN" sz="1400" b="1" dirty="0">
                <a:latin typeface="Comic Sans MS" panose="030F0702030302020204" pitchFamily="66" charset="0"/>
              </a:rPr>
              <a:t>Order 8 Siphonales–</a:t>
            </a:r>
          </a:p>
          <a:p>
            <a:pPr marL="400050" indent="-400050" algn="just">
              <a:buAutoNum type="romanLcPeriod"/>
            </a:pPr>
            <a:r>
              <a:rPr lang="en-IN" sz="1400" dirty="0">
                <a:latin typeface="Comic Sans MS" panose="030F0702030302020204" pitchFamily="66" charset="0"/>
              </a:rPr>
              <a:t>The plant body is filamentous. </a:t>
            </a:r>
          </a:p>
          <a:p>
            <a:pPr marL="400050" indent="-400050" algn="just">
              <a:buAutoNum type="romanLcPeriod"/>
            </a:pPr>
            <a:r>
              <a:rPr lang="en-IN" sz="1400" dirty="0">
                <a:latin typeface="Comic Sans MS" panose="030F0702030302020204" pitchFamily="66" charset="0"/>
              </a:rPr>
              <a:t>Most of the forms occur in marine water except few.</a:t>
            </a:r>
          </a:p>
          <a:p>
            <a:pPr marL="400050" indent="-400050" algn="just">
              <a:buAutoNum type="romanLcPeriod"/>
            </a:pPr>
            <a:r>
              <a:rPr lang="en-IN" sz="1400" dirty="0">
                <a:latin typeface="Comic Sans MS" panose="030F0702030302020204" pitchFamily="66" charset="0"/>
              </a:rPr>
              <a:t>Families – Protosiphonaceae, Caulerpaceae, Dasycladaceae, Derbesiaceae, Codiaceae, Valoniaceae, Chaetosiphonaceae, Phyllosiphonaceae and Vaucheriaceae.</a:t>
            </a:r>
          </a:p>
        </p:txBody>
      </p:sp>
    </p:spTree>
    <p:extLst>
      <p:ext uri="{BB962C8B-B14F-4D97-AF65-F5344CB8AC3E}">
        <p14:creationId xmlns:p14="http://schemas.microsoft.com/office/powerpoint/2010/main" val="3651378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6F82BA-25A2-E365-C60C-C02F286CFF82}"/>
              </a:ext>
            </a:extLst>
          </p:cNvPr>
          <p:cNvSpPr txBox="1"/>
          <p:nvPr/>
        </p:nvSpPr>
        <p:spPr>
          <a:xfrm>
            <a:off x="441189" y="396994"/>
            <a:ext cx="6636656" cy="523220"/>
          </a:xfrm>
          <a:prstGeom prst="rect">
            <a:avLst/>
          </a:prstGeom>
          <a:noFill/>
        </p:spPr>
        <p:txBody>
          <a:bodyPr wrap="square">
            <a:spAutoFit/>
          </a:bodyPr>
          <a:lstStyle/>
          <a:p>
            <a:pPr marL="400050" indent="-400050" algn="just">
              <a:buFont typeface="+mj-lt"/>
              <a:buAutoNum type="romanLcPeriod" startAt="4"/>
            </a:pPr>
            <a:r>
              <a:rPr lang="en-IN" sz="1400" dirty="0">
                <a:latin typeface="Comic Sans MS" panose="030F0702030302020204" pitchFamily="66" charset="0"/>
              </a:rPr>
              <a:t>Common examples – </a:t>
            </a:r>
            <a:r>
              <a:rPr lang="en-IN" sz="1400" i="1" dirty="0">
                <a:latin typeface="Comic Sans MS" panose="030F0702030302020204" pitchFamily="66" charset="0"/>
              </a:rPr>
              <a:t>Vaucheriopsis </a:t>
            </a:r>
            <a:r>
              <a:rPr lang="en-IN" sz="1400" dirty="0">
                <a:latin typeface="Comic Sans MS" panose="030F0702030302020204" pitchFamily="66" charset="0"/>
              </a:rPr>
              <a:t>and </a:t>
            </a:r>
            <a:r>
              <a:rPr lang="en-IN" sz="1400" i="1" dirty="0">
                <a:latin typeface="Comic Sans MS" panose="030F0702030302020204" pitchFamily="66" charset="0"/>
              </a:rPr>
              <a:t>Vaucheria </a:t>
            </a:r>
            <a:r>
              <a:rPr lang="en-IN" sz="1400" dirty="0">
                <a:latin typeface="Comic Sans MS" panose="030F0702030302020204" pitchFamily="66" charset="0"/>
              </a:rPr>
              <a:t>(Now Vaucheria is described under Xanthophyceae)</a:t>
            </a:r>
            <a:r>
              <a:rPr lang="en-IN" sz="1400" i="1" dirty="0">
                <a:latin typeface="Comic Sans MS" panose="030F0702030302020204" pitchFamily="66" charset="0"/>
              </a:rPr>
              <a:t>.</a:t>
            </a:r>
          </a:p>
        </p:txBody>
      </p:sp>
      <p:sp>
        <p:nvSpPr>
          <p:cNvPr id="6" name="TextBox 5">
            <a:extLst>
              <a:ext uri="{FF2B5EF4-FFF2-40B4-BE49-F238E27FC236}">
                <a16:creationId xmlns:a16="http://schemas.microsoft.com/office/drawing/2014/main" id="{B14E4146-D821-F9DD-07AF-D982E5D6776B}"/>
              </a:ext>
            </a:extLst>
          </p:cNvPr>
          <p:cNvSpPr txBox="1"/>
          <p:nvPr/>
        </p:nvSpPr>
        <p:spPr>
          <a:xfrm>
            <a:off x="441189" y="873006"/>
            <a:ext cx="6636656" cy="2031325"/>
          </a:xfrm>
          <a:prstGeom prst="rect">
            <a:avLst/>
          </a:prstGeom>
          <a:noFill/>
        </p:spPr>
        <p:txBody>
          <a:bodyPr wrap="square">
            <a:spAutoFit/>
          </a:bodyPr>
          <a:lstStyle/>
          <a:p>
            <a:pPr algn="just"/>
            <a:r>
              <a:rPr lang="en-IN" sz="1400" b="1" dirty="0">
                <a:latin typeface="Comic Sans MS" panose="030F0702030302020204" pitchFamily="66" charset="0"/>
              </a:rPr>
              <a:t>Order 9 Charales–</a:t>
            </a:r>
          </a:p>
          <a:p>
            <a:pPr marL="400050" indent="-400050" algn="just">
              <a:buAutoNum type="romanLcPeriod"/>
            </a:pPr>
            <a:r>
              <a:rPr lang="en-IN" sz="1400" dirty="0">
                <a:latin typeface="Comic Sans MS" panose="030F0702030302020204" pitchFamily="66" charset="0"/>
              </a:rPr>
              <a:t>Plants are macroscopic, much branched, and erect and commonly up to 30 cm in length. </a:t>
            </a:r>
          </a:p>
          <a:p>
            <a:pPr marL="400050" indent="-400050" algn="just">
              <a:buAutoNum type="romanLcPeriod"/>
            </a:pPr>
            <a:r>
              <a:rPr lang="en-IN" sz="1400" dirty="0">
                <a:latin typeface="Comic Sans MS" panose="030F0702030302020204" pitchFamily="66" charset="0"/>
              </a:rPr>
              <a:t>The plants are differentiated into nodes and internodes. Some of the nodes bear bran­ches of unlimited growth, those are again divided into nodes and internodes. Each node of the main axis and branch of unlimi­ted growth bear a number of branches of limited growth.</a:t>
            </a:r>
          </a:p>
          <a:p>
            <a:pPr marL="400050" indent="-400050" algn="just">
              <a:buAutoNum type="romanLcPeriod"/>
            </a:pPr>
            <a:r>
              <a:rPr lang="en-IN" sz="1400" dirty="0">
                <a:latin typeface="Comic Sans MS" panose="030F0702030302020204" pitchFamily="66" charset="0"/>
              </a:rPr>
              <a:t>Sexual reproduction is highly advanced, oogamous type.</a:t>
            </a:r>
          </a:p>
          <a:p>
            <a:pPr marL="400050" indent="-400050" algn="just">
              <a:buAutoNum type="romanLcPeriod"/>
            </a:pPr>
            <a:r>
              <a:rPr lang="en-IN" sz="1400" dirty="0">
                <a:latin typeface="Comic Sans MS" panose="030F0702030302020204" pitchFamily="66" charset="0"/>
              </a:rPr>
              <a:t>Families – Characeae which is further divided into two sub-families:-.</a:t>
            </a:r>
          </a:p>
        </p:txBody>
      </p:sp>
      <p:sp>
        <p:nvSpPr>
          <p:cNvPr id="7" name="AutoShape 43">
            <a:extLst>
              <a:ext uri="{FF2B5EF4-FFF2-40B4-BE49-F238E27FC236}">
                <a16:creationId xmlns:a16="http://schemas.microsoft.com/office/drawing/2014/main" id="{49D33835-D203-74D6-8E24-73E627A76071}"/>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8" name="Text Box 45">
            <a:extLst>
              <a:ext uri="{FF2B5EF4-FFF2-40B4-BE49-F238E27FC236}">
                <a16:creationId xmlns:a16="http://schemas.microsoft.com/office/drawing/2014/main" id="{5A7BEAF6-0234-150D-B4B2-D9CAB3007489}"/>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13</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6">
            <a:extLst>
              <a:ext uri="{FF2B5EF4-FFF2-40B4-BE49-F238E27FC236}">
                <a16:creationId xmlns:a16="http://schemas.microsoft.com/office/drawing/2014/main" id="{DA608488-F98A-5D75-B9DE-A58B640110D4}"/>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10" name="Text Box 47">
            <a:extLst>
              <a:ext uri="{FF2B5EF4-FFF2-40B4-BE49-F238E27FC236}">
                <a16:creationId xmlns:a16="http://schemas.microsoft.com/office/drawing/2014/main" id="{8BE0E7F2-230C-F231-633F-FDAE0EA88F48}"/>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1" name="TextBox 10">
            <a:extLst>
              <a:ext uri="{FF2B5EF4-FFF2-40B4-BE49-F238E27FC236}">
                <a16:creationId xmlns:a16="http://schemas.microsoft.com/office/drawing/2014/main" id="{4E87C7B3-4262-46A3-C714-3045EF71410E}"/>
              </a:ext>
            </a:extLst>
          </p:cNvPr>
          <p:cNvSpPr txBox="1"/>
          <p:nvPr/>
        </p:nvSpPr>
        <p:spPr>
          <a:xfrm>
            <a:off x="885825" y="2826544"/>
            <a:ext cx="6193290" cy="523220"/>
          </a:xfrm>
          <a:prstGeom prst="rect">
            <a:avLst/>
          </a:prstGeom>
          <a:noFill/>
        </p:spPr>
        <p:txBody>
          <a:bodyPr wrap="square">
            <a:spAutoFit/>
          </a:bodyPr>
          <a:lstStyle/>
          <a:p>
            <a:pPr marL="400050" indent="-400050" algn="just">
              <a:buFont typeface="+mj-lt"/>
              <a:buAutoNum type="alphaLcParenR"/>
            </a:pPr>
            <a:r>
              <a:rPr lang="en-IN" sz="1400" dirty="0">
                <a:latin typeface="Comic Sans MS" panose="030F0702030302020204" pitchFamily="66" charset="0"/>
              </a:rPr>
              <a:t>Nitellaceae – examples – </a:t>
            </a:r>
            <a:r>
              <a:rPr lang="en-IN" sz="1400" i="1" dirty="0">
                <a:latin typeface="Comic Sans MS" panose="030F0702030302020204" pitchFamily="66" charset="0"/>
              </a:rPr>
              <a:t>Nitella, Tolypella</a:t>
            </a:r>
          </a:p>
          <a:p>
            <a:pPr marL="400050" indent="-400050" algn="just">
              <a:buAutoNum type="alphaLcParenR"/>
            </a:pPr>
            <a:r>
              <a:rPr lang="en-IN" sz="1400" dirty="0">
                <a:latin typeface="Comic Sans MS" panose="030F0702030302020204" pitchFamily="66" charset="0"/>
              </a:rPr>
              <a:t>Chareae – examples – </a:t>
            </a:r>
            <a:r>
              <a:rPr lang="en-IN" sz="1400" i="1" dirty="0">
                <a:latin typeface="Comic Sans MS" panose="030F0702030302020204" pitchFamily="66" charset="0"/>
              </a:rPr>
              <a:t>Chara, Lychnothamnus</a:t>
            </a:r>
            <a:endParaRPr lang="en-IN" sz="1400" dirty="0">
              <a:latin typeface="Comic Sans MS" panose="030F0702030302020204" pitchFamily="66" charset="0"/>
            </a:endParaRPr>
          </a:p>
        </p:txBody>
      </p:sp>
      <p:sp>
        <p:nvSpPr>
          <p:cNvPr id="13" name="AutoShape 11">
            <a:extLst>
              <a:ext uri="{FF2B5EF4-FFF2-40B4-BE49-F238E27FC236}">
                <a16:creationId xmlns:a16="http://schemas.microsoft.com/office/drawing/2014/main" id="{FCF9C98A-1724-A230-5937-A6CF49699B39}"/>
              </a:ext>
            </a:extLst>
          </p:cNvPr>
          <p:cNvSpPr>
            <a:spLocks noChangeArrowheads="1"/>
          </p:cNvSpPr>
          <p:nvPr/>
        </p:nvSpPr>
        <p:spPr bwMode="auto">
          <a:xfrm>
            <a:off x="431800" y="3461621"/>
            <a:ext cx="379730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Xanthophyceae </a:t>
            </a:r>
            <a:r>
              <a:rPr lang="en-IN" sz="1400" dirty="0">
                <a:latin typeface="Comic Sans MS" panose="030F0702030302020204" pitchFamily="66" charset="0"/>
              </a:rPr>
              <a:t>(Yellow-green)</a:t>
            </a:r>
          </a:p>
        </p:txBody>
      </p:sp>
      <p:sp>
        <p:nvSpPr>
          <p:cNvPr id="12" name="TextBox 11">
            <a:extLst>
              <a:ext uri="{FF2B5EF4-FFF2-40B4-BE49-F238E27FC236}">
                <a16:creationId xmlns:a16="http://schemas.microsoft.com/office/drawing/2014/main" id="{60176319-76C9-3D1D-534E-9C04162AEF56}"/>
              </a:ext>
            </a:extLst>
          </p:cNvPr>
          <p:cNvSpPr txBox="1"/>
          <p:nvPr/>
        </p:nvSpPr>
        <p:spPr>
          <a:xfrm>
            <a:off x="441189" y="3901360"/>
            <a:ext cx="6636656" cy="1169551"/>
          </a:xfrm>
          <a:prstGeom prst="rect">
            <a:avLst/>
          </a:prstGeom>
          <a:noFill/>
        </p:spPr>
        <p:txBody>
          <a:bodyPr wrap="square">
            <a:spAutoFit/>
          </a:bodyPr>
          <a:lstStyle/>
          <a:p>
            <a:pPr algn="just"/>
            <a:r>
              <a:rPr lang="en-IN" sz="1400" dirty="0">
                <a:latin typeface="Comic Sans MS" panose="030F0702030302020204" pitchFamily="66" charset="0"/>
              </a:rPr>
              <a:t>Allore (1930) proposed the name Xanthophyceae to the Heterokontae of Chlorophyceae (bearing unequal flagella), which was subsequently widely adopted. Unlike other classes, Xanthophyceae are not well studied and therefore, the class is characterised only on the basis of chromoplast pigmentation, flagellation and reserve food material</a:t>
            </a:r>
          </a:p>
        </p:txBody>
      </p:sp>
      <p:sp>
        <p:nvSpPr>
          <p:cNvPr id="14" name="AutoShape 11">
            <a:extLst>
              <a:ext uri="{FF2B5EF4-FFF2-40B4-BE49-F238E27FC236}">
                <a16:creationId xmlns:a16="http://schemas.microsoft.com/office/drawing/2014/main" id="{CCC5CE14-C754-3EFF-A552-B961D0701649}"/>
              </a:ext>
            </a:extLst>
          </p:cNvPr>
          <p:cNvSpPr>
            <a:spLocks noChangeArrowheads="1"/>
          </p:cNvSpPr>
          <p:nvPr/>
        </p:nvSpPr>
        <p:spPr bwMode="auto">
          <a:xfrm>
            <a:off x="431800" y="5106857"/>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Habitat</a:t>
            </a:r>
          </a:p>
        </p:txBody>
      </p:sp>
      <p:sp>
        <p:nvSpPr>
          <p:cNvPr id="15" name="TextBox 14">
            <a:extLst>
              <a:ext uri="{FF2B5EF4-FFF2-40B4-BE49-F238E27FC236}">
                <a16:creationId xmlns:a16="http://schemas.microsoft.com/office/drawing/2014/main" id="{455FF0F8-43DD-F893-CD07-DD3B332884DE}"/>
              </a:ext>
            </a:extLst>
          </p:cNvPr>
          <p:cNvSpPr txBox="1"/>
          <p:nvPr/>
        </p:nvSpPr>
        <p:spPr>
          <a:xfrm>
            <a:off x="431799" y="5529739"/>
            <a:ext cx="6646045" cy="954107"/>
          </a:xfrm>
          <a:prstGeom prst="rect">
            <a:avLst/>
          </a:prstGeom>
          <a:noFill/>
        </p:spPr>
        <p:txBody>
          <a:bodyPr wrap="square">
            <a:spAutoFit/>
          </a:bodyPr>
          <a:lstStyle/>
          <a:p>
            <a:pPr algn="just"/>
            <a:r>
              <a:rPr lang="en-IN" sz="1400" dirty="0">
                <a:latin typeface="Comic Sans MS" panose="030F0702030302020204" pitchFamily="66" charset="0"/>
              </a:rPr>
              <a:t>Members of Xanthophyceae are commonly fresh water (Tribonema) and most of them are free floating. [Few members are found to grow on mud (Botrydium) and also on walls or tree trunks (Characiopsis, Ophiocytium etc.). A few members like Halosphaera are marine.</a:t>
            </a:r>
          </a:p>
        </p:txBody>
      </p:sp>
      <p:sp>
        <p:nvSpPr>
          <p:cNvPr id="16" name="AutoShape 11">
            <a:extLst>
              <a:ext uri="{FF2B5EF4-FFF2-40B4-BE49-F238E27FC236}">
                <a16:creationId xmlns:a16="http://schemas.microsoft.com/office/drawing/2014/main" id="{65D8CBA7-7906-068D-625E-53441F41D07E}"/>
              </a:ext>
            </a:extLst>
          </p:cNvPr>
          <p:cNvSpPr>
            <a:spLocks noChangeArrowheads="1"/>
          </p:cNvSpPr>
          <p:nvPr/>
        </p:nvSpPr>
        <p:spPr bwMode="auto">
          <a:xfrm>
            <a:off x="431799" y="6515733"/>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Internal Structure</a:t>
            </a:r>
          </a:p>
        </p:txBody>
      </p:sp>
      <p:sp>
        <p:nvSpPr>
          <p:cNvPr id="17" name="TextBox 16">
            <a:extLst>
              <a:ext uri="{FF2B5EF4-FFF2-40B4-BE49-F238E27FC236}">
                <a16:creationId xmlns:a16="http://schemas.microsoft.com/office/drawing/2014/main" id="{5AF69788-5727-AE72-C4F1-2B8D3099918B}"/>
              </a:ext>
            </a:extLst>
          </p:cNvPr>
          <p:cNvSpPr txBox="1"/>
          <p:nvPr/>
        </p:nvSpPr>
        <p:spPr>
          <a:xfrm>
            <a:off x="431799" y="6909831"/>
            <a:ext cx="6636656" cy="3323987"/>
          </a:xfrm>
          <a:prstGeom prst="rect">
            <a:avLst/>
          </a:prstGeom>
          <a:noFill/>
        </p:spPr>
        <p:txBody>
          <a:bodyPr wrap="square">
            <a:spAutoFit/>
          </a:bodyPr>
          <a:lstStyle/>
          <a:p>
            <a:pPr marL="400050" indent="-400050" algn="just">
              <a:buAutoNum type="romanLcPeriod"/>
            </a:pPr>
            <a:r>
              <a:rPr lang="en-IN" sz="1400" b="1" dirty="0">
                <a:latin typeface="Comic Sans MS" panose="030F0702030302020204" pitchFamily="66" charset="0"/>
              </a:rPr>
              <a:t>Cell wall </a:t>
            </a:r>
            <a:r>
              <a:rPr lang="en-IN" sz="1400" dirty="0">
                <a:latin typeface="Comic Sans MS" panose="030F0702030302020204" pitchFamily="66" charset="0"/>
              </a:rPr>
              <a:t>– The cell wall is often absent, but when pre­sent it contains more pectic compounds than the members of Chlorophyceae. Occasionally cellulose is also present.</a:t>
            </a:r>
            <a:endParaRPr lang="en-IN" sz="1400" i="1" dirty="0">
              <a:latin typeface="Comic Sans MS" panose="030F0702030302020204" pitchFamily="66" charset="0"/>
            </a:endParaRPr>
          </a:p>
          <a:p>
            <a:pPr marL="400050" indent="-400050" algn="just">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The motile forms bear usually two flagella but rarely one. They are unequal and inser­ted at the anterior end. The flagella are of two types. The larger one is tinsel (or pantonematic or pleuronematic i.e., bearing hair-like appendages) and the shorter one is whiplash (or acronematic i.e., without hairs and their surface is smooth) type.</a:t>
            </a:r>
          </a:p>
          <a:p>
            <a:pPr marL="400050" indent="-400050" algn="just">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reserve food is oil, lipid and lucosin. Starch is not formed.</a:t>
            </a:r>
          </a:p>
          <a:p>
            <a:pPr marL="400050" indent="-400050" algn="just">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Yellow green colour of algae is due to their parietal chromatophores which have a combination of Chlorophyll </a:t>
            </a:r>
            <a:r>
              <a:rPr lang="en-IN" sz="1400" i="1" dirty="0">
                <a:latin typeface="Comic Sans MS" panose="030F0702030302020204" pitchFamily="66" charset="0"/>
              </a:rPr>
              <a:t>a</a:t>
            </a:r>
            <a:r>
              <a:rPr lang="en-IN" sz="1400" dirty="0">
                <a:latin typeface="Comic Sans MS" panose="030F0702030302020204" pitchFamily="66" charset="0"/>
              </a:rPr>
              <a:t> </a:t>
            </a:r>
            <a:r>
              <a:rPr lang="en-IN" sz="1400" i="1" dirty="0">
                <a:latin typeface="Comic Sans MS" panose="030F0702030302020204" pitchFamily="66" charset="0"/>
              </a:rPr>
              <a:t>and </a:t>
            </a:r>
            <a:r>
              <a:rPr lang="en-IN" sz="1400" dirty="0">
                <a:latin typeface="Comic Sans MS" panose="030F0702030302020204" pitchFamily="66" charset="0"/>
              </a:rPr>
              <a:t>e, </a:t>
            </a:r>
            <a:r>
              <a:rPr lang="en-IN" sz="1400" dirty="0">
                <a:latin typeface="Comic Sans MS" panose="030F0702030302020204" pitchFamily="66" charset="0"/>
                <a:sym typeface="Symbol" panose="05050102010706020507" pitchFamily="18" charset="2"/>
              </a:rPr>
              <a:t>-carotene and several Xanthophylls and Chlorophyll </a:t>
            </a:r>
            <a:r>
              <a:rPr lang="en-IN" sz="1400" i="1" dirty="0">
                <a:latin typeface="Comic Sans MS" panose="030F0702030302020204" pitchFamily="66" charset="0"/>
                <a:sym typeface="Symbol" panose="05050102010706020507" pitchFamily="18" charset="2"/>
              </a:rPr>
              <a:t>c</a:t>
            </a:r>
            <a:r>
              <a:rPr lang="en-IN" sz="1400" dirty="0">
                <a:latin typeface="Comic Sans MS" panose="030F0702030302020204" pitchFamily="66" charset="0"/>
                <a:sym typeface="Symbol" panose="05050102010706020507" pitchFamily="18" charset="2"/>
              </a:rPr>
              <a:t> is observed in </a:t>
            </a:r>
            <a:r>
              <a:rPr lang="en-IN" sz="1400" i="1" dirty="0">
                <a:latin typeface="Comic Sans MS" panose="030F0702030302020204" pitchFamily="66" charset="0"/>
                <a:sym typeface="Symbol" panose="05050102010706020507" pitchFamily="18" charset="2"/>
              </a:rPr>
              <a:t>Vaucheria </a:t>
            </a:r>
            <a:r>
              <a:rPr lang="en-IN" sz="1400" dirty="0">
                <a:latin typeface="Comic Sans MS" panose="030F0702030302020204" pitchFamily="66" charset="0"/>
                <a:sym typeface="Symbol" panose="05050102010706020507" pitchFamily="18" charset="2"/>
              </a:rPr>
              <a:t>and in few members of Botrydiales.</a:t>
            </a:r>
          </a:p>
          <a:p>
            <a:pPr marL="400050" indent="-400050" algn="just">
              <a:buAutoNum type="romanLcPeriod"/>
            </a:pPr>
            <a:r>
              <a:rPr lang="en-IN" sz="1400" b="1" dirty="0">
                <a:latin typeface="Comic Sans MS" panose="030F0702030302020204" pitchFamily="66" charset="0"/>
                <a:sym typeface="Symbol" panose="05050102010706020507" pitchFamily="18" charset="2"/>
              </a:rPr>
              <a:t>Pyrenoids</a:t>
            </a:r>
            <a:r>
              <a:rPr lang="en-IN" sz="1400" dirty="0">
                <a:latin typeface="Comic Sans MS" panose="030F0702030302020204" pitchFamily="66" charset="0"/>
                <a:sym typeface="Symbol" panose="05050102010706020507" pitchFamily="18" charset="2"/>
              </a:rPr>
              <a:t> – Absent, rarely present.</a:t>
            </a:r>
          </a:p>
        </p:txBody>
      </p:sp>
    </p:spTree>
    <p:extLst>
      <p:ext uri="{BB962C8B-B14F-4D97-AF65-F5344CB8AC3E}">
        <p14:creationId xmlns:p14="http://schemas.microsoft.com/office/powerpoint/2010/main" val="561251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1">
            <a:extLst>
              <a:ext uri="{FF2B5EF4-FFF2-40B4-BE49-F238E27FC236}">
                <a16:creationId xmlns:a16="http://schemas.microsoft.com/office/drawing/2014/main" id="{D60575C9-A896-C4F4-E3FD-1D9B1749E822}"/>
              </a:ext>
            </a:extLst>
          </p:cNvPr>
          <p:cNvSpPr>
            <a:spLocks noChangeArrowheads="1"/>
          </p:cNvSpPr>
          <p:nvPr/>
        </p:nvSpPr>
        <p:spPr bwMode="auto">
          <a:xfrm>
            <a:off x="431800" y="377825"/>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Reproduction</a:t>
            </a:r>
          </a:p>
        </p:txBody>
      </p:sp>
      <p:sp>
        <p:nvSpPr>
          <p:cNvPr id="6" name="AutoShape 43">
            <a:extLst>
              <a:ext uri="{FF2B5EF4-FFF2-40B4-BE49-F238E27FC236}">
                <a16:creationId xmlns:a16="http://schemas.microsoft.com/office/drawing/2014/main" id="{3B5503DB-60EE-2163-296B-CBCE3D2A48B7}"/>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6D19214B-392F-913A-D1AF-3A00679ACC68}"/>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14</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00C42B7C-D390-9AF3-8057-878F7769E386}"/>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9" name="Text Box 47">
            <a:extLst>
              <a:ext uri="{FF2B5EF4-FFF2-40B4-BE49-F238E27FC236}">
                <a16:creationId xmlns:a16="http://schemas.microsoft.com/office/drawing/2014/main" id="{796EB577-4A1B-1329-C3C3-540822B153F7}"/>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1" name="TextBox 10">
            <a:extLst>
              <a:ext uri="{FF2B5EF4-FFF2-40B4-BE49-F238E27FC236}">
                <a16:creationId xmlns:a16="http://schemas.microsoft.com/office/drawing/2014/main" id="{CE8D65DB-1D28-33D5-DB51-4DA502588CC5}"/>
              </a:ext>
            </a:extLst>
          </p:cNvPr>
          <p:cNvSpPr txBox="1"/>
          <p:nvPr/>
        </p:nvSpPr>
        <p:spPr>
          <a:xfrm>
            <a:off x="431800" y="770643"/>
            <a:ext cx="6636656" cy="954107"/>
          </a:xfrm>
          <a:prstGeom prst="rect">
            <a:avLst/>
          </a:prstGeom>
          <a:noFill/>
        </p:spPr>
        <p:txBody>
          <a:bodyPr wrap="square">
            <a:spAutoFit/>
          </a:bodyPr>
          <a:lstStyle/>
          <a:p>
            <a:pPr marL="400050" indent="-400050">
              <a:buAutoNum type="romanLcPeriod"/>
            </a:pPr>
            <a:r>
              <a:rPr lang="en-IN" sz="1400" b="1" dirty="0">
                <a:latin typeface="Comic Sans MS" panose="030F0702030302020204" pitchFamily="66" charset="0"/>
              </a:rPr>
              <a:t>Vegetative </a:t>
            </a:r>
            <a:r>
              <a:rPr lang="en-IN" sz="1400" dirty="0">
                <a:latin typeface="Comic Sans MS" panose="030F0702030302020204" pitchFamily="66" charset="0"/>
              </a:rPr>
              <a:t>– Budding</a:t>
            </a:r>
          </a:p>
          <a:p>
            <a:pPr marL="400050" indent="-400050">
              <a:buAutoNum type="romanLcPeriod"/>
            </a:pPr>
            <a:r>
              <a:rPr lang="en-IN" sz="1400" b="1" dirty="0">
                <a:latin typeface="Comic Sans MS" panose="030F0702030302020204" pitchFamily="66" charset="0"/>
              </a:rPr>
              <a:t>Asexual </a:t>
            </a:r>
            <a:r>
              <a:rPr lang="en-IN" sz="1400" dirty="0">
                <a:latin typeface="Comic Sans MS" panose="030F0702030302020204" pitchFamily="66" charset="0"/>
              </a:rPr>
              <a:t>– Aplanospores, zoospores (unequal flagella except </a:t>
            </a:r>
            <a:r>
              <a:rPr lang="en-IN" sz="1400" i="1" dirty="0">
                <a:latin typeface="Comic Sans MS" panose="030F0702030302020204" pitchFamily="66" charset="0"/>
              </a:rPr>
              <a:t>Vaucheria</a:t>
            </a:r>
            <a:r>
              <a:rPr lang="en-IN" sz="1400" dirty="0">
                <a:latin typeface="Comic Sans MS" panose="030F0702030302020204" pitchFamily="66" charset="0"/>
              </a:rPr>
              <a:t>)</a:t>
            </a:r>
          </a:p>
          <a:p>
            <a:pPr marL="400050" indent="-400050">
              <a:buAutoNum type="romanLcPeriod"/>
            </a:pPr>
            <a:r>
              <a:rPr lang="en-IN" sz="1400" b="1" dirty="0">
                <a:latin typeface="Comic Sans MS" panose="030F0702030302020204" pitchFamily="66" charset="0"/>
              </a:rPr>
              <a:t>Sexual </a:t>
            </a:r>
            <a:r>
              <a:rPr lang="en-IN" sz="1400" dirty="0">
                <a:latin typeface="Comic Sans MS" panose="030F0702030302020204" pitchFamily="66" charset="0"/>
              </a:rPr>
              <a:t>– Isogamous </a:t>
            </a:r>
            <a:r>
              <a:rPr lang="en-IN" sz="1400" i="1" dirty="0">
                <a:latin typeface="Comic Sans MS" panose="030F0702030302020204" pitchFamily="66" charset="0"/>
              </a:rPr>
              <a:t>(Tribonema),</a:t>
            </a:r>
            <a:r>
              <a:rPr lang="en-IN" sz="1400" dirty="0">
                <a:latin typeface="Comic Sans MS" panose="030F0702030302020204" pitchFamily="66" charset="0"/>
              </a:rPr>
              <a:t> Anisogamous </a:t>
            </a:r>
            <a:r>
              <a:rPr lang="en-IN" sz="1400" i="1" dirty="0">
                <a:latin typeface="Comic Sans MS" panose="030F0702030302020204" pitchFamily="66" charset="0"/>
              </a:rPr>
              <a:t>(Botrydium),</a:t>
            </a:r>
            <a:r>
              <a:rPr lang="en-IN" sz="1400" dirty="0">
                <a:latin typeface="Comic Sans MS" panose="030F0702030302020204" pitchFamily="66" charset="0"/>
              </a:rPr>
              <a:t> Oogamous </a:t>
            </a:r>
            <a:r>
              <a:rPr lang="en-IN" sz="1400" i="1" dirty="0">
                <a:latin typeface="Comic Sans MS" panose="030F0702030302020204" pitchFamily="66" charset="0"/>
              </a:rPr>
              <a:t>(Vaucheria)</a:t>
            </a:r>
          </a:p>
        </p:txBody>
      </p:sp>
      <p:sp>
        <p:nvSpPr>
          <p:cNvPr id="10" name="AutoShape 11">
            <a:extLst>
              <a:ext uri="{FF2B5EF4-FFF2-40B4-BE49-F238E27FC236}">
                <a16:creationId xmlns:a16="http://schemas.microsoft.com/office/drawing/2014/main" id="{0F895030-A22F-EC24-E02A-D45FAEF2F1DD}"/>
              </a:ext>
            </a:extLst>
          </p:cNvPr>
          <p:cNvSpPr>
            <a:spLocks noChangeArrowheads="1"/>
          </p:cNvSpPr>
          <p:nvPr/>
        </p:nvSpPr>
        <p:spPr bwMode="auto">
          <a:xfrm>
            <a:off x="431799" y="1808888"/>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Classification of </a:t>
            </a:r>
            <a:r>
              <a:rPr lang="en-IN" sz="1400" i="1" dirty="0">
                <a:latin typeface="Comic Sans MS" panose="030F0702030302020204" pitchFamily="66" charset="0"/>
              </a:rPr>
              <a:t>Xanthophyceae</a:t>
            </a:r>
            <a:endParaRPr lang="en-IN" sz="1400" dirty="0">
              <a:latin typeface="Comic Sans MS" panose="030F0702030302020204" pitchFamily="66" charset="0"/>
            </a:endParaRPr>
          </a:p>
        </p:txBody>
      </p:sp>
      <p:sp>
        <p:nvSpPr>
          <p:cNvPr id="12" name="TextBox 11">
            <a:extLst>
              <a:ext uri="{FF2B5EF4-FFF2-40B4-BE49-F238E27FC236}">
                <a16:creationId xmlns:a16="http://schemas.microsoft.com/office/drawing/2014/main" id="{2B01D3A5-F623-EDAD-886C-84A49CECC43A}"/>
              </a:ext>
            </a:extLst>
          </p:cNvPr>
          <p:cNvSpPr txBox="1"/>
          <p:nvPr/>
        </p:nvSpPr>
        <p:spPr>
          <a:xfrm>
            <a:off x="442594" y="2701195"/>
            <a:ext cx="6685283" cy="2031325"/>
          </a:xfrm>
          <a:prstGeom prst="rect">
            <a:avLst/>
          </a:prstGeom>
          <a:noFill/>
        </p:spPr>
        <p:txBody>
          <a:bodyPr wrap="square">
            <a:spAutoFit/>
          </a:bodyPr>
          <a:lstStyle/>
          <a:p>
            <a:pPr algn="just"/>
            <a:r>
              <a:rPr lang="en-IN" sz="1400" b="1" dirty="0">
                <a:latin typeface="Comic Sans MS" panose="030F0702030302020204" pitchFamily="66" charset="0"/>
              </a:rPr>
              <a:t>Order 1 Heterochloridales –</a:t>
            </a:r>
            <a:endParaRPr lang="en-IN" sz="1400" dirty="0">
              <a:latin typeface="Comic Sans MS" panose="030F0702030302020204" pitchFamily="66" charset="0"/>
            </a:endParaRPr>
          </a:p>
          <a:p>
            <a:pPr marL="400050" indent="-400050" algn="just">
              <a:buAutoNum type="romanLcPeriod"/>
            </a:pPr>
            <a:r>
              <a:rPr lang="en-IN" sz="1400" dirty="0">
                <a:latin typeface="Comic Sans MS" panose="030F0702030302020204" pitchFamily="66" charset="0"/>
              </a:rPr>
              <a:t>The plant body is flagellated, naked and unicellular.</a:t>
            </a:r>
          </a:p>
          <a:p>
            <a:pPr marL="400050" indent="-400050" algn="just">
              <a:buAutoNum type="romanLcPeriod"/>
            </a:pPr>
            <a:r>
              <a:rPr lang="en-IN" sz="1400" dirty="0">
                <a:latin typeface="Comic Sans MS" panose="030F0702030302020204" pitchFamily="66" charset="0"/>
              </a:rPr>
              <a:t>Each cell contains two or more discoid or band-shaped chromatophores and one or more contractile vacuoles in the protoplast.</a:t>
            </a:r>
          </a:p>
          <a:p>
            <a:pPr marL="400050" indent="-400050" algn="just">
              <a:buAutoNum type="romanLcPeriod"/>
            </a:pPr>
            <a:r>
              <a:rPr lang="en-IN" sz="1400" dirty="0">
                <a:latin typeface="Comic Sans MS" panose="030F0702030302020204" pitchFamily="66" charset="0"/>
              </a:rPr>
              <a:t>Reproduction takes place by cell division and in one genus statospores are formed.</a:t>
            </a:r>
          </a:p>
          <a:p>
            <a:pPr marL="400050" indent="-400050" algn="just">
              <a:buAutoNum type="romanLcPeriod"/>
            </a:pPr>
            <a:r>
              <a:rPr lang="en-IN" sz="1400" dirty="0">
                <a:latin typeface="Comic Sans MS" panose="030F0702030302020204" pitchFamily="66" charset="0"/>
              </a:rPr>
              <a:t>There are 9 genera and about 15 species; 4 genera are marine and rest are fresh water in habit.</a:t>
            </a:r>
            <a:endParaRPr lang="en-IN" sz="300" i="1" dirty="0">
              <a:latin typeface="Comic Sans MS" panose="030F0702030302020204" pitchFamily="66" charset="0"/>
            </a:endParaRPr>
          </a:p>
          <a:p>
            <a:pPr marL="400050" indent="-400050" algn="just">
              <a:buFont typeface="+mj-lt"/>
              <a:buAutoNum type="romanLcPeriod" startAt="4"/>
            </a:pPr>
            <a:r>
              <a:rPr lang="en-IN" sz="1400" dirty="0">
                <a:latin typeface="Comic Sans MS" panose="030F0702030302020204" pitchFamily="66" charset="0"/>
              </a:rPr>
              <a:t>Common examples – </a:t>
            </a:r>
            <a:r>
              <a:rPr lang="en-IN" sz="1400" i="1" dirty="0">
                <a:latin typeface="Comic Sans MS" panose="030F0702030302020204" pitchFamily="66" charset="0"/>
              </a:rPr>
              <a:t>Heterochloris, Chloramoeba.</a:t>
            </a:r>
            <a:endParaRPr lang="en-IN" sz="1400" dirty="0">
              <a:latin typeface="Comic Sans MS" panose="030F0702030302020204" pitchFamily="66" charset="0"/>
            </a:endParaRPr>
          </a:p>
        </p:txBody>
      </p:sp>
      <p:sp>
        <p:nvSpPr>
          <p:cNvPr id="13" name="TextBox 12">
            <a:extLst>
              <a:ext uri="{FF2B5EF4-FFF2-40B4-BE49-F238E27FC236}">
                <a16:creationId xmlns:a16="http://schemas.microsoft.com/office/drawing/2014/main" id="{2A9DC1A6-FE39-5BD1-4AA5-FE242B4B9DF0}"/>
              </a:ext>
            </a:extLst>
          </p:cNvPr>
          <p:cNvSpPr txBox="1"/>
          <p:nvPr/>
        </p:nvSpPr>
        <p:spPr>
          <a:xfrm>
            <a:off x="431796" y="2231809"/>
            <a:ext cx="6685283" cy="523220"/>
          </a:xfrm>
          <a:prstGeom prst="rect">
            <a:avLst/>
          </a:prstGeom>
          <a:noFill/>
        </p:spPr>
        <p:txBody>
          <a:bodyPr wrap="square">
            <a:spAutoFit/>
          </a:bodyPr>
          <a:lstStyle/>
          <a:p>
            <a:pPr algn="just"/>
            <a:r>
              <a:rPr lang="en-IN" sz="1400" i="1" dirty="0">
                <a:latin typeface="Comic Sans MS" panose="030F0702030302020204" pitchFamily="66" charset="0"/>
              </a:rPr>
              <a:t>Xanthophyceae </a:t>
            </a:r>
            <a:r>
              <a:rPr lang="en-IN" sz="1400" dirty="0">
                <a:latin typeface="Comic Sans MS" panose="030F0702030302020204" pitchFamily="66" charset="0"/>
              </a:rPr>
              <a:t>is divided into</a:t>
            </a:r>
            <a:r>
              <a:rPr lang="en-IN" sz="1400" i="1" dirty="0">
                <a:latin typeface="Comic Sans MS" panose="030F0702030302020204" pitchFamily="66" charset="0"/>
              </a:rPr>
              <a:t> 4</a:t>
            </a:r>
            <a:r>
              <a:rPr lang="en-IN" sz="1400" dirty="0">
                <a:latin typeface="Comic Sans MS" panose="030F0702030302020204" pitchFamily="66" charset="0"/>
              </a:rPr>
              <a:t> orders, their brief characters are discussed here.</a:t>
            </a:r>
            <a:endParaRPr lang="en-IN" sz="1400" i="1" dirty="0">
              <a:latin typeface="Comic Sans MS" panose="030F0702030302020204" pitchFamily="66" charset="0"/>
            </a:endParaRPr>
          </a:p>
        </p:txBody>
      </p:sp>
      <p:sp>
        <p:nvSpPr>
          <p:cNvPr id="14" name="TextBox 13">
            <a:extLst>
              <a:ext uri="{FF2B5EF4-FFF2-40B4-BE49-F238E27FC236}">
                <a16:creationId xmlns:a16="http://schemas.microsoft.com/office/drawing/2014/main" id="{52140A1A-3912-E5A4-F1EA-69495DB6762D}"/>
              </a:ext>
            </a:extLst>
          </p:cNvPr>
          <p:cNvSpPr txBox="1"/>
          <p:nvPr/>
        </p:nvSpPr>
        <p:spPr>
          <a:xfrm>
            <a:off x="442594" y="4816658"/>
            <a:ext cx="6685283" cy="2031325"/>
          </a:xfrm>
          <a:prstGeom prst="rect">
            <a:avLst/>
          </a:prstGeom>
          <a:noFill/>
        </p:spPr>
        <p:txBody>
          <a:bodyPr wrap="square">
            <a:spAutoFit/>
          </a:bodyPr>
          <a:lstStyle/>
          <a:p>
            <a:pPr algn="just"/>
            <a:r>
              <a:rPr lang="en-IN" sz="1400" b="1" dirty="0">
                <a:latin typeface="Comic Sans MS" panose="030F0702030302020204" pitchFamily="66" charset="0"/>
              </a:rPr>
              <a:t>Order 2 Heterococcales –</a:t>
            </a:r>
            <a:endParaRPr lang="en-IN" sz="1400" dirty="0">
              <a:latin typeface="Comic Sans MS" panose="030F0702030302020204" pitchFamily="66" charset="0"/>
            </a:endParaRPr>
          </a:p>
          <a:p>
            <a:pPr marL="400050" indent="-400050" algn="just">
              <a:buAutoNum type="romanLcPeriod"/>
            </a:pPr>
            <a:r>
              <a:rPr lang="en-IN" sz="1400" dirty="0">
                <a:latin typeface="Comic Sans MS" panose="030F0702030302020204" pitchFamily="66" charset="0"/>
              </a:rPr>
              <a:t>They are non-filamentous and incapable of returning directly to a motile form. </a:t>
            </a:r>
          </a:p>
          <a:p>
            <a:pPr marL="400050" indent="-400050" algn="just">
              <a:buAutoNum type="romanLcPeriod"/>
            </a:pPr>
            <a:r>
              <a:rPr lang="en-IN" sz="1400" dirty="0">
                <a:latin typeface="Comic Sans MS" panose="030F0702030302020204" pitchFamily="66" charset="0"/>
              </a:rPr>
              <a:t>The plant body consists of coccoid or colonial (gelatinous) forms.</a:t>
            </a:r>
          </a:p>
          <a:p>
            <a:pPr marL="400050" indent="-400050" algn="just">
              <a:buAutoNum type="romanLcPeriod"/>
            </a:pPr>
            <a:r>
              <a:rPr lang="en-IN" sz="1400" dirty="0">
                <a:latin typeface="Comic Sans MS" panose="030F0702030302020204" pitchFamily="66" charset="0"/>
              </a:rPr>
              <a:t>Reproduction takes place by means of zoospores and aplanospores. The aplanospores are autospores. They have no capacity of vegetative cell division.</a:t>
            </a:r>
          </a:p>
          <a:p>
            <a:pPr marL="400050" indent="-400050" algn="just">
              <a:buAutoNum type="romanLcPeriod"/>
            </a:pPr>
            <a:r>
              <a:rPr lang="en-IN" sz="1400" dirty="0">
                <a:latin typeface="Comic Sans MS" panose="030F0702030302020204" pitchFamily="66" charset="0"/>
              </a:rPr>
              <a:t>There are 45 genera, and about 270 species. All are fresh water in habit.</a:t>
            </a:r>
          </a:p>
          <a:p>
            <a:pPr marL="400050" indent="-400050" algn="just">
              <a:buAutoNum type="romanLcPeriod"/>
            </a:pPr>
            <a:r>
              <a:rPr lang="en-IN" sz="1400" dirty="0">
                <a:latin typeface="Comic Sans MS" panose="030F0702030302020204" pitchFamily="66" charset="0"/>
              </a:rPr>
              <a:t>Common examples – </a:t>
            </a:r>
            <a:r>
              <a:rPr lang="en-IN" sz="1400" i="1" dirty="0">
                <a:latin typeface="Comic Sans MS" panose="030F0702030302020204" pitchFamily="66" charset="0"/>
              </a:rPr>
              <a:t>Myxochloris, Botrydiopsis.</a:t>
            </a:r>
            <a:endParaRPr lang="en-IN" sz="1400" dirty="0">
              <a:latin typeface="Comic Sans MS" panose="030F0702030302020204" pitchFamily="66" charset="0"/>
            </a:endParaRPr>
          </a:p>
        </p:txBody>
      </p:sp>
      <p:sp>
        <p:nvSpPr>
          <p:cNvPr id="15" name="TextBox 14">
            <a:extLst>
              <a:ext uri="{FF2B5EF4-FFF2-40B4-BE49-F238E27FC236}">
                <a16:creationId xmlns:a16="http://schemas.microsoft.com/office/drawing/2014/main" id="{83854BD2-A0CD-19FD-00A8-6052E25DD0D0}"/>
              </a:ext>
            </a:extLst>
          </p:cNvPr>
          <p:cNvSpPr txBox="1"/>
          <p:nvPr/>
        </p:nvSpPr>
        <p:spPr>
          <a:xfrm>
            <a:off x="431800" y="6870650"/>
            <a:ext cx="6685283" cy="1600438"/>
          </a:xfrm>
          <a:prstGeom prst="rect">
            <a:avLst/>
          </a:prstGeom>
          <a:noFill/>
        </p:spPr>
        <p:txBody>
          <a:bodyPr wrap="square">
            <a:spAutoFit/>
          </a:bodyPr>
          <a:lstStyle/>
          <a:p>
            <a:pPr algn="just"/>
            <a:r>
              <a:rPr lang="en-IN" sz="1400" b="1" dirty="0">
                <a:latin typeface="Comic Sans MS" panose="030F0702030302020204" pitchFamily="66" charset="0"/>
              </a:rPr>
              <a:t>Order 3 Heterotrichales –</a:t>
            </a:r>
            <a:endParaRPr lang="en-IN" sz="1400" dirty="0">
              <a:latin typeface="Comic Sans MS" panose="030F0702030302020204" pitchFamily="66" charset="0"/>
            </a:endParaRPr>
          </a:p>
          <a:p>
            <a:pPr marL="400050" indent="-400050" algn="just">
              <a:buAutoNum type="romanLcPeriod"/>
            </a:pPr>
            <a:r>
              <a:rPr lang="en-IN" sz="1400" dirty="0">
                <a:latin typeface="Comic Sans MS" panose="030F0702030302020204" pitchFamily="66" charset="0"/>
              </a:rPr>
              <a:t>The plant body is simple or branched filament. </a:t>
            </a:r>
          </a:p>
          <a:p>
            <a:pPr marL="400050" indent="-400050" algn="just">
              <a:buAutoNum type="romanLcPeriod"/>
            </a:pPr>
            <a:r>
              <a:rPr lang="en-IN" sz="1400" dirty="0">
                <a:latin typeface="Comic Sans MS" panose="030F0702030302020204" pitchFamily="66" charset="0"/>
              </a:rPr>
              <a:t>Reproduction takes place by means of fragmentation, akinetes, zoospores, aplanospores and hypnospores.</a:t>
            </a:r>
          </a:p>
          <a:p>
            <a:pPr marL="400050" indent="-400050" algn="just">
              <a:buAutoNum type="romanLcPeriod"/>
            </a:pPr>
            <a:r>
              <a:rPr lang="en-IN" sz="1400" dirty="0">
                <a:latin typeface="Comic Sans MS" panose="030F0702030302020204" pitchFamily="66" charset="0"/>
              </a:rPr>
              <a:t>Physiological isogamy is found in one genus, i.e., Tribonema.</a:t>
            </a:r>
          </a:p>
          <a:p>
            <a:pPr marL="400050" indent="-400050" algn="just">
              <a:buAutoNum type="romanLcPeriod"/>
            </a:pPr>
            <a:r>
              <a:rPr lang="en-IN" sz="1400" dirty="0">
                <a:latin typeface="Comic Sans MS" panose="030F0702030302020204" pitchFamily="66" charset="0"/>
              </a:rPr>
              <a:t>There are 8 genera and about 35 species. All are fresh water in habit.</a:t>
            </a:r>
          </a:p>
          <a:p>
            <a:pPr marL="400050" indent="-400050" algn="just">
              <a:buAutoNum type="romanLcPeriod"/>
            </a:pPr>
            <a:r>
              <a:rPr lang="en-IN" sz="1400" dirty="0">
                <a:latin typeface="Comic Sans MS" panose="030F0702030302020204" pitchFamily="66" charset="0"/>
              </a:rPr>
              <a:t>Common examples – </a:t>
            </a:r>
            <a:r>
              <a:rPr lang="en-IN" sz="1400" i="1" dirty="0">
                <a:latin typeface="Comic Sans MS" panose="030F0702030302020204" pitchFamily="66" charset="0"/>
              </a:rPr>
              <a:t>Tribonema.</a:t>
            </a:r>
            <a:endParaRPr lang="en-IN" sz="1400" dirty="0">
              <a:latin typeface="Comic Sans MS" panose="030F0702030302020204" pitchFamily="66" charset="0"/>
            </a:endParaRPr>
          </a:p>
        </p:txBody>
      </p:sp>
      <p:sp>
        <p:nvSpPr>
          <p:cNvPr id="16" name="TextBox 15">
            <a:extLst>
              <a:ext uri="{FF2B5EF4-FFF2-40B4-BE49-F238E27FC236}">
                <a16:creationId xmlns:a16="http://schemas.microsoft.com/office/drawing/2014/main" id="{30B38694-EFBD-FF18-46A8-C6EA0E7F20F0}"/>
              </a:ext>
            </a:extLst>
          </p:cNvPr>
          <p:cNvSpPr txBox="1"/>
          <p:nvPr/>
        </p:nvSpPr>
        <p:spPr>
          <a:xfrm>
            <a:off x="442592" y="8602552"/>
            <a:ext cx="6685283" cy="1600438"/>
          </a:xfrm>
          <a:prstGeom prst="rect">
            <a:avLst/>
          </a:prstGeom>
          <a:noFill/>
        </p:spPr>
        <p:txBody>
          <a:bodyPr wrap="square">
            <a:spAutoFit/>
          </a:bodyPr>
          <a:lstStyle/>
          <a:p>
            <a:pPr algn="just"/>
            <a:r>
              <a:rPr lang="en-IN" sz="1400" b="1" dirty="0">
                <a:latin typeface="Comic Sans MS" panose="030F0702030302020204" pitchFamily="66" charset="0"/>
              </a:rPr>
              <a:t>Order 4 Heterosiphonales –</a:t>
            </a:r>
            <a:endParaRPr lang="en-IN" sz="1400" dirty="0">
              <a:latin typeface="Comic Sans MS" panose="030F0702030302020204" pitchFamily="66" charset="0"/>
            </a:endParaRPr>
          </a:p>
          <a:p>
            <a:pPr marL="400050" indent="-400050" algn="just">
              <a:buAutoNum type="romanLcPeriod"/>
            </a:pPr>
            <a:r>
              <a:rPr lang="en-IN" sz="1400" dirty="0">
                <a:latin typeface="Comic Sans MS" panose="030F0702030302020204" pitchFamily="66" charset="0"/>
              </a:rPr>
              <a:t>The plant body is simple or branched filament. </a:t>
            </a:r>
          </a:p>
          <a:p>
            <a:pPr marL="400050" indent="-400050" algn="just">
              <a:buAutoNum type="romanLcPeriod"/>
            </a:pPr>
            <a:r>
              <a:rPr lang="en-IN" sz="1400" dirty="0">
                <a:latin typeface="Comic Sans MS" panose="030F0702030302020204" pitchFamily="66" charset="0"/>
              </a:rPr>
              <a:t>Reproduction takes place by means of fragmentation, akinetes, zoospores, aplanospores, hypnospores, isogamous.</a:t>
            </a:r>
          </a:p>
          <a:p>
            <a:pPr marL="400050" indent="-400050" algn="just">
              <a:buAutoNum type="romanLcPeriod"/>
            </a:pPr>
            <a:r>
              <a:rPr lang="en-IN" sz="1400" dirty="0">
                <a:latin typeface="Comic Sans MS" panose="030F0702030302020204" pitchFamily="66" charset="0"/>
              </a:rPr>
              <a:t>Physiological isogamy is found in one genus, i.e., Tribonema.</a:t>
            </a:r>
          </a:p>
          <a:p>
            <a:pPr marL="400050" indent="-400050" algn="just">
              <a:buAutoNum type="romanLcPeriod"/>
            </a:pPr>
            <a:r>
              <a:rPr lang="en-IN" sz="1400" dirty="0">
                <a:latin typeface="Comic Sans MS" panose="030F0702030302020204" pitchFamily="66" charset="0"/>
              </a:rPr>
              <a:t>There are 8 genera and about 35 species. All are fresh water in habit.</a:t>
            </a:r>
          </a:p>
          <a:p>
            <a:pPr marL="400050" indent="-400050" algn="just">
              <a:buAutoNum type="romanLcPeriod"/>
            </a:pPr>
            <a:r>
              <a:rPr lang="en-IN" sz="1400" dirty="0">
                <a:latin typeface="Comic Sans MS" panose="030F0702030302020204" pitchFamily="66" charset="0"/>
              </a:rPr>
              <a:t>Common examples – </a:t>
            </a:r>
            <a:r>
              <a:rPr lang="en-IN" sz="1400" i="1" dirty="0">
                <a:latin typeface="Comic Sans MS" panose="030F0702030302020204" pitchFamily="66" charset="0"/>
              </a:rPr>
              <a:t>Botrydium </a:t>
            </a:r>
            <a:r>
              <a:rPr lang="en-IN" sz="1400" dirty="0">
                <a:latin typeface="Comic Sans MS" panose="030F0702030302020204" pitchFamily="66" charset="0"/>
              </a:rPr>
              <a:t>and</a:t>
            </a:r>
            <a:r>
              <a:rPr lang="en-IN" sz="1400" i="1" dirty="0">
                <a:latin typeface="Comic Sans MS" panose="030F0702030302020204" pitchFamily="66" charset="0"/>
              </a:rPr>
              <a:t> Vaucheria.</a:t>
            </a:r>
            <a:endParaRPr lang="en-IN" sz="1400" dirty="0">
              <a:latin typeface="Comic Sans MS" panose="030F0702030302020204" pitchFamily="66" charset="0"/>
            </a:endParaRPr>
          </a:p>
        </p:txBody>
      </p:sp>
    </p:spTree>
    <p:extLst>
      <p:ext uri="{BB962C8B-B14F-4D97-AF65-F5344CB8AC3E}">
        <p14:creationId xmlns:p14="http://schemas.microsoft.com/office/powerpoint/2010/main" val="2524156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E0F4A6C9-9848-C8CD-EF56-74EB8FECFE67}"/>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4470CA3C-29EB-1D33-DBD2-791601C35B26}"/>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15</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21BF4E1C-39EF-5D78-CD88-5FE58BE303E5}"/>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AEBE0B88-2BE2-95E6-0F93-80F5CE530CE2}"/>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4" name="TextBox 13">
            <a:extLst>
              <a:ext uri="{FF2B5EF4-FFF2-40B4-BE49-F238E27FC236}">
                <a16:creationId xmlns:a16="http://schemas.microsoft.com/office/drawing/2014/main" id="{72AE336C-1C46-344F-6054-433B752C90A0}"/>
              </a:ext>
            </a:extLst>
          </p:cNvPr>
          <p:cNvSpPr txBox="1"/>
          <p:nvPr/>
        </p:nvSpPr>
        <p:spPr>
          <a:xfrm>
            <a:off x="431799" y="846398"/>
            <a:ext cx="6636656" cy="2677656"/>
          </a:xfrm>
          <a:prstGeom prst="rect">
            <a:avLst/>
          </a:prstGeom>
          <a:noFill/>
        </p:spPr>
        <p:txBody>
          <a:bodyPr wrap="square">
            <a:spAutoFit/>
          </a:bodyPr>
          <a:lstStyle/>
          <a:p>
            <a:pPr marL="400050" indent="-400050" algn="just">
              <a:buFontTx/>
              <a:buAutoNum type="romanLcPeriod"/>
            </a:pPr>
            <a:r>
              <a:rPr lang="en-IN" sz="1400" b="1" dirty="0">
                <a:latin typeface="Comic Sans MS" panose="030F0702030302020204" pitchFamily="66" charset="0"/>
              </a:rPr>
              <a:t>Habitat </a:t>
            </a:r>
            <a:r>
              <a:rPr lang="en-IN" sz="1400" dirty="0">
                <a:latin typeface="Comic Sans MS" panose="030F0702030302020204" pitchFamily="66" charset="0"/>
              </a:rPr>
              <a:t>- Most forms occur in cold fresh water but a few are marine.</a:t>
            </a:r>
            <a:endParaRPr lang="en-IN" sz="1400" b="1" dirty="0">
              <a:latin typeface="Comic Sans MS" panose="030F0702030302020204" pitchFamily="66" charset="0"/>
            </a:endParaRPr>
          </a:p>
          <a:p>
            <a:pPr marL="400050" indent="-400050" algn="just">
              <a:buAutoNum type="romanLcPeriod"/>
            </a:pPr>
            <a:r>
              <a:rPr lang="en-IN" sz="1400" b="1" dirty="0">
                <a:latin typeface="Comic Sans MS" panose="030F0702030302020204" pitchFamily="66" charset="0"/>
              </a:rPr>
              <a:t>Structure – </a:t>
            </a:r>
            <a:r>
              <a:rPr lang="en-IN" sz="1400" dirty="0">
                <a:latin typeface="Comic Sans MS" panose="030F0702030302020204" pitchFamily="66" charset="0"/>
              </a:rPr>
              <a:t>Plants are unicellular motile to branched filamentous.</a:t>
            </a:r>
          </a:p>
          <a:p>
            <a:pPr marL="400050" indent="-400050" algn="just">
              <a:buAutoNum type="romanLcPeriod"/>
            </a:pPr>
            <a:r>
              <a:rPr lang="en-IN" sz="1400" b="1" dirty="0">
                <a:latin typeface="Comic Sans MS" panose="030F0702030302020204" pitchFamily="66" charset="0"/>
              </a:rPr>
              <a:t>Cell wall </a:t>
            </a:r>
            <a:r>
              <a:rPr lang="en-IN" sz="1400" i="1" dirty="0">
                <a:latin typeface="Comic Sans MS" panose="030F0702030302020204" pitchFamily="66" charset="0"/>
              </a:rPr>
              <a:t>- </a:t>
            </a:r>
            <a:r>
              <a:rPr lang="en-IN" sz="1400" dirty="0">
                <a:latin typeface="Comic Sans MS" panose="030F0702030302020204" pitchFamily="66" charset="0"/>
              </a:rPr>
              <a:t>The cell wall is calcified and non cellulosic.</a:t>
            </a:r>
          </a:p>
          <a:p>
            <a:pPr marL="400050" indent="-400050" algn="just">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The motile cell have two anteriorly inserted unequal flagella. </a:t>
            </a:r>
          </a:p>
          <a:p>
            <a:pPr marL="400050" indent="-400050" algn="just">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food reserve is </a:t>
            </a:r>
            <a:r>
              <a:rPr lang="en-IN" sz="1400" b="1" dirty="0">
                <a:latin typeface="Comic Sans MS" panose="030F0702030302020204" pitchFamily="66" charset="0"/>
              </a:rPr>
              <a:t>chrysolaminarin</a:t>
            </a:r>
            <a:r>
              <a:rPr lang="en-IN" sz="1400" dirty="0">
                <a:latin typeface="Comic Sans MS" panose="030F0702030302020204" pitchFamily="66" charset="0"/>
              </a:rPr>
              <a:t> and </a:t>
            </a:r>
            <a:r>
              <a:rPr lang="en-IN" sz="1400" b="1" dirty="0">
                <a:latin typeface="Comic Sans MS" panose="030F0702030302020204" pitchFamily="66" charset="0"/>
              </a:rPr>
              <a:t>leucosin</a:t>
            </a:r>
            <a:r>
              <a:rPr lang="en-IN" sz="1400" dirty="0">
                <a:latin typeface="Comic Sans MS" panose="030F0702030302020204" pitchFamily="66" charset="0"/>
              </a:rPr>
              <a:t>.</a:t>
            </a:r>
          </a:p>
          <a:p>
            <a:pPr marL="400050" indent="-400050" algn="just">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Phycochrysin is the dominant pigment which imparts brown or orange colour to these algae.</a:t>
            </a:r>
          </a:p>
          <a:p>
            <a:pPr marL="400050" indent="-400050" algn="just">
              <a:buAutoNum type="romanLcPeriod"/>
            </a:pPr>
            <a:r>
              <a:rPr lang="en-IN" sz="1400" b="1" dirty="0">
                <a:latin typeface="Comic Sans MS" panose="030F0702030302020204" pitchFamily="66" charset="0"/>
                <a:sym typeface="Symbol" panose="05050102010706020507" pitchFamily="18" charset="2"/>
              </a:rPr>
              <a:t>Pyrenoids</a:t>
            </a:r>
            <a:r>
              <a:rPr lang="en-IN" sz="1400" dirty="0">
                <a:latin typeface="Comic Sans MS" panose="030F0702030302020204" pitchFamily="66" charset="0"/>
                <a:sym typeface="Symbol" panose="05050102010706020507" pitchFamily="18" charset="2"/>
              </a:rPr>
              <a:t> – The chromatophores have naked pyrenoid like bodies.</a:t>
            </a:r>
          </a:p>
          <a:p>
            <a:pPr marL="400050" indent="-400050" algn="just">
              <a:buAutoNum type="romanLcPeriod"/>
            </a:pPr>
            <a:r>
              <a:rPr lang="en-IN" sz="1400" b="1" dirty="0">
                <a:latin typeface="Comic Sans MS" panose="030F0702030302020204" pitchFamily="66" charset="0"/>
                <a:sym typeface="Symbol" panose="05050102010706020507" pitchFamily="18" charset="2"/>
              </a:rPr>
              <a:t>Sexual Reproduction</a:t>
            </a:r>
            <a:r>
              <a:rPr lang="en-IN" sz="1400" dirty="0">
                <a:latin typeface="Comic Sans MS" panose="030F0702030302020204" pitchFamily="66" charset="0"/>
                <a:sym typeface="Symbol" panose="05050102010706020507" pitchFamily="18" charset="2"/>
              </a:rPr>
              <a:t> -</a:t>
            </a:r>
            <a:r>
              <a:rPr lang="en-IN" sz="1400" dirty="0">
                <a:latin typeface="Comic Sans MS" panose="030F0702030302020204" pitchFamily="66" charset="0"/>
              </a:rPr>
              <a:t>Sexual reproduction is very rare when present it is isogamous type.</a:t>
            </a:r>
          </a:p>
          <a:p>
            <a:pPr marL="400050" indent="-400050" algn="just">
              <a:buAutoNum type="romanLcPeriod"/>
            </a:pPr>
            <a:r>
              <a:rPr lang="en-IN" sz="1400" b="1" dirty="0">
                <a:latin typeface="Comic Sans MS" panose="030F0702030302020204" pitchFamily="66" charset="0"/>
                <a:sym typeface="Symbol" panose="05050102010706020507" pitchFamily="18" charset="2"/>
              </a:rPr>
              <a:t>Orders</a:t>
            </a:r>
            <a:r>
              <a:rPr lang="en-IN" sz="1400" dirty="0">
                <a:latin typeface="Comic Sans MS" panose="030F0702030302020204" pitchFamily="66" charset="0"/>
                <a:sym typeface="Symbol" panose="05050102010706020507" pitchFamily="18" charset="2"/>
              </a:rPr>
              <a:t> - Chrysomonadales (e.g., </a:t>
            </a:r>
            <a:r>
              <a:rPr lang="en-IN" sz="1400" i="1" dirty="0">
                <a:latin typeface="Comic Sans MS" panose="030F0702030302020204" pitchFamily="66" charset="0"/>
                <a:sym typeface="Symbol" panose="05050102010706020507" pitchFamily="18" charset="2"/>
              </a:rPr>
              <a:t>Chrysodendron</a:t>
            </a:r>
            <a:r>
              <a:rPr lang="en-IN" sz="1400" dirty="0">
                <a:latin typeface="Comic Sans MS" panose="030F0702030302020204" pitchFamily="66" charset="0"/>
                <a:sym typeface="Symbol" panose="05050102010706020507" pitchFamily="18" charset="2"/>
              </a:rPr>
              <a:t>), Chrysosphaerales (e.g, </a:t>
            </a:r>
            <a:r>
              <a:rPr lang="en-IN" sz="1400" i="1" dirty="0">
                <a:latin typeface="Comic Sans MS" panose="030F0702030302020204" pitchFamily="66" charset="0"/>
                <a:sym typeface="Symbol" panose="05050102010706020507" pitchFamily="18" charset="2"/>
              </a:rPr>
              <a:t>Chrysosphaera</a:t>
            </a:r>
            <a:r>
              <a:rPr lang="en-IN" sz="1400" dirty="0">
                <a:latin typeface="Comic Sans MS" panose="030F0702030302020204" pitchFamily="66" charset="0"/>
                <a:sym typeface="Symbol" panose="05050102010706020507" pitchFamily="18" charset="2"/>
              </a:rPr>
              <a:t>),  Chrysotrichales (Chrysoclonium).</a:t>
            </a:r>
          </a:p>
        </p:txBody>
      </p:sp>
      <p:sp>
        <p:nvSpPr>
          <p:cNvPr id="15" name="AutoShape 11">
            <a:extLst>
              <a:ext uri="{FF2B5EF4-FFF2-40B4-BE49-F238E27FC236}">
                <a16:creationId xmlns:a16="http://schemas.microsoft.com/office/drawing/2014/main" id="{D1D051EC-8FCB-4424-9296-D8F9403EB759}"/>
              </a:ext>
            </a:extLst>
          </p:cNvPr>
          <p:cNvSpPr>
            <a:spLocks noChangeArrowheads="1"/>
          </p:cNvSpPr>
          <p:nvPr/>
        </p:nvSpPr>
        <p:spPr bwMode="auto">
          <a:xfrm>
            <a:off x="431800" y="3748006"/>
            <a:ext cx="501650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Bacillariophyceae </a:t>
            </a:r>
            <a:r>
              <a:rPr lang="en-IN" sz="1400" dirty="0">
                <a:latin typeface="Comic Sans MS" panose="030F0702030302020204" pitchFamily="66" charset="0"/>
              </a:rPr>
              <a:t>(Yellow or golden brown)</a:t>
            </a:r>
          </a:p>
        </p:txBody>
      </p:sp>
      <p:sp>
        <p:nvSpPr>
          <p:cNvPr id="16" name="TextBox 15">
            <a:extLst>
              <a:ext uri="{FF2B5EF4-FFF2-40B4-BE49-F238E27FC236}">
                <a16:creationId xmlns:a16="http://schemas.microsoft.com/office/drawing/2014/main" id="{656654B5-BF17-C9A7-34BF-5B8E1C2DC515}"/>
              </a:ext>
            </a:extLst>
          </p:cNvPr>
          <p:cNvSpPr txBox="1"/>
          <p:nvPr/>
        </p:nvSpPr>
        <p:spPr>
          <a:xfrm>
            <a:off x="431799" y="4198563"/>
            <a:ext cx="6636656" cy="2677656"/>
          </a:xfrm>
          <a:prstGeom prst="rect">
            <a:avLst/>
          </a:prstGeom>
          <a:noFill/>
        </p:spPr>
        <p:txBody>
          <a:bodyPr wrap="square">
            <a:spAutoFit/>
          </a:bodyPr>
          <a:lstStyle/>
          <a:p>
            <a:pPr marL="400050" indent="-400050" algn="just">
              <a:buFontTx/>
              <a:buAutoNum type="romanLcPeriod"/>
            </a:pPr>
            <a:r>
              <a:rPr lang="en-IN" sz="1400" b="1" dirty="0">
                <a:latin typeface="Comic Sans MS" panose="030F0702030302020204" pitchFamily="66" charset="0"/>
              </a:rPr>
              <a:t>Habitat </a:t>
            </a:r>
            <a:r>
              <a:rPr lang="en-IN" sz="1400" dirty="0">
                <a:latin typeface="Comic Sans MS" panose="030F0702030302020204" pitchFamily="66" charset="0"/>
              </a:rPr>
              <a:t>- Most forms occur in cold fresh water but a few are marine.</a:t>
            </a:r>
            <a:endParaRPr lang="en-IN" sz="1400" b="1" dirty="0">
              <a:latin typeface="Comic Sans MS" panose="030F0702030302020204" pitchFamily="66" charset="0"/>
            </a:endParaRPr>
          </a:p>
          <a:p>
            <a:pPr marL="400050" indent="-400050" algn="just">
              <a:buAutoNum type="romanLcPeriod"/>
            </a:pPr>
            <a:r>
              <a:rPr lang="en-IN" sz="1400" b="1" dirty="0">
                <a:latin typeface="Comic Sans MS" panose="030F0702030302020204" pitchFamily="66" charset="0"/>
              </a:rPr>
              <a:t>Structure – </a:t>
            </a:r>
            <a:r>
              <a:rPr lang="en-IN" sz="1400" dirty="0">
                <a:latin typeface="Comic Sans MS" panose="030F0702030302020204" pitchFamily="66" charset="0"/>
              </a:rPr>
              <a:t>Plants are unicellular motile to branched filamentous.</a:t>
            </a:r>
          </a:p>
          <a:p>
            <a:pPr marL="400050" indent="-400050" algn="just">
              <a:buAutoNum type="romanLcPeriod"/>
            </a:pPr>
            <a:r>
              <a:rPr lang="en-IN" sz="1400" b="1" dirty="0">
                <a:latin typeface="Comic Sans MS" panose="030F0702030302020204" pitchFamily="66" charset="0"/>
              </a:rPr>
              <a:t>Cell wall </a:t>
            </a:r>
            <a:r>
              <a:rPr lang="en-IN" sz="1400" i="1" dirty="0">
                <a:latin typeface="Comic Sans MS" panose="030F0702030302020204" pitchFamily="66" charset="0"/>
              </a:rPr>
              <a:t>- </a:t>
            </a:r>
            <a:r>
              <a:rPr lang="en-IN" sz="1400" dirty="0">
                <a:latin typeface="Comic Sans MS" panose="030F0702030302020204" pitchFamily="66" charset="0"/>
              </a:rPr>
              <a:t>The cell wall is calcified and non cellulosic.</a:t>
            </a:r>
          </a:p>
          <a:p>
            <a:pPr marL="400050" indent="-400050" algn="just">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The motile cell have two anteriorly inserted unequal flagella. </a:t>
            </a:r>
          </a:p>
          <a:p>
            <a:pPr marL="400050" indent="-400050" algn="just">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food reserve is </a:t>
            </a:r>
            <a:r>
              <a:rPr lang="en-IN" sz="1400" b="1" dirty="0">
                <a:latin typeface="Comic Sans MS" panose="030F0702030302020204" pitchFamily="66" charset="0"/>
              </a:rPr>
              <a:t>chrysolaminarin</a:t>
            </a:r>
            <a:r>
              <a:rPr lang="en-IN" sz="1400" dirty="0">
                <a:latin typeface="Comic Sans MS" panose="030F0702030302020204" pitchFamily="66" charset="0"/>
              </a:rPr>
              <a:t> and </a:t>
            </a:r>
            <a:r>
              <a:rPr lang="en-IN" sz="1400" b="1" dirty="0">
                <a:latin typeface="Comic Sans MS" panose="030F0702030302020204" pitchFamily="66" charset="0"/>
              </a:rPr>
              <a:t>leucosin</a:t>
            </a:r>
            <a:r>
              <a:rPr lang="en-IN" sz="1400" dirty="0">
                <a:latin typeface="Comic Sans MS" panose="030F0702030302020204" pitchFamily="66" charset="0"/>
              </a:rPr>
              <a:t>.</a:t>
            </a:r>
          </a:p>
          <a:p>
            <a:pPr marL="400050" indent="-400050" algn="just">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Phycochrysin is the dominant pigment which imparts brown or orange colour to these algae.</a:t>
            </a:r>
          </a:p>
          <a:p>
            <a:pPr marL="400050" indent="-400050" algn="just">
              <a:buAutoNum type="romanLcPeriod"/>
            </a:pPr>
            <a:r>
              <a:rPr lang="en-IN" sz="1400" b="1" dirty="0">
                <a:latin typeface="Comic Sans MS" panose="030F0702030302020204" pitchFamily="66" charset="0"/>
                <a:sym typeface="Symbol" panose="05050102010706020507" pitchFamily="18" charset="2"/>
              </a:rPr>
              <a:t>Pyrenoids</a:t>
            </a:r>
            <a:r>
              <a:rPr lang="en-IN" sz="1400" dirty="0">
                <a:latin typeface="Comic Sans MS" panose="030F0702030302020204" pitchFamily="66" charset="0"/>
                <a:sym typeface="Symbol" panose="05050102010706020507" pitchFamily="18" charset="2"/>
              </a:rPr>
              <a:t> – The chromatophores have naked pyrenoid like bodies.</a:t>
            </a:r>
          </a:p>
          <a:p>
            <a:pPr marL="400050" indent="-400050" algn="just">
              <a:buAutoNum type="romanLcPeriod"/>
            </a:pPr>
            <a:r>
              <a:rPr lang="en-IN" sz="1400" b="1" dirty="0">
                <a:latin typeface="Comic Sans MS" panose="030F0702030302020204" pitchFamily="66" charset="0"/>
                <a:sym typeface="Symbol" panose="05050102010706020507" pitchFamily="18" charset="2"/>
              </a:rPr>
              <a:t>Sexual Reproduction</a:t>
            </a:r>
            <a:r>
              <a:rPr lang="en-IN" sz="1400" dirty="0">
                <a:latin typeface="Comic Sans MS" panose="030F0702030302020204" pitchFamily="66" charset="0"/>
                <a:sym typeface="Symbol" panose="05050102010706020507" pitchFamily="18" charset="2"/>
              </a:rPr>
              <a:t> -</a:t>
            </a:r>
            <a:r>
              <a:rPr lang="en-IN" sz="1400" dirty="0">
                <a:latin typeface="Comic Sans MS" panose="030F0702030302020204" pitchFamily="66" charset="0"/>
              </a:rPr>
              <a:t>Sexual reproduction is very rare when present it is isogamous type.</a:t>
            </a:r>
          </a:p>
          <a:p>
            <a:pPr marL="400050" indent="-400050" algn="just">
              <a:buAutoNum type="romanLcPeriod"/>
            </a:pPr>
            <a:r>
              <a:rPr lang="en-IN" sz="1400" b="1" dirty="0">
                <a:latin typeface="Comic Sans MS" panose="030F0702030302020204" pitchFamily="66" charset="0"/>
                <a:sym typeface="Symbol" panose="05050102010706020507" pitchFamily="18" charset="2"/>
              </a:rPr>
              <a:t>Orders</a:t>
            </a:r>
            <a:r>
              <a:rPr lang="en-IN" sz="1400" dirty="0">
                <a:latin typeface="Comic Sans MS" panose="030F0702030302020204" pitchFamily="66" charset="0"/>
                <a:sym typeface="Symbol" panose="05050102010706020507" pitchFamily="18" charset="2"/>
              </a:rPr>
              <a:t> - Chrysomonadales (e.g., </a:t>
            </a:r>
            <a:r>
              <a:rPr lang="en-IN" sz="1400" i="1" dirty="0">
                <a:latin typeface="Comic Sans MS" panose="030F0702030302020204" pitchFamily="66" charset="0"/>
                <a:sym typeface="Symbol" panose="05050102010706020507" pitchFamily="18" charset="2"/>
              </a:rPr>
              <a:t>Chrysodendron</a:t>
            </a:r>
            <a:r>
              <a:rPr lang="en-IN" sz="1400" dirty="0">
                <a:latin typeface="Comic Sans MS" panose="030F0702030302020204" pitchFamily="66" charset="0"/>
                <a:sym typeface="Symbol" panose="05050102010706020507" pitchFamily="18" charset="2"/>
              </a:rPr>
              <a:t>), Chrysosphaerales (e.g, </a:t>
            </a:r>
            <a:r>
              <a:rPr lang="en-IN" sz="1400" i="1" dirty="0">
                <a:latin typeface="Comic Sans MS" panose="030F0702030302020204" pitchFamily="66" charset="0"/>
                <a:sym typeface="Symbol" panose="05050102010706020507" pitchFamily="18" charset="2"/>
              </a:rPr>
              <a:t>Chrysosphaera</a:t>
            </a:r>
            <a:r>
              <a:rPr lang="en-IN" sz="1400" dirty="0">
                <a:latin typeface="Comic Sans MS" panose="030F0702030302020204" pitchFamily="66" charset="0"/>
                <a:sym typeface="Symbol" panose="05050102010706020507" pitchFamily="18" charset="2"/>
              </a:rPr>
              <a:t>),  Chrysotrichales (Chrysoclonium).</a:t>
            </a:r>
          </a:p>
        </p:txBody>
      </p:sp>
      <p:sp>
        <p:nvSpPr>
          <p:cNvPr id="11" name="TextBox 10">
            <a:extLst>
              <a:ext uri="{FF2B5EF4-FFF2-40B4-BE49-F238E27FC236}">
                <a16:creationId xmlns:a16="http://schemas.microsoft.com/office/drawing/2014/main" id="{8A91949A-06CC-2355-DEC9-F85BAB5552CE}"/>
              </a:ext>
            </a:extLst>
          </p:cNvPr>
          <p:cNvSpPr txBox="1"/>
          <p:nvPr/>
        </p:nvSpPr>
        <p:spPr>
          <a:xfrm>
            <a:off x="463097" y="7568565"/>
            <a:ext cx="6636656" cy="2246769"/>
          </a:xfrm>
          <a:prstGeom prst="rect">
            <a:avLst/>
          </a:prstGeom>
          <a:noFill/>
        </p:spPr>
        <p:txBody>
          <a:bodyPr wrap="square">
            <a:spAutoFit/>
          </a:bodyPr>
          <a:lstStyle/>
          <a:p>
            <a:pPr marL="400050" indent="-400050" algn="just">
              <a:buFontTx/>
              <a:buAutoNum type="romanLcPeriod"/>
            </a:pPr>
            <a:r>
              <a:rPr lang="en-IN" sz="1400" b="1" dirty="0">
                <a:latin typeface="Comic Sans MS" panose="030F0702030302020204" pitchFamily="66" charset="0"/>
              </a:rPr>
              <a:t>Habitat </a:t>
            </a:r>
            <a:r>
              <a:rPr lang="en-IN" sz="1400" dirty="0">
                <a:latin typeface="Comic Sans MS" panose="030F0702030302020204" pitchFamily="66" charset="0"/>
              </a:rPr>
              <a:t>– both in fresh and marine water.</a:t>
            </a:r>
            <a:endParaRPr lang="en-IN" sz="1400" b="1" dirty="0">
              <a:latin typeface="Comic Sans MS" panose="030F0702030302020204" pitchFamily="66" charset="0"/>
            </a:endParaRPr>
          </a:p>
          <a:p>
            <a:pPr marL="400050" indent="-400050" algn="just">
              <a:buFontTx/>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The motile cell have two slightly unequal flagella. </a:t>
            </a:r>
          </a:p>
          <a:p>
            <a:pPr marL="400050" indent="-400050" algn="just">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food reserve is solid carbohydrates.</a:t>
            </a:r>
          </a:p>
          <a:p>
            <a:pPr marL="400050" indent="-400050" algn="just">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chlorophylls a and c, together with phycobiliproteins and other pigments</a:t>
            </a:r>
          </a:p>
          <a:p>
            <a:pPr marL="400050" indent="-400050" algn="just">
              <a:buAutoNum type="romanLcPeriod"/>
            </a:pPr>
            <a:r>
              <a:rPr lang="en-IN" sz="1400" b="1" dirty="0">
                <a:latin typeface="Comic Sans MS" panose="030F0702030302020204" pitchFamily="66" charset="0"/>
                <a:sym typeface="Symbol" panose="05050102010706020507" pitchFamily="18" charset="2"/>
              </a:rPr>
              <a:t>Pyrenoids</a:t>
            </a:r>
            <a:r>
              <a:rPr lang="en-IN" sz="1400" dirty="0">
                <a:latin typeface="Comic Sans MS" panose="030F0702030302020204" pitchFamily="66" charset="0"/>
                <a:sym typeface="Symbol" panose="05050102010706020507" pitchFamily="18" charset="2"/>
              </a:rPr>
              <a:t> – The chromatophores have naked pyrenoid like bodies.</a:t>
            </a:r>
          </a:p>
          <a:p>
            <a:pPr marL="400050" indent="-400050" algn="just">
              <a:buAutoNum type="romanLcPeriod"/>
            </a:pPr>
            <a:r>
              <a:rPr lang="en-IN" sz="1400" b="1" dirty="0">
                <a:latin typeface="Comic Sans MS" panose="030F0702030302020204" pitchFamily="66" charset="0"/>
                <a:sym typeface="Symbol" panose="05050102010706020507" pitchFamily="18" charset="2"/>
              </a:rPr>
              <a:t>Sexual Reproduction</a:t>
            </a:r>
            <a:r>
              <a:rPr lang="en-IN" sz="1400" dirty="0">
                <a:latin typeface="Comic Sans MS" panose="030F0702030302020204" pitchFamily="66" charset="0"/>
                <a:sym typeface="Symbol" panose="05050102010706020507" pitchFamily="18" charset="2"/>
              </a:rPr>
              <a:t> - </a:t>
            </a:r>
            <a:r>
              <a:rPr lang="en-IN" sz="1400" dirty="0">
                <a:latin typeface="Comic Sans MS" panose="030F0702030302020204" pitchFamily="66" charset="0"/>
              </a:rPr>
              <a:t>Sexual reproduction is rare and of isogamous type.</a:t>
            </a:r>
          </a:p>
          <a:p>
            <a:pPr marL="400050" indent="-400050" algn="just">
              <a:buAutoNum type="romanLcPeriod"/>
            </a:pPr>
            <a:r>
              <a:rPr lang="en-IN" sz="1400" b="1" dirty="0">
                <a:latin typeface="Comic Sans MS" panose="030F0702030302020204" pitchFamily="66" charset="0"/>
                <a:sym typeface="Symbol" panose="05050102010706020507" pitchFamily="18" charset="2"/>
              </a:rPr>
              <a:t>Orders</a:t>
            </a:r>
            <a:r>
              <a:rPr lang="en-IN" sz="1400" dirty="0">
                <a:latin typeface="Comic Sans MS" panose="030F0702030302020204" pitchFamily="66" charset="0"/>
                <a:sym typeface="Symbol" panose="05050102010706020507" pitchFamily="18" charset="2"/>
              </a:rPr>
              <a:t> - Crptomonadales (e.g., Cryptomonas), Cryptococcales (e.g.,Tetragonidium)</a:t>
            </a:r>
          </a:p>
        </p:txBody>
      </p:sp>
      <p:sp>
        <p:nvSpPr>
          <p:cNvPr id="12" name="AutoShape 11">
            <a:extLst>
              <a:ext uri="{FF2B5EF4-FFF2-40B4-BE49-F238E27FC236}">
                <a16:creationId xmlns:a16="http://schemas.microsoft.com/office/drawing/2014/main" id="{38CDC8CB-B0BF-05B0-06D5-FF53F3B43158}"/>
              </a:ext>
            </a:extLst>
          </p:cNvPr>
          <p:cNvSpPr>
            <a:spLocks noChangeArrowheads="1"/>
          </p:cNvSpPr>
          <p:nvPr/>
        </p:nvSpPr>
        <p:spPr bwMode="auto">
          <a:xfrm>
            <a:off x="431799" y="7079614"/>
            <a:ext cx="410083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Cryptophyceae </a:t>
            </a:r>
            <a:r>
              <a:rPr lang="en-IN" sz="1400" dirty="0">
                <a:latin typeface="Comic Sans MS" panose="030F0702030302020204" pitchFamily="66" charset="0"/>
              </a:rPr>
              <a:t>(Nearly Brown)</a:t>
            </a:r>
          </a:p>
        </p:txBody>
      </p:sp>
      <p:sp>
        <p:nvSpPr>
          <p:cNvPr id="13" name="AutoShape 11">
            <a:extLst>
              <a:ext uri="{FF2B5EF4-FFF2-40B4-BE49-F238E27FC236}">
                <a16:creationId xmlns:a16="http://schemas.microsoft.com/office/drawing/2014/main" id="{9FC1C05B-1366-9F67-B236-B228280F8E67}"/>
              </a:ext>
            </a:extLst>
          </p:cNvPr>
          <p:cNvSpPr>
            <a:spLocks noChangeArrowheads="1"/>
          </p:cNvSpPr>
          <p:nvPr/>
        </p:nvSpPr>
        <p:spPr bwMode="auto">
          <a:xfrm>
            <a:off x="431799" y="390051"/>
            <a:ext cx="410083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Chrysophyceae </a:t>
            </a:r>
            <a:r>
              <a:rPr lang="en-IN" sz="1400" dirty="0">
                <a:latin typeface="Comic Sans MS" panose="030F0702030302020204" pitchFamily="66" charset="0"/>
              </a:rPr>
              <a:t>(Brown or orange)</a:t>
            </a:r>
          </a:p>
        </p:txBody>
      </p:sp>
    </p:spTree>
    <p:extLst>
      <p:ext uri="{BB962C8B-B14F-4D97-AF65-F5344CB8AC3E}">
        <p14:creationId xmlns:p14="http://schemas.microsoft.com/office/powerpoint/2010/main" val="874485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072DA446-4EAC-4E6A-3EB9-6AA0EF7FB5F7}"/>
              </a:ext>
            </a:extLst>
          </p:cNvPr>
          <p:cNvSpPr>
            <a:spLocks noChangeArrowheads="1"/>
          </p:cNvSpPr>
          <p:nvPr/>
        </p:nvSpPr>
        <p:spPr bwMode="auto">
          <a:xfrm>
            <a:off x="452120" y="388620"/>
            <a:ext cx="410083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Dinophyceae </a:t>
            </a:r>
            <a:r>
              <a:rPr lang="en-IN" sz="1400" dirty="0">
                <a:latin typeface="Comic Sans MS" panose="030F0702030302020204" pitchFamily="66" charset="0"/>
              </a:rPr>
              <a:t>(Dark yellow or brown)</a:t>
            </a:r>
          </a:p>
        </p:txBody>
      </p:sp>
      <p:sp>
        <p:nvSpPr>
          <p:cNvPr id="5" name="TextBox 4">
            <a:extLst>
              <a:ext uri="{FF2B5EF4-FFF2-40B4-BE49-F238E27FC236}">
                <a16:creationId xmlns:a16="http://schemas.microsoft.com/office/drawing/2014/main" id="{4BEB0106-190F-1D65-66F3-F9FE4786D698}"/>
              </a:ext>
            </a:extLst>
          </p:cNvPr>
          <p:cNvSpPr txBox="1"/>
          <p:nvPr/>
        </p:nvSpPr>
        <p:spPr>
          <a:xfrm>
            <a:off x="452119" y="839177"/>
            <a:ext cx="6636656" cy="2246769"/>
          </a:xfrm>
          <a:prstGeom prst="rect">
            <a:avLst/>
          </a:prstGeom>
          <a:noFill/>
        </p:spPr>
        <p:txBody>
          <a:bodyPr wrap="square">
            <a:spAutoFit/>
          </a:bodyPr>
          <a:lstStyle/>
          <a:p>
            <a:pPr marL="400050" indent="-400050">
              <a:buFontTx/>
              <a:buAutoNum type="romanLcPeriod"/>
            </a:pPr>
            <a:r>
              <a:rPr lang="en-IN" sz="1400" b="1" dirty="0">
                <a:latin typeface="Comic Sans MS" panose="030F0702030302020204" pitchFamily="66" charset="0"/>
              </a:rPr>
              <a:t>Habitat </a:t>
            </a:r>
            <a:r>
              <a:rPr lang="en-IN" sz="1400" dirty="0">
                <a:latin typeface="Comic Sans MS" panose="030F0702030302020204" pitchFamily="66" charset="0"/>
              </a:rPr>
              <a:t>– Plants occur widely as sea water planktons. A few may be fresh water forms.</a:t>
            </a:r>
          </a:p>
          <a:p>
            <a:pPr marL="400050" indent="-400050">
              <a:buFontTx/>
              <a:buAutoNum type="romanLcPeriod"/>
            </a:pPr>
            <a:r>
              <a:rPr lang="en-IN" sz="1400" b="1" dirty="0">
                <a:latin typeface="Comic Sans MS" panose="030F0702030302020204" pitchFamily="66" charset="0"/>
              </a:rPr>
              <a:t>Structure – </a:t>
            </a:r>
            <a:r>
              <a:rPr lang="en-IN" sz="1400" dirty="0">
                <a:latin typeface="Comic Sans MS" panose="030F0702030302020204" pitchFamily="66" charset="0"/>
              </a:rPr>
              <a:t>Plants are unicellular motile to branched filamentous.</a:t>
            </a:r>
            <a:endParaRPr lang="en-IN" sz="1400" b="1" dirty="0">
              <a:latin typeface="Comic Sans MS" panose="030F0702030302020204" pitchFamily="66" charset="0"/>
            </a:endParaRPr>
          </a:p>
          <a:p>
            <a:pPr marL="400050" indent="-400050">
              <a:buFontTx/>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Most of the cells of this class are motile unicells with two flagella.</a:t>
            </a:r>
          </a:p>
          <a:p>
            <a:pPr marL="400050" indent="-400050">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food reserve are starch and fat.</a:t>
            </a:r>
          </a:p>
          <a:p>
            <a:pPr marL="400050" indent="-400050">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The main pigment is xanthophyll which imparts brown or red colour. </a:t>
            </a:r>
          </a:p>
          <a:p>
            <a:pPr marL="400050" indent="-400050">
              <a:buAutoNum type="romanLcPeriod"/>
            </a:pPr>
            <a:r>
              <a:rPr lang="en-IN" sz="1400" b="1" dirty="0">
                <a:latin typeface="Comic Sans MS" panose="030F0702030302020204" pitchFamily="66" charset="0"/>
                <a:sym typeface="Symbol" panose="05050102010706020507" pitchFamily="18" charset="2"/>
              </a:rPr>
              <a:t>Sexual Reproduction</a:t>
            </a:r>
            <a:r>
              <a:rPr lang="en-IN" sz="1400" dirty="0">
                <a:latin typeface="Comic Sans MS" panose="030F0702030302020204" pitchFamily="66" charset="0"/>
                <a:sym typeface="Symbol" panose="05050102010706020507" pitchFamily="18" charset="2"/>
              </a:rPr>
              <a:t> - </a:t>
            </a:r>
            <a:r>
              <a:rPr lang="en-IN" sz="1400" dirty="0">
                <a:latin typeface="Comic Sans MS" panose="030F0702030302020204" pitchFamily="66" charset="0"/>
              </a:rPr>
              <a:t>Sexual reproduction is absent.</a:t>
            </a:r>
          </a:p>
          <a:p>
            <a:pPr marL="400050" indent="-400050">
              <a:buAutoNum type="romanLcPeriod"/>
            </a:pPr>
            <a:r>
              <a:rPr lang="en-IN" sz="1400" b="1" dirty="0">
                <a:latin typeface="Comic Sans MS" panose="030F0702030302020204" pitchFamily="66" charset="0"/>
                <a:sym typeface="Symbol" panose="05050102010706020507" pitchFamily="18" charset="2"/>
              </a:rPr>
              <a:t>Orders</a:t>
            </a:r>
            <a:r>
              <a:rPr lang="en-IN" sz="1400" dirty="0">
                <a:latin typeface="Comic Sans MS" panose="030F0702030302020204" pitchFamily="66" charset="0"/>
                <a:sym typeface="Symbol" panose="05050102010706020507" pitchFamily="18" charset="2"/>
              </a:rPr>
              <a:t> - This class includes six orders.</a:t>
            </a:r>
          </a:p>
        </p:txBody>
      </p:sp>
      <p:sp>
        <p:nvSpPr>
          <p:cNvPr id="6" name="AutoShape 11">
            <a:extLst>
              <a:ext uri="{FF2B5EF4-FFF2-40B4-BE49-F238E27FC236}">
                <a16:creationId xmlns:a16="http://schemas.microsoft.com/office/drawing/2014/main" id="{05B88066-09C7-4DC5-7110-F0BE6FAAFDD7}"/>
              </a:ext>
            </a:extLst>
          </p:cNvPr>
          <p:cNvSpPr>
            <a:spLocks noChangeArrowheads="1"/>
          </p:cNvSpPr>
          <p:nvPr/>
        </p:nvSpPr>
        <p:spPr bwMode="auto">
          <a:xfrm>
            <a:off x="441326" y="3353721"/>
            <a:ext cx="410083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Euglenineae </a:t>
            </a:r>
            <a:r>
              <a:rPr lang="en-IN" sz="1400" dirty="0">
                <a:latin typeface="Comic Sans MS" panose="030F0702030302020204" pitchFamily="66" charset="0"/>
              </a:rPr>
              <a:t>(Pure green)</a:t>
            </a:r>
          </a:p>
        </p:txBody>
      </p:sp>
      <p:sp>
        <p:nvSpPr>
          <p:cNvPr id="7" name="TextBox 6">
            <a:extLst>
              <a:ext uri="{FF2B5EF4-FFF2-40B4-BE49-F238E27FC236}">
                <a16:creationId xmlns:a16="http://schemas.microsoft.com/office/drawing/2014/main" id="{6B43AA53-D522-D2C3-DD62-F5A2EE1373BC}"/>
              </a:ext>
            </a:extLst>
          </p:cNvPr>
          <p:cNvSpPr txBox="1"/>
          <p:nvPr/>
        </p:nvSpPr>
        <p:spPr>
          <a:xfrm>
            <a:off x="441325" y="3804278"/>
            <a:ext cx="6636656" cy="2246769"/>
          </a:xfrm>
          <a:prstGeom prst="rect">
            <a:avLst/>
          </a:prstGeom>
          <a:noFill/>
        </p:spPr>
        <p:txBody>
          <a:bodyPr wrap="square">
            <a:spAutoFit/>
          </a:bodyPr>
          <a:lstStyle/>
          <a:p>
            <a:pPr marL="400050" indent="-400050">
              <a:buFontTx/>
              <a:buAutoNum type="romanLcPeriod"/>
            </a:pPr>
            <a:r>
              <a:rPr lang="en-IN" sz="1400" b="1" dirty="0">
                <a:latin typeface="Comic Sans MS" panose="030F0702030302020204" pitchFamily="66" charset="0"/>
              </a:rPr>
              <a:t>Habitat </a:t>
            </a:r>
            <a:r>
              <a:rPr lang="en-IN" sz="1400" dirty="0">
                <a:latin typeface="Comic Sans MS" panose="030F0702030302020204" pitchFamily="66" charset="0"/>
              </a:rPr>
              <a:t>– Plants occur only fresh water.</a:t>
            </a:r>
          </a:p>
          <a:p>
            <a:pPr marL="400050" indent="-400050">
              <a:buFontTx/>
              <a:buAutoNum type="romanLcPeriod"/>
            </a:pPr>
            <a:r>
              <a:rPr lang="en-IN" sz="1400" b="1" dirty="0">
                <a:latin typeface="Comic Sans MS" panose="030F0702030302020204" pitchFamily="66" charset="0"/>
              </a:rPr>
              <a:t>Structure – </a:t>
            </a:r>
            <a:r>
              <a:rPr lang="en-IN" sz="1400" dirty="0">
                <a:latin typeface="Comic Sans MS" panose="030F0702030302020204" pitchFamily="66" charset="0"/>
              </a:rPr>
              <a:t>Plants are unicellular. Pyrenoid like bodies are present in some forms.</a:t>
            </a:r>
          </a:p>
          <a:p>
            <a:pPr marL="400050" indent="-400050">
              <a:buFontTx/>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Most of the members have one or two flagella which arise from base of a canal like invagination at the anterior end.</a:t>
            </a:r>
          </a:p>
          <a:p>
            <a:pPr marL="400050" indent="-400050">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reserve food is a polysaccharide paramylon, related to starch, and fats.</a:t>
            </a:r>
          </a:p>
          <a:p>
            <a:pPr marL="400050" indent="-400050">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chlorophyll a and b, (</a:t>
            </a:r>
            <a:r>
              <a:rPr lang="el-GR" sz="1400" dirty="0">
                <a:latin typeface="Comic Sans MS" panose="030F0702030302020204" pitchFamily="66" charset="0"/>
              </a:rPr>
              <a:t>β-</a:t>
            </a:r>
            <a:r>
              <a:rPr lang="en-IN" sz="1400" dirty="0">
                <a:latin typeface="Comic Sans MS" panose="030F0702030302020204" pitchFamily="66" charset="0"/>
              </a:rPr>
              <a:t>carotenes, xanthophyll). </a:t>
            </a:r>
          </a:p>
          <a:p>
            <a:pPr marL="400050" indent="-400050">
              <a:buAutoNum type="romanLcPeriod"/>
            </a:pPr>
            <a:r>
              <a:rPr lang="en-IN" sz="1400" b="1" dirty="0">
                <a:latin typeface="Comic Sans MS" panose="030F0702030302020204" pitchFamily="66" charset="0"/>
                <a:sym typeface="Symbol" panose="05050102010706020507" pitchFamily="18" charset="2"/>
              </a:rPr>
              <a:t>Sexual Reproduction</a:t>
            </a:r>
            <a:r>
              <a:rPr lang="en-IN" sz="1400" dirty="0">
                <a:latin typeface="Comic Sans MS" panose="030F0702030302020204" pitchFamily="66" charset="0"/>
                <a:sym typeface="Symbol" panose="05050102010706020507" pitchFamily="18" charset="2"/>
              </a:rPr>
              <a:t> - </a:t>
            </a:r>
            <a:r>
              <a:rPr lang="en-IN" sz="1400" dirty="0">
                <a:latin typeface="Comic Sans MS" panose="030F0702030302020204" pitchFamily="66" charset="0"/>
              </a:rPr>
              <a:t>Sexual reproduction is not substantially known and is of isogamous type.</a:t>
            </a:r>
            <a:endParaRPr lang="en-IN" sz="1400" dirty="0">
              <a:latin typeface="Comic Sans MS" panose="030F0702030302020204" pitchFamily="66" charset="0"/>
              <a:sym typeface="Symbol" panose="05050102010706020507" pitchFamily="18" charset="2"/>
            </a:endParaRPr>
          </a:p>
        </p:txBody>
      </p:sp>
      <p:sp>
        <p:nvSpPr>
          <p:cNvPr id="8" name="AutoShape 11">
            <a:extLst>
              <a:ext uri="{FF2B5EF4-FFF2-40B4-BE49-F238E27FC236}">
                <a16:creationId xmlns:a16="http://schemas.microsoft.com/office/drawing/2014/main" id="{6B854744-DF24-173E-24CC-8C61B52AF56C}"/>
              </a:ext>
            </a:extLst>
          </p:cNvPr>
          <p:cNvSpPr>
            <a:spLocks noChangeArrowheads="1"/>
          </p:cNvSpPr>
          <p:nvPr/>
        </p:nvSpPr>
        <p:spPr bwMode="auto">
          <a:xfrm>
            <a:off x="426130" y="6240912"/>
            <a:ext cx="396875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Phaeophyceae </a:t>
            </a:r>
            <a:r>
              <a:rPr lang="en-IN" sz="1400" dirty="0">
                <a:latin typeface="Comic Sans MS" panose="030F0702030302020204" pitchFamily="66" charset="0"/>
              </a:rPr>
              <a:t>(Brown)</a:t>
            </a:r>
          </a:p>
        </p:txBody>
      </p:sp>
      <p:sp>
        <p:nvSpPr>
          <p:cNvPr id="9" name="TextBox 8">
            <a:extLst>
              <a:ext uri="{FF2B5EF4-FFF2-40B4-BE49-F238E27FC236}">
                <a16:creationId xmlns:a16="http://schemas.microsoft.com/office/drawing/2014/main" id="{CEA885CE-DDBF-B7B3-A454-982D03DD41B5}"/>
              </a:ext>
            </a:extLst>
          </p:cNvPr>
          <p:cNvSpPr txBox="1"/>
          <p:nvPr/>
        </p:nvSpPr>
        <p:spPr>
          <a:xfrm>
            <a:off x="436925" y="6680651"/>
            <a:ext cx="6636656" cy="1815882"/>
          </a:xfrm>
          <a:prstGeom prst="rect">
            <a:avLst/>
          </a:prstGeom>
          <a:noFill/>
        </p:spPr>
        <p:txBody>
          <a:bodyPr wrap="square">
            <a:spAutoFit/>
          </a:bodyPr>
          <a:lstStyle/>
          <a:p>
            <a:pPr algn="just"/>
            <a:r>
              <a:rPr lang="en-IN" sz="1400" dirty="0">
                <a:latin typeface="Comic Sans MS" panose="030F0702030302020204" pitchFamily="66" charset="0"/>
              </a:rPr>
              <a:t>The brown algae which is structurally most complex algae are characterised by the presence of golden brown xanthophyll pigment, fucoxanthin imparting a colour variation from olive green through light golden to dark brown. The other accessory pigments are chlorophyll a, chlorophyll c, </a:t>
            </a:r>
            <a:r>
              <a:rPr lang="el-GR" sz="1400" dirty="0">
                <a:latin typeface="Comic Sans MS" panose="030F0702030302020204" pitchFamily="66" charset="0"/>
              </a:rPr>
              <a:t>β</a:t>
            </a:r>
            <a:r>
              <a:rPr lang="en-IN" sz="1400" dirty="0">
                <a:latin typeface="Comic Sans MS" panose="030F0702030302020204" pitchFamily="66" charset="0"/>
              </a:rPr>
              <a:t> and C-carotenes and other xanthophylls. The pigment locates in chromatophores. Naked pyrenoids are present only in primitive forms. The reserve photosynthetic products are laminarin and mannitol and rarely some fats. Laminarin, however, predominates. They occur from simple filaments to massive plant bodies.</a:t>
            </a:r>
            <a:endParaRPr lang="en-IN" sz="1400" i="1" dirty="0">
              <a:latin typeface="Comic Sans MS" panose="030F0702030302020204" pitchFamily="66" charset="0"/>
            </a:endParaRPr>
          </a:p>
        </p:txBody>
      </p:sp>
      <p:sp>
        <p:nvSpPr>
          <p:cNvPr id="10" name="AutoShape 11">
            <a:extLst>
              <a:ext uri="{FF2B5EF4-FFF2-40B4-BE49-F238E27FC236}">
                <a16:creationId xmlns:a16="http://schemas.microsoft.com/office/drawing/2014/main" id="{7537E11C-FF1E-08DA-19B6-F17E5277332F}"/>
              </a:ext>
            </a:extLst>
          </p:cNvPr>
          <p:cNvSpPr>
            <a:spLocks noChangeArrowheads="1"/>
          </p:cNvSpPr>
          <p:nvPr/>
        </p:nvSpPr>
        <p:spPr bwMode="auto">
          <a:xfrm>
            <a:off x="431800" y="8726208"/>
            <a:ext cx="2611578"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Habitat</a:t>
            </a:r>
          </a:p>
        </p:txBody>
      </p:sp>
      <p:sp>
        <p:nvSpPr>
          <p:cNvPr id="12" name="TextBox 11">
            <a:extLst>
              <a:ext uri="{FF2B5EF4-FFF2-40B4-BE49-F238E27FC236}">
                <a16:creationId xmlns:a16="http://schemas.microsoft.com/office/drawing/2014/main" id="{F309239B-7877-D13D-9559-ADDD66A3F11F}"/>
              </a:ext>
            </a:extLst>
          </p:cNvPr>
          <p:cNvSpPr txBox="1"/>
          <p:nvPr/>
        </p:nvSpPr>
        <p:spPr>
          <a:xfrm>
            <a:off x="431800" y="9115147"/>
            <a:ext cx="6636656" cy="738664"/>
          </a:xfrm>
          <a:prstGeom prst="rect">
            <a:avLst/>
          </a:prstGeom>
          <a:noFill/>
        </p:spPr>
        <p:txBody>
          <a:bodyPr wrap="square">
            <a:spAutoFit/>
          </a:bodyPr>
          <a:lstStyle/>
          <a:p>
            <a:pPr algn="just"/>
            <a:r>
              <a:rPr lang="en-IN" sz="1400" dirty="0">
                <a:latin typeface="Comic Sans MS" panose="030F0702030302020204" pitchFamily="66" charset="0"/>
              </a:rPr>
              <a:t>The main habitat of brown algae is marine water. Only three genera </a:t>
            </a:r>
            <a:r>
              <a:rPr lang="en-IN" sz="1400" i="1" dirty="0">
                <a:latin typeface="Comic Sans MS" panose="030F0702030302020204" pitchFamily="66" charset="0"/>
              </a:rPr>
              <a:t>Pleurocladia, Bodanella </a:t>
            </a:r>
            <a:r>
              <a:rPr lang="en-IN" sz="1400" dirty="0">
                <a:latin typeface="Comic Sans MS" panose="030F0702030302020204" pitchFamily="66" charset="0"/>
              </a:rPr>
              <a:t>and </a:t>
            </a:r>
            <a:r>
              <a:rPr lang="en-IN" sz="1400" i="1" dirty="0">
                <a:latin typeface="Comic Sans MS" panose="030F0702030302020204" pitchFamily="66" charset="0"/>
              </a:rPr>
              <a:t>Heribandiella </a:t>
            </a:r>
            <a:r>
              <a:rPr lang="en-IN" sz="1400" dirty="0">
                <a:latin typeface="Comic Sans MS" panose="030F0702030302020204" pitchFamily="66" charset="0"/>
              </a:rPr>
              <a:t>have been reported to grow in fresh water. Some other forms are also reported to grow in brackish water.</a:t>
            </a:r>
            <a:endParaRPr lang="en-IN" sz="1400" i="1" dirty="0">
              <a:latin typeface="Comic Sans MS" panose="030F0702030302020204" pitchFamily="66" charset="0"/>
            </a:endParaRPr>
          </a:p>
        </p:txBody>
      </p:sp>
      <p:sp>
        <p:nvSpPr>
          <p:cNvPr id="13" name="AutoShape 43">
            <a:extLst>
              <a:ext uri="{FF2B5EF4-FFF2-40B4-BE49-F238E27FC236}">
                <a16:creationId xmlns:a16="http://schemas.microsoft.com/office/drawing/2014/main" id="{D4570200-2E5D-73EB-85A9-E56BF8C01C21}"/>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4" name="Text Box 45">
            <a:extLst>
              <a:ext uri="{FF2B5EF4-FFF2-40B4-BE49-F238E27FC236}">
                <a16:creationId xmlns:a16="http://schemas.microsoft.com/office/drawing/2014/main" id="{EECD8003-4EBC-92E5-BA10-11E3E27480C3}"/>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16</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Text Box 46">
            <a:extLst>
              <a:ext uri="{FF2B5EF4-FFF2-40B4-BE49-F238E27FC236}">
                <a16:creationId xmlns:a16="http://schemas.microsoft.com/office/drawing/2014/main" id="{C6934739-B483-8B43-9506-CFDD09F232C5}"/>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16" name="Text Box 47">
            <a:extLst>
              <a:ext uri="{FF2B5EF4-FFF2-40B4-BE49-F238E27FC236}">
                <a16:creationId xmlns:a16="http://schemas.microsoft.com/office/drawing/2014/main" id="{503B610E-AC25-3436-4673-CD304F79EABE}"/>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Tree>
    <p:extLst>
      <p:ext uri="{BB962C8B-B14F-4D97-AF65-F5344CB8AC3E}">
        <p14:creationId xmlns:p14="http://schemas.microsoft.com/office/powerpoint/2010/main" val="588329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D3A12444-EBB0-1635-A281-C1394B0B93E1}"/>
              </a:ext>
            </a:extLst>
          </p:cNvPr>
          <p:cNvSpPr>
            <a:spLocks noChangeArrowheads="1"/>
          </p:cNvSpPr>
          <p:nvPr/>
        </p:nvSpPr>
        <p:spPr bwMode="auto">
          <a:xfrm>
            <a:off x="431800" y="3961641"/>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Reproduction</a:t>
            </a:r>
          </a:p>
        </p:txBody>
      </p:sp>
      <p:sp>
        <p:nvSpPr>
          <p:cNvPr id="5" name="TextBox 4">
            <a:extLst>
              <a:ext uri="{FF2B5EF4-FFF2-40B4-BE49-F238E27FC236}">
                <a16:creationId xmlns:a16="http://schemas.microsoft.com/office/drawing/2014/main" id="{65B52CF0-1AFC-96E5-43B4-56BDB5330006}"/>
              </a:ext>
            </a:extLst>
          </p:cNvPr>
          <p:cNvSpPr txBox="1"/>
          <p:nvPr/>
        </p:nvSpPr>
        <p:spPr>
          <a:xfrm>
            <a:off x="431800" y="4355739"/>
            <a:ext cx="6636656" cy="738664"/>
          </a:xfrm>
          <a:prstGeom prst="rect">
            <a:avLst/>
          </a:prstGeom>
          <a:noFill/>
        </p:spPr>
        <p:txBody>
          <a:bodyPr wrap="square">
            <a:spAutoFit/>
          </a:bodyPr>
          <a:lstStyle/>
          <a:p>
            <a:pPr marL="400050" indent="-400050">
              <a:buAutoNum type="romanLcPeriod"/>
            </a:pPr>
            <a:r>
              <a:rPr lang="en-IN" sz="1400" b="1" dirty="0">
                <a:latin typeface="Comic Sans MS" panose="030F0702030302020204" pitchFamily="66" charset="0"/>
              </a:rPr>
              <a:t>Vegetative </a:t>
            </a:r>
            <a:r>
              <a:rPr lang="en-IN" sz="1400" dirty="0">
                <a:latin typeface="Comic Sans MS" panose="030F0702030302020204" pitchFamily="66" charset="0"/>
              </a:rPr>
              <a:t>– Fragmentation</a:t>
            </a:r>
          </a:p>
          <a:p>
            <a:pPr marL="400050" indent="-400050">
              <a:buAutoNum type="romanLcPeriod"/>
            </a:pPr>
            <a:r>
              <a:rPr lang="en-IN" sz="1400" b="1" dirty="0">
                <a:latin typeface="Comic Sans MS" panose="030F0702030302020204" pitchFamily="66" charset="0"/>
              </a:rPr>
              <a:t>Asexual </a:t>
            </a:r>
            <a:r>
              <a:rPr lang="en-IN" sz="1400" dirty="0">
                <a:latin typeface="Comic Sans MS" panose="030F0702030302020204" pitchFamily="66" charset="0"/>
              </a:rPr>
              <a:t>– Zoospores (lateral flagella)</a:t>
            </a:r>
          </a:p>
          <a:p>
            <a:pPr marL="400050" indent="-400050">
              <a:buAutoNum type="romanLcPeriod"/>
            </a:pPr>
            <a:r>
              <a:rPr lang="en-IN" sz="1400" b="1" dirty="0">
                <a:latin typeface="Comic Sans MS" panose="030F0702030302020204" pitchFamily="66" charset="0"/>
              </a:rPr>
              <a:t>Sexual </a:t>
            </a:r>
            <a:r>
              <a:rPr lang="en-IN" sz="1400" dirty="0">
                <a:latin typeface="Comic Sans MS" panose="030F0702030302020204" pitchFamily="66" charset="0"/>
              </a:rPr>
              <a:t>– Isogamous, Anisogamous, Oogamous (e.g. fucus)</a:t>
            </a:r>
          </a:p>
        </p:txBody>
      </p:sp>
      <p:sp>
        <p:nvSpPr>
          <p:cNvPr id="6" name="AutoShape 43">
            <a:extLst>
              <a:ext uri="{FF2B5EF4-FFF2-40B4-BE49-F238E27FC236}">
                <a16:creationId xmlns:a16="http://schemas.microsoft.com/office/drawing/2014/main" id="{E8D4E25E-67A0-C2C6-007C-DFAB51548073}"/>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B5D7F6B2-7004-0666-C702-CC404E39B005}"/>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17</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DD05D11E-AC53-B1BE-B87D-EA0C06C23DAC}"/>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9" name="Text Box 47">
            <a:extLst>
              <a:ext uri="{FF2B5EF4-FFF2-40B4-BE49-F238E27FC236}">
                <a16:creationId xmlns:a16="http://schemas.microsoft.com/office/drawing/2014/main" id="{B0940845-CD22-B1F4-B2D0-0B50FA2CF96F}"/>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0" name="AutoShape 11">
            <a:extLst>
              <a:ext uri="{FF2B5EF4-FFF2-40B4-BE49-F238E27FC236}">
                <a16:creationId xmlns:a16="http://schemas.microsoft.com/office/drawing/2014/main" id="{26D1F0DF-0B62-8C31-1AA5-C0AC351675E0}"/>
              </a:ext>
            </a:extLst>
          </p:cNvPr>
          <p:cNvSpPr>
            <a:spLocks noChangeArrowheads="1"/>
          </p:cNvSpPr>
          <p:nvPr/>
        </p:nvSpPr>
        <p:spPr bwMode="auto">
          <a:xfrm>
            <a:off x="431800" y="374862"/>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Internal Structure</a:t>
            </a:r>
          </a:p>
        </p:txBody>
      </p:sp>
      <p:sp>
        <p:nvSpPr>
          <p:cNvPr id="11" name="TextBox 10">
            <a:extLst>
              <a:ext uri="{FF2B5EF4-FFF2-40B4-BE49-F238E27FC236}">
                <a16:creationId xmlns:a16="http://schemas.microsoft.com/office/drawing/2014/main" id="{06800E6F-3B2D-FB84-42BD-01DBE66D8950}"/>
              </a:ext>
            </a:extLst>
          </p:cNvPr>
          <p:cNvSpPr txBox="1"/>
          <p:nvPr/>
        </p:nvSpPr>
        <p:spPr>
          <a:xfrm>
            <a:off x="431800" y="768960"/>
            <a:ext cx="6636656" cy="3108543"/>
          </a:xfrm>
          <a:prstGeom prst="rect">
            <a:avLst/>
          </a:prstGeom>
          <a:noFill/>
        </p:spPr>
        <p:txBody>
          <a:bodyPr wrap="square">
            <a:spAutoFit/>
          </a:bodyPr>
          <a:lstStyle/>
          <a:p>
            <a:pPr marL="400050" indent="-400050" algn="just">
              <a:buAutoNum type="romanLcPeriod"/>
            </a:pPr>
            <a:r>
              <a:rPr lang="en-IN" sz="1400" b="1" dirty="0">
                <a:latin typeface="Comic Sans MS" panose="030F0702030302020204" pitchFamily="66" charset="0"/>
              </a:rPr>
              <a:t>Cell wall – </a:t>
            </a:r>
            <a:r>
              <a:rPr lang="en-IN" sz="1400" dirty="0">
                <a:latin typeface="Comic Sans MS" panose="030F0702030302020204" pitchFamily="66" charset="0"/>
              </a:rPr>
              <a:t>it consists of two layers. The inner layer consists of cellulose with molecules arranged in the form of parallel microfibrils. It contains glucose and xylose as sub-units. The outer layer is gelatinous and is composed of pectic substance. In majority of forms the outer layer shows the presence of certain colloidal substances like algin and fucoidan. These compounds chiefly dominate in </a:t>
            </a:r>
            <a:r>
              <a:rPr lang="en-IN" sz="1400" i="1" dirty="0">
                <a:latin typeface="Comic Sans MS" panose="030F0702030302020204" pitchFamily="66" charset="0"/>
              </a:rPr>
              <a:t>Laminaria</a:t>
            </a:r>
            <a:r>
              <a:rPr lang="en-IN" sz="1400" dirty="0">
                <a:latin typeface="Comic Sans MS" panose="030F0702030302020204" pitchFamily="66" charset="0"/>
              </a:rPr>
              <a:t>, </a:t>
            </a:r>
            <a:r>
              <a:rPr lang="en-IN" sz="1400" i="1" dirty="0">
                <a:latin typeface="Comic Sans MS" panose="030F0702030302020204" pitchFamily="66" charset="0"/>
              </a:rPr>
              <a:t>Sargassum</a:t>
            </a:r>
            <a:r>
              <a:rPr lang="en-IN" sz="1400" dirty="0">
                <a:latin typeface="Comic Sans MS" panose="030F0702030302020204" pitchFamily="66" charset="0"/>
              </a:rPr>
              <a:t> and </a:t>
            </a:r>
            <a:r>
              <a:rPr lang="en-IN" sz="1400" i="1" dirty="0">
                <a:latin typeface="Comic Sans MS" panose="030F0702030302020204" pitchFamily="66" charset="0"/>
              </a:rPr>
              <a:t>Ascophyllum</a:t>
            </a:r>
            <a:r>
              <a:rPr lang="en-IN" sz="1400" dirty="0">
                <a:latin typeface="Comic Sans MS" panose="030F0702030302020204" pitchFamily="66" charset="0"/>
              </a:rPr>
              <a:t> and are of great economic importance. These compounds are much helpful to plants as they absorb water (hydrocolloids) and help the plants to pass over desiccation period.</a:t>
            </a:r>
            <a:endParaRPr lang="en-IN" sz="1400" i="1" dirty="0">
              <a:latin typeface="Comic Sans MS" panose="030F0702030302020204" pitchFamily="66" charset="0"/>
            </a:endParaRPr>
          </a:p>
          <a:p>
            <a:pPr marL="400050" indent="-400050" algn="just">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2 lateral and unequal flagella.</a:t>
            </a:r>
          </a:p>
          <a:p>
            <a:pPr marL="400050" indent="-400050" algn="just">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Reserve food in the form of laminarin (polysaccharide) and mannitol (form of alcohol).</a:t>
            </a:r>
          </a:p>
          <a:p>
            <a:pPr marL="400050" indent="-400050" algn="just">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Pigments include chlorophyll a and c, </a:t>
            </a:r>
            <a:r>
              <a:rPr lang="el-GR" sz="1400" dirty="0">
                <a:latin typeface="Comic Sans MS" panose="030F0702030302020204" pitchFamily="66" charset="0"/>
              </a:rPr>
              <a:t>β-</a:t>
            </a:r>
            <a:r>
              <a:rPr lang="en-IN" sz="1400" dirty="0">
                <a:latin typeface="Comic Sans MS" panose="030F0702030302020204" pitchFamily="66" charset="0"/>
              </a:rPr>
              <a:t>carotene. Chromatophores besides other pigments contain fucoxanthin.</a:t>
            </a:r>
          </a:p>
        </p:txBody>
      </p:sp>
      <p:sp>
        <p:nvSpPr>
          <p:cNvPr id="13" name="AutoShape 11">
            <a:extLst>
              <a:ext uri="{FF2B5EF4-FFF2-40B4-BE49-F238E27FC236}">
                <a16:creationId xmlns:a16="http://schemas.microsoft.com/office/drawing/2014/main" id="{06048778-475A-D90E-E2FC-8348215293FA}"/>
              </a:ext>
            </a:extLst>
          </p:cNvPr>
          <p:cNvSpPr>
            <a:spLocks noChangeArrowheads="1"/>
          </p:cNvSpPr>
          <p:nvPr/>
        </p:nvSpPr>
        <p:spPr bwMode="auto">
          <a:xfrm>
            <a:off x="431800" y="5179821"/>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Classification of </a:t>
            </a:r>
            <a:r>
              <a:rPr lang="en-IN" sz="1400" i="1" kern="1200" dirty="0">
                <a:solidFill>
                  <a:srgbClr val="000000"/>
                </a:solidFill>
                <a:effectLst/>
                <a:latin typeface="Comic Sans MS" panose="030F0702030302020204" pitchFamily="66" charset="0"/>
                <a:ea typeface="+mn-ea"/>
                <a:cs typeface="+mn-cs"/>
              </a:rPr>
              <a:t>Phaeophyceae</a:t>
            </a:r>
            <a:endParaRPr lang="en-IN" sz="1400" dirty="0">
              <a:latin typeface="Comic Sans MS" panose="030F0702030302020204" pitchFamily="66" charset="0"/>
            </a:endParaRPr>
          </a:p>
        </p:txBody>
      </p:sp>
      <p:sp>
        <p:nvSpPr>
          <p:cNvPr id="14" name="TextBox 13">
            <a:extLst>
              <a:ext uri="{FF2B5EF4-FFF2-40B4-BE49-F238E27FC236}">
                <a16:creationId xmlns:a16="http://schemas.microsoft.com/office/drawing/2014/main" id="{7203588F-520E-E0C8-59B4-5662F4353355}"/>
              </a:ext>
            </a:extLst>
          </p:cNvPr>
          <p:cNvSpPr txBox="1"/>
          <p:nvPr/>
        </p:nvSpPr>
        <p:spPr>
          <a:xfrm>
            <a:off x="431800" y="5561403"/>
            <a:ext cx="6636656" cy="2277547"/>
          </a:xfrm>
          <a:prstGeom prst="rect">
            <a:avLst/>
          </a:prstGeom>
          <a:noFill/>
        </p:spPr>
        <p:txBody>
          <a:bodyPr wrap="square">
            <a:spAutoFit/>
          </a:bodyPr>
          <a:lstStyle/>
          <a:p>
            <a:pPr algn="just"/>
            <a:r>
              <a:rPr lang="en-IN" sz="1400" dirty="0">
                <a:latin typeface="Comic Sans MS" panose="030F0702030302020204" pitchFamily="66" charset="0"/>
              </a:rPr>
              <a:t>Fritsch (1945) divided class </a:t>
            </a:r>
            <a:r>
              <a:rPr lang="en-IN" sz="1400" i="1" kern="1200" dirty="0">
                <a:solidFill>
                  <a:srgbClr val="000000"/>
                </a:solidFill>
                <a:effectLst/>
                <a:latin typeface="Comic Sans MS" panose="030F0702030302020204" pitchFamily="66" charset="0"/>
                <a:ea typeface="+mn-ea"/>
                <a:cs typeface="+mn-cs"/>
              </a:rPr>
              <a:t>Phaeophyceae</a:t>
            </a:r>
            <a:r>
              <a:rPr lang="en-IN" sz="1400" i="1" dirty="0">
                <a:latin typeface="Comic Sans MS" panose="030F0702030302020204" pitchFamily="66" charset="0"/>
              </a:rPr>
              <a:t> </a:t>
            </a:r>
            <a:r>
              <a:rPr lang="en-IN" sz="1400" dirty="0">
                <a:latin typeface="Comic Sans MS" panose="030F0702030302020204" pitchFamily="66" charset="0"/>
              </a:rPr>
              <a:t>into 9 orders:-</a:t>
            </a:r>
          </a:p>
          <a:p>
            <a:pPr algn="just"/>
            <a:endParaRPr lang="en-IN" sz="2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Ectocarpales (e.g. </a:t>
            </a:r>
            <a:r>
              <a:rPr lang="en-IN" sz="1400" i="1" dirty="0">
                <a:latin typeface="Comic Sans MS" panose="030F0702030302020204" pitchFamily="66" charset="0"/>
              </a:rPr>
              <a:t>Ectocarpous</a:t>
            </a:r>
            <a:r>
              <a:rPr lang="en-IN" sz="1400" dirty="0">
                <a:latin typeface="Comic Sans MS" panose="030F0702030302020204" pitchFamily="66" charset="0"/>
              </a:rPr>
              <a:t>)</a:t>
            </a:r>
          </a:p>
          <a:p>
            <a:pPr marL="342900" indent="-342900" algn="just">
              <a:buAutoNum type="arabicPeriod"/>
            </a:pPr>
            <a:r>
              <a:rPr lang="nb-NO" sz="1400" dirty="0">
                <a:latin typeface="Comic Sans MS" panose="030F0702030302020204" pitchFamily="66" charset="0"/>
              </a:rPr>
              <a:t>Tilopteridales (e.g. </a:t>
            </a:r>
            <a:r>
              <a:rPr lang="nb-NO" sz="1400" i="1" dirty="0">
                <a:latin typeface="Comic Sans MS" panose="030F0702030302020204" pitchFamily="66" charset="0"/>
              </a:rPr>
              <a:t>Tilopteris</a:t>
            </a:r>
            <a:r>
              <a:rPr lang="nb-NO" sz="1400" dirty="0">
                <a:latin typeface="Comic Sans MS" panose="030F0702030302020204" pitchFamily="66" charset="0"/>
              </a:rPr>
              <a:t>)</a:t>
            </a:r>
          </a:p>
          <a:p>
            <a:pPr marL="342900" indent="-342900" algn="just">
              <a:buAutoNum type="arabicPeriod"/>
            </a:pPr>
            <a:r>
              <a:rPr lang="en-IN" sz="1400" dirty="0">
                <a:latin typeface="Comic Sans MS" panose="030F0702030302020204" pitchFamily="66" charset="0"/>
              </a:rPr>
              <a:t>Cutleriales (e.g. </a:t>
            </a:r>
            <a:r>
              <a:rPr lang="en-IN" sz="1400" i="1" dirty="0">
                <a:latin typeface="Comic Sans MS" panose="030F0702030302020204" pitchFamily="66" charset="0"/>
              </a:rPr>
              <a:t>Cutleria</a:t>
            </a:r>
            <a:r>
              <a:rPr lang="en-IN" sz="1400" dirty="0">
                <a:latin typeface="Comic Sans MS" panose="030F0702030302020204" pitchFamily="66" charset="0"/>
              </a:rPr>
              <a:t>)</a:t>
            </a:r>
            <a:endParaRPr lang="nb-NO" sz="14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Sporochnales (e.g. </a:t>
            </a:r>
            <a:r>
              <a:rPr lang="en-IN" sz="1400" i="1" dirty="0">
                <a:latin typeface="Comic Sans MS" panose="030F0702030302020204" pitchFamily="66" charset="0"/>
              </a:rPr>
              <a:t>Sporochnus</a:t>
            </a:r>
            <a:r>
              <a:rPr lang="en-IN" sz="1400" dirty="0">
                <a:latin typeface="Comic Sans MS" panose="030F0702030302020204" pitchFamily="66" charset="0"/>
              </a:rPr>
              <a:t>)</a:t>
            </a:r>
            <a:endParaRPr lang="nb-NO" sz="14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Desmarestiales (e.g. </a:t>
            </a:r>
            <a:r>
              <a:rPr lang="en-IN" sz="1400" i="1" dirty="0">
                <a:latin typeface="Comic Sans MS" panose="030F0702030302020204" pitchFamily="66" charset="0"/>
              </a:rPr>
              <a:t>Desmarestia</a:t>
            </a:r>
            <a:r>
              <a:rPr lang="en-IN" sz="1400" dirty="0">
                <a:latin typeface="Comic Sans MS" panose="030F0702030302020204" pitchFamily="66" charset="0"/>
              </a:rPr>
              <a:t>)</a:t>
            </a:r>
            <a:endParaRPr lang="nb-NO" sz="14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Laminariales (e.g. </a:t>
            </a:r>
            <a:r>
              <a:rPr lang="en-IN" sz="1400" i="1" dirty="0">
                <a:latin typeface="Comic Sans MS" panose="030F0702030302020204" pitchFamily="66" charset="0"/>
              </a:rPr>
              <a:t>Laminaria</a:t>
            </a:r>
            <a:r>
              <a:rPr lang="en-IN" sz="1400" dirty="0">
                <a:latin typeface="Comic Sans MS" panose="030F0702030302020204" pitchFamily="66" charset="0"/>
              </a:rPr>
              <a:t>, </a:t>
            </a:r>
            <a:r>
              <a:rPr lang="en-IN" sz="1400" i="1" dirty="0">
                <a:latin typeface="Comic Sans MS" panose="030F0702030302020204" pitchFamily="66" charset="0"/>
              </a:rPr>
              <a:t>Macrocystis</a:t>
            </a:r>
            <a:r>
              <a:rPr lang="en-IN" sz="1400" dirty="0">
                <a:latin typeface="Comic Sans MS" panose="030F0702030302020204" pitchFamily="66" charset="0"/>
              </a:rPr>
              <a:t>)</a:t>
            </a:r>
            <a:endParaRPr lang="nb-NO" sz="1400" dirty="0">
              <a:latin typeface="Comic Sans MS" panose="030F0702030302020204" pitchFamily="66" charset="0"/>
            </a:endParaRPr>
          </a:p>
          <a:p>
            <a:pPr marL="342900" indent="-342900" algn="just">
              <a:buAutoNum type="arabicPeriod"/>
            </a:pPr>
            <a:r>
              <a:rPr lang="es-ES" sz="1400" dirty="0">
                <a:latin typeface="Comic Sans MS" panose="030F0702030302020204" pitchFamily="66" charset="0"/>
              </a:rPr>
              <a:t>Sphacelariales (e.g. </a:t>
            </a:r>
            <a:r>
              <a:rPr lang="es-ES" sz="1400" i="1" dirty="0">
                <a:latin typeface="Comic Sans MS" panose="030F0702030302020204" pitchFamily="66" charset="0"/>
              </a:rPr>
              <a:t>Sphacelaria</a:t>
            </a:r>
            <a:r>
              <a:rPr lang="es-ES" sz="1400" dirty="0">
                <a:latin typeface="Comic Sans MS" panose="030F0702030302020204" pitchFamily="66" charset="0"/>
              </a:rPr>
              <a:t>, </a:t>
            </a:r>
            <a:r>
              <a:rPr lang="es-ES" sz="1400" i="1" dirty="0">
                <a:latin typeface="Comic Sans MS" panose="030F0702030302020204" pitchFamily="66" charset="0"/>
              </a:rPr>
              <a:t>Haploteris</a:t>
            </a:r>
            <a:r>
              <a:rPr lang="es-ES" sz="1400" dirty="0">
                <a:latin typeface="Comic Sans MS" panose="030F0702030302020204" pitchFamily="66" charset="0"/>
              </a:rPr>
              <a:t>)</a:t>
            </a:r>
            <a:endParaRPr lang="nb-NO" sz="14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Dictyotales (e.g. </a:t>
            </a:r>
            <a:r>
              <a:rPr lang="en-IN" sz="1400" i="1" dirty="0">
                <a:latin typeface="Comic Sans MS" panose="030F0702030302020204" pitchFamily="66" charset="0"/>
              </a:rPr>
              <a:t>Dictyota</a:t>
            </a:r>
            <a:r>
              <a:rPr lang="en-IN" sz="1400" dirty="0">
                <a:latin typeface="Comic Sans MS" panose="030F0702030302020204" pitchFamily="66" charset="0"/>
              </a:rPr>
              <a:t>)</a:t>
            </a:r>
            <a:endParaRPr lang="nb-NO" sz="1400" dirty="0">
              <a:latin typeface="Comic Sans MS" panose="030F0702030302020204" pitchFamily="66" charset="0"/>
            </a:endParaRPr>
          </a:p>
          <a:p>
            <a:pPr marL="342900" indent="-342900" algn="just">
              <a:buAutoNum type="arabicPeriod"/>
            </a:pPr>
            <a:r>
              <a:rPr lang="en-IN" sz="1400" dirty="0">
                <a:latin typeface="Comic Sans MS" panose="030F0702030302020204" pitchFamily="66" charset="0"/>
              </a:rPr>
              <a:t>Fucales (e.g. </a:t>
            </a:r>
            <a:r>
              <a:rPr lang="en-IN" sz="1400" i="1" dirty="0">
                <a:latin typeface="Comic Sans MS" panose="030F0702030302020204" pitchFamily="66" charset="0"/>
              </a:rPr>
              <a:t>Fucus</a:t>
            </a:r>
            <a:r>
              <a:rPr lang="en-IN" sz="1400" dirty="0">
                <a:latin typeface="Comic Sans MS" panose="030F0702030302020204" pitchFamily="66" charset="0"/>
              </a:rPr>
              <a:t>, </a:t>
            </a:r>
            <a:r>
              <a:rPr lang="en-IN" sz="1400" i="1" dirty="0">
                <a:latin typeface="Comic Sans MS" panose="030F0702030302020204" pitchFamily="66" charset="0"/>
              </a:rPr>
              <a:t>Sargassum</a:t>
            </a:r>
            <a:r>
              <a:rPr lang="en-IN" sz="1400" dirty="0">
                <a:latin typeface="Comic Sans MS" panose="030F0702030302020204" pitchFamily="66" charset="0"/>
              </a:rPr>
              <a:t>)</a:t>
            </a:r>
          </a:p>
        </p:txBody>
      </p:sp>
      <p:sp>
        <p:nvSpPr>
          <p:cNvPr id="15" name="AutoShape 11">
            <a:extLst>
              <a:ext uri="{FF2B5EF4-FFF2-40B4-BE49-F238E27FC236}">
                <a16:creationId xmlns:a16="http://schemas.microsoft.com/office/drawing/2014/main" id="{1E25D33D-F876-D693-180F-217701744340}"/>
              </a:ext>
            </a:extLst>
          </p:cNvPr>
          <p:cNvSpPr>
            <a:spLocks noChangeArrowheads="1"/>
          </p:cNvSpPr>
          <p:nvPr/>
        </p:nvSpPr>
        <p:spPr bwMode="auto">
          <a:xfrm>
            <a:off x="420687" y="7923088"/>
            <a:ext cx="396875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Rhodophyceae </a:t>
            </a:r>
            <a:r>
              <a:rPr lang="en-IN" sz="1400" dirty="0">
                <a:latin typeface="Comic Sans MS" panose="030F0702030302020204" pitchFamily="66" charset="0"/>
              </a:rPr>
              <a:t>(Red)</a:t>
            </a:r>
          </a:p>
        </p:txBody>
      </p:sp>
      <p:sp>
        <p:nvSpPr>
          <p:cNvPr id="16" name="TextBox 15">
            <a:extLst>
              <a:ext uri="{FF2B5EF4-FFF2-40B4-BE49-F238E27FC236}">
                <a16:creationId xmlns:a16="http://schemas.microsoft.com/office/drawing/2014/main" id="{36A35152-7772-9B48-DECA-7CBF87329D3D}"/>
              </a:ext>
            </a:extLst>
          </p:cNvPr>
          <p:cNvSpPr txBox="1"/>
          <p:nvPr/>
        </p:nvSpPr>
        <p:spPr>
          <a:xfrm>
            <a:off x="439737" y="8372352"/>
            <a:ext cx="6636656" cy="1815882"/>
          </a:xfrm>
          <a:prstGeom prst="rect">
            <a:avLst/>
          </a:prstGeom>
          <a:noFill/>
        </p:spPr>
        <p:txBody>
          <a:bodyPr wrap="square">
            <a:spAutoFit/>
          </a:bodyPr>
          <a:lstStyle/>
          <a:p>
            <a:pPr algn="just"/>
            <a:r>
              <a:rPr lang="en-IN" sz="1400" dirty="0">
                <a:latin typeface="Comic Sans MS" panose="030F0702030302020204" pitchFamily="66" charset="0"/>
              </a:rPr>
              <a:t>A fairly large and distinct group, The Rhodophyceae, comprises of nearly 25,000 species grouped under 400 genera. The group is popularly called </a:t>
            </a:r>
            <a:r>
              <a:rPr lang="en-IN" sz="1400" i="1" dirty="0">
                <a:latin typeface="Comic Sans MS" panose="030F0702030302020204" pitchFamily="66" charset="0"/>
              </a:rPr>
              <a:t>red algae </a:t>
            </a:r>
            <a:r>
              <a:rPr lang="en-IN" sz="1400" dirty="0">
                <a:latin typeface="Comic Sans MS" panose="030F0702030302020204" pitchFamily="66" charset="0"/>
              </a:rPr>
              <a:t>and is characterised by following features:</a:t>
            </a:r>
          </a:p>
          <a:p>
            <a:pPr marL="400050" indent="-400050" algn="just">
              <a:buAutoNum type="romanLcPeriod"/>
            </a:pPr>
            <a:r>
              <a:rPr lang="en-IN" sz="1400" dirty="0">
                <a:latin typeface="Comic Sans MS" panose="030F0702030302020204" pitchFamily="66" charset="0"/>
              </a:rPr>
              <a:t>Red colour of plant is due to presence of two phycobilin pigments (phycoerythrin and phycocyanin). The red pigments mask the presence of other pigments</a:t>
            </a:r>
          </a:p>
          <a:p>
            <a:pPr marL="400050" indent="-400050" algn="just">
              <a:buAutoNum type="romanLcPeriod"/>
            </a:pPr>
            <a:r>
              <a:rPr lang="en-IN" sz="1400" dirty="0">
                <a:latin typeface="Comic Sans MS" panose="030F0702030302020204" pitchFamily="66" charset="0"/>
              </a:rPr>
              <a:t>Floridean starch and galactoside floridosides are the reserve foods.</a:t>
            </a:r>
          </a:p>
          <a:p>
            <a:pPr marL="400050" indent="-400050" algn="just">
              <a:buAutoNum type="romanLcPeriod"/>
            </a:pPr>
            <a:r>
              <a:rPr lang="en-IN" sz="1400" dirty="0">
                <a:latin typeface="Comic Sans MS" panose="030F0702030302020204" pitchFamily="66" charset="0"/>
              </a:rPr>
              <a:t>Polysulphate esters are the characteristic pigments of the cell wall</a:t>
            </a:r>
          </a:p>
        </p:txBody>
      </p:sp>
    </p:spTree>
    <p:extLst>
      <p:ext uri="{BB962C8B-B14F-4D97-AF65-F5344CB8AC3E}">
        <p14:creationId xmlns:p14="http://schemas.microsoft.com/office/powerpoint/2010/main" val="3050677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AA1957E2-1F96-036E-36D7-C2EAEC152B00}"/>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838DDEBC-0A90-70C9-340D-3C8998766A40}"/>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18</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D179E8DF-5467-6133-1918-3BA413C6F4F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9CE2E69E-1FE6-6641-B634-E2220F4B8CFD}"/>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8" name="TextBox 7">
            <a:extLst>
              <a:ext uri="{FF2B5EF4-FFF2-40B4-BE49-F238E27FC236}">
                <a16:creationId xmlns:a16="http://schemas.microsoft.com/office/drawing/2014/main" id="{E74EDF85-3614-3538-DB71-519B9C9187E3}"/>
              </a:ext>
            </a:extLst>
          </p:cNvPr>
          <p:cNvSpPr txBox="1"/>
          <p:nvPr/>
        </p:nvSpPr>
        <p:spPr>
          <a:xfrm>
            <a:off x="441325" y="387350"/>
            <a:ext cx="6636656" cy="1384995"/>
          </a:xfrm>
          <a:prstGeom prst="rect">
            <a:avLst/>
          </a:prstGeom>
          <a:noFill/>
        </p:spPr>
        <p:txBody>
          <a:bodyPr wrap="square">
            <a:spAutoFit/>
          </a:bodyPr>
          <a:lstStyle/>
          <a:p>
            <a:pPr marL="400050" indent="-400050" algn="just">
              <a:buFont typeface="+mj-lt"/>
              <a:buAutoNum type="romanLcPeriod" startAt="4"/>
            </a:pPr>
            <a:r>
              <a:rPr lang="en-IN" sz="1400" dirty="0">
                <a:latin typeface="Comic Sans MS" panose="030F0702030302020204" pitchFamily="66" charset="0"/>
              </a:rPr>
              <a:t>Sexual reproduction is highly specialised but fairly uniform. The male gametes called </a:t>
            </a:r>
            <a:r>
              <a:rPr lang="en-IN" sz="1400" i="1" dirty="0">
                <a:latin typeface="Comic Sans MS" panose="030F0702030302020204" pitchFamily="66" charset="0"/>
              </a:rPr>
              <a:t>spermatia </a:t>
            </a:r>
            <a:r>
              <a:rPr lang="en-IN" sz="1400" dirty="0">
                <a:latin typeface="Comic Sans MS" panose="030F0702030302020204" pitchFamily="66" charset="0"/>
              </a:rPr>
              <a:t>are non-motile and the female reproductive organ is called </a:t>
            </a:r>
            <a:r>
              <a:rPr lang="en-IN" sz="1400" i="1" dirty="0">
                <a:latin typeface="Comic Sans MS" panose="030F0702030302020204" pitchFamily="66" charset="0"/>
              </a:rPr>
              <a:t>carpogonium.</a:t>
            </a:r>
            <a:endParaRPr lang="en-IN" sz="1400" dirty="0">
              <a:latin typeface="Comic Sans MS" panose="030F0702030302020204" pitchFamily="66" charset="0"/>
            </a:endParaRPr>
          </a:p>
          <a:p>
            <a:pPr marL="400050" indent="-400050" algn="just">
              <a:buAutoNum type="romanLcPeriod" startAt="4"/>
            </a:pPr>
            <a:r>
              <a:rPr lang="en-IN" sz="1400" dirty="0">
                <a:latin typeface="Comic Sans MS" panose="030F0702030302020204" pitchFamily="66" charset="0"/>
              </a:rPr>
              <a:t>The motile stage are invariably absent</a:t>
            </a:r>
          </a:p>
          <a:p>
            <a:pPr marL="400050" indent="-400050" algn="just">
              <a:buAutoNum type="romanLcPeriod" startAt="4"/>
            </a:pPr>
            <a:r>
              <a:rPr lang="en-IN" sz="1400" dirty="0">
                <a:latin typeface="Comic Sans MS" panose="030F0702030302020204" pitchFamily="66" charset="0"/>
              </a:rPr>
              <a:t>There are well elaborated post-fertilisation developments, not seen in any other group of algae.</a:t>
            </a:r>
          </a:p>
        </p:txBody>
      </p:sp>
      <p:sp>
        <p:nvSpPr>
          <p:cNvPr id="9" name="AutoShape 11">
            <a:extLst>
              <a:ext uri="{FF2B5EF4-FFF2-40B4-BE49-F238E27FC236}">
                <a16:creationId xmlns:a16="http://schemas.microsoft.com/office/drawing/2014/main" id="{BF5FD0F0-D266-272E-427B-64A3189A03DA}"/>
              </a:ext>
            </a:extLst>
          </p:cNvPr>
          <p:cNvSpPr>
            <a:spLocks noChangeArrowheads="1"/>
          </p:cNvSpPr>
          <p:nvPr/>
        </p:nvSpPr>
        <p:spPr bwMode="auto">
          <a:xfrm>
            <a:off x="431800" y="1770758"/>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Habitat</a:t>
            </a:r>
          </a:p>
        </p:txBody>
      </p:sp>
      <p:sp>
        <p:nvSpPr>
          <p:cNvPr id="10" name="TextBox 9">
            <a:extLst>
              <a:ext uri="{FF2B5EF4-FFF2-40B4-BE49-F238E27FC236}">
                <a16:creationId xmlns:a16="http://schemas.microsoft.com/office/drawing/2014/main" id="{2F087CFB-8417-8C61-2E93-7F83D0431E56}"/>
              </a:ext>
            </a:extLst>
          </p:cNvPr>
          <p:cNvSpPr txBox="1"/>
          <p:nvPr/>
        </p:nvSpPr>
        <p:spPr>
          <a:xfrm>
            <a:off x="431800" y="2164856"/>
            <a:ext cx="6636656" cy="2031325"/>
          </a:xfrm>
          <a:prstGeom prst="rect">
            <a:avLst/>
          </a:prstGeom>
          <a:noFill/>
        </p:spPr>
        <p:txBody>
          <a:bodyPr wrap="square">
            <a:spAutoFit/>
          </a:bodyPr>
          <a:lstStyle/>
          <a:p>
            <a:pPr algn="just"/>
            <a:r>
              <a:rPr lang="en-IN" sz="1400" dirty="0">
                <a:latin typeface="Comic Sans MS" panose="030F0702030302020204" pitchFamily="66" charset="0"/>
              </a:rPr>
              <a:t>Most of the forms are marine except the various species of </a:t>
            </a:r>
            <a:r>
              <a:rPr lang="en-IN" sz="1400" i="1" dirty="0">
                <a:latin typeface="Comic Sans MS" panose="030F0702030302020204" pitchFamily="66" charset="0"/>
              </a:rPr>
              <a:t>Batrachospermum </a:t>
            </a:r>
            <a:r>
              <a:rPr lang="en-IN" sz="1400" dirty="0">
                <a:latin typeface="Comic Sans MS" panose="030F0702030302020204" pitchFamily="66" charset="0"/>
              </a:rPr>
              <a:t>and </a:t>
            </a:r>
            <a:r>
              <a:rPr lang="en-IN" sz="1400" i="1" dirty="0">
                <a:latin typeface="Comic Sans MS" panose="030F0702030302020204" pitchFamily="66" charset="0"/>
              </a:rPr>
              <a:t>Lemanea </a:t>
            </a:r>
            <a:r>
              <a:rPr lang="en-IN" sz="1400" dirty="0">
                <a:latin typeface="Comic Sans MS" panose="030F0702030302020204" pitchFamily="66" charset="0"/>
              </a:rPr>
              <a:t>which inhabit fresh water. Although showing world wide distribution, the red algae occur largely in the warmer seas, light plays and important role in the ecological distribution of sublittoral marine algae. Only bule and red light penetrate to deeper levels in water and beyond ten metres only blue-green light remains available which ocean efficiently be absorbed by r-phycoerythrin pigment. It is one reason that red algae can grow at the depth of sixty metres where only particular pigment remains capable to carry on photosynthesis.</a:t>
            </a:r>
          </a:p>
        </p:txBody>
      </p:sp>
      <p:sp>
        <p:nvSpPr>
          <p:cNvPr id="15" name="AutoShape 11">
            <a:extLst>
              <a:ext uri="{FF2B5EF4-FFF2-40B4-BE49-F238E27FC236}">
                <a16:creationId xmlns:a16="http://schemas.microsoft.com/office/drawing/2014/main" id="{CA4CAD07-97CC-9D14-749C-180822F59401}"/>
              </a:ext>
            </a:extLst>
          </p:cNvPr>
          <p:cNvSpPr>
            <a:spLocks noChangeArrowheads="1"/>
          </p:cNvSpPr>
          <p:nvPr/>
        </p:nvSpPr>
        <p:spPr bwMode="auto">
          <a:xfrm>
            <a:off x="431800" y="4272218"/>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Internal Structure</a:t>
            </a:r>
          </a:p>
        </p:txBody>
      </p:sp>
      <p:sp>
        <p:nvSpPr>
          <p:cNvPr id="16" name="TextBox 15">
            <a:extLst>
              <a:ext uri="{FF2B5EF4-FFF2-40B4-BE49-F238E27FC236}">
                <a16:creationId xmlns:a16="http://schemas.microsoft.com/office/drawing/2014/main" id="{468DE93D-F187-E46E-8E5C-E8D4CC5EF5A5}"/>
              </a:ext>
            </a:extLst>
          </p:cNvPr>
          <p:cNvSpPr txBox="1"/>
          <p:nvPr/>
        </p:nvSpPr>
        <p:spPr>
          <a:xfrm>
            <a:off x="431800" y="4666316"/>
            <a:ext cx="6636656" cy="2031325"/>
          </a:xfrm>
          <a:prstGeom prst="rect">
            <a:avLst/>
          </a:prstGeom>
          <a:noFill/>
        </p:spPr>
        <p:txBody>
          <a:bodyPr wrap="square">
            <a:spAutoFit/>
          </a:bodyPr>
          <a:lstStyle/>
          <a:p>
            <a:pPr marL="400050" indent="-400050" algn="just">
              <a:buAutoNum type="romanLcPeriod"/>
            </a:pPr>
            <a:r>
              <a:rPr lang="en-IN" sz="1400" b="1" dirty="0">
                <a:latin typeface="Comic Sans MS" panose="030F0702030302020204" pitchFamily="66" charset="0"/>
              </a:rPr>
              <a:t>Cell wall </a:t>
            </a:r>
            <a:r>
              <a:rPr lang="en-IN" sz="1400" dirty="0">
                <a:latin typeface="Comic Sans MS" panose="030F0702030302020204" pitchFamily="66" charset="0"/>
              </a:rPr>
              <a:t>– Inner layer of cell wall consist of microfibrillar cellulosic layer and an outer layer consist of pectin along with Polysulphate esters.</a:t>
            </a:r>
            <a:endParaRPr lang="en-IN" sz="1400" i="1" dirty="0">
              <a:latin typeface="Comic Sans MS" panose="030F0702030302020204" pitchFamily="66" charset="0"/>
            </a:endParaRPr>
          </a:p>
          <a:p>
            <a:pPr marL="400050" indent="-400050" algn="just">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Absent (non-motile)</a:t>
            </a:r>
          </a:p>
          <a:p>
            <a:pPr marL="400050" indent="-400050" algn="just">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food reserve in the form of Floridean starch (a polysaccharide)</a:t>
            </a:r>
          </a:p>
          <a:p>
            <a:pPr marL="400050" indent="-400050" algn="just">
              <a:buAutoNum type="romanLcPeriod"/>
            </a:pPr>
            <a:r>
              <a:rPr lang="en-IN" sz="1400" b="1" dirty="0">
                <a:latin typeface="Comic Sans MS" panose="030F0702030302020204" pitchFamily="66" charset="0"/>
              </a:rPr>
              <a:t>Pigment – </a:t>
            </a:r>
            <a:r>
              <a:rPr lang="en-IN" sz="1400" dirty="0">
                <a:latin typeface="Comic Sans MS" panose="030F0702030302020204" pitchFamily="66" charset="0"/>
              </a:rPr>
              <a:t>The various pigments present in chromatophores are – </a:t>
            </a:r>
            <a:r>
              <a:rPr lang="en-IN" sz="1400" i="1" dirty="0">
                <a:latin typeface="Comic Sans MS" panose="030F0702030302020204" pitchFamily="66" charset="0"/>
              </a:rPr>
              <a:t>Chlorophylls a </a:t>
            </a:r>
            <a:r>
              <a:rPr lang="en-IN" sz="1400" dirty="0">
                <a:latin typeface="Comic Sans MS" panose="030F0702030302020204" pitchFamily="66" charset="0"/>
              </a:rPr>
              <a:t>and</a:t>
            </a:r>
            <a:r>
              <a:rPr lang="en-IN" sz="1400" i="1" dirty="0">
                <a:latin typeface="Comic Sans MS" panose="030F0702030302020204" pitchFamily="66" charset="0"/>
              </a:rPr>
              <a:t> d, Carotenes </a:t>
            </a:r>
            <a:r>
              <a:rPr lang="en-IN" sz="1400" dirty="0">
                <a:latin typeface="Comic Sans MS" panose="030F0702030302020204" pitchFamily="66" charset="0"/>
              </a:rPr>
              <a:t>(</a:t>
            </a:r>
            <a:r>
              <a:rPr lang="el-GR" sz="1400" dirty="0">
                <a:latin typeface="Comic Sans MS" panose="030F0702030302020204" pitchFamily="66" charset="0"/>
              </a:rPr>
              <a:t>β-</a:t>
            </a:r>
            <a:r>
              <a:rPr lang="en-IN" sz="1400" dirty="0">
                <a:latin typeface="Comic Sans MS" panose="030F0702030302020204" pitchFamily="66" charset="0"/>
              </a:rPr>
              <a:t>carotene, </a:t>
            </a:r>
            <a:r>
              <a:rPr lang="en-IN" sz="1400" i="1" dirty="0">
                <a:latin typeface="Comic Sans MS" panose="030F0702030302020204" pitchFamily="66" charset="0"/>
              </a:rPr>
              <a:t>e-</a:t>
            </a:r>
            <a:r>
              <a:rPr lang="en-IN" sz="1400" dirty="0">
                <a:latin typeface="Comic Sans MS" panose="030F0702030302020204" pitchFamily="66" charset="0"/>
              </a:rPr>
              <a:t>carotene), </a:t>
            </a:r>
            <a:r>
              <a:rPr lang="en-IN" sz="1400" i="1" dirty="0">
                <a:latin typeface="Comic Sans MS" panose="030F0702030302020204" pitchFamily="66" charset="0"/>
              </a:rPr>
              <a:t>Xanthophylls </a:t>
            </a:r>
            <a:r>
              <a:rPr lang="en-IN" sz="1400" dirty="0">
                <a:latin typeface="Comic Sans MS" panose="030F0702030302020204" pitchFamily="66" charset="0"/>
              </a:rPr>
              <a:t>(e.g. Fucoxanthin). Besides other pigments chromatophores contain r-phycoerythrin and r-phycocyanin which impart red colour to these algae.</a:t>
            </a:r>
          </a:p>
        </p:txBody>
      </p:sp>
      <p:sp>
        <p:nvSpPr>
          <p:cNvPr id="17" name="AutoShape 11">
            <a:extLst>
              <a:ext uri="{FF2B5EF4-FFF2-40B4-BE49-F238E27FC236}">
                <a16:creationId xmlns:a16="http://schemas.microsoft.com/office/drawing/2014/main" id="{1EC97090-A300-1EB8-DB6F-974D34A40B1D}"/>
              </a:ext>
            </a:extLst>
          </p:cNvPr>
          <p:cNvSpPr>
            <a:spLocks noChangeArrowheads="1"/>
          </p:cNvSpPr>
          <p:nvPr/>
        </p:nvSpPr>
        <p:spPr bwMode="auto">
          <a:xfrm>
            <a:off x="441325" y="6769078"/>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Reproduction</a:t>
            </a:r>
          </a:p>
        </p:txBody>
      </p:sp>
      <p:sp>
        <p:nvSpPr>
          <p:cNvPr id="18" name="TextBox 17">
            <a:extLst>
              <a:ext uri="{FF2B5EF4-FFF2-40B4-BE49-F238E27FC236}">
                <a16:creationId xmlns:a16="http://schemas.microsoft.com/office/drawing/2014/main" id="{00F0DCFC-208A-4EEE-4801-5B580217EDAD}"/>
              </a:ext>
            </a:extLst>
          </p:cNvPr>
          <p:cNvSpPr txBox="1"/>
          <p:nvPr/>
        </p:nvSpPr>
        <p:spPr>
          <a:xfrm>
            <a:off x="431800" y="7161896"/>
            <a:ext cx="6636656" cy="1169551"/>
          </a:xfrm>
          <a:prstGeom prst="rect">
            <a:avLst/>
          </a:prstGeom>
          <a:noFill/>
        </p:spPr>
        <p:txBody>
          <a:bodyPr wrap="square">
            <a:spAutoFit/>
          </a:bodyPr>
          <a:lstStyle/>
          <a:p>
            <a:pPr algn="just"/>
            <a:r>
              <a:rPr lang="en-IN" sz="1400" dirty="0">
                <a:latin typeface="Comic Sans MS" panose="030F0702030302020204" pitchFamily="66" charset="0"/>
              </a:rPr>
              <a:t>Vegetative reproduction is uncommon in red algae except in unicellular forms, whereas asexual and sexual reproduction are quite common.</a:t>
            </a:r>
          </a:p>
          <a:p>
            <a:pPr marL="400050" indent="-400050" algn="just">
              <a:buAutoNum type="romanLcPeriod"/>
            </a:pPr>
            <a:r>
              <a:rPr lang="en-IN" sz="1400" dirty="0">
                <a:latin typeface="Comic Sans MS" panose="030F0702030302020204" pitchFamily="66" charset="0"/>
              </a:rPr>
              <a:t>Vegetative  –  Fragmentation</a:t>
            </a:r>
          </a:p>
          <a:p>
            <a:pPr marL="400050" indent="-400050" algn="just">
              <a:buAutoNum type="romanLcPeriod"/>
            </a:pPr>
            <a:r>
              <a:rPr lang="en-IN" sz="1400" dirty="0">
                <a:latin typeface="Comic Sans MS" panose="030F0702030302020204" pitchFamily="66" charset="0"/>
              </a:rPr>
              <a:t>Asexual  –  Aplanospores (non-motile)</a:t>
            </a:r>
          </a:p>
          <a:p>
            <a:pPr marL="400050" indent="-400050" algn="just">
              <a:buAutoNum type="romanLcPeriod"/>
            </a:pPr>
            <a:r>
              <a:rPr lang="en-IN" sz="1400" dirty="0">
                <a:latin typeface="Comic Sans MS" panose="030F0702030302020204" pitchFamily="66" charset="0"/>
              </a:rPr>
              <a:t>Sexual  –  Oogamous only</a:t>
            </a:r>
          </a:p>
        </p:txBody>
      </p:sp>
      <p:sp>
        <p:nvSpPr>
          <p:cNvPr id="14" name="AutoShape 11">
            <a:extLst>
              <a:ext uri="{FF2B5EF4-FFF2-40B4-BE49-F238E27FC236}">
                <a16:creationId xmlns:a16="http://schemas.microsoft.com/office/drawing/2014/main" id="{F0474DC2-7B78-7CB0-EDB8-9B33BEA24FC0}"/>
              </a:ext>
            </a:extLst>
          </p:cNvPr>
          <p:cNvSpPr>
            <a:spLocks noChangeArrowheads="1"/>
          </p:cNvSpPr>
          <p:nvPr/>
        </p:nvSpPr>
        <p:spPr bwMode="auto">
          <a:xfrm>
            <a:off x="441325" y="8421394"/>
            <a:ext cx="3159125" cy="392818"/>
          </a:xfrm>
          <a:prstGeom prst="roundRect">
            <a:avLst>
              <a:gd name="adj" fmla="val 50000"/>
            </a:avLst>
          </a:prstGeom>
          <a:solidFill>
            <a:schemeClr val="accent3">
              <a:lumMod val="60000"/>
              <a:lumOff val="40000"/>
            </a:schemeClr>
          </a:solidFill>
          <a:ln>
            <a:noFill/>
          </a:ln>
          <a:effectLst/>
        </p:spPr>
        <p:txBody>
          <a:bodyPr vert="horz" wrap="square" lIns="36576" tIns="36576" rIns="36576" bIns="36576" numCol="1" anchor="ctr" anchorCtr="0" compatLnSpc="1">
            <a:prstTxWarp prst="textNoShape">
              <a:avLst/>
            </a:prstTxWarp>
          </a:bodyPr>
          <a:lstStyle/>
          <a:p>
            <a:pPr algn="ctr"/>
            <a:r>
              <a:rPr lang="en-IN" sz="1400" dirty="0">
                <a:latin typeface="Comic Sans MS" panose="030F0702030302020204" pitchFamily="66" charset="0"/>
              </a:rPr>
              <a:t>Classification of </a:t>
            </a:r>
            <a:r>
              <a:rPr lang="en-IN" sz="1400" i="1" dirty="0">
                <a:latin typeface="Comic Sans MS" panose="030F0702030302020204" pitchFamily="66" charset="0"/>
              </a:rPr>
              <a:t>Rhodophyceae</a:t>
            </a:r>
          </a:p>
        </p:txBody>
      </p:sp>
      <p:sp>
        <p:nvSpPr>
          <p:cNvPr id="19" name="TextBox 18">
            <a:extLst>
              <a:ext uri="{FF2B5EF4-FFF2-40B4-BE49-F238E27FC236}">
                <a16:creationId xmlns:a16="http://schemas.microsoft.com/office/drawing/2014/main" id="{459776FE-2F57-9051-06ED-58502D22B446}"/>
              </a:ext>
            </a:extLst>
          </p:cNvPr>
          <p:cNvSpPr txBox="1"/>
          <p:nvPr/>
        </p:nvSpPr>
        <p:spPr>
          <a:xfrm>
            <a:off x="448175" y="8816280"/>
            <a:ext cx="6636656" cy="1384995"/>
          </a:xfrm>
          <a:prstGeom prst="rect">
            <a:avLst/>
          </a:prstGeom>
          <a:noFill/>
        </p:spPr>
        <p:txBody>
          <a:bodyPr wrap="square">
            <a:spAutoFit/>
          </a:bodyPr>
          <a:lstStyle/>
          <a:p>
            <a:pPr algn="just"/>
            <a:r>
              <a:rPr lang="en-IN" sz="1400" dirty="0">
                <a:latin typeface="Comic Sans MS" panose="030F0702030302020204" pitchFamily="66" charset="0"/>
              </a:rPr>
              <a:t>Rhodophyceae is classified into 7 orders:</a:t>
            </a:r>
          </a:p>
          <a:p>
            <a:pPr marL="400050" indent="-400050" algn="just">
              <a:buAutoNum type="romanLcPeriod"/>
            </a:pPr>
            <a:r>
              <a:rPr lang="en-IN" sz="1400" dirty="0">
                <a:latin typeface="Comic Sans MS" panose="030F0702030302020204" pitchFamily="66" charset="0"/>
              </a:rPr>
              <a:t>Bangiales (e.g., </a:t>
            </a:r>
            <a:r>
              <a:rPr lang="en-IN" sz="1400" i="1" dirty="0">
                <a:latin typeface="Comic Sans MS" panose="030F0702030302020204" pitchFamily="66" charset="0"/>
              </a:rPr>
              <a:t>Bangia, Porphyra, Porphyridium</a:t>
            </a:r>
            <a:r>
              <a:rPr lang="en-IN" sz="1400" dirty="0">
                <a:latin typeface="Comic Sans MS" panose="030F0702030302020204" pitchFamily="66" charset="0"/>
              </a:rPr>
              <a:t>)</a:t>
            </a:r>
          </a:p>
          <a:p>
            <a:pPr marL="400050" indent="-400050" algn="just">
              <a:buAutoNum type="romanLcPeriod"/>
            </a:pPr>
            <a:r>
              <a:rPr lang="en-IN" sz="1400" dirty="0">
                <a:latin typeface="Comic Sans MS" panose="030F0702030302020204" pitchFamily="66" charset="0"/>
              </a:rPr>
              <a:t>Nemalionales (e.g., </a:t>
            </a:r>
            <a:r>
              <a:rPr lang="en-IN" sz="1400" i="1" dirty="0">
                <a:latin typeface="Comic Sans MS" panose="030F0702030302020204" pitchFamily="66" charset="0"/>
              </a:rPr>
              <a:t>Batrachospermum, Nemalion</a:t>
            </a:r>
            <a:r>
              <a:rPr lang="en-IN" sz="1400" dirty="0">
                <a:latin typeface="Comic Sans MS" panose="030F0702030302020204" pitchFamily="66" charset="0"/>
              </a:rPr>
              <a:t>)</a:t>
            </a:r>
          </a:p>
          <a:p>
            <a:pPr marL="400050" indent="-400050" algn="just">
              <a:buAutoNum type="romanLcPeriod"/>
            </a:pPr>
            <a:r>
              <a:rPr lang="en-IN" sz="1400" dirty="0">
                <a:latin typeface="Comic Sans MS" panose="030F0702030302020204" pitchFamily="66" charset="0"/>
              </a:rPr>
              <a:t>Gelidiales ( e.g., </a:t>
            </a:r>
            <a:r>
              <a:rPr lang="en-IN" sz="1400" i="1" dirty="0">
                <a:latin typeface="Comic Sans MS" panose="030F0702030302020204" pitchFamily="66" charset="0"/>
              </a:rPr>
              <a:t>Gelidium</a:t>
            </a:r>
            <a:r>
              <a:rPr lang="en-IN" sz="1400" dirty="0">
                <a:latin typeface="Comic Sans MS" panose="030F0702030302020204" pitchFamily="66" charset="0"/>
              </a:rPr>
              <a:t>)</a:t>
            </a:r>
          </a:p>
          <a:p>
            <a:pPr marL="400050" indent="-400050" algn="just">
              <a:buAutoNum type="romanLcPeriod"/>
            </a:pPr>
            <a:r>
              <a:rPr lang="en-IN" sz="1400" dirty="0">
                <a:latin typeface="Comic Sans MS" panose="030F0702030302020204" pitchFamily="66" charset="0"/>
              </a:rPr>
              <a:t>Cryptonemiales (e.g., </a:t>
            </a:r>
            <a:r>
              <a:rPr lang="en-IN" sz="1400" i="1" dirty="0">
                <a:latin typeface="Comic Sans MS" panose="030F0702030302020204" pitchFamily="66" charset="0"/>
              </a:rPr>
              <a:t>Corallina</a:t>
            </a:r>
            <a:r>
              <a:rPr lang="en-IN" sz="1400" dirty="0">
                <a:latin typeface="Comic Sans MS" panose="030F0702030302020204" pitchFamily="66" charset="0"/>
              </a:rPr>
              <a:t>)</a:t>
            </a:r>
          </a:p>
          <a:p>
            <a:pPr marL="400050" indent="-400050" algn="just">
              <a:buAutoNum type="romanLcPeriod"/>
            </a:pPr>
            <a:r>
              <a:rPr lang="en-IN" sz="1400" dirty="0">
                <a:latin typeface="Comic Sans MS" panose="030F0702030302020204" pitchFamily="66" charset="0"/>
              </a:rPr>
              <a:t>Gigartinales (e.g., </a:t>
            </a:r>
            <a:r>
              <a:rPr lang="en-IN" sz="1400" i="1" dirty="0">
                <a:latin typeface="Comic Sans MS" panose="030F0702030302020204" pitchFamily="66" charset="0"/>
              </a:rPr>
              <a:t>Gigartina</a:t>
            </a:r>
            <a:r>
              <a:rPr lang="en-IN" sz="1400" dirty="0">
                <a:latin typeface="Comic Sans MS" panose="030F0702030302020204" pitchFamily="66" charset="0"/>
              </a:rPr>
              <a:t>, </a:t>
            </a:r>
            <a:r>
              <a:rPr lang="en-IN" sz="1400" i="1" dirty="0">
                <a:latin typeface="Comic Sans MS" panose="030F0702030302020204" pitchFamily="66" charset="0"/>
              </a:rPr>
              <a:t>Gracilaria</a:t>
            </a:r>
            <a:r>
              <a:rPr lang="en-IN" sz="1400" dirty="0">
                <a:latin typeface="Comic Sans MS" panose="030F0702030302020204" pitchFamily="66" charset="0"/>
              </a:rPr>
              <a:t> )</a:t>
            </a:r>
          </a:p>
        </p:txBody>
      </p:sp>
    </p:spTree>
    <p:extLst>
      <p:ext uri="{BB962C8B-B14F-4D97-AF65-F5344CB8AC3E}">
        <p14:creationId xmlns:p14="http://schemas.microsoft.com/office/powerpoint/2010/main" val="1129648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81CD2410-8D9A-CE15-F580-4BC2974D4274}"/>
              </a:ext>
            </a:extLst>
          </p:cNvPr>
          <p:cNvSpPr>
            <a:spLocks noChangeArrowheads="1"/>
          </p:cNvSpPr>
          <p:nvPr/>
        </p:nvSpPr>
        <p:spPr bwMode="auto">
          <a:xfrm>
            <a:off x="431800" y="905094"/>
            <a:ext cx="5138420" cy="439739"/>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1400" i="1" dirty="0">
                <a:latin typeface="Comic Sans MS" panose="030F0702030302020204" pitchFamily="66" charset="0"/>
              </a:rPr>
              <a:t>Myxophyceae </a:t>
            </a:r>
            <a:r>
              <a:rPr lang="en-IN" sz="1400" dirty="0">
                <a:latin typeface="Comic Sans MS" panose="030F0702030302020204" pitchFamily="66" charset="0"/>
              </a:rPr>
              <a:t>(Cyanophyceae or blue-green algae)</a:t>
            </a:r>
          </a:p>
        </p:txBody>
      </p:sp>
      <p:sp>
        <p:nvSpPr>
          <p:cNvPr id="5" name="AutoShape 43">
            <a:extLst>
              <a:ext uri="{FF2B5EF4-FFF2-40B4-BE49-F238E27FC236}">
                <a16:creationId xmlns:a16="http://schemas.microsoft.com/office/drawing/2014/main" id="{6BA7C452-8ECA-7A08-A0B4-907262C002A9}"/>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6" name="Text Box 45">
            <a:extLst>
              <a:ext uri="{FF2B5EF4-FFF2-40B4-BE49-F238E27FC236}">
                <a16:creationId xmlns:a16="http://schemas.microsoft.com/office/drawing/2014/main" id="{54C6F7DF-C860-7FA6-0343-AF19ACB732A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19</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6">
            <a:extLst>
              <a:ext uri="{FF2B5EF4-FFF2-40B4-BE49-F238E27FC236}">
                <a16:creationId xmlns:a16="http://schemas.microsoft.com/office/drawing/2014/main" id="{58CBDC74-73FE-285A-C2ED-D38417C543BB}"/>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11 Biology</a:t>
            </a:r>
            <a:endParaRPr lang="en-US" altLang="en-US" dirty="0">
              <a:latin typeface="Arial" panose="020B0604020202020204" pitchFamily="34" charset="0"/>
            </a:endParaRPr>
          </a:p>
        </p:txBody>
      </p:sp>
      <p:sp>
        <p:nvSpPr>
          <p:cNvPr id="8" name="Text Box 47">
            <a:extLst>
              <a:ext uri="{FF2B5EF4-FFF2-40B4-BE49-F238E27FC236}">
                <a16:creationId xmlns:a16="http://schemas.microsoft.com/office/drawing/2014/main" id="{DC1A3F5B-B86E-EB3F-D7C8-9BC628047D19}"/>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Plant Kingdom</a:t>
            </a:r>
          </a:p>
        </p:txBody>
      </p:sp>
      <p:sp>
        <p:nvSpPr>
          <p:cNvPr id="10" name="TextBox 9">
            <a:extLst>
              <a:ext uri="{FF2B5EF4-FFF2-40B4-BE49-F238E27FC236}">
                <a16:creationId xmlns:a16="http://schemas.microsoft.com/office/drawing/2014/main" id="{09B7DE87-F6B1-5B13-3584-C5AB13706883}"/>
              </a:ext>
            </a:extLst>
          </p:cNvPr>
          <p:cNvSpPr txBox="1"/>
          <p:nvPr/>
        </p:nvSpPr>
        <p:spPr>
          <a:xfrm>
            <a:off x="431800" y="377825"/>
            <a:ext cx="6636656" cy="523220"/>
          </a:xfrm>
          <a:prstGeom prst="rect">
            <a:avLst/>
          </a:prstGeom>
          <a:noFill/>
        </p:spPr>
        <p:txBody>
          <a:bodyPr wrap="square">
            <a:spAutoFit/>
          </a:bodyPr>
          <a:lstStyle/>
          <a:p>
            <a:pPr marL="400050" indent="-400050" algn="just">
              <a:buFont typeface="+mj-lt"/>
              <a:buAutoNum type="romanLcPeriod" startAt="6"/>
            </a:pPr>
            <a:r>
              <a:rPr lang="en-IN" sz="1400" dirty="0">
                <a:latin typeface="Comic Sans MS" panose="030F0702030302020204" pitchFamily="66" charset="0"/>
              </a:rPr>
              <a:t>Rhodymeniales ( e.g., </a:t>
            </a:r>
            <a:r>
              <a:rPr lang="en-IN" sz="1400" i="1" dirty="0">
                <a:latin typeface="Comic Sans MS" panose="030F0702030302020204" pitchFamily="66" charset="0"/>
              </a:rPr>
              <a:t>Champia</a:t>
            </a:r>
            <a:r>
              <a:rPr lang="en-IN" sz="1400" dirty="0">
                <a:latin typeface="Comic Sans MS" panose="030F0702030302020204" pitchFamily="66" charset="0"/>
              </a:rPr>
              <a:t>, </a:t>
            </a:r>
            <a:r>
              <a:rPr lang="en-IN" sz="1400" i="1" dirty="0">
                <a:latin typeface="Comic Sans MS" panose="030F0702030302020204" pitchFamily="66" charset="0"/>
              </a:rPr>
              <a:t>Rhodymenia</a:t>
            </a:r>
            <a:r>
              <a:rPr lang="en-IN" sz="1400" dirty="0">
                <a:latin typeface="Comic Sans MS" panose="030F0702030302020204" pitchFamily="66" charset="0"/>
              </a:rPr>
              <a:t>)</a:t>
            </a:r>
          </a:p>
          <a:p>
            <a:pPr marL="400050" indent="-400050" algn="just">
              <a:buAutoNum type="romanLcPeriod" startAt="6"/>
            </a:pPr>
            <a:r>
              <a:rPr lang="en-IN" sz="1400" dirty="0">
                <a:latin typeface="Comic Sans MS" panose="030F0702030302020204" pitchFamily="66" charset="0"/>
              </a:rPr>
              <a:t>Ceramiales ( e.g., Ceramium, Polysiphonia)</a:t>
            </a:r>
          </a:p>
        </p:txBody>
      </p:sp>
      <p:sp>
        <p:nvSpPr>
          <p:cNvPr id="12" name="TextBox 11">
            <a:extLst>
              <a:ext uri="{FF2B5EF4-FFF2-40B4-BE49-F238E27FC236}">
                <a16:creationId xmlns:a16="http://schemas.microsoft.com/office/drawing/2014/main" id="{752ADFE1-A042-57BA-A513-6DFAF123761B}"/>
              </a:ext>
            </a:extLst>
          </p:cNvPr>
          <p:cNvSpPr txBox="1"/>
          <p:nvPr/>
        </p:nvSpPr>
        <p:spPr>
          <a:xfrm>
            <a:off x="448809" y="1352771"/>
            <a:ext cx="6636656" cy="2677656"/>
          </a:xfrm>
          <a:prstGeom prst="rect">
            <a:avLst/>
          </a:prstGeom>
          <a:noFill/>
        </p:spPr>
        <p:txBody>
          <a:bodyPr wrap="square">
            <a:spAutoFit/>
          </a:bodyPr>
          <a:lstStyle/>
          <a:p>
            <a:r>
              <a:rPr lang="en-IN" sz="1400" dirty="0">
                <a:latin typeface="Comic Sans MS" panose="030F0702030302020204" pitchFamily="66" charset="0"/>
              </a:rPr>
              <a:t>The algae are characterized by the presence of very rudimentary nucleus and they do not have well organized chromatophores (i.e. cell organization is prokaryotic).</a:t>
            </a:r>
          </a:p>
          <a:p>
            <a:pPr marL="400050" indent="-400050">
              <a:buFontTx/>
              <a:buAutoNum type="romanLcPeriod"/>
            </a:pPr>
            <a:r>
              <a:rPr lang="en-IN" sz="1400" b="1" dirty="0">
                <a:latin typeface="Comic Sans MS" panose="030F0702030302020204" pitchFamily="66" charset="0"/>
              </a:rPr>
              <a:t>Habitat </a:t>
            </a:r>
            <a:r>
              <a:rPr lang="en-IN" sz="1400" dirty="0">
                <a:latin typeface="Comic Sans MS" panose="030F0702030302020204" pitchFamily="66" charset="0"/>
              </a:rPr>
              <a:t>– Plants occur in sea and fresh water.</a:t>
            </a:r>
          </a:p>
          <a:p>
            <a:pPr marL="400050" indent="-400050">
              <a:buFontTx/>
              <a:buAutoNum type="romanLcPeriod"/>
            </a:pPr>
            <a:r>
              <a:rPr lang="en-IN" sz="1400" b="1" dirty="0">
                <a:latin typeface="Comic Sans MS" panose="030F0702030302020204" pitchFamily="66" charset="0"/>
              </a:rPr>
              <a:t>Structure – </a:t>
            </a:r>
            <a:r>
              <a:rPr lang="en-IN" sz="1400" dirty="0">
                <a:latin typeface="Comic Sans MS" panose="030F0702030302020204" pitchFamily="66" charset="0"/>
              </a:rPr>
              <a:t>Plants are simple type of cell to filamentous, some of the filamentous forms show false or true branching.</a:t>
            </a:r>
            <a:endParaRPr lang="en-IN" sz="1400" b="1" dirty="0">
              <a:latin typeface="Comic Sans MS" panose="030F0702030302020204" pitchFamily="66" charset="0"/>
            </a:endParaRPr>
          </a:p>
          <a:p>
            <a:pPr marL="400050" indent="-400050">
              <a:buFontTx/>
              <a:buAutoNum type="romanLcPeriod"/>
            </a:pPr>
            <a:r>
              <a:rPr lang="en-IN" sz="1400" b="1" dirty="0">
                <a:latin typeface="Comic Sans MS" panose="030F0702030302020204" pitchFamily="66" charset="0"/>
              </a:rPr>
              <a:t>Flagella </a:t>
            </a:r>
            <a:r>
              <a:rPr lang="en-IN" sz="1400" dirty="0">
                <a:latin typeface="Comic Sans MS" panose="030F0702030302020204" pitchFamily="66" charset="0"/>
              </a:rPr>
              <a:t>– No motile stages is known.</a:t>
            </a:r>
          </a:p>
          <a:p>
            <a:pPr marL="400050" indent="-400050">
              <a:buAutoNum type="romanLcPeriod"/>
            </a:pPr>
            <a:r>
              <a:rPr lang="en-IN" sz="1400" b="1" dirty="0">
                <a:latin typeface="Comic Sans MS" panose="030F0702030302020204" pitchFamily="66" charset="0"/>
              </a:rPr>
              <a:t>Storage </a:t>
            </a:r>
            <a:r>
              <a:rPr lang="en-IN" sz="1400" dirty="0">
                <a:latin typeface="Comic Sans MS" panose="030F0702030302020204" pitchFamily="66" charset="0"/>
              </a:rPr>
              <a:t>– The food reserve is cyanophycean starch.</a:t>
            </a:r>
          </a:p>
          <a:p>
            <a:pPr marL="400050" indent="-400050">
              <a:buAutoNum type="romanLcPeriod"/>
            </a:pPr>
            <a:r>
              <a:rPr lang="en-IN" sz="1400" b="1" dirty="0">
                <a:latin typeface="Comic Sans MS" panose="030F0702030302020204" pitchFamily="66" charset="0"/>
              </a:rPr>
              <a:t>Pigment </a:t>
            </a:r>
            <a:r>
              <a:rPr lang="en-IN" sz="1400" dirty="0">
                <a:latin typeface="Comic Sans MS" panose="030F0702030302020204" pitchFamily="66" charset="0"/>
              </a:rPr>
              <a:t>– The chief pigment is chlorophyll a, β-carotene and c phycocyanin.</a:t>
            </a:r>
          </a:p>
          <a:p>
            <a:pPr marL="400050" indent="-400050">
              <a:buAutoNum type="romanLcPeriod"/>
            </a:pPr>
            <a:r>
              <a:rPr lang="en-IN" sz="1400" b="1" dirty="0">
                <a:latin typeface="Comic Sans MS" panose="030F0702030302020204" pitchFamily="66" charset="0"/>
                <a:sym typeface="Symbol" panose="05050102010706020507" pitchFamily="18" charset="2"/>
              </a:rPr>
              <a:t>Sexual Reproduction</a:t>
            </a:r>
            <a:r>
              <a:rPr lang="en-IN" sz="1400" dirty="0">
                <a:latin typeface="Comic Sans MS" panose="030F0702030302020204" pitchFamily="66" charset="0"/>
                <a:sym typeface="Symbol" panose="05050102010706020507" pitchFamily="18" charset="2"/>
              </a:rPr>
              <a:t> - </a:t>
            </a:r>
            <a:r>
              <a:rPr lang="en-IN" sz="1400" dirty="0">
                <a:latin typeface="Comic Sans MS" panose="030F0702030302020204" pitchFamily="66" charset="0"/>
              </a:rPr>
              <a:t>Sexual reproduction is absent.</a:t>
            </a:r>
          </a:p>
          <a:p>
            <a:pPr marL="400050" indent="-400050">
              <a:buAutoNum type="romanLcPeriod"/>
            </a:pPr>
            <a:r>
              <a:rPr lang="en-IN" sz="1400" b="1" dirty="0">
                <a:latin typeface="Comic Sans MS" panose="030F0702030302020204" pitchFamily="66" charset="0"/>
                <a:sym typeface="Symbol" panose="05050102010706020507" pitchFamily="18" charset="2"/>
              </a:rPr>
              <a:t>Orders</a:t>
            </a:r>
            <a:r>
              <a:rPr lang="en-IN" sz="1400" dirty="0">
                <a:latin typeface="Comic Sans MS" panose="030F0702030302020204" pitchFamily="66" charset="0"/>
                <a:sym typeface="Symbol" panose="05050102010706020507" pitchFamily="18" charset="2"/>
              </a:rPr>
              <a:t> - This class includes 5 orders.</a:t>
            </a:r>
          </a:p>
        </p:txBody>
      </p:sp>
      <p:sp>
        <p:nvSpPr>
          <p:cNvPr id="13" name="AutoShape 23">
            <a:extLst>
              <a:ext uri="{FF2B5EF4-FFF2-40B4-BE49-F238E27FC236}">
                <a16:creationId xmlns:a16="http://schemas.microsoft.com/office/drawing/2014/main" id="{94C9C918-9120-0AAB-8821-659EB70F814D}"/>
              </a:ext>
            </a:extLst>
          </p:cNvPr>
          <p:cNvSpPr>
            <a:spLocks noChangeArrowheads="1"/>
          </p:cNvSpPr>
          <p:nvPr/>
        </p:nvSpPr>
        <p:spPr bwMode="auto">
          <a:xfrm>
            <a:off x="431800" y="4114565"/>
            <a:ext cx="4275591" cy="457466"/>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algn="ctr"/>
            <a:r>
              <a:rPr lang="en-IN" dirty="0">
                <a:solidFill>
                  <a:schemeClr val="bg1"/>
                </a:solidFill>
                <a:latin typeface="Comic Sans MS" panose="030F0702030302020204" pitchFamily="66" charset="0"/>
              </a:rPr>
              <a:t>Economic importance</a:t>
            </a:r>
          </a:p>
        </p:txBody>
      </p:sp>
      <p:sp>
        <p:nvSpPr>
          <p:cNvPr id="14" name="Title 1">
            <a:extLst>
              <a:ext uri="{FF2B5EF4-FFF2-40B4-BE49-F238E27FC236}">
                <a16:creationId xmlns:a16="http://schemas.microsoft.com/office/drawing/2014/main" id="{55083ECF-A80C-9F4E-1F8A-342D49D77D56}"/>
              </a:ext>
            </a:extLst>
          </p:cNvPr>
          <p:cNvSpPr txBox="1">
            <a:spLocks/>
          </p:cNvSpPr>
          <p:nvPr/>
        </p:nvSpPr>
        <p:spPr>
          <a:xfrm>
            <a:off x="482237" y="4154325"/>
            <a:ext cx="407361" cy="375401"/>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6</a:t>
            </a:r>
          </a:p>
        </p:txBody>
      </p:sp>
      <p:sp>
        <p:nvSpPr>
          <p:cNvPr id="15" name="TextBox 14">
            <a:extLst>
              <a:ext uri="{FF2B5EF4-FFF2-40B4-BE49-F238E27FC236}">
                <a16:creationId xmlns:a16="http://schemas.microsoft.com/office/drawing/2014/main" id="{7973D767-18F3-A53C-3CB1-B98C330139D8}"/>
              </a:ext>
            </a:extLst>
          </p:cNvPr>
          <p:cNvSpPr txBox="1"/>
          <p:nvPr/>
        </p:nvSpPr>
        <p:spPr>
          <a:xfrm>
            <a:off x="431800" y="4594891"/>
            <a:ext cx="6636656" cy="523220"/>
          </a:xfrm>
          <a:prstGeom prst="rect">
            <a:avLst/>
          </a:prstGeom>
          <a:noFill/>
        </p:spPr>
        <p:txBody>
          <a:bodyPr wrap="square">
            <a:spAutoFit/>
          </a:bodyPr>
          <a:lstStyle/>
          <a:p>
            <a:pPr marL="342900" indent="-342900">
              <a:buAutoNum type="arabicPeriod"/>
            </a:pPr>
            <a:r>
              <a:rPr lang="en-IN" sz="1400" b="1" dirty="0">
                <a:latin typeface="Comic Sans MS" panose="030F0702030302020204" pitchFamily="66" charset="0"/>
                <a:sym typeface="Symbol" panose="05050102010706020507" pitchFamily="18" charset="2"/>
              </a:rPr>
              <a:t>Algae as food</a:t>
            </a:r>
            <a:r>
              <a:rPr lang="en-IN" sz="1400" dirty="0">
                <a:latin typeface="Comic Sans MS" panose="030F0702030302020204" pitchFamily="66" charset="0"/>
                <a:sym typeface="Symbol" panose="05050102010706020507" pitchFamily="18" charset="2"/>
              </a:rPr>
              <a:t> – Around 70 species are found to be edible</a:t>
            </a:r>
          </a:p>
          <a:p>
            <a:pPr marL="342900" indent="-342900">
              <a:buAutoNum type="arabicPeriod"/>
            </a:pPr>
            <a:r>
              <a:rPr lang="en-IN" sz="1400" dirty="0">
                <a:latin typeface="Comic Sans MS" panose="030F0702030302020204" pitchFamily="66" charset="0"/>
                <a:sym typeface="Symbol" panose="05050102010706020507" pitchFamily="18" charset="2"/>
              </a:rPr>
              <a:t>Algae in industries - </a:t>
            </a:r>
          </a:p>
        </p:txBody>
      </p:sp>
    </p:spTree>
    <p:extLst>
      <p:ext uri="{BB962C8B-B14F-4D97-AF65-F5344CB8AC3E}">
        <p14:creationId xmlns:p14="http://schemas.microsoft.com/office/powerpoint/2010/main" val="4441995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6407</TotalTime>
  <Words>5669</Words>
  <Application>Microsoft Office PowerPoint</Application>
  <PresentationFormat>Custom</PresentationFormat>
  <Paragraphs>536</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Comic Sans MS</vt:lpstr>
      <vt:lpstr>Poppins</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Saroj Kumar Jha</dc:creator>
  <cp:lastModifiedBy>Saroj</cp:lastModifiedBy>
  <cp:revision>648</cp:revision>
  <dcterms:created xsi:type="dcterms:W3CDTF">2022-03-28T17:58:27Z</dcterms:created>
  <dcterms:modified xsi:type="dcterms:W3CDTF">2022-05-25T12:38:01Z</dcterms:modified>
</cp:coreProperties>
</file>