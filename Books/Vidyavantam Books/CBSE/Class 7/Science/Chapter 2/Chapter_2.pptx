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1" userDrawn="1">
          <p15:clr>
            <a:srgbClr val="A4A3A4"/>
          </p15:clr>
        </p15:guide>
        <p15:guide id="2" pos="2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587C"/>
    <a:srgbClr val="F0587C"/>
    <a:srgbClr val="89B8E3"/>
    <a:srgbClr val="333333"/>
    <a:srgbClr val="3C7B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26" autoAdjust="0"/>
    <p:restoredTop sz="94291" autoAdjust="0"/>
  </p:normalViewPr>
  <p:slideViewPr>
    <p:cSldViewPr snapToGrid="0">
      <p:cViewPr>
        <p:scale>
          <a:sx n="200" d="100"/>
          <a:sy n="200" d="100"/>
        </p:scale>
        <p:origin x="-1254" y="-10488"/>
      </p:cViewPr>
      <p:guideLst>
        <p:guide orient="horz" pos="351"/>
        <p:guide pos="27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78485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36216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4216626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507983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65106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574601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897088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273371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dirty="0"/>
              <a:t>Click icon to add picture</a:t>
            </a:r>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Edit Master text styles</a:t>
            </a:r>
          </a:p>
        </p:txBody>
      </p:sp>
      <p:sp>
        <p:nvSpPr>
          <p:cNvPr id="5" name="Date Placeholder 4"/>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722551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1616764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9B4C5A-57BB-4487-924E-96BB2EDB1DD5}" type="datetimeFigureOut">
              <a:rPr lang="en-IN" smtClean="0"/>
              <a:t>18-04-2022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71713203-F4FC-49EB-8478-0A42E61A2921}" type="slidenum">
              <a:rPr lang="en-IN" smtClean="0"/>
              <a:t>‹#›</a:t>
            </a:fld>
            <a:endParaRPr lang="en-IN" dirty="0"/>
          </a:p>
        </p:txBody>
      </p:sp>
    </p:spTree>
    <p:extLst>
      <p:ext uri="{BB962C8B-B14F-4D97-AF65-F5344CB8AC3E}">
        <p14:creationId xmlns:p14="http://schemas.microsoft.com/office/powerpoint/2010/main" val="1024264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879B4C5A-57BB-4487-924E-96BB2EDB1DD5}" type="datetimeFigureOut">
              <a:rPr lang="en-IN" smtClean="0"/>
              <a:t>18-04-2022</a:t>
            </a:fld>
            <a:endParaRPr lang="en-IN" dirty="0"/>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71713203-F4FC-49EB-8478-0A42E61A2921}" type="slidenum">
              <a:rPr lang="en-IN" smtClean="0"/>
              <a:t>‹#›</a:t>
            </a:fld>
            <a:endParaRPr lang="en-IN" dirty="0"/>
          </a:p>
        </p:txBody>
      </p:sp>
    </p:spTree>
    <p:extLst>
      <p:ext uri="{BB962C8B-B14F-4D97-AF65-F5344CB8AC3E}">
        <p14:creationId xmlns:p14="http://schemas.microsoft.com/office/powerpoint/2010/main" val="191893657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2">
            <a:extLst>
              <a:ext uri="{FF2B5EF4-FFF2-40B4-BE49-F238E27FC236}">
                <a16:creationId xmlns:a16="http://schemas.microsoft.com/office/drawing/2014/main" id="{F08F8D43-74A9-4DE8-BC48-2958AA507D1A}"/>
              </a:ext>
            </a:extLst>
          </p:cNvPr>
          <p:cNvSpPr>
            <a:spLocks noChangeArrowheads="1"/>
          </p:cNvSpPr>
          <p:nvPr/>
        </p:nvSpPr>
        <p:spPr bwMode="auto">
          <a:xfrm>
            <a:off x="0" y="-41661"/>
            <a:ext cx="7559675" cy="2174530"/>
          </a:xfrm>
          <a:prstGeom prst="rect">
            <a:avLst/>
          </a:prstGeom>
          <a:solidFill>
            <a:srgbClr val="27B9C0"/>
          </a:solidFill>
          <a:ln>
            <a:noFill/>
          </a:ln>
          <a:effectLst/>
          <a:extLs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 name="Title 1">
            <a:extLst>
              <a:ext uri="{FF2B5EF4-FFF2-40B4-BE49-F238E27FC236}">
                <a16:creationId xmlns:a16="http://schemas.microsoft.com/office/drawing/2014/main" id="{2C6BF1E1-ED12-438B-9FE0-11ADBE2E5AEE}"/>
              </a:ext>
            </a:extLst>
          </p:cNvPr>
          <p:cNvSpPr txBox="1">
            <a:spLocks/>
          </p:cNvSpPr>
          <p:nvPr/>
        </p:nvSpPr>
        <p:spPr>
          <a:xfrm>
            <a:off x="484640" y="694290"/>
            <a:ext cx="699996" cy="702628"/>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3200" b="1" dirty="0">
                <a:solidFill>
                  <a:srgbClr val="49C0C2"/>
                </a:solidFill>
                <a:latin typeface="Comic Sans MS" panose="030F0702030302020204" pitchFamily="66" charset="0"/>
              </a:rPr>
              <a:t>2</a:t>
            </a:r>
            <a:endParaRPr lang="en-IN" sz="3200" b="1" dirty="0">
              <a:solidFill>
                <a:srgbClr val="49C0C2"/>
              </a:solidFill>
            </a:endParaRPr>
          </a:p>
        </p:txBody>
      </p:sp>
      <p:sp>
        <p:nvSpPr>
          <p:cNvPr id="6" name="Title 1">
            <a:extLst>
              <a:ext uri="{FF2B5EF4-FFF2-40B4-BE49-F238E27FC236}">
                <a16:creationId xmlns:a16="http://schemas.microsoft.com/office/drawing/2014/main" id="{A4B1CA41-3BB4-42E4-8AEE-4E8736C888DF}"/>
              </a:ext>
            </a:extLst>
          </p:cNvPr>
          <p:cNvSpPr txBox="1">
            <a:spLocks/>
          </p:cNvSpPr>
          <p:nvPr/>
        </p:nvSpPr>
        <p:spPr>
          <a:xfrm>
            <a:off x="1380808" y="-20797"/>
            <a:ext cx="6175215" cy="2181749"/>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pPr algn="l"/>
            <a:r>
              <a:rPr lang="en-IN" sz="4800" b="1" dirty="0">
                <a:ln w="12700">
                  <a:solidFill>
                    <a:schemeClr val="tx1"/>
                  </a:solidFill>
                </a:ln>
                <a:solidFill>
                  <a:schemeClr val="bg1"/>
                </a:solidFill>
                <a:latin typeface="Comic Sans MS" panose="030F0702030302020204" pitchFamily="66" charset="0"/>
              </a:rPr>
              <a:t>Fibre to Fabric</a:t>
            </a:r>
          </a:p>
        </p:txBody>
      </p:sp>
      <p:sp>
        <p:nvSpPr>
          <p:cNvPr id="9" name="AutoShape 26">
            <a:extLst>
              <a:ext uri="{FF2B5EF4-FFF2-40B4-BE49-F238E27FC236}">
                <a16:creationId xmlns:a16="http://schemas.microsoft.com/office/drawing/2014/main" id="{AC102B8D-DD39-4388-A9E8-14A77B88EDBF}"/>
              </a:ext>
            </a:extLst>
          </p:cNvPr>
          <p:cNvSpPr>
            <a:spLocks noChangeArrowheads="1"/>
          </p:cNvSpPr>
          <p:nvPr/>
        </p:nvSpPr>
        <p:spPr bwMode="auto">
          <a:xfrm>
            <a:off x="711995" y="2423207"/>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16" name="Title 1">
            <a:extLst>
              <a:ext uri="{FF2B5EF4-FFF2-40B4-BE49-F238E27FC236}">
                <a16:creationId xmlns:a16="http://schemas.microsoft.com/office/drawing/2014/main" id="{6738C533-1962-4500-8318-BD5CEAA5FD82}"/>
              </a:ext>
            </a:extLst>
          </p:cNvPr>
          <p:cNvSpPr txBox="1">
            <a:spLocks/>
          </p:cNvSpPr>
          <p:nvPr/>
        </p:nvSpPr>
        <p:spPr>
          <a:xfrm>
            <a:off x="1361045" y="2386695"/>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19" name="AutoShape 43">
            <a:extLst>
              <a:ext uri="{FF2B5EF4-FFF2-40B4-BE49-F238E27FC236}">
                <a16:creationId xmlns:a16="http://schemas.microsoft.com/office/drawing/2014/main" id="{B6621A89-C4D4-460F-93A6-AED98EDA3F43}"/>
              </a:ext>
            </a:extLst>
          </p:cNvPr>
          <p:cNvSpPr>
            <a:spLocks noChangeArrowheads="1"/>
          </p:cNvSpPr>
          <p:nvPr/>
        </p:nvSpPr>
        <p:spPr bwMode="auto">
          <a:xfrm>
            <a:off x="3590925" y="10345738"/>
            <a:ext cx="381000" cy="295275"/>
          </a:xfrm>
          <a:prstGeom prst="roundRect">
            <a:avLst>
              <a:gd name="adj" fmla="val 16667"/>
            </a:avLst>
          </a:prstGeom>
          <a:solidFill>
            <a:srgbClr val="F0587C"/>
          </a:solidFill>
          <a:ln>
            <a:noFill/>
          </a:ln>
          <a:effectLst/>
          <a:extLst>
            <a:ext uri="{91240B29-F687-4F45-9708-019B960494DF}">
              <a14:hiddenLine xmlns:a14="http://schemas.microsoft.com/office/drawing/2010/main" w="25400" algn="ctr">
                <a:solidFill>
                  <a:srgbClr val="000000"/>
                </a:solidFill>
                <a:round/>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0" name="Text Box 45">
            <a:extLst>
              <a:ext uri="{FF2B5EF4-FFF2-40B4-BE49-F238E27FC236}">
                <a16:creationId xmlns:a16="http://schemas.microsoft.com/office/drawing/2014/main" id="{4816C2C6-96CF-4C9E-AE1E-8FAB75BF5D6B}"/>
              </a:ext>
            </a:extLst>
          </p:cNvPr>
          <p:cNvSpPr txBox="1">
            <a:spLocks noChangeArrowheads="1"/>
          </p:cNvSpPr>
          <p:nvPr/>
        </p:nvSpPr>
        <p:spPr bwMode="auto">
          <a:xfrm>
            <a:off x="3590925" y="10261600"/>
            <a:ext cx="381000" cy="450850"/>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fld id="{AA3A2C3A-815D-4324-A52B-0D6E1281FA41}" type="slidenum">
              <a:rPr kumimoji="0" lang="en-IN" altLang="en-US" sz="1400" b="0" i="0" u="none" strike="noStrike" cap="none" normalizeH="0" baseline="0" smtClean="0">
                <a:ln>
                  <a:noFill/>
                </a:ln>
                <a:solidFill>
                  <a:srgbClr val="FFFFFF"/>
                </a:solidFill>
                <a:effectLst/>
                <a:latin typeface="Poppins" panose="00000500000000000000" pitchFamily="2" charset="0"/>
              </a:rPr>
              <a:pPr marL="0" marR="0" lvl="0" indent="0" algn="ctr" defTabSz="914400" rtl="0" eaLnBrk="0" fontAlgn="base" latinLnBrk="0" hangingPunct="0">
                <a:lnSpc>
                  <a:spcPct val="100000"/>
                </a:lnSpc>
                <a:spcBef>
                  <a:spcPct val="0"/>
                </a:spcBef>
                <a:spcAft>
                  <a:spcPct val="0"/>
                </a:spcAft>
                <a:buClrTx/>
                <a:buSzTx/>
                <a:buFontTx/>
                <a:buNone/>
                <a:tabLst/>
              </a:pPr>
              <a:t>1</a:t>
            </a:fld>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4" name="AutoShape 28">
            <a:extLst>
              <a:ext uri="{FF2B5EF4-FFF2-40B4-BE49-F238E27FC236}">
                <a16:creationId xmlns:a16="http://schemas.microsoft.com/office/drawing/2014/main" id="{FDA541CC-7049-4F86-8E76-DE6FF48813E6}"/>
              </a:ext>
            </a:extLst>
          </p:cNvPr>
          <p:cNvSpPr>
            <a:spLocks noChangeArrowheads="1"/>
          </p:cNvSpPr>
          <p:nvPr/>
        </p:nvSpPr>
        <p:spPr bwMode="auto">
          <a:xfrm>
            <a:off x="431800" y="2616622"/>
            <a:ext cx="6660357" cy="2390257"/>
          </a:xfrm>
          <a:prstGeom prst="roundRect">
            <a:avLst>
              <a:gd name="adj" fmla="val 7800"/>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1" name="Text Box 46">
            <a:extLst>
              <a:ext uri="{FF2B5EF4-FFF2-40B4-BE49-F238E27FC236}">
                <a16:creationId xmlns:a16="http://schemas.microsoft.com/office/drawing/2014/main" id="{B12BF99A-36CF-4D64-B965-09BDFC6A74F9}"/>
              </a:ext>
            </a:extLst>
          </p:cNvPr>
          <p:cNvSpPr txBox="1">
            <a:spLocks noChangeArrowheads="1"/>
          </p:cNvSpPr>
          <p:nvPr/>
        </p:nvSpPr>
        <p:spPr bwMode="auto">
          <a:xfrm>
            <a:off x="0" y="10261600"/>
            <a:ext cx="3590925" cy="439738"/>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IN" altLang="en-US" sz="1000" b="0" i="0" u="none" strike="noStrike" cap="none" normalizeH="0" baseline="0" dirty="0">
                <a:ln>
                  <a:noFill/>
                </a:ln>
                <a:solidFill>
                  <a:srgbClr val="000000"/>
                </a:solidFill>
                <a:effectLst/>
                <a:latin typeface="Poppins" panose="00000500000000000000" pitchFamily="2" charset="0"/>
              </a:rPr>
              <a:t>Vidyavantam — CBSE Class 7 Science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Text Box 47">
            <a:extLst>
              <a:ext uri="{FF2B5EF4-FFF2-40B4-BE49-F238E27FC236}">
                <a16:creationId xmlns:a16="http://schemas.microsoft.com/office/drawing/2014/main" id="{2438314B-F1FA-4310-BEC3-73F9C56B4761}"/>
              </a:ext>
            </a:extLst>
          </p:cNvPr>
          <p:cNvSpPr txBox="1">
            <a:spLocks noChangeArrowheads="1"/>
          </p:cNvSpPr>
          <p:nvPr/>
        </p:nvSpPr>
        <p:spPr bwMode="auto">
          <a:xfrm>
            <a:off x="3968273" y="10261600"/>
            <a:ext cx="3587750" cy="428625"/>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ctr" anchorCtr="0" compatLnSpc="1">
            <a:prstTxWarp prst="textNoShape">
              <a:avLst/>
            </a:prstTxWarp>
          </a:bodyPr>
          <a:lstStyle/>
          <a:p>
            <a:pPr lvl="0" algn="ctr" defTabSz="914400" eaLnBrk="0" fontAlgn="base" hangingPunct="0">
              <a:spcBef>
                <a:spcPct val="0"/>
              </a:spcBef>
              <a:spcAft>
                <a:spcPct val="0"/>
              </a:spcAft>
            </a:pPr>
            <a:r>
              <a:rPr lang="en-IN" sz="1000" dirty="0">
                <a:solidFill>
                  <a:srgbClr val="000000"/>
                </a:solidFill>
                <a:latin typeface="Poppins" panose="00000500000000000000" pitchFamily="2" charset="0"/>
              </a:rPr>
              <a:t>Nutrition</a:t>
            </a:r>
            <a:endParaRPr lang="en-US" altLang="en-US" sz="1000" dirty="0">
              <a:solidFill>
                <a:srgbClr val="000000"/>
              </a:solidFill>
              <a:latin typeface="Poppins" panose="00000500000000000000" pitchFamily="2" charset="0"/>
            </a:endParaRPr>
          </a:p>
        </p:txBody>
      </p:sp>
      <p:sp>
        <p:nvSpPr>
          <p:cNvPr id="26" name="AutoShape 29">
            <a:extLst>
              <a:ext uri="{FF2B5EF4-FFF2-40B4-BE49-F238E27FC236}">
                <a16:creationId xmlns:a16="http://schemas.microsoft.com/office/drawing/2014/main" id="{C771DA9E-0B26-4AC8-AA48-987CABFAC6E2}"/>
              </a:ext>
            </a:extLst>
          </p:cNvPr>
          <p:cNvSpPr>
            <a:spLocks noChangeArrowheads="1"/>
          </p:cNvSpPr>
          <p:nvPr/>
        </p:nvSpPr>
        <p:spPr bwMode="auto">
          <a:xfrm>
            <a:off x="1023145" y="2373597"/>
            <a:ext cx="2219325"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27" name="AutoShape 30">
            <a:extLst>
              <a:ext uri="{FF2B5EF4-FFF2-40B4-BE49-F238E27FC236}">
                <a16:creationId xmlns:a16="http://schemas.microsoft.com/office/drawing/2014/main" id="{5DA2C234-D481-414C-A2E0-85C162DD0EC1}"/>
              </a:ext>
            </a:extLst>
          </p:cNvPr>
          <p:cNvSpPr>
            <a:spLocks noChangeArrowheads="1"/>
          </p:cNvSpPr>
          <p:nvPr/>
        </p:nvSpPr>
        <p:spPr bwMode="auto">
          <a:xfrm>
            <a:off x="761207" y="2414872"/>
            <a:ext cx="2402718"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28" name="Oval 31">
            <a:extLst>
              <a:ext uri="{FF2B5EF4-FFF2-40B4-BE49-F238E27FC236}">
                <a16:creationId xmlns:a16="http://schemas.microsoft.com/office/drawing/2014/main" id="{E9A01E11-BC22-4488-8A41-8059129F12F3}"/>
              </a:ext>
            </a:extLst>
          </p:cNvPr>
          <p:cNvSpPr>
            <a:spLocks noChangeArrowheads="1"/>
          </p:cNvSpPr>
          <p:nvPr/>
        </p:nvSpPr>
        <p:spPr bwMode="auto">
          <a:xfrm>
            <a:off x="683420" y="2260885"/>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29" name="Title 1">
            <a:extLst>
              <a:ext uri="{FF2B5EF4-FFF2-40B4-BE49-F238E27FC236}">
                <a16:creationId xmlns:a16="http://schemas.microsoft.com/office/drawing/2014/main" id="{CCDC8C65-FA1F-4504-827C-B8A97D26EA65}"/>
              </a:ext>
            </a:extLst>
          </p:cNvPr>
          <p:cNvSpPr txBox="1">
            <a:spLocks/>
          </p:cNvSpPr>
          <p:nvPr/>
        </p:nvSpPr>
        <p:spPr>
          <a:xfrm>
            <a:off x="1429068" y="2356452"/>
            <a:ext cx="1748093"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Fibres</a:t>
            </a:r>
            <a:endParaRPr lang="en-IN" sz="1500" b="1" dirty="0"/>
          </a:p>
        </p:txBody>
      </p:sp>
      <p:sp>
        <p:nvSpPr>
          <p:cNvPr id="2" name="Rectangle 1">
            <a:extLst>
              <a:ext uri="{FF2B5EF4-FFF2-40B4-BE49-F238E27FC236}">
                <a16:creationId xmlns:a16="http://schemas.microsoft.com/office/drawing/2014/main" id="{DBE0614C-76EA-407C-BD21-FE44CAE6B3E8}"/>
              </a:ext>
            </a:extLst>
          </p:cNvPr>
          <p:cNvSpPr/>
          <p:nvPr/>
        </p:nvSpPr>
        <p:spPr>
          <a:xfrm>
            <a:off x="661036" y="3021658"/>
            <a:ext cx="6135328" cy="1815882"/>
          </a:xfrm>
          <a:prstGeom prst="rect">
            <a:avLst/>
          </a:prstGeom>
        </p:spPr>
        <p:txBody>
          <a:bodyPr wrap="square">
            <a:spAutoFit/>
          </a:bodyPr>
          <a:lstStyle/>
          <a:p>
            <a:pPr algn="just"/>
            <a:r>
              <a:rPr lang="en-IN" sz="1400" dirty="0">
                <a:latin typeface="Comic Sans MS" panose="030F0702030302020204" pitchFamily="66" charset="0"/>
              </a:rPr>
              <a:t>Fibre is a thin thread of natural or artificial substances. It is used to make cloths with the help of power looms or weaving machines. The fibres we get from plants and animals are called natural fibres. Cotton, jute, coir, flax, hemp are examples for plant fibres. Wool and silk are examples for animal fibres. Fibres made by humans by chemical synthesis are called </a:t>
            </a:r>
            <a:r>
              <a:rPr lang="en-IN" sz="1400" b="1" dirty="0">
                <a:latin typeface="Comic Sans MS" panose="030F0702030302020204" pitchFamily="66" charset="0"/>
              </a:rPr>
              <a:t>synthetic fibres </a:t>
            </a:r>
            <a:r>
              <a:rPr lang="en-IN" sz="1400" dirty="0">
                <a:latin typeface="Comic Sans MS" panose="030F0702030302020204" pitchFamily="66" charset="0"/>
              </a:rPr>
              <a:t>or </a:t>
            </a:r>
            <a:r>
              <a:rPr lang="en-IN" sz="1400" b="1" dirty="0">
                <a:latin typeface="Comic Sans MS" panose="030F0702030302020204" pitchFamily="66" charset="0"/>
              </a:rPr>
              <a:t>artificial fibres</a:t>
            </a:r>
            <a:r>
              <a:rPr lang="en-IN" sz="1400" dirty="0">
                <a:latin typeface="Comic Sans MS" panose="030F0702030302020204" pitchFamily="66" charset="0"/>
              </a:rPr>
              <a:t>. Rayon, nylon, acrylic and Dacron are examples for artificial fibres. These fibres are obtained from petroleum by complex chemical processes.</a:t>
            </a:r>
          </a:p>
        </p:txBody>
      </p:sp>
      <p:pic>
        <p:nvPicPr>
          <p:cNvPr id="38" name="Graphic 37">
            <a:extLst>
              <a:ext uri="{FF2B5EF4-FFF2-40B4-BE49-F238E27FC236}">
                <a16:creationId xmlns:a16="http://schemas.microsoft.com/office/drawing/2014/main" id="{F69E6DE2-39E4-44F5-ABA5-125407619771}"/>
              </a:ext>
            </a:extLst>
          </p:cNvPr>
          <p:cNvPicPr>
            <a:picLocks noChangeAspect="1"/>
          </p:cNvPicPr>
          <p:nvPr/>
        </p:nvPicPr>
        <p:blipFill rotWithShape="1">
          <a:blip r:embed="rId2">
            <a:extLst>
              <a:ext uri="{28A0092B-C50C-407E-A947-70E740481C1C}">
                <a14:useLocalDpi xmlns:a14="http://schemas.microsoft.com/office/drawing/2010/main" val="0"/>
              </a:ext>
            </a:extLst>
          </a:blip>
          <a:srcRect l="4348" t="882" r="2954"/>
          <a:stretch/>
        </p:blipFill>
        <p:spPr>
          <a:xfrm>
            <a:off x="797719" y="2412093"/>
            <a:ext cx="523875" cy="427113"/>
          </a:xfrm>
          <a:prstGeom prst="rect">
            <a:avLst/>
          </a:prstGeom>
        </p:spPr>
      </p:pic>
      <p:sp>
        <p:nvSpPr>
          <p:cNvPr id="48" name="AutoShape 26">
            <a:extLst>
              <a:ext uri="{FF2B5EF4-FFF2-40B4-BE49-F238E27FC236}">
                <a16:creationId xmlns:a16="http://schemas.microsoft.com/office/drawing/2014/main" id="{AFBE3021-54F8-47D7-90DC-12F5A61CA640}"/>
              </a:ext>
            </a:extLst>
          </p:cNvPr>
          <p:cNvSpPr>
            <a:spLocks noChangeArrowheads="1"/>
          </p:cNvSpPr>
          <p:nvPr/>
        </p:nvSpPr>
        <p:spPr bwMode="auto">
          <a:xfrm>
            <a:off x="729853" y="5365111"/>
            <a:ext cx="2219325" cy="4381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49" name="Title 1">
            <a:extLst>
              <a:ext uri="{FF2B5EF4-FFF2-40B4-BE49-F238E27FC236}">
                <a16:creationId xmlns:a16="http://schemas.microsoft.com/office/drawing/2014/main" id="{AB553FC7-526B-4BC5-9714-41C6C86C7FC0}"/>
              </a:ext>
            </a:extLst>
          </p:cNvPr>
          <p:cNvSpPr txBox="1">
            <a:spLocks/>
          </p:cNvSpPr>
          <p:nvPr/>
        </p:nvSpPr>
        <p:spPr>
          <a:xfrm>
            <a:off x="1378903" y="5328599"/>
            <a:ext cx="1504966" cy="499110"/>
          </a:xfrm>
          <a:prstGeom prst="rect">
            <a:avLst/>
          </a:prstGeom>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Introduction</a:t>
            </a:r>
            <a:endParaRPr lang="en-IN" sz="1500" b="1" dirty="0"/>
          </a:p>
        </p:txBody>
      </p:sp>
      <p:sp>
        <p:nvSpPr>
          <p:cNvPr id="50" name="AutoShape 28">
            <a:extLst>
              <a:ext uri="{FF2B5EF4-FFF2-40B4-BE49-F238E27FC236}">
                <a16:creationId xmlns:a16="http://schemas.microsoft.com/office/drawing/2014/main" id="{6BA54A38-C7E7-47BC-A9F0-D97CC93437DD}"/>
              </a:ext>
            </a:extLst>
          </p:cNvPr>
          <p:cNvSpPr>
            <a:spLocks noChangeArrowheads="1"/>
          </p:cNvSpPr>
          <p:nvPr/>
        </p:nvSpPr>
        <p:spPr bwMode="auto">
          <a:xfrm>
            <a:off x="449658" y="5558526"/>
            <a:ext cx="6660357" cy="1099635"/>
          </a:xfrm>
          <a:prstGeom prst="roundRect">
            <a:avLst>
              <a:gd name="adj" fmla="val 7800"/>
            </a:avLst>
          </a:prstGeom>
          <a:solidFill>
            <a:schemeClr val="bg1"/>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51" name="AutoShape 29">
            <a:extLst>
              <a:ext uri="{FF2B5EF4-FFF2-40B4-BE49-F238E27FC236}">
                <a16:creationId xmlns:a16="http://schemas.microsoft.com/office/drawing/2014/main" id="{FB9C3915-7A47-4154-BEFB-09CBF0BF8398}"/>
              </a:ext>
            </a:extLst>
          </p:cNvPr>
          <p:cNvSpPr>
            <a:spLocks noChangeArrowheads="1"/>
          </p:cNvSpPr>
          <p:nvPr/>
        </p:nvSpPr>
        <p:spPr bwMode="auto">
          <a:xfrm>
            <a:off x="1041003" y="5315501"/>
            <a:ext cx="2549922" cy="490538"/>
          </a:xfrm>
          <a:prstGeom prst="roundRect">
            <a:avLst>
              <a:gd name="adj" fmla="val 50000"/>
            </a:avLst>
          </a:prstGeom>
          <a:solidFill>
            <a:srgbClr val="49C0C2"/>
          </a:solidFill>
          <a:ln w="3810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r>
              <a:rPr lang="en-IN" dirty="0"/>
              <a:t>	</a:t>
            </a:r>
          </a:p>
        </p:txBody>
      </p:sp>
      <p:sp>
        <p:nvSpPr>
          <p:cNvPr id="52" name="AutoShape 30">
            <a:extLst>
              <a:ext uri="{FF2B5EF4-FFF2-40B4-BE49-F238E27FC236}">
                <a16:creationId xmlns:a16="http://schemas.microsoft.com/office/drawing/2014/main" id="{973CDAEF-88FB-4065-9F11-3DA40C4EA46D}"/>
              </a:ext>
            </a:extLst>
          </p:cNvPr>
          <p:cNvSpPr>
            <a:spLocks noChangeArrowheads="1"/>
          </p:cNvSpPr>
          <p:nvPr/>
        </p:nvSpPr>
        <p:spPr bwMode="auto">
          <a:xfrm>
            <a:off x="779065" y="5356776"/>
            <a:ext cx="2760634" cy="400050"/>
          </a:xfrm>
          <a:prstGeom prst="roundRect">
            <a:avLst>
              <a:gd name="adj" fmla="val 50000"/>
            </a:avLst>
          </a:prstGeom>
          <a:noFill/>
          <a:ln w="38100" algn="ctr">
            <a:solidFill>
              <a:srgbClr val="FFFFFF"/>
            </a:solidFill>
            <a:round/>
            <a:headEnd/>
            <a:tailEnd/>
          </a:ln>
          <a:effectLst/>
          <a:extLst>
            <a:ext uri="{909E8E84-426E-40DD-AFC4-6F175D3DCCD1}">
              <a14:hiddenFill xmlns:a14="http://schemas.microsoft.com/office/drawing/2010/main">
                <a:solidFill>
                  <a:srgbClr val="49C0C2"/>
                </a:solidFill>
              </a14:hiddenFill>
            </a:ex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3" name="Oval 31">
            <a:extLst>
              <a:ext uri="{FF2B5EF4-FFF2-40B4-BE49-F238E27FC236}">
                <a16:creationId xmlns:a16="http://schemas.microsoft.com/office/drawing/2014/main" id="{1257F030-4AC7-4C27-975A-22661DDC7F50}"/>
              </a:ext>
            </a:extLst>
          </p:cNvPr>
          <p:cNvSpPr>
            <a:spLocks noChangeArrowheads="1"/>
          </p:cNvSpPr>
          <p:nvPr/>
        </p:nvSpPr>
        <p:spPr bwMode="auto">
          <a:xfrm>
            <a:off x="701278" y="5202789"/>
            <a:ext cx="744537" cy="744537"/>
          </a:xfrm>
          <a:prstGeom prst="ellipse">
            <a:avLst/>
          </a:prstGeom>
          <a:solidFill>
            <a:srgbClr val="FFFFFF"/>
          </a:solidFill>
          <a:ln w="57150" algn="ctr">
            <a:solidFill>
              <a:srgbClr val="49C0C2"/>
            </a:solidFill>
            <a:round/>
            <a:headEnd/>
            <a:tailEnd/>
          </a:ln>
          <a:effectLst/>
        </p:spPr>
        <p:txBody>
          <a:bodyPr vert="horz" wrap="square" lIns="36576" tIns="36576" rIns="36576" bIns="36576" numCol="1" anchor="t" anchorCtr="0" compatLnSpc="1">
            <a:prstTxWarp prst="textNoShape">
              <a:avLst/>
            </a:prstTxWarp>
          </a:bodyPr>
          <a:lstStyle/>
          <a:p>
            <a:endParaRPr lang="en-IN" dirty="0"/>
          </a:p>
        </p:txBody>
      </p:sp>
      <p:sp>
        <p:nvSpPr>
          <p:cNvPr id="54" name="Title 1">
            <a:extLst>
              <a:ext uri="{FF2B5EF4-FFF2-40B4-BE49-F238E27FC236}">
                <a16:creationId xmlns:a16="http://schemas.microsoft.com/office/drawing/2014/main" id="{2893AE56-23A4-41CD-B8EF-A62A33F9855B}"/>
              </a:ext>
            </a:extLst>
          </p:cNvPr>
          <p:cNvSpPr txBox="1">
            <a:spLocks/>
          </p:cNvSpPr>
          <p:nvPr/>
        </p:nvSpPr>
        <p:spPr>
          <a:xfrm>
            <a:off x="1446926" y="5298356"/>
            <a:ext cx="2008494" cy="526891"/>
          </a:xfrm>
          <a:prstGeom prst="rect">
            <a:avLst/>
          </a:prstGeom>
          <a:effectLst/>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chemeClr val="bg1"/>
                </a:solidFill>
                <a:latin typeface="Comic Sans MS" panose="030F0702030302020204" pitchFamily="66" charset="0"/>
              </a:rPr>
              <a:t>Animal Fibres</a:t>
            </a:r>
            <a:endParaRPr lang="en-IN" sz="1500" b="1" dirty="0"/>
          </a:p>
        </p:txBody>
      </p:sp>
      <p:sp>
        <p:nvSpPr>
          <p:cNvPr id="55" name="Rectangle 54">
            <a:extLst>
              <a:ext uri="{FF2B5EF4-FFF2-40B4-BE49-F238E27FC236}">
                <a16:creationId xmlns:a16="http://schemas.microsoft.com/office/drawing/2014/main" id="{5F742F14-2BB6-4319-A4ED-D79A3EB113F0}"/>
              </a:ext>
            </a:extLst>
          </p:cNvPr>
          <p:cNvSpPr/>
          <p:nvPr/>
        </p:nvSpPr>
        <p:spPr>
          <a:xfrm>
            <a:off x="678894" y="5963562"/>
            <a:ext cx="6135328" cy="523220"/>
          </a:xfrm>
          <a:prstGeom prst="rect">
            <a:avLst/>
          </a:prstGeom>
        </p:spPr>
        <p:txBody>
          <a:bodyPr wrap="square">
            <a:spAutoFit/>
          </a:bodyPr>
          <a:lstStyle/>
          <a:p>
            <a:pPr algn="just"/>
            <a:r>
              <a:rPr lang="en-IN" sz="1400" dirty="0">
                <a:latin typeface="Comic Sans MS" panose="030F0702030302020204" pitchFamily="66" charset="0"/>
              </a:rPr>
              <a:t>Animal fibres are the natural fibres which is obtained from animals. The most popular examples of animal fibres include silk and wool.</a:t>
            </a:r>
          </a:p>
        </p:txBody>
      </p:sp>
      <p:pic>
        <p:nvPicPr>
          <p:cNvPr id="56" name="Graphic 55">
            <a:extLst>
              <a:ext uri="{FF2B5EF4-FFF2-40B4-BE49-F238E27FC236}">
                <a16:creationId xmlns:a16="http://schemas.microsoft.com/office/drawing/2014/main" id="{8BFC4490-8B81-4697-84ED-B6DD0657E0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7012" y="5282372"/>
            <a:ext cx="591957" cy="560082"/>
          </a:xfrm>
          <a:prstGeom prst="rect">
            <a:avLst/>
          </a:prstGeom>
        </p:spPr>
      </p:pic>
      <p:sp>
        <p:nvSpPr>
          <p:cNvPr id="57" name="AutoShape 23">
            <a:extLst>
              <a:ext uri="{FF2B5EF4-FFF2-40B4-BE49-F238E27FC236}">
                <a16:creationId xmlns:a16="http://schemas.microsoft.com/office/drawing/2014/main" id="{18686DF5-5B32-4909-9439-6A2C109E0DB8}"/>
              </a:ext>
            </a:extLst>
          </p:cNvPr>
          <p:cNvSpPr>
            <a:spLocks noChangeArrowheads="1"/>
          </p:cNvSpPr>
          <p:nvPr/>
        </p:nvSpPr>
        <p:spPr bwMode="auto">
          <a:xfrm>
            <a:off x="453143" y="6873246"/>
            <a:ext cx="2496035" cy="522288"/>
          </a:xfrm>
          <a:prstGeom prst="roundRect">
            <a:avLst>
              <a:gd name="adj" fmla="val 50000"/>
            </a:avLst>
          </a:prstGeom>
          <a:solidFill>
            <a:srgbClr val="F0587C"/>
          </a:solidFill>
          <a:ln w="25400" algn="ctr">
            <a:solidFill>
              <a:srgbClr val="F0587C"/>
            </a:solidFill>
            <a:round/>
            <a:headEnd/>
            <a:tailEnd/>
          </a:ln>
          <a:effectLst/>
          <a:extLst>
            <a:ext uri="{AF507438-7753-43E0-B8FC-AC1667EBCBE1}">
              <a14:hiddenEffects xmlns:a14="http://schemas.microsoft.com/office/drawing/2010/main">
                <a:effectLst>
                  <a:outerShdw dist="35921" dir="2700000" algn="ctr" rotWithShape="0">
                    <a:srgbClr val="000000"/>
                  </a:outerShdw>
                </a:effectLst>
              </a14:hiddenEffects>
            </a:ext>
          </a:extLst>
        </p:spPr>
        <p:txBody>
          <a:bodyPr vert="horz" wrap="square" lIns="36576" tIns="36576" rIns="36576" bIns="36576" numCol="1" anchor="t" anchorCtr="0" compatLnSpc="1">
            <a:prstTxWarp prst="textNoShape">
              <a:avLst/>
            </a:prstTxWarp>
          </a:bodyPr>
          <a:lstStyle/>
          <a:p>
            <a:endParaRPr lang="en-IN" dirty="0"/>
          </a:p>
        </p:txBody>
      </p:sp>
      <p:sp>
        <p:nvSpPr>
          <p:cNvPr id="58" name="Title 1">
            <a:extLst>
              <a:ext uri="{FF2B5EF4-FFF2-40B4-BE49-F238E27FC236}">
                <a16:creationId xmlns:a16="http://schemas.microsoft.com/office/drawing/2014/main" id="{3369CA1B-E9EA-45E3-B871-6285CAB366D4}"/>
              </a:ext>
            </a:extLst>
          </p:cNvPr>
          <p:cNvSpPr txBox="1">
            <a:spLocks/>
          </p:cNvSpPr>
          <p:nvPr/>
        </p:nvSpPr>
        <p:spPr>
          <a:xfrm>
            <a:off x="492830" y="6900234"/>
            <a:ext cx="464344" cy="466090"/>
          </a:xfrm>
          <a:prstGeom prst="ellipse">
            <a:avLst/>
          </a:prstGeom>
          <a:solidFill>
            <a:schemeClr val="bg1"/>
          </a:solidFill>
        </p:spPr>
        <p:txBody>
          <a:bodyPr vert="horz" lIns="91440" tIns="45720" rIns="91440" bIns="45720" rtlCol="0" anchor="ctr">
            <a:noAutofit/>
          </a:bodyPr>
          <a:lstStyle>
            <a:lvl1pPr algn="ctr" defTabSz="755934" rtl="0" eaLnBrk="1" latinLnBrk="0" hangingPunct="1">
              <a:lnSpc>
                <a:spcPct val="90000"/>
              </a:lnSpc>
              <a:spcBef>
                <a:spcPct val="0"/>
              </a:spcBef>
              <a:buNone/>
              <a:defRPr sz="4960" kern="1200">
                <a:solidFill>
                  <a:schemeClr val="tx1"/>
                </a:solidFill>
                <a:latin typeface="+mj-lt"/>
                <a:ea typeface="+mj-ea"/>
                <a:cs typeface="+mj-cs"/>
              </a:defRPr>
            </a:lvl1pPr>
          </a:lstStyle>
          <a:p>
            <a:r>
              <a:rPr lang="en-IN" sz="1500" b="1" dirty="0">
                <a:solidFill>
                  <a:srgbClr val="F0597C"/>
                </a:solidFill>
                <a:latin typeface="Comic Sans MS" panose="030F0702030302020204" pitchFamily="66" charset="0"/>
              </a:rPr>
              <a:t>1</a:t>
            </a:r>
            <a:endParaRPr lang="en-IN" sz="1500" b="1" dirty="0">
              <a:solidFill>
                <a:srgbClr val="F0597C"/>
              </a:solidFill>
            </a:endParaRPr>
          </a:p>
        </p:txBody>
      </p:sp>
      <p:sp>
        <p:nvSpPr>
          <p:cNvPr id="59" name="Rectangle 58">
            <a:extLst>
              <a:ext uri="{FF2B5EF4-FFF2-40B4-BE49-F238E27FC236}">
                <a16:creationId xmlns:a16="http://schemas.microsoft.com/office/drawing/2014/main" id="{BE7160FF-387B-4A93-9C59-3ECC0885B618}"/>
              </a:ext>
            </a:extLst>
          </p:cNvPr>
          <p:cNvSpPr/>
          <p:nvPr/>
        </p:nvSpPr>
        <p:spPr>
          <a:xfrm>
            <a:off x="1023145" y="6928069"/>
            <a:ext cx="1677317" cy="369332"/>
          </a:xfrm>
          <a:prstGeom prst="rect">
            <a:avLst/>
          </a:prstGeom>
        </p:spPr>
        <p:txBody>
          <a:bodyPr wrap="square">
            <a:spAutoFit/>
          </a:bodyPr>
          <a:lstStyle/>
          <a:p>
            <a:pPr algn="ctr"/>
            <a:r>
              <a:rPr lang="en-IN" dirty="0">
                <a:solidFill>
                  <a:schemeClr val="bg1"/>
                </a:solidFill>
                <a:latin typeface="Comic Sans MS" panose="030F0702030302020204" pitchFamily="66" charset="0"/>
              </a:rPr>
              <a:t>Wool</a:t>
            </a:r>
          </a:p>
        </p:txBody>
      </p:sp>
      <p:sp>
        <p:nvSpPr>
          <p:cNvPr id="32" name="Rectangle 31">
            <a:extLst>
              <a:ext uri="{FF2B5EF4-FFF2-40B4-BE49-F238E27FC236}">
                <a16:creationId xmlns:a16="http://schemas.microsoft.com/office/drawing/2014/main" id="{EC922D61-889A-49FF-9DD9-2D34503F984B}"/>
              </a:ext>
            </a:extLst>
          </p:cNvPr>
          <p:cNvSpPr/>
          <p:nvPr/>
        </p:nvSpPr>
        <p:spPr>
          <a:xfrm>
            <a:off x="484640" y="7449479"/>
            <a:ext cx="6607517" cy="738664"/>
          </a:xfrm>
          <a:prstGeom prst="rect">
            <a:avLst/>
          </a:prstGeom>
        </p:spPr>
        <p:txBody>
          <a:bodyPr wrap="square">
            <a:spAutoFit/>
          </a:bodyPr>
          <a:lstStyle/>
          <a:p>
            <a:pPr algn="just"/>
            <a:r>
              <a:rPr lang="en-IN" sz="1400" dirty="0">
                <a:latin typeface="Comic Sans MS" panose="030F0702030302020204" pitchFamily="66" charset="0"/>
              </a:rPr>
              <a:t>Wool is one of the animal fibres which is obtained from sheep, yak, goat, etc. These wool yielding animals bear hair in their body because hairs trap a lot of air and a poor conductor of  heat. So hair keeps these animals warm.</a:t>
            </a:r>
          </a:p>
        </p:txBody>
      </p:sp>
      <p:pic>
        <p:nvPicPr>
          <p:cNvPr id="7" name="Graphic 6">
            <a:extLst>
              <a:ext uri="{FF2B5EF4-FFF2-40B4-BE49-F238E27FC236}">
                <a16:creationId xmlns:a16="http://schemas.microsoft.com/office/drawing/2014/main" id="{622FA285-0859-4FED-A19A-5448AD80185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3732" y="7898704"/>
            <a:ext cx="2615849" cy="2291005"/>
          </a:xfrm>
          <a:prstGeom prst="rect">
            <a:avLst/>
          </a:prstGeom>
        </p:spPr>
      </p:pic>
    </p:spTree>
    <p:extLst>
      <p:ext uri="{BB962C8B-B14F-4D97-AF65-F5344CB8AC3E}">
        <p14:creationId xmlns:p14="http://schemas.microsoft.com/office/powerpoint/2010/main" val="145773615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2640</TotalTime>
  <Words>195</Words>
  <Application>Microsoft Office PowerPoint</Application>
  <PresentationFormat>Custom</PresentationFormat>
  <Paragraphs>16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Comic Sans MS</vt:lpstr>
      <vt:lpstr>Poppins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Saroj Kumar Jha</dc:creator>
  <cp:lastModifiedBy>Saroj Kumar Jha</cp:lastModifiedBy>
  <cp:revision>324</cp:revision>
  <dcterms:created xsi:type="dcterms:W3CDTF">2022-03-28T17:58:27Z</dcterms:created>
  <dcterms:modified xsi:type="dcterms:W3CDTF">2022-04-18T08:34:08Z</dcterms:modified>
</cp:coreProperties>
</file>