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8"/>
  </p:notesMasterIdLst>
  <p:handoutMasterIdLst>
    <p:handoutMasterId r:id="rId29"/>
  </p:handoutMasterIdLst>
  <p:sldIdLst>
    <p:sldId id="256" r:id="rId2"/>
    <p:sldId id="257" r:id="rId3"/>
    <p:sldId id="258" r:id="rId4"/>
    <p:sldId id="261" r:id="rId5"/>
    <p:sldId id="262" r:id="rId6"/>
    <p:sldId id="260" r:id="rId7"/>
    <p:sldId id="259" r:id="rId8"/>
    <p:sldId id="266" r:id="rId9"/>
    <p:sldId id="263" r:id="rId10"/>
    <p:sldId id="276" r:id="rId11"/>
    <p:sldId id="277" r:id="rId12"/>
    <p:sldId id="278" r:id="rId13"/>
    <p:sldId id="279" r:id="rId14"/>
    <p:sldId id="280" r:id="rId15"/>
    <p:sldId id="282" r:id="rId16"/>
    <p:sldId id="283" r:id="rId17"/>
    <p:sldId id="264" r:id="rId18"/>
    <p:sldId id="265" r:id="rId19"/>
    <p:sldId id="275" r:id="rId20"/>
    <p:sldId id="268" r:id="rId21"/>
    <p:sldId id="269" r:id="rId22"/>
    <p:sldId id="267" r:id="rId23"/>
    <p:sldId id="284" r:id="rId24"/>
    <p:sldId id="274" r:id="rId25"/>
    <p:sldId id="281" r:id="rId26"/>
    <p:sldId id="272" r:id="rId27"/>
  </p:sldIdLst>
  <p:sldSz cx="7559675" cy="1076325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06" userDrawn="1">
          <p15:clr>
            <a:srgbClr val="A4A3A4"/>
          </p15:clr>
        </p15:guide>
        <p15:guide id="2" pos="294"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aroj Kumar Jha" initials="SKJ" lastIdx="1" clrIdx="0">
    <p:extLst>
      <p:ext uri="{19B8F6BF-5375-455C-9EA6-DF929625EA0E}">
        <p15:presenceInfo xmlns:p15="http://schemas.microsoft.com/office/powerpoint/2012/main" userId="a26069b991634b2b"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49C0C2"/>
    <a:srgbClr val="F0597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397" autoAdjust="0"/>
    <p:restoredTop sz="94291" autoAdjust="0"/>
  </p:normalViewPr>
  <p:slideViewPr>
    <p:cSldViewPr snapToGrid="0">
      <p:cViewPr>
        <p:scale>
          <a:sx n="75" d="100"/>
          <a:sy n="75" d="100"/>
        </p:scale>
        <p:origin x="1578" y="-1632"/>
      </p:cViewPr>
      <p:guideLst>
        <p:guide orient="horz" pos="306"/>
        <p:guide pos="294"/>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55" d="100"/>
          <a:sy n="55" d="100"/>
        </p:scale>
        <p:origin x="2880"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commentAuthors" Target="commentAuthor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7300B7E-DF21-40F4-B509-8A1127EF3BF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a:extLst>
              <a:ext uri="{FF2B5EF4-FFF2-40B4-BE49-F238E27FC236}">
                <a16:creationId xmlns:a16="http://schemas.microsoft.com/office/drawing/2014/main" id="{92158666-3D61-4DB6-8EC6-83C4C74489C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AC3F841-FE5A-4E89-B86E-EBF26ED8D5EB}" type="datetimeFigureOut">
              <a:rPr lang="en-IN" smtClean="0"/>
              <a:t>16-04-2022</a:t>
            </a:fld>
            <a:endParaRPr lang="en-IN" dirty="0"/>
          </a:p>
        </p:txBody>
      </p:sp>
      <p:sp>
        <p:nvSpPr>
          <p:cNvPr id="4" name="Footer Placeholder 3">
            <a:extLst>
              <a:ext uri="{FF2B5EF4-FFF2-40B4-BE49-F238E27FC236}">
                <a16:creationId xmlns:a16="http://schemas.microsoft.com/office/drawing/2014/main" id="{999FE59C-68F9-4912-AEED-20C9D33C556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5" name="Slide Number Placeholder 4">
            <a:extLst>
              <a:ext uri="{FF2B5EF4-FFF2-40B4-BE49-F238E27FC236}">
                <a16:creationId xmlns:a16="http://schemas.microsoft.com/office/drawing/2014/main" id="{CAE6B821-720E-44C8-AF98-BA8A174010E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7A62F5-F46D-4B78-9C22-82EE538B2028}" type="slidenum">
              <a:rPr lang="en-IN" smtClean="0"/>
              <a:t>‹#›</a:t>
            </a:fld>
            <a:endParaRPr lang="en-IN" dirty="0"/>
          </a:p>
        </p:txBody>
      </p:sp>
    </p:spTree>
    <p:extLst>
      <p:ext uri="{BB962C8B-B14F-4D97-AF65-F5344CB8AC3E}">
        <p14:creationId xmlns:p14="http://schemas.microsoft.com/office/powerpoint/2010/main" val="415757962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E86BF8-2BC0-4148-888A-C3151B9FDE2B}" type="datetimeFigureOut">
              <a:rPr lang="en-IN" smtClean="0"/>
              <a:t>16-04-2022</a:t>
            </a:fld>
            <a:endParaRPr lang="en-IN" dirty="0"/>
          </a:p>
        </p:txBody>
      </p:sp>
      <p:sp>
        <p:nvSpPr>
          <p:cNvPr id="4" name="Slide Image Placeholder 3"/>
          <p:cNvSpPr>
            <a:spLocks noGrp="1" noRot="1" noChangeAspect="1"/>
          </p:cNvSpPr>
          <p:nvPr>
            <p:ph type="sldImg" idx="2"/>
          </p:nvPr>
        </p:nvSpPr>
        <p:spPr>
          <a:xfrm>
            <a:off x="2344738" y="1143000"/>
            <a:ext cx="2168525"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462389-2BA0-4B95-9D56-9CD7B9D923A6}" type="slidenum">
              <a:rPr lang="en-IN" smtClean="0"/>
              <a:t>‹#›</a:t>
            </a:fld>
            <a:endParaRPr lang="en-IN" dirty="0"/>
          </a:p>
        </p:txBody>
      </p:sp>
    </p:spTree>
    <p:extLst>
      <p:ext uri="{BB962C8B-B14F-4D97-AF65-F5344CB8AC3E}">
        <p14:creationId xmlns:p14="http://schemas.microsoft.com/office/powerpoint/2010/main" val="2406047037"/>
      </p:ext>
    </p:extLst>
  </p:cSld>
  <p:clrMap bg1="lt1" tx1="dk1" bg2="lt2" tx2="dk2" accent1="accent1" accent2="accent2" accent3="accent3" accent4="accent4" accent5="accent5" accent6="accent6" hlink="hlink" folHlink="folHlink"/>
  <p:notesStyle>
    <a:lvl1pPr marL="0" algn="l" defTabSz="999348" rtl="0" eaLnBrk="1" latinLnBrk="0" hangingPunct="1">
      <a:defRPr sz="1311" kern="1200">
        <a:solidFill>
          <a:schemeClr val="tx1"/>
        </a:solidFill>
        <a:latin typeface="+mn-lt"/>
        <a:ea typeface="+mn-ea"/>
        <a:cs typeface="+mn-cs"/>
      </a:defRPr>
    </a:lvl1pPr>
    <a:lvl2pPr marL="499674" algn="l" defTabSz="999348" rtl="0" eaLnBrk="1" latinLnBrk="0" hangingPunct="1">
      <a:defRPr sz="1311" kern="1200">
        <a:solidFill>
          <a:schemeClr val="tx1"/>
        </a:solidFill>
        <a:latin typeface="+mn-lt"/>
        <a:ea typeface="+mn-ea"/>
        <a:cs typeface="+mn-cs"/>
      </a:defRPr>
    </a:lvl2pPr>
    <a:lvl3pPr marL="999348" algn="l" defTabSz="999348" rtl="0" eaLnBrk="1" latinLnBrk="0" hangingPunct="1">
      <a:defRPr sz="1311" kern="1200">
        <a:solidFill>
          <a:schemeClr val="tx1"/>
        </a:solidFill>
        <a:latin typeface="+mn-lt"/>
        <a:ea typeface="+mn-ea"/>
        <a:cs typeface="+mn-cs"/>
      </a:defRPr>
    </a:lvl3pPr>
    <a:lvl4pPr marL="1499022" algn="l" defTabSz="999348" rtl="0" eaLnBrk="1" latinLnBrk="0" hangingPunct="1">
      <a:defRPr sz="1311" kern="1200">
        <a:solidFill>
          <a:schemeClr val="tx1"/>
        </a:solidFill>
        <a:latin typeface="+mn-lt"/>
        <a:ea typeface="+mn-ea"/>
        <a:cs typeface="+mn-cs"/>
      </a:defRPr>
    </a:lvl4pPr>
    <a:lvl5pPr marL="1998696" algn="l" defTabSz="999348" rtl="0" eaLnBrk="1" latinLnBrk="0" hangingPunct="1">
      <a:defRPr sz="1311" kern="1200">
        <a:solidFill>
          <a:schemeClr val="tx1"/>
        </a:solidFill>
        <a:latin typeface="+mn-lt"/>
        <a:ea typeface="+mn-ea"/>
        <a:cs typeface="+mn-cs"/>
      </a:defRPr>
    </a:lvl5pPr>
    <a:lvl6pPr marL="2498369" algn="l" defTabSz="999348" rtl="0" eaLnBrk="1" latinLnBrk="0" hangingPunct="1">
      <a:defRPr sz="1311" kern="1200">
        <a:solidFill>
          <a:schemeClr val="tx1"/>
        </a:solidFill>
        <a:latin typeface="+mn-lt"/>
        <a:ea typeface="+mn-ea"/>
        <a:cs typeface="+mn-cs"/>
      </a:defRPr>
    </a:lvl6pPr>
    <a:lvl7pPr marL="2998043" algn="l" defTabSz="999348" rtl="0" eaLnBrk="1" latinLnBrk="0" hangingPunct="1">
      <a:defRPr sz="1311" kern="1200">
        <a:solidFill>
          <a:schemeClr val="tx1"/>
        </a:solidFill>
        <a:latin typeface="+mn-lt"/>
        <a:ea typeface="+mn-ea"/>
        <a:cs typeface="+mn-cs"/>
      </a:defRPr>
    </a:lvl7pPr>
    <a:lvl8pPr marL="3497717" algn="l" defTabSz="999348" rtl="0" eaLnBrk="1" latinLnBrk="0" hangingPunct="1">
      <a:defRPr sz="1311" kern="1200">
        <a:solidFill>
          <a:schemeClr val="tx1"/>
        </a:solidFill>
        <a:latin typeface="+mn-lt"/>
        <a:ea typeface="+mn-ea"/>
        <a:cs typeface="+mn-cs"/>
      </a:defRPr>
    </a:lvl8pPr>
    <a:lvl9pPr marL="3997391" algn="l" defTabSz="999348" rtl="0" eaLnBrk="1" latinLnBrk="0" hangingPunct="1">
      <a:defRPr sz="1311"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66976" y="1761486"/>
            <a:ext cx="6425724" cy="3747206"/>
          </a:xfrm>
        </p:spPr>
        <p:txBody>
          <a:bodyPr anchor="b"/>
          <a:lstStyle>
            <a:lvl1pPr algn="ctr">
              <a:defRPr sz="4960"/>
            </a:lvl1pPr>
          </a:lstStyle>
          <a:p>
            <a:r>
              <a:rPr lang="en-US"/>
              <a:t>Click to edit Master title style</a:t>
            </a:r>
            <a:endParaRPr lang="en-US" dirty="0"/>
          </a:p>
        </p:txBody>
      </p:sp>
      <p:sp>
        <p:nvSpPr>
          <p:cNvPr id="3" name="Subtitle 2"/>
          <p:cNvSpPr>
            <a:spLocks noGrp="1"/>
          </p:cNvSpPr>
          <p:nvPr>
            <p:ph type="subTitle" idx="1"/>
          </p:nvPr>
        </p:nvSpPr>
        <p:spPr>
          <a:xfrm>
            <a:off x="944960" y="5653199"/>
            <a:ext cx="5669756" cy="2598626"/>
          </a:xfrm>
        </p:spPr>
        <p:txBody>
          <a:bodyPr/>
          <a:lstStyle>
            <a:lvl1pPr marL="0" indent="0" algn="ctr">
              <a:buNone/>
              <a:defRPr sz="1984"/>
            </a:lvl1pPr>
            <a:lvl2pPr marL="377967" indent="0" algn="ctr">
              <a:buNone/>
              <a:defRPr sz="1653"/>
            </a:lvl2pPr>
            <a:lvl3pPr marL="755934" indent="0" algn="ctr">
              <a:buNone/>
              <a:defRPr sz="1488"/>
            </a:lvl3pPr>
            <a:lvl4pPr marL="1133902" indent="0" algn="ctr">
              <a:buNone/>
              <a:defRPr sz="1323"/>
            </a:lvl4pPr>
            <a:lvl5pPr marL="1511869" indent="0" algn="ctr">
              <a:buNone/>
              <a:defRPr sz="1323"/>
            </a:lvl5pPr>
            <a:lvl6pPr marL="1889836" indent="0" algn="ctr">
              <a:buNone/>
              <a:defRPr sz="1323"/>
            </a:lvl6pPr>
            <a:lvl7pPr marL="2267803" indent="0" algn="ctr">
              <a:buNone/>
              <a:defRPr sz="1323"/>
            </a:lvl7pPr>
            <a:lvl8pPr marL="2645771" indent="0" algn="ctr">
              <a:buNone/>
              <a:defRPr sz="1323"/>
            </a:lvl8pPr>
            <a:lvl9pPr marL="3023738" indent="0" algn="ctr">
              <a:buNone/>
              <a:defRPr sz="1323"/>
            </a:lvl9pPr>
          </a:lstStyle>
          <a:p>
            <a:r>
              <a:rPr lang="en-US"/>
              <a:t>Click to edit Master subtitle style</a:t>
            </a:r>
            <a:endParaRPr lang="en-US" dirty="0"/>
          </a:p>
        </p:txBody>
      </p:sp>
      <p:sp>
        <p:nvSpPr>
          <p:cNvPr id="5" name="Footer Placeholder 4"/>
          <p:cNvSpPr>
            <a:spLocks noGrp="1"/>
          </p:cNvSpPr>
          <p:nvPr>
            <p:ph type="ftr" sz="quarter" idx="11"/>
          </p:nvPr>
        </p:nvSpPr>
        <p:spPr>
          <a:xfrm>
            <a:off x="2504143" y="9975941"/>
            <a:ext cx="2551390" cy="573043"/>
          </a:xfrm>
        </p:spPr>
        <p:txBody>
          <a:bodyPr/>
          <a:lstStyle/>
          <a:p>
            <a:r>
              <a:rPr lang="en-IN" dirty="0"/>
              <a:t>Vidyavantam - CBSE Mathematics</a:t>
            </a:r>
          </a:p>
        </p:txBody>
      </p:sp>
    </p:spTree>
    <p:extLst>
      <p:ext uri="{BB962C8B-B14F-4D97-AF65-F5344CB8AC3E}">
        <p14:creationId xmlns:p14="http://schemas.microsoft.com/office/powerpoint/2010/main" val="5581258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dirty="0"/>
          </a:p>
        </p:txBody>
      </p:sp>
      <p:sp>
        <p:nvSpPr>
          <p:cNvPr id="5" name="Footer Placeholder 4"/>
          <p:cNvSpPr>
            <a:spLocks noGrp="1"/>
          </p:cNvSpPr>
          <p:nvPr>
            <p:ph type="ftr" sz="quarter" idx="11"/>
          </p:nvPr>
        </p:nvSpPr>
        <p:spPr/>
        <p:txBody>
          <a:bodyPr/>
          <a:lstStyle/>
          <a:p>
            <a:r>
              <a:rPr lang="en-IN" dirty="0"/>
              <a:t>Vidyavantam - CBSE Mathematics</a:t>
            </a:r>
          </a:p>
        </p:txBody>
      </p:sp>
      <p:sp>
        <p:nvSpPr>
          <p:cNvPr id="6" name="Slide Number Placeholder 5"/>
          <p:cNvSpPr>
            <a:spLocks noGrp="1"/>
          </p:cNvSpPr>
          <p:nvPr>
            <p:ph type="sldNum" sz="quarter" idx="12"/>
          </p:nvPr>
        </p:nvSpPr>
        <p:spPr/>
        <p:txBody>
          <a:bodyPr/>
          <a:lstStyle/>
          <a:p>
            <a:fld id="{3BC85B59-F976-42FC-A57B-D0D07616E147}" type="slidenum">
              <a:rPr lang="en-IN" smtClean="0"/>
              <a:t>‹#›</a:t>
            </a:fld>
            <a:endParaRPr lang="en-IN" dirty="0"/>
          </a:p>
        </p:txBody>
      </p:sp>
    </p:spTree>
    <p:extLst>
      <p:ext uri="{BB962C8B-B14F-4D97-AF65-F5344CB8AC3E}">
        <p14:creationId xmlns:p14="http://schemas.microsoft.com/office/powerpoint/2010/main" val="5247303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15791" y="2683341"/>
            <a:ext cx="6520220" cy="4477212"/>
          </a:xfrm>
        </p:spPr>
        <p:txBody>
          <a:bodyPr anchor="b"/>
          <a:lstStyle>
            <a:lvl1pPr>
              <a:defRPr sz="4960"/>
            </a:lvl1pPr>
          </a:lstStyle>
          <a:p>
            <a:r>
              <a:rPr lang="en-US"/>
              <a:t>Click to edit Master title style</a:t>
            </a:r>
            <a:endParaRPr lang="en-US" dirty="0"/>
          </a:p>
        </p:txBody>
      </p:sp>
      <p:sp>
        <p:nvSpPr>
          <p:cNvPr id="3" name="Text Placeholder 2"/>
          <p:cNvSpPr>
            <a:spLocks noGrp="1"/>
          </p:cNvSpPr>
          <p:nvPr>
            <p:ph type="body" idx="1"/>
          </p:nvPr>
        </p:nvSpPr>
        <p:spPr>
          <a:xfrm>
            <a:off x="515791" y="7202910"/>
            <a:ext cx="6520220" cy="2354460"/>
          </a:xfrm>
        </p:spPr>
        <p:txBody>
          <a:bodyPr/>
          <a:lstStyle>
            <a:lvl1pPr marL="0" indent="0">
              <a:buNone/>
              <a:defRPr sz="1984">
                <a:solidFill>
                  <a:schemeClr val="tx1"/>
                </a:solidFill>
              </a:defRPr>
            </a:lvl1pPr>
            <a:lvl2pPr marL="377967" indent="0">
              <a:buNone/>
              <a:defRPr sz="1653">
                <a:solidFill>
                  <a:schemeClr val="tx1">
                    <a:tint val="75000"/>
                  </a:schemeClr>
                </a:solidFill>
              </a:defRPr>
            </a:lvl2pPr>
            <a:lvl3pPr marL="755934" indent="0">
              <a:buNone/>
              <a:defRPr sz="1488">
                <a:solidFill>
                  <a:schemeClr val="tx1">
                    <a:tint val="75000"/>
                  </a:schemeClr>
                </a:solidFill>
              </a:defRPr>
            </a:lvl3pPr>
            <a:lvl4pPr marL="1133902" indent="0">
              <a:buNone/>
              <a:defRPr sz="1323">
                <a:solidFill>
                  <a:schemeClr val="tx1">
                    <a:tint val="75000"/>
                  </a:schemeClr>
                </a:solidFill>
              </a:defRPr>
            </a:lvl4pPr>
            <a:lvl5pPr marL="1511869" indent="0">
              <a:buNone/>
              <a:defRPr sz="1323">
                <a:solidFill>
                  <a:schemeClr val="tx1">
                    <a:tint val="75000"/>
                  </a:schemeClr>
                </a:solidFill>
              </a:defRPr>
            </a:lvl5pPr>
            <a:lvl6pPr marL="1889836" indent="0">
              <a:buNone/>
              <a:defRPr sz="1323">
                <a:solidFill>
                  <a:schemeClr val="tx1">
                    <a:tint val="75000"/>
                  </a:schemeClr>
                </a:solidFill>
              </a:defRPr>
            </a:lvl6pPr>
            <a:lvl7pPr marL="2267803" indent="0">
              <a:buNone/>
              <a:defRPr sz="1323">
                <a:solidFill>
                  <a:schemeClr val="tx1">
                    <a:tint val="75000"/>
                  </a:schemeClr>
                </a:solidFill>
              </a:defRPr>
            </a:lvl7pPr>
            <a:lvl8pPr marL="2645771" indent="0">
              <a:buNone/>
              <a:defRPr sz="1323">
                <a:solidFill>
                  <a:schemeClr val="tx1">
                    <a:tint val="75000"/>
                  </a:schemeClr>
                </a:solidFill>
              </a:defRPr>
            </a:lvl8pPr>
            <a:lvl9pPr marL="3023738" indent="0">
              <a:buNone/>
              <a:defRPr sz="1323">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endParaRPr lang="en-IN" dirty="0"/>
          </a:p>
        </p:txBody>
      </p:sp>
      <p:sp>
        <p:nvSpPr>
          <p:cNvPr id="5" name="Footer Placeholder 4"/>
          <p:cNvSpPr>
            <a:spLocks noGrp="1"/>
          </p:cNvSpPr>
          <p:nvPr>
            <p:ph type="ftr" sz="quarter" idx="11"/>
          </p:nvPr>
        </p:nvSpPr>
        <p:spPr/>
        <p:txBody>
          <a:bodyPr/>
          <a:lstStyle/>
          <a:p>
            <a:r>
              <a:rPr lang="en-IN" dirty="0"/>
              <a:t>Vidyavantam - CBSE Mathematics</a:t>
            </a:r>
          </a:p>
        </p:txBody>
      </p:sp>
      <p:sp>
        <p:nvSpPr>
          <p:cNvPr id="6" name="Slide Number Placeholder 5"/>
          <p:cNvSpPr>
            <a:spLocks noGrp="1"/>
          </p:cNvSpPr>
          <p:nvPr>
            <p:ph type="sldNum" sz="quarter" idx="12"/>
          </p:nvPr>
        </p:nvSpPr>
        <p:spPr/>
        <p:txBody>
          <a:bodyPr/>
          <a:lstStyle/>
          <a:p>
            <a:fld id="{3BC85B59-F976-42FC-A57B-D0D07616E147}" type="slidenum">
              <a:rPr lang="en-IN" smtClean="0"/>
              <a:t>‹#›</a:t>
            </a:fld>
            <a:endParaRPr lang="en-IN" dirty="0"/>
          </a:p>
        </p:txBody>
      </p:sp>
    </p:spTree>
    <p:extLst>
      <p:ext uri="{BB962C8B-B14F-4D97-AF65-F5344CB8AC3E}">
        <p14:creationId xmlns:p14="http://schemas.microsoft.com/office/powerpoint/2010/main" val="29468580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19728" y="2865217"/>
            <a:ext cx="3212862" cy="682918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27085" y="2865217"/>
            <a:ext cx="3212862" cy="682918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IN" dirty="0"/>
          </a:p>
        </p:txBody>
      </p:sp>
      <p:sp>
        <p:nvSpPr>
          <p:cNvPr id="6" name="Footer Placeholder 5"/>
          <p:cNvSpPr>
            <a:spLocks noGrp="1"/>
          </p:cNvSpPr>
          <p:nvPr>
            <p:ph type="ftr" sz="quarter" idx="11"/>
          </p:nvPr>
        </p:nvSpPr>
        <p:spPr/>
        <p:txBody>
          <a:bodyPr/>
          <a:lstStyle/>
          <a:p>
            <a:r>
              <a:rPr lang="en-IN" dirty="0"/>
              <a:t>Vidyavantam - CBSE Mathematics</a:t>
            </a:r>
          </a:p>
        </p:txBody>
      </p:sp>
      <p:sp>
        <p:nvSpPr>
          <p:cNvPr id="7" name="Slide Number Placeholder 6"/>
          <p:cNvSpPr>
            <a:spLocks noGrp="1"/>
          </p:cNvSpPr>
          <p:nvPr>
            <p:ph type="sldNum" sz="quarter" idx="12"/>
          </p:nvPr>
        </p:nvSpPr>
        <p:spPr/>
        <p:txBody>
          <a:bodyPr/>
          <a:lstStyle/>
          <a:p>
            <a:fld id="{3BC85B59-F976-42FC-A57B-D0D07616E147}" type="slidenum">
              <a:rPr lang="en-IN" smtClean="0"/>
              <a:t>‹#›</a:t>
            </a:fld>
            <a:endParaRPr lang="en-IN" dirty="0"/>
          </a:p>
        </p:txBody>
      </p:sp>
    </p:spTree>
    <p:extLst>
      <p:ext uri="{BB962C8B-B14F-4D97-AF65-F5344CB8AC3E}">
        <p14:creationId xmlns:p14="http://schemas.microsoft.com/office/powerpoint/2010/main" val="33262655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20712" y="573046"/>
            <a:ext cx="6520220" cy="2080397"/>
          </a:xfrm>
        </p:spPr>
        <p:txBody>
          <a:bodyPr/>
          <a:lstStyle/>
          <a:p>
            <a:r>
              <a:rPr lang="en-US"/>
              <a:t>Click to edit Master title style</a:t>
            </a:r>
            <a:endParaRPr lang="en-US" dirty="0"/>
          </a:p>
        </p:txBody>
      </p:sp>
      <p:sp>
        <p:nvSpPr>
          <p:cNvPr id="3" name="Text Placeholder 2"/>
          <p:cNvSpPr>
            <a:spLocks noGrp="1"/>
          </p:cNvSpPr>
          <p:nvPr>
            <p:ph type="body" idx="1"/>
          </p:nvPr>
        </p:nvSpPr>
        <p:spPr>
          <a:xfrm>
            <a:off x="520713" y="2638492"/>
            <a:ext cx="3198096" cy="1293084"/>
          </a:xfrm>
        </p:spPr>
        <p:txBody>
          <a:bodyPr anchor="b"/>
          <a:lstStyle>
            <a:lvl1pPr marL="0" indent="0">
              <a:buNone/>
              <a:defRPr sz="1984" b="1"/>
            </a:lvl1pPr>
            <a:lvl2pPr marL="377967" indent="0">
              <a:buNone/>
              <a:defRPr sz="1653" b="1"/>
            </a:lvl2pPr>
            <a:lvl3pPr marL="755934" indent="0">
              <a:buNone/>
              <a:defRPr sz="1488" b="1"/>
            </a:lvl3pPr>
            <a:lvl4pPr marL="1133902" indent="0">
              <a:buNone/>
              <a:defRPr sz="1323" b="1"/>
            </a:lvl4pPr>
            <a:lvl5pPr marL="1511869" indent="0">
              <a:buNone/>
              <a:defRPr sz="1323" b="1"/>
            </a:lvl5pPr>
            <a:lvl6pPr marL="1889836" indent="0">
              <a:buNone/>
              <a:defRPr sz="1323" b="1"/>
            </a:lvl6pPr>
            <a:lvl7pPr marL="2267803" indent="0">
              <a:buNone/>
              <a:defRPr sz="1323" b="1"/>
            </a:lvl7pPr>
            <a:lvl8pPr marL="2645771" indent="0">
              <a:buNone/>
              <a:defRPr sz="1323" b="1"/>
            </a:lvl8pPr>
            <a:lvl9pPr marL="3023738" indent="0">
              <a:buNone/>
              <a:defRPr sz="1323" b="1"/>
            </a:lvl9pPr>
          </a:lstStyle>
          <a:p>
            <a:pPr lvl="0"/>
            <a:r>
              <a:rPr lang="en-US"/>
              <a:t>Edit Master text styles</a:t>
            </a:r>
          </a:p>
        </p:txBody>
      </p:sp>
      <p:sp>
        <p:nvSpPr>
          <p:cNvPr id="4" name="Content Placeholder 3"/>
          <p:cNvSpPr>
            <a:spLocks noGrp="1"/>
          </p:cNvSpPr>
          <p:nvPr>
            <p:ph sz="half" idx="2"/>
          </p:nvPr>
        </p:nvSpPr>
        <p:spPr>
          <a:xfrm>
            <a:off x="520713" y="3931576"/>
            <a:ext cx="3198096" cy="578275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27086" y="2638492"/>
            <a:ext cx="3213847" cy="1293084"/>
          </a:xfrm>
        </p:spPr>
        <p:txBody>
          <a:bodyPr anchor="b"/>
          <a:lstStyle>
            <a:lvl1pPr marL="0" indent="0">
              <a:buNone/>
              <a:defRPr sz="1984" b="1"/>
            </a:lvl1pPr>
            <a:lvl2pPr marL="377967" indent="0">
              <a:buNone/>
              <a:defRPr sz="1653" b="1"/>
            </a:lvl2pPr>
            <a:lvl3pPr marL="755934" indent="0">
              <a:buNone/>
              <a:defRPr sz="1488" b="1"/>
            </a:lvl3pPr>
            <a:lvl4pPr marL="1133902" indent="0">
              <a:buNone/>
              <a:defRPr sz="1323" b="1"/>
            </a:lvl4pPr>
            <a:lvl5pPr marL="1511869" indent="0">
              <a:buNone/>
              <a:defRPr sz="1323" b="1"/>
            </a:lvl5pPr>
            <a:lvl6pPr marL="1889836" indent="0">
              <a:buNone/>
              <a:defRPr sz="1323" b="1"/>
            </a:lvl6pPr>
            <a:lvl7pPr marL="2267803" indent="0">
              <a:buNone/>
              <a:defRPr sz="1323" b="1"/>
            </a:lvl7pPr>
            <a:lvl8pPr marL="2645771" indent="0">
              <a:buNone/>
              <a:defRPr sz="1323" b="1"/>
            </a:lvl8pPr>
            <a:lvl9pPr marL="3023738" indent="0">
              <a:buNone/>
              <a:defRPr sz="1323" b="1"/>
            </a:lvl9pPr>
          </a:lstStyle>
          <a:p>
            <a:pPr lvl="0"/>
            <a:r>
              <a:rPr lang="en-US"/>
              <a:t>Edit Master text styles</a:t>
            </a:r>
          </a:p>
        </p:txBody>
      </p:sp>
      <p:sp>
        <p:nvSpPr>
          <p:cNvPr id="6" name="Content Placeholder 5"/>
          <p:cNvSpPr>
            <a:spLocks noGrp="1"/>
          </p:cNvSpPr>
          <p:nvPr>
            <p:ph sz="quarter" idx="4"/>
          </p:nvPr>
        </p:nvSpPr>
        <p:spPr>
          <a:xfrm>
            <a:off x="3827086" y="3931576"/>
            <a:ext cx="3213847" cy="578275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IN" dirty="0"/>
          </a:p>
        </p:txBody>
      </p:sp>
      <p:sp>
        <p:nvSpPr>
          <p:cNvPr id="8" name="Footer Placeholder 7"/>
          <p:cNvSpPr>
            <a:spLocks noGrp="1"/>
          </p:cNvSpPr>
          <p:nvPr>
            <p:ph type="ftr" sz="quarter" idx="11"/>
          </p:nvPr>
        </p:nvSpPr>
        <p:spPr/>
        <p:txBody>
          <a:bodyPr/>
          <a:lstStyle/>
          <a:p>
            <a:r>
              <a:rPr lang="en-IN" dirty="0"/>
              <a:t>Vidyavantam - CBSE Mathematics</a:t>
            </a:r>
          </a:p>
        </p:txBody>
      </p:sp>
      <p:sp>
        <p:nvSpPr>
          <p:cNvPr id="9" name="Slide Number Placeholder 8"/>
          <p:cNvSpPr>
            <a:spLocks noGrp="1"/>
          </p:cNvSpPr>
          <p:nvPr>
            <p:ph type="sldNum" sz="quarter" idx="12"/>
          </p:nvPr>
        </p:nvSpPr>
        <p:spPr/>
        <p:txBody>
          <a:bodyPr/>
          <a:lstStyle/>
          <a:p>
            <a:fld id="{3BC85B59-F976-42FC-A57B-D0D07616E147}" type="slidenum">
              <a:rPr lang="en-IN" smtClean="0"/>
              <a:t>‹#›</a:t>
            </a:fld>
            <a:endParaRPr lang="en-IN" dirty="0"/>
          </a:p>
        </p:txBody>
      </p:sp>
    </p:spTree>
    <p:extLst>
      <p:ext uri="{BB962C8B-B14F-4D97-AF65-F5344CB8AC3E}">
        <p14:creationId xmlns:p14="http://schemas.microsoft.com/office/powerpoint/2010/main" val="34627711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IN" dirty="0"/>
          </a:p>
        </p:txBody>
      </p:sp>
      <p:sp>
        <p:nvSpPr>
          <p:cNvPr id="4" name="Footer Placeholder 3"/>
          <p:cNvSpPr>
            <a:spLocks noGrp="1"/>
          </p:cNvSpPr>
          <p:nvPr>
            <p:ph type="ftr" sz="quarter" idx="11"/>
          </p:nvPr>
        </p:nvSpPr>
        <p:spPr/>
        <p:txBody>
          <a:bodyPr/>
          <a:lstStyle/>
          <a:p>
            <a:r>
              <a:rPr lang="en-IN" dirty="0"/>
              <a:t>Vidyavantam - CBSE Mathematics</a:t>
            </a:r>
          </a:p>
        </p:txBody>
      </p:sp>
      <p:sp>
        <p:nvSpPr>
          <p:cNvPr id="5" name="Slide Number Placeholder 4"/>
          <p:cNvSpPr>
            <a:spLocks noGrp="1"/>
          </p:cNvSpPr>
          <p:nvPr>
            <p:ph type="sldNum" sz="quarter" idx="12"/>
          </p:nvPr>
        </p:nvSpPr>
        <p:spPr/>
        <p:txBody>
          <a:bodyPr/>
          <a:lstStyle/>
          <a:p>
            <a:fld id="{3BC85B59-F976-42FC-A57B-D0D07616E147}" type="slidenum">
              <a:rPr lang="en-IN" smtClean="0"/>
              <a:t>‹#›</a:t>
            </a:fld>
            <a:endParaRPr lang="en-IN" dirty="0"/>
          </a:p>
        </p:txBody>
      </p:sp>
    </p:spTree>
    <p:extLst>
      <p:ext uri="{BB962C8B-B14F-4D97-AF65-F5344CB8AC3E}">
        <p14:creationId xmlns:p14="http://schemas.microsoft.com/office/powerpoint/2010/main" val="32772895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IN" dirty="0"/>
          </a:p>
        </p:txBody>
      </p:sp>
      <p:sp>
        <p:nvSpPr>
          <p:cNvPr id="3" name="Footer Placeholder 2"/>
          <p:cNvSpPr>
            <a:spLocks noGrp="1"/>
          </p:cNvSpPr>
          <p:nvPr>
            <p:ph type="ftr" sz="quarter" idx="11"/>
          </p:nvPr>
        </p:nvSpPr>
        <p:spPr/>
        <p:txBody>
          <a:bodyPr/>
          <a:lstStyle/>
          <a:p>
            <a:r>
              <a:rPr lang="en-IN" dirty="0"/>
              <a:t>Vidyavantam - CBSE Mathematics</a:t>
            </a:r>
          </a:p>
        </p:txBody>
      </p:sp>
      <p:sp>
        <p:nvSpPr>
          <p:cNvPr id="4" name="Slide Number Placeholder 3"/>
          <p:cNvSpPr>
            <a:spLocks noGrp="1"/>
          </p:cNvSpPr>
          <p:nvPr>
            <p:ph type="sldNum" sz="quarter" idx="12"/>
          </p:nvPr>
        </p:nvSpPr>
        <p:spPr/>
        <p:txBody>
          <a:bodyPr/>
          <a:lstStyle/>
          <a:p>
            <a:fld id="{3BC85B59-F976-42FC-A57B-D0D07616E147}" type="slidenum">
              <a:rPr lang="en-IN" smtClean="0"/>
              <a:t>‹#›</a:t>
            </a:fld>
            <a:endParaRPr lang="en-IN" dirty="0"/>
          </a:p>
        </p:txBody>
      </p:sp>
    </p:spTree>
    <p:extLst>
      <p:ext uri="{BB962C8B-B14F-4D97-AF65-F5344CB8AC3E}">
        <p14:creationId xmlns:p14="http://schemas.microsoft.com/office/powerpoint/2010/main" val="41994266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20712" y="717550"/>
            <a:ext cx="2438192" cy="2511425"/>
          </a:xfrm>
        </p:spPr>
        <p:txBody>
          <a:bodyPr anchor="b"/>
          <a:lstStyle>
            <a:lvl1pPr>
              <a:defRPr sz="2645"/>
            </a:lvl1pPr>
          </a:lstStyle>
          <a:p>
            <a:r>
              <a:rPr lang="en-US"/>
              <a:t>Click to edit Master title style</a:t>
            </a:r>
            <a:endParaRPr lang="en-US" dirty="0"/>
          </a:p>
        </p:txBody>
      </p:sp>
      <p:sp>
        <p:nvSpPr>
          <p:cNvPr id="3" name="Content Placeholder 2"/>
          <p:cNvSpPr>
            <a:spLocks noGrp="1"/>
          </p:cNvSpPr>
          <p:nvPr>
            <p:ph idx="1"/>
          </p:nvPr>
        </p:nvSpPr>
        <p:spPr>
          <a:xfrm>
            <a:off x="3213847" y="1549711"/>
            <a:ext cx="3827085" cy="7648884"/>
          </a:xfrm>
        </p:spPr>
        <p:txBody>
          <a:bodyPr/>
          <a:lstStyle>
            <a:lvl1pPr>
              <a:defRPr sz="2645"/>
            </a:lvl1pPr>
            <a:lvl2pPr>
              <a:defRPr sz="2315"/>
            </a:lvl2pPr>
            <a:lvl3pPr>
              <a:defRPr sz="1984"/>
            </a:lvl3pPr>
            <a:lvl4pPr>
              <a:defRPr sz="1653"/>
            </a:lvl4pPr>
            <a:lvl5pPr>
              <a:defRPr sz="1653"/>
            </a:lvl5pPr>
            <a:lvl6pPr>
              <a:defRPr sz="1653"/>
            </a:lvl6pPr>
            <a:lvl7pPr>
              <a:defRPr sz="1653"/>
            </a:lvl7pPr>
            <a:lvl8pPr>
              <a:defRPr sz="1653"/>
            </a:lvl8pPr>
            <a:lvl9pPr>
              <a:defRPr sz="165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20712" y="3228975"/>
            <a:ext cx="2438192" cy="5982076"/>
          </a:xfrm>
        </p:spPr>
        <p:txBody>
          <a:bodyPr/>
          <a:lstStyle>
            <a:lvl1pPr marL="0" indent="0">
              <a:buNone/>
              <a:defRPr sz="1323"/>
            </a:lvl1pPr>
            <a:lvl2pPr marL="377967" indent="0">
              <a:buNone/>
              <a:defRPr sz="1157"/>
            </a:lvl2pPr>
            <a:lvl3pPr marL="755934" indent="0">
              <a:buNone/>
              <a:defRPr sz="992"/>
            </a:lvl3pPr>
            <a:lvl4pPr marL="1133902" indent="0">
              <a:buNone/>
              <a:defRPr sz="827"/>
            </a:lvl4pPr>
            <a:lvl5pPr marL="1511869" indent="0">
              <a:buNone/>
              <a:defRPr sz="827"/>
            </a:lvl5pPr>
            <a:lvl6pPr marL="1889836" indent="0">
              <a:buNone/>
              <a:defRPr sz="827"/>
            </a:lvl6pPr>
            <a:lvl7pPr marL="2267803" indent="0">
              <a:buNone/>
              <a:defRPr sz="827"/>
            </a:lvl7pPr>
            <a:lvl8pPr marL="2645771" indent="0">
              <a:buNone/>
              <a:defRPr sz="827"/>
            </a:lvl8pPr>
            <a:lvl9pPr marL="3023738" indent="0">
              <a:buNone/>
              <a:defRPr sz="827"/>
            </a:lvl9pPr>
          </a:lstStyle>
          <a:p>
            <a:pPr lvl="0"/>
            <a:r>
              <a:rPr lang="en-US"/>
              <a:t>Edit Master text styles</a:t>
            </a:r>
          </a:p>
        </p:txBody>
      </p:sp>
      <p:sp>
        <p:nvSpPr>
          <p:cNvPr id="5" name="Date Placeholder 4"/>
          <p:cNvSpPr>
            <a:spLocks noGrp="1"/>
          </p:cNvSpPr>
          <p:nvPr>
            <p:ph type="dt" sz="half" idx="10"/>
          </p:nvPr>
        </p:nvSpPr>
        <p:spPr/>
        <p:txBody>
          <a:bodyPr/>
          <a:lstStyle/>
          <a:p>
            <a:endParaRPr lang="en-IN" dirty="0"/>
          </a:p>
        </p:txBody>
      </p:sp>
      <p:sp>
        <p:nvSpPr>
          <p:cNvPr id="6" name="Footer Placeholder 5"/>
          <p:cNvSpPr>
            <a:spLocks noGrp="1"/>
          </p:cNvSpPr>
          <p:nvPr>
            <p:ph type="ftr" sz="quarter" idx="11"/>
          </p:nvPr>
        </p:nvSpPr>
        <p:spPr/>
        <p:txBody>
          <a:bodyPr/>
          <a:lstStyle/>
          <a:p>
            <a:r>
              <a:rPr lang="en-IN" dirty="0"/>
              <a:t>Vidyavantam - CBSE Mathematics</a:t>
            </a:r>
          </a:p>
        </p:txBody>
      </p:sp>
      <p:sp>
        <p:nvSpPr>
          <p:cNvPr id="7" name="Slide Number Placeholder 6"/>
          <p:cNvSpPr>
            <a:spLocks noGrp="1"/>
          </p:cNvSpPr>
          <p:nvPr>
            <p:ph type="sldNum" sz="quarter" idx="12"/>
          </p:nvPr>
        </p:nvSpPr>
        <p:spPr/>
        <p:txBody>
          <a:bodyPr/>
          <a:lstStyle/>
          <a:p>
            <a:fld id="{3BC85B59-F976-42FC-A57B-D0D07616E147}" type="slidenum">
              <a:rPr lang="en-IN" smtClean="0"/>
              <a:t>‹#›</a:t>
            </a:fld>
            <a:endParaRPr lang="en-IN" dirty="0"/>
          </a:p>
        </p:txBody>
      </p:sp>
    </p:spTree>
    <p:extLst>
      <p:ext uri="{BB962C8B-B14F-4D97-AF65-F5344CB8AC3E}">
        <p14:creationId xmlns:p14="http://schemas.microsoft.com/office/powerpoint/2010/main" val="34098244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20712" y="717550"/>
            <a:ext cx="2438192" cy="2511425"/>
          </a:xfrm>
        </p:spPr>
        <p:txBody>
          <a:bodyPr anchor="b"/>
          <a:lstStyle>
            <a:lvl1pPr>
              <a:defRPr sz="2645"/>
            </a:lvl1pPr>
          </a:lstStyle>
          <a:p>
            <a:r>
              <a:rPr lang="en-US"/>
              <a:t>Click to edit Master title style</a:t>
            </a:r>
            <a:endParaRPr lang="en-US" dirty="0"/>
          </a:p>
        </p:txBody>
      </p:sp>
      <p:sp>
        <p:nvSpPr>
          <p:cNvPr id="3" name="Picture Placeholder 2"/>
          <p:cNvSpPr>
            <a:spLocks noGrp="1" noChangeAspect="1"/>
          </p:cNvSpPr>
          <p:nvPr>
            <p:ph type="pic" idx="1"/>
          </p:nvPr>
        </p:nvSpPr>
        <p:spPr>
          <a:xfrm>
            <a:off x="3213847" y="1549711"/>
            <a:ext cx="3827085" cy="7648884"/>
          </a:xfrm>
        </p:spPr>
        <p:txBody>
          <a:bodyPr anchor="t"/>
          <a:lstStyle>
            <a:lvl1pPr marL="0" indent="0">
              <a:buNone/>
              <a:defRPr sz="2645"/>
            </a:lvl1pPr>
            <a:lvl2pPr marL="377967" indent="0">
              <a:buNone/>
              <a:defRPr sz="2315"/>
            </a:lvl2pPr>
            <a:lvl3pPr marL="755934" indent="0">
              <a:buNone/>
              <a:defRPr sz="1984"/>
            </a:lvl3pPr>
            <a:lvl4pPr marL="1133902" indent="0">
              <a:buNone/>
              <a:defRPr sz="1653"/>
            </a:lvl4pPr>
            <a:lvl5pPr marL="1511869" indent="0">
              <a:buNone/>
              <a:defRPr sz="1653"/>
            </a:lvl5pPr>
            <a:lvl6pPr marL="1889836" indent="0">
              <a:buNone/>
              <a:defRPr sz="1653"/>
            </a:lvl6pPr>
            <a:lvl7pPr marL="2267803" indent="0">
              <a:buNone/>
              <a:defRPr sz="1653"/>
            </a:lvl7pPr>
            <a:lvl8pPr marL="2645771" indent="0">
              <a:buNone/>
              <a:defRPr sz="1653"/>
            </a:lvl8pPr>
            <a:lvl9pPr marL="3023738" indent="0">
              <a:buNone/>
              <a:defRPr sz="1653"/>
            </a:lvl9pPr>
          </a:lstStyle>
          <a:p>
            <a:r>
              <a:rPr lang="en-US" dirty="0"/>
              <a:t>Click icon to add picture</a:t>
            </a:r>
          </a:p>
        </p:txBody>
      </p:sp>
      <p:sp>
        <p:nvSpPr>
          <p:cNvPr id="4" name="Text Placeholder 3"/>
          <p:cNvSpPr>
            <a:spLocks noGrp="1"/>
          </p:cNvSpPr>
          <p:nvPr>
            <p:ph type="body" sz="half" idx="2"/>
          </p:nvPr>
        </p:nvSpPr>
        <p:spPr>
          <a:xfrm>
            <a:off x="520712" y="3228975"/>
            <a:ext cx="2438192" cy="5982076"/>
          </a:xfrm>
        </p:spPr>
        <p:txBody>
          <a:bodyPr/>
          <a:lstStyle>
            <a:lvl1pPr marL="0" indent="0">
              <a:buNone/>
              <a:defRPr sz="1323"/>
            </a:lvl1pPr>
            <a:lvl2pPr marL="377967" indent="0">
              <a:buNone/>
              <a:defRPr sz="1157"/>
            </a:lvl2pPr>
            <a:lvl3pPr marL="755934" indent="0">
              <a:buNone/>
              <a:defRPr sz="992"/>
            </a:lvl3pPr>
            <a:lvl4pPr marL="1133902" indent="0">
              <a:buNone/>
              <a:defRPr sz="827"/>
            </a:lvl4pPr>
            <a:lvl5pPr marL="1511869" indent="0">
              <a:buNone/>
              <a:defRPr sz="827"/>
            </a:lvl5pPr>
            <a:lvl6pPr marL="1889836" indent="0">
              <a:buNone/>
              <a:defRPr sz="827"/>
            </a:lvl6pPr>
            <a:lvl7pPr marL="2267803" indent="0">
              <a:buNone/>
              <a:defRPr sz="827"/>
            </a:lvl7pPr>
            <a:lvl8pPr marL="2645771" indent="0">
              <a:buNone/>
              <a:defRPr sz="827"/>
            </a:lvl8pPr>
            <a:lvl9pPr marL="3023738" indent="0">
              <a:buNone/>
              <a:defRPr sz="827"/>
            </a:lvl9pPr>
          </a:lstStyle>
          <a:p>
            <a:pPr lvl="0"/>
            <a:r>
              <a:rPr lang="en-US"/>
              <a:t>Edit Master text styles</a:t>
            </a:r>
          </a:p>
        </p:txBody>
      </p:sp>
      <p:sp>
        <p:nvSpPr>
          <p:cNvPr id="5" name="Date Placeholder 4"/>
          <p:cNvSpPr>
            <a:spLocks noGrp="1"/>
          </p:cNvSpPr>
          <p:nvPr>
            <p:ph type="dt" sz="half" idx="10"/>
          </p:nvPr>
        </p:nvSpPr>
        <p:spPr/>
        <p:txBody>
          <a:bodyPr/>
          <a:lstStyle/>
          <a:p>
            <a:endParaRPr lang="en-IN" dirty="0"/>
          </a:p>
        </p:txBody>
      </p:sp>
      <p:sp>
        <p:nvSpPr>
          <p:cNvPr id="6" name="Footer Placeholder 5"/>
          <p:cNvSpPr>
            <a:spLocks noGrp="1"/>
          </p:cNvSpPr>
          <p:nvPr>
            <p:ph type="ftr" sz="quarter" idx="11"/>
          </p:nvPr>
        </p:nvSpPr>
        <p:spPr/>
        <p:txBody>
          <a:bodyPr/>
          <a:lstStyle/>
          <a:p>
            <a:r>
              <a:rPr lang="en-IN" dirty="0"/>
              <a:t>Vidyavantam - CBSE Mathematics</a:t>
            </a:r>
          </a:p>
        </p:txBody>
      </p:sp>
      <p:sp>
        <p:nvSpPr>
          <p:cNvPr id="7" name="Slide Number Placeholder 6"/>
          <p:cNvSpPr>
            <a:spLocks noGrp="1"/>
          </p:cNvSpPr>
          <p:nvPr>
            <p:ph type="sldNum" sz="quarter" idx="12"/>
          </p:nvPr>
        </p:nvSpPr>
        <p:spPr/>
        <p:txBody>
          <a:bodyPr/>
          <a:lstStyle/>
          <a:p>
            <a:fld id="{3BC85B59-F976-42FC-A57B-D0D07616E147}" type="slidenum">
              <a:rPr lang="en-IN" smtClean="0"/>
              <a:t>‹#›</a:t>
            </a:fld>
            <a:endParaRPr lang="en-IN" dirty="0"/>
          </a:p>
        </p:txBody>
      </p:sp>
    </p:spTree>
    <p:extLst>
      <p:ext uri="{BB962C8B-B14F-4D97-AF65-F5344CB8AC3E}">
        <p14:creationId xmlns:p14="http://schemas.microsoft.com/office/powerpoint/2010/main" val="4230246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dirty="0"/>
          </a:p>
        </p:txBody>
      </p:sp>
      <p:sp>
        <p:nvSpPr>
          <p:cNvPr id="5" name="Footer Placeholder 4"/>
          <p:cNvSpPr>
            <a:spLocks noGrp="1"/>
          </p:cNvSpPr>
          <p:nvPr>
            <p:ph type="ftr" sz="quarter" idx="11"/>
          </p:nvPr>
        </p:nvSpPr>
        <p:spPr/>
        <p:txBody>
          <a:bodyPr/>
          <a:lstStyle/>
          <a:p>
            <a:r>
              <a:rPr lang="en-IN" dirty="0"/>
              <a:t>Vidyavantam - CBSE Mathematics</a:t>
            </a:r>
          </a:p>
        </p:txBody>
      </p:sp>
      <p:sp>
        <p:nvSpPr>
          <p:cNvPr id="6" name="Slide Number Placeholder 5"/>
          <p:cNvSpPr>
            <a:spLocks noGrp="1"/>
          </p:cNvSpPr>
          <p:nvPr>
            <p:ph type="sldNum" sz="quarter" idx="12"/>
          </p:nvPr>
        </p:nvSpPr>
        <p:spPr/>
        <p:txBody>
          <a:bodyPr/>
          <a:lstStyle/>
          <a:p>
            <a:fld id="{3BC85B59-F976-42FC-A57B-D0D07616E147}" type="slidenum">
              <a:rPr lang="en-IN" smtClean="0"/>
              <a:t>‹#›</a:t>
            </a:fld>
            <a:endParaRPr lang="en-IN" dirty="0"/>
          </a:p>
        </p:txBody>
      </p:sp>
    </p:spTree>
    <p:extLst>
      <p:ext uri="{BB962C8B-B14F-4D97-AF65-F5344CB8AC3E}">
        <p14:creationId xmlns:p14="http://schemas.microsoft.com/office/powerpoint/2010/main" val="6667136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409893" y="573043"/>
            <a:ext cx="1630055" cy="912135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19728" y="573043"/>
            <a:ext cx="4795669" cy="912135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dirty="0"/>
          </a:p>
        </p:txBody>
      </p:sp>
      <p:sp>
        <p:nvSpPr>
          <p:cNvPr id="5" name="Footer Placeholder 4"/>
          <p:cNvSpPr>
            <a:spLocks noGrp="1"/>
          </p:cNvSpPr>
          <p:nvPr>
            <p:ph type="ftr" sz="quarter" idx="11"/>
          </p:nvPr>
        </p:nvSpPr>
        <p:spPr/>
        <p:txBody>
          <a:bodyPr/>
          <a:lstStyle/>
          <a:p>
            <a:r>
              <a:rPr lang="en-IN" dirty="0"/>
              <a:t>Vidyavantam - CBSE Mathematics</a:t>
            </a:r>
          </a:p>
        </p:txBody>
      </p:sp>
      <p:sp>
        <p:nvSpPr>
          <p:cNvPr id="6" name="Slide Number Placeholder 5"/>
          <p:cNvSpPr>
            <a:spLocks noGrp="1"/>
          </p:cNvSpPr>
          <p:nvPr>
            <p:ph type="sldNum" sz="quarter" idx="12"/>
          </p:nvPr>
        </p:nvSpPr>
        <p:spPr/>
        <p:txBody>
          <a:bodyPr/>
          <a:lstStyle/>
          <a:p>
            <a:fld id="{3BC85B59-F976-42FC-A57B-D0D07616E147}" type="slidenum">
              <a:rPr lang="en-IN" smtClean="0"/>
              <a:t>‹#›</a:t>
            </a:fld>
            <a:endParaRPr lang="en-IN" dirty="0"/>
          </a:p>
        </p:txBody>
      </p:sp>
    </p:spTree>
    <p:extLst>
      <p:ext uri="{BB962C8B-B14F-4D97-AF65-F5344CB8AC3E}">
        <p14:creationId xmlns:p14="http://schemas.microsoft.com/office/powerpoint/2010/main" val="985549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9728" y="573046"/>
            <a:ext cx="6520220" cy="208039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19728" y="2865217"/>
            <a:ext cx="6520220" cy="682918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9728" y="9975941"/>
            <a:ext cx="1700927" cy="573043"/>
          </a:xfrm>
          <a:prstGeom prst="rect">
            <a:avLst/>
          </a:prstGeom>
        </p:spPr>
        <p:txBody>
          <a:bodyPr vert="horz" lIns="91440" tIns="45720" rIns="91440" bIns="45720" rtlCol="0" anchor="ctr"/>
          <a:lstStyle>
            <a:lvl1pPr algn="l">
              <a:defRPr sz="992">
                <a:solidFill>
                  <a:schemeClr val="tx1">
                    <a:tint val="75000"/>
                  </a:schemeClr>
                </a:solidFill>
              </a:defRPr>
            </a:lvl1pPr>
          </a:lstStyle>
          <a:p>
            <a:endParaRPr lang="en-IN" dirty="0"/>
          </a:p>
        </p:txBody>
      </p:sp>
      <p:sp>
        <p:nvSpPr>
          <p:cNvPr id="5" name="Footer Placeholder 4"/>
          <p:cNvSpPr>
            <a:spLocks noGrp="1"/>
          </p:cNvSpPr>
          <p:nvPr>
            <p:ph type="ftr" sz="quarter" idx="3"/>
          </p:nvPr>
        </p:nvSpPr>
        <p:spPr>
          <a:xfrm>
            <a:off x="2504143" y="9975941"/>
            <a:ext cx="2551390" cy="573043"/>
          </a:xfrm>
          <a:prstGeom prst="rect">
            <a:avLst/>
          </a:prstGeom>
        </p:spPr>
        <p:txBody>
          <a:bodyPr vert="horz" lIns="91440" tIns="45720" rIns="91440" bIns="45720" rtlCol="0" anchor="ctr"/>
          <a:lstStyle>
            <a:lvl1pPr algn="ctr">
              <a:defRPr sz="992">
                <a:solidFill>
                  <a:schemeClr val="tx1">
                    <a:tint val="75000"/>
                  </a:schemeClr>
                </a:solidFill>
              </a:defRPr>
            </a:lvl1pPr>
          </a:lstStyle>
          <a:p>
            <a:r>
              <a:rPr lang="en-IN" dirty="0"/>
              <a:t>Vidyavantam - CBSE Mathematics</a:t>
            </a:r>
          </a:p>
        </p:txBody>
      </p:sp>
      <p:sp>
        <p:nvSpPr>
          <p:cNvPr id="6" name="Slide Number Placeholder 5"/>
          <p:cNvSpPr>
            <a:spLocks noGrp="1"/>
          </p:cNvSpPr>
          <p:nvPr>
            <p:ph type="sldNum" sz="quarter" idx="4"/>
          </p:nvPr>
        </p:nvSpPr>
        <p:spPr>
          <a:xfrm>
            <a:off x="5339020" y="9975941"/>
            <a:ext cx="1700927" cy="573043"/>
          </a:xfrm>
          <a:prstGeom prst="rect">
            <a:avLst/>
          </a:prstGeom>
        </p:spPr>
        <p:txBody>
          <a:bodyPr vert="horz" lIns="91440" tIns="45720" rIns="91440" bIns="45720" rtlCol="0" anchor="ctr"/>
          <a:lstStyle>
            <a:lvl1pPr algn="r">
              <a:defRPr sz="992">
                <a:solidFill>
                  <a:schemeClr val="tx1">
                    <a:tint val="75000"/>
                  </a:schemeClr>
                </a:solidFill>
              </a:defRPr>
            </a:lvl1pPr>
          </a:lstStyle>
          <a:p>
            <a:fld id="{3BC85B59-F976-42FC-A57B-D0D07616E147}" type="slidenum">
              <a:rPr lang="en-IN" smtClean="0"/>
              <a:t>‹#›</a:t>
            </a:fld>
            <a:endParaRPr lang="en-IN" dirty="0"/>
          </a:p>
        </p:txBody>
      </p:sp>
    </p:spTree>
    <p:extLst>
      <p:ext uri="{BB962C8B-B14F-4D97-AF65-F5344CB8AC3E}">
        <p14:creationId xmlns:p14="http://schemas.microsoft.com/office/powerpoint/2010/main" val="189719249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l" defTabSz="755934" rtl="0" eaLnBrk="1" latinLnBrk="0" hangingPunct="1">
        <a:lnSpc>
          <a:spcPct val="90000"/>
        </a:lnSpc>
        <a:spcBef>
          <a:spcPct val="0"/>
        </a:spcBef>
        <a:buNone/>
        <a:defRPr sz="3637" kern="1200">
          <a:solidFill>
            <a:schemeClr val="tx1"/>
          </a:solidFill>
          <a:latin typeface="+mj-lt"/>
          <a:ea typeface="+mj-ea"/>
          <a:cs typeface="+mj-cs"/>
        </a:defRPr>
      </a:lvl1pPr>
    </p:titleStyle>
    <p:bodyStyle>
      <a:lvl1pPr marL="188984" indent="-188984" algn="l" defTabSz="755934" rtl="0" eaLnBrk="1" latinLnBrk="0" hangingPunct="1">
        <a:lnSpc>
          <a:spcPct val="90000"/>
        </a:lnSpc>
        <a:spcBef>
          <a:spcPts val="827"/>
        </a:spcBef>
        <a:buFont typeface="Arial" panose="020B0604020202020204" pitchFamily="34" charset="0"/>
        <a:buChar char="•"/>
        <a:defRPr sz="2315" kern="1200">
          <a:solidFill>
            <a:schemeClr val="tx1"/>
          </a:solidFill>
          <a:latin typeface="+mn-lt"/>
          <a:ea typeface="+mn-ea"/>
          <a:cs typeface="+mn-cs"/>
        </a:defRPr>
      </a:lvl1pPr>
      <a:lvl2pPr marL="566951" indent="-188984" algn="l" defTabSz="755934" rtl="0" eaLnBrk="1" latinLnBrk="0" hangingPunct="1">
        <a:lnSpc>
          <a:spcPct val="90000"/>
        </a:lnSpc>
        <a:spcBef>
          <a:spcPts val="413"/>
        </a:spcBef>
        <a:buFont typeface="Arial" panose="020B0604020202020204" pitchFamily="34" charset="0"/>
        <a:buChar char="•"/>
        <a:defRPr sz="1984" kern="1200">
          <a:solidFill>
            <a:schemeClr val="tx1"/>
          </a:solidFill>
          <a:latin typeface="+mn-lt"/>
          <a:ea typeface="+mn-ea"/>
          <a:cs typeface="+mn-cs"/>
        </a:defRPr>
      </a:lvl2pPr>
      <a:lvl3pPr marL="944918" indent="-188984" algn="l" defTabSz="755934" rtl="0" eaLnBrk="1" latinLnBrk="0" hangingPunct="1">
        <a:lnSpc>
          <a:spcPct val="90000"/>
        </a:lnSpc>
        <a:spcBef>
          <a:spcPts val="413"/>
        </a:spcBef>
        <a:buFont typeface="Arial" panose="020B0604020202020204" pitchFamily="34" charset="0"/>
        <a:buChar char="•"/>
        <a:defRPr sz="1653" kern="1200">
          <a:solidFill>
            <a:schemeClr val="tx1"/>
          </a:solidFill>
          <a:latin typeface="+mn-lt"/>
          <a:ea typeface="+mn-ea"/>
          <a:cs typeface="+mn-cs"/>
        </a:defRPr>
      </a:lvl3pPr>
      <a:lvl4pPr marL="1322885"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4pPr>
      <a:lvl5pPr marL="1700853"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5pPr>
      <a:lvl6pPr marL="2078820"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6pPr>
      <a:lvl7pPr marL="2456787"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7pPr>
      <a:lvl8pPr marL="2834754"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8pPr>
      <a:lvl9pPr marL="3212722"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9pPr>
    </p:bodyStyle>
    <p:otherStyle>
      <a:defPPr>
        <a:defRPr lang="en-US"/>
      </a:defPPr>
      <a:lvl1pPr marL="0" algn="l" defTabSz="755934" rtl="0" eaLnBrk="1" latinLnBrk="0" hangingPunct="1">
        <a:defRPr sz="1488" kern="1200">
          <a:solidFill>
            <a:schemeClr val="tx1"/>
          </a:solidFill>
          <a:latin typeface="+mn-lt"/>
          <a:ea typeface="+mn-ea"/>
          <a:cs typeface="+mn-cs"/>
        </a:defRPr>
      </a:lvl1pPr>
      <a:lvl2pPr marL="377967" algn="l" defTabSz="755934" rtl="0" eaLnBrk="1" latinLnBrk="0" hangingPunct="1">
        <a:defRPr sz="1488" kern="1200">
          <a:solidFill>
            <a:schemeClr val="tx1"/>
          </a:solidFill>
          <a:latin typeface="+mn-lt"/>
          <a:ea typeface="+mn-ea"/>
          <a:cs typeface="+mn-cs"/>
        </a:defRPr>
      </a:lvl2pPr>
      <a:lvl3pPr marL="755934" algn="l" defTabSz="755934" rtl="0" eaLnBrk="1" latinLnBrk="0" hangingPunct="1">
        <a:defRPr sz="1488" kern="1200">
          <a:solidFill>
            <a:schemeClr val="tx1"/>
          </a:solidFill>
          <a:latin typeface="+mn-lt"/>
          <a:ea typeface="+mn-ea"/>
          <a:cs typeface="+mn-cs"/>
        </a:defRPr>
      </a:lvl3pPr>
      <a:lvl4pPr marL="1133902" algn="l" defTabSz="755934" rtl="0" eaLnBrk="1" latinLnBrk="0" hangingPunct="1">
        <a:defRPr sz="1488" kern="1200">
          <a:solidFill>
            <a:schemeClr val="tx1"/>
          </a:solidFill>
          <a:latin typeface="+mn-lt"/>
          <a:ea typeface="+mn-ea"/>
          <a:cs typeface="+mn-cs"/>
        </a:defRPr>
      </a:lvl4pPr>
      <a:lvl5pPr marL="1511869" algn="l" defTabSz="755934" rtl="0" eaLnBrk="1" latinLnBrk="0" hangingPunct="1">
        <a:defRPr sz="1488" kern="1200">
          <a:solidFill>
            <a:schemeClr val="tx1"/>
          </a:solidFill>
          <a:latin typeface="+mn-lt"/>
          <a:ea typeface="+mn-ea"/>
          <a:cs typeface="+mn-cs"/>
        </a:defRPr>
      </a:lvl5pPr>
      <a:lvl6pPr marL="1889836" algn="l" defTabSz="755934" rtl="0" eaLnBrk="1" latinLnBrk="0" hangingPunct="1">
        <a:defRPr sz="1488" kern="1200">
          <a:solidFill>
            <a:schemeClr val="tx1"/>
          </a:solidFill>
          <a:latin typeface="+mn-lt"/>
          <a:ea typeface="+mn-ea"/>
          <a:cs typeface="+mn-cs"/>
        </a:defRPr>
      </a:lvl6pPr>
      <a:lvl7pPr marL="2267803" algn="l" defTabSz="755934" rtl="0" eaLnBrk="1" latinLnBrk="0" hangingPunct="1">
        <a:defRPr sz="1488" kern="1200">
          <a:solidFill>
            <a:schemeClr val="tx1"/>
          </a:solidFill>
          <a:latin typeface="+mn-lt"/>
          <a:ea typeface="+mn-ea"/>
          <a:cs typeface="+mn-cs"/>
        </a:defRPr>
      </a:lvl7pPr>
      <a:lvl8pPr marL="2645771" algn="l" defTabSz="755934" rtl="0" eaLnBrk="1" latinLnBrk="0" hangingPunct="1">
        <a:defRPr sz="1488" kern="1200">
          <a:solidFill>
            <a:schemeClr val="tx1"/>
          </a:solidFill>
          <a:latin typeface="+mn-lt"/>
          <a:ea typeface="+mn-ea"/>
          <a:cs typeface="+mn-cs"/>
        </a:defRPr>
      </a:lvl8pPr>
      <a:lvl9pPr marL="3023738" algn="l" defTabSz="755934" rtl="0" eaLnBrk="1" latinLnBrk="0" hangingPunct="1">
        <a:defRPr sz="148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13.sv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13.sv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2">
            <a:extLst>
              <a:ext uri="{FF2B5EF4-FFF2-40B4-BE49-F238E27FC236}">
                <a16:creationId xmlns:a16="http://schemas.microsoft.com/office/drawing/2014/main" id="{6443B337-85E1-45E3-90C3-8C3D87045F46}"/>
              </a:ext>
            </a:extLst>
          </p:cNvPr>
          <p:cNvSpPr>
            <a:spLocks noChangeArrowheads="1"/>
          </p:cNvSpPr>
          <p:nvPr/>
        </p:nvSpPr>
        <p:spPr bwMode="auto">
          <a:xfrm>
            <a:off x="0" y="-27147"/>
            <a:ext cx="7559675" cy="2338582"/>
          </a:xfrm>
          <a:prstGeom prst="rect">
            <a:avLst/>
          </a:prstGeom>
          <a:solidFill>
            <a:srgbClr val="27B9C0"/>
          </a:solidFill>
          <a:ln>
            <a:noFill/>
          </a:ln>
          <a:effectLst/>
          <a:extLs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5" name="Title 1">
            <a:extLst>
              <a:ext uri="{FF2B5EF4-FFF2-40B4-BE49-F238E27FC236}">
                <a16:creationId xmlns:a16="http://schemas.microsoft.com/office/drawing/2014/main" id="{8B6806F4-7C85-4399-A968-A343BA02CD42}"/>
              </a:ext>
            </a:extLst>
          </p:cNvPr>
          <p:cNvSpPr txBox="1">
            <a:spLocks/>
          </p:cNvSpPr>
          <p:nvPr/>
        </p:nvSpPr>
        <p:spPr>
          <a:xfrm>
            <a:off x="484710" y="739298"/>
            <a:ext cx="699996" cy="702628"/>
          </a:xfrm>
          <a:prstGeom prst="ellipse">
            <a:avLst/>
          </a:prstGeom>
          <a:solidFill>
            <a:schemeClr val="bg1"/>
          </a:solidFill>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r>
              <a:rPr lang="en-IN" sz="3200" b="1" dirty="0">
                <a:solidFill>
                  <a:srgbClr val="49C0C2"/>
                </a:solidFill>
                <a:latin typeface="Comic Sans MS" panose="030F0702030302020204" pitchFamily="66" charset="0"/>
              </a:rPr>
              <a:t>1</a:t>
            </a:r>
            <a:endParaRPr lang="en-IN" sz="3200" b="1" dirty="0">
              <a:solidFill>
                <a:srgbClr val="49C0C2"/>
              </a:solidFill>
            </a:endParaRPr>
          </a:p>
        </p:txBody>
      </p:sp>
      <p:sp>
        <p:nvSpPr>
          <p:cNvPr id="6" name="Title 1">
            <a:extLst>
              <a:ext uri="{FF2B5EF4-FFF2-40B4-BE49-F238E27FC236}">
                <a16:creationId xmlns:a16="http://schemas.microsoft.com/office/drawing/2014/main" id="{4D00FBD9-EE88-4971-AE45-653764477A2C}"/>
              </a:ext>
            </a:extLst>
          </p:cNvPr>
          <p:cNvSpPr txBox="1">
            <a:spLocks/>
          </p:cNvSpPr>
          <p:nvPr/>
        </p:nvSpPr>
        <p:spPr>
          <a:xfrm>
            <a:off x="1380809" y="-20797"/>
            <a:ext cx="6178866" cy="2345330"/>
          </a:xfrm>
          <a:prstGeom prst="rect">
            <a:avLst/>
          </a:prstGeom>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pPr algn="l"/>
            <a:r>
              <a:rPr lang="en-IN" sz="3600" b="1" dirty="0">
                <a:ln w="12700">
                  <a:solidFill>
                    <a:schemeClr val="tx1"/>
                  </a:solidFill>
                </a:ln>
                <a:solidFill>
                  <a:schemeClr val="bg1"/>
                </a:solidFill>
                <a:latin typeface="Comic Sans MS" panose="030F0702030302020204" pitchFamily="66" charset="0"/>
              </a:rPr>
              <a:t>How Historians finds history</a:t>
            </a:r>
          </a:p>
        </p:txBody>
      </p:sp>
      <p:sp>
        <p:nvSpPr>
          <p:cNvPr id="14" name="AutoShape 26">
            <a:extLst>
              <a:ext uri="{FF2B5EF4-FFF2-40B4-BE49-F238E27FC236}">
                <a16:creationId xmlns:a16="http://schemas.microsoft.com/office/drawing/2014/main" id="{135FAA18-D5C3-41D3-8813-7C937BCE5657}"/>
              </a:ext>
            </a:extLst>
          </p:cNvPr>
          <p:cNvSpPr>
            <a:spLocks noChangeArrowheads="1"/>
          </p:cNvSpPr>
          <p:nvPr/>
        </p:nvSpPr>
        <p:spPr bwMode="auto">
          <a:xfrm>
            <a:off x="729853" y="2579780"/>
            <a:ext cx="2219325" cy="438150"/>
          </a:xfrm>
          <a:prstGeom prst="roundRect">
            <a:avLst>
              <a:gd name="adj" fmla="val 50000"/>
            </a:avLst>
          </a:prstGeom>
          <a:noFill/>
          <a:ln w="38100" algn="ctr">
            <a:solidFill>
              <a:srgbClr val="FFFFFF"/>
            </a:solidFill>
            <a:round/>
            <a:headEnd/>
            <a:tailEnd/>
          </a:ln>
          <a:effectLst/>
          <a:extLst>
            <a:ext uri="{909E8E84-426E-40DD-AFC4-6F175D3DCCD1}">
              <a14:hiddenFill xmlns:a14="http://schemas.microsoft.com/office/drawing/2010/main">
                <a:solidFill>
                  <a:srgbClr val="49C0C2"/>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15" name="Title 1">
            <a:extLst>
              <a:ext uri="{FF2B5EF4-FFF2-40B4-BE49-F238E27FC236}">
                <a16:creationId xmlns:a16="http://schemas.microsoft.com/office/drawing/2014/main" id="{0B2E0A18-342E-4956-A47C-956C6C1D7143}"/>
              </a:ext>
            </a:extLst>
          </p:cNvPr>
          <p:cNvSpPr txBox="1">
            <a:spLocks/>
          </p:cNvSpPr>
          <p:nvPr/>
        </p:nvSpPr>
        <p:spPr>
          <a:xfrm>
            <a:off x="1378903" y="2543268"/>
            <a:ext cx="1504966" cy="499110"/>
          </a:xfrm>
          <a:prstGeom prst="rect">
            <a:avLst/>
          </a:prstGeom>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r>
              <a:rPr lang="en-IN" sz="1500" b="1" dirty="0">
                <a:solidFill>
                  <a:schemeClr val="bg1"/>
                </a:solidFill>
                <a:latin typeface="Comic Sans MS" panose="030F0702030302020204" pitchFamily="66" charset="0"/>
              </a:rPr>
              <a:t>Introduction</a:t>
            </a:r>
            <a:endParaRPr lang="en-IN" sz="1500" b="1" dirty="0"/>
          </a:p>
        </p:txBody>
      </p:sp>
      <p:sp>
        <p:nvSpPr>
          <p:cNvPr id="16" name="AutoShape 28">
            <a:extLst>
              <a:ext uri="{FF2B5EF4-FFF2-40B4-BE49-F238E27FC236}">
                <a16:creationId xmlns:a16="http://schemas.microsoft.com/office/drawing/2014/main" id="{6827E179-C91F-4085-939E-0F58FE75B6BB}"/>
              </a:ext>
            </a:extLst>
          </p:cNvPr>
          <p:cNvSpPr>
            <a:spLocks noChangeArrowheads="1"/>
          </p:cNvSpPr>
          <p:nvPr/>
        </p:nvSpPr>
        <p:spPr bwMode="auto">
          <a:xfrm>
            <a:off x="449658" y="2773196"/>
            <a:ext cx="6660357" cy="2902209"/>
          </a:xfrm>
          <a:prstGeom prst="roundRect">
            <a:avLst>
              <a:gd name="adj" fmla="val 8473"/>
            </a:avLst>
          </a:prstGeom>
          <a:solidFill>
            <a:schemeClr val="bg1"/>
          </a:solidFill>
          <a:ln w="38100" algn="ctr">
            <a:solidFill>
              <a:srgbClr val="49C0C2"/>
            </a:solidFill>
            <a:round/>
            <a:headEnd/>
            <a:tailEnd/>
          </a:ln>
          <a:effectLst/>
        </p:spPr>
        <p:txBody>
          <a:bodyPr vert="horz" wrap="square" lIns="36576" tIns="36576" rIns="36576" bIns="36576" numCol="1" anchor="t" anchorCtr="0" compatLnSpc="1">
            <a:prstTxWarp prst="textNoShape">
              <a:avLst/>
            </a:prstTxWarp>
          </a:bodyPr>
          <a:lstStyle/>
          <a:p>
            <a:endParaRPr lang="en-IN" dirty="0"/>
          </a:p>
        </p:txBody>
      </p:sp>
      <p:sp>
        <p:nvSpPr>
          <p:cNvPr id="17" name="AutoShape 29">
            <a:extLst>
              <a:ext uri="{FF2B5EF4-FFF2-40B4-BE49-F238E27FC236}">
                <a16:creationId xmlns:a16="http://schemas.microsoft.com/office/drawing/2014/main" id="{8C1F19F0-1C0F-4313-BF2A-0C0C869C5104}"/>
              </a:ext>
            </a:extLst>
          </p:cNvPr>
          <p:cNvSpPr>
            <a:spLocks noChangeArrowheads="1"/>
          </p:cNvSpPr>
          <p:nvPr/>
        </p:nvSpPr>
        <p:spPr bwMode="auto">
          <a:xfrm>
            <a:off x="1041003" y="2530170"/>
            <a:ext cx="2219325" cy="490538"/>
          </a:xfrm>
          <a:prstGeom prst="roundRect">
            <a:avLst>
              <a:gd name="adj" fmla="val 50000"/>
            </a:avLst>
          </a:prstGeom>
          <a:solidFill>
            <a:srgbClr val="49C0C2"/>
          </a:solidFill>
          <a:ln w="38100" algn="ctr">
            <a:solidFill>
              <a:srgbClr val="49C0C2"/>
            </a:solidFill>
            <a:round/>
            <a:headEnd/>
            <a:tailEnd/>
          </a:ln>
          <a:effectLst/>
        </p:spPr>
        <p:txBody>
          <a:bodyPr vert="horz" wrap="square" lIns="36576" tIns="36576" rIns="36576" bIns="36576" numCol="1" anchor="t" anchorCtr="0" compatLnSpc="1">
            <a:prstTxWarp prst="textNoShape">
              <a:avLst/>
            </a:prstTxWarp>
          </a:bodyPr>
          <a:lstStyle/>
          <a:p>
            <a:r>
              <a:rPr lang="en-IN" dirty="0"/>
              <a:t>	</a:t>
            </a:r>
          </a:p>
        </p:txBody>
      </p:sp>
      <p:sp>
        <p:nvSpPr>
          <p:cNvPr id="18" name="AutoShape 30">
            <a:extLst>
              <a:ext uri="{FF2B5EF4-FFF2-40B4-BE49-F238E27FC236}">
                <a16:creationId xmlns:a16="http://schemas.microsoft.com/office/drawing/2014/main" id="{1CDD41C8-E7B4-48C8-8F33-20DF1A7FE4F4}"/>
              </a:ext>
            </a:extLst>
          </p:cNvPr>
          <p:cNvSpPr>
            <a:spLocks noChangeArrowheads="1"/>
          </p:cNvSpPr>
          <p:nvPr/>
        </p:nvSpPr>
        <p:spPr bwMode="auto">
          <a:xfrm>
            <a:off x="779065" y="2571445"/>
            <a:ext cx="2402718" cy="400050"/>
          </a:xfrm>
          <a:prstGeom prst="roundRect">
            <a:avLst>
              <a:gd name="adj" fmla="val 50000"/>
            </a:avLst>
          </a:prstGeom>
          <a:noFill/>
          <a:ln w="38100" algn="ctr">
            <a:solidFill>
              <a:srgbClr val="FFFFFF"/>
            </a:solidFill>
            <a:round/>
            <a:headEnd/>
            <a:tailEnd/>
          </a:ln>
          <a:effectLst/>
          <a:extLst>
            <a:ext uri="{909E8E84-426E-40DD-AFC4-6F175D3DCCD1}">
              <a14:hiddenFill xmlns:a14="http://schemas.microsoft.com/office/drawing/2010/main">
                <a:solidFill>
                  <a:srgbClr val="49C0C2"/>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19" name="Oval 31">
            <a:extLst>
              <a:ext uri="{FF2B5EF4-FFF2-40B4-BE49-F238E27FC236}">
                <a16:creationId xmlns:a16="http://schemas.microsoft.com/office/drawing/2014/main" id="{5D6B3E82-A9D4-4A96-B098-0882A8B05059}"/>
              </a:ext>
            </a:extLst>
          </p:cNvPr>
          <p:cNvSpPr>
            <a:spLocks noChangeArrowheads="1"/>
          </p:cNvSpPr>
          <p:nvPr/>
        </p:nvSpPr>
        <p:spPr bwMode="auto">
          <a:xfrm>
            <a:off x="701278" y="2417458"/>
            <a:ext cx="744537" cy="744537"/>
          </a:xfrm>
          <a:prstGeom prst="ellipse">
            <a:avLst/>
          </a:prstGeom>
          <a:solidFill>
            <a:srgbClr val="FFFFFF"/>
          </a:solidFill>
          <a:ln w="57150" algn="ctr">
            <a:solidFill>
              <a:srgbClr val="49C0C2"/>
            </a:solidFill>
            <a:round/>
            <a:headEnd/>
            <a:tailEnd/>
          </a:ln>
          <a:effectLst/>
        </p:spPr>
        <p:txBody>
          <a:bodyPr vert="horz" wrap="square" lIns="36576" tIns="36576" rIns="36576" bIns="36576" numCol="1" anchor="t" anchorCtr="0" compatLnSpc="1">
            <a:prstTxWarp prst="textNoShape">
              <a:avLst/>
            </a:prstTxWarp>
          </a:bodyPr>
          <a:lstStyle/>
          <a:p>
            <a:endParaRPr lang="en-IN" dirty="0"/>
          </a:p>
        </p:txBody>
      </p:sp>
      <p:sp>
        <p:nvSpPr>
          <p:cNvPr id="20" name="Title 1">
            <a:extLst>
              <a:ext uri="{FF2B5EF4-FFF2-40B4-BE49-F238E27FC236}">
                <a16:creationId xmlns:a16="http://schemas.microsoft.com/office/drawing/2014/main" id="{F0A849A9-A426-49F2-B576-F5D072088BE6}"/>
              </a:ext>
            </a:extLst>
          </p:cNvPr>
          <p:cNvSpPr txBox="1">
            <a:spLocks/>
          </p:cNvSpPr>
          <p:nvPr/>
        </p:nvSpPr>
        <p:spPr>
          <a:xfrm>
            <a:off x="1446926" y="2513025"/>
            <a:ext cx="1748093" cy="526891"/>
          </a:xfrm>
          <a:prstGeom prst="rect">
            <a:avLst/>
          </a:prstGeom>
          <a:effectLst/>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r>
              <a:rPr lang="en-IN" sz="1500" b="1" dirty="0">
                <a:solidFill>
                  <a:schemeClr val="bg1"/>
                </a:solidFill>
                <a:latin typeface="Comic Sans MS" panose="030F0702030302020204" pitchFamily="66" charset="0"/>
              </a:rPr>
              <a:t>Introduction</a:t>
            </a:r>
            <a:endParaRPr lang="en-IN" sz="1500" b="1" dirty="0"/>
          </a:p>
        </p:txBody>
      </p:sp>
      <p:pic>
        <p:nvPicPr>
          <p:cNvPr id="21" name="Graphic 20">
            <a:extLst>
              <a:ext uri="{FF2B5EF4-FFF2-40B4-BE49-F238E27FC236}">
                <a16:creationId xmlns:a16="http://schemas.microsoft.com/office/drawing/2014/main" id="{AF3743F0-B2C9-424B-85BF-BC1E03B4E20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23717" y="2531433"/>
            <a:ext cx="508927" cy="508927"/>
          </a:xfrm>
          <a:prstGeom prst="rect">
            <a:avLst/>
          </a:prstGeom>
        </p:spPr>
      </p:pic>
      <p:sp>
        <p:nvSpPr>
          <p:cNvPr id="22" name="Rectangle 21">
            <a:extLst>
              <a:ext uri="{FF2B5EF4-FFF2-40B4-BE49-F238E27FC236}">
                <a16:creationId xmlns:a16="http://schemas.microsoft.com/office/drawing/2014/main" id="{1EAA0ED4-2CBB-4B4D-886C-8A47E8922DD7}"/>
              </a:ext>
            </a:extLst>
          </p:cNvPr>
          <p:cNvSpPr/>
          <p:nvPr/>
        </p:nvSpPr>
        <p:spPr>
          <a:xfrm>
            <a:off x="678894" y="3197281"/>
            <a:ext cx="6135328" cy="2308324"/>
          </a:xfrm>
          <a:prstGeom prst="rect">
            <a:avLst/>
          </a:prstGeom>
        </p:spPr>
        <p:txBody>
          <a:bodyPr wrap="square">
            <a:spAutoFit/>
          </a:bodyPr>
          <a:lstStyle/>
          <a:p>
            <a:pPr algn="just"/>
            <a:r>
              <a:rPr lang="en-IN" dirty="0">
                <a:latin typeface="Comic Sans MS" panose="030F0702030302020204" pitchFamily="66" charset="0"/>
              </a:rPr>
              <a:t>We know that our country India (known as bh</a:t>
            </a:r>
            <a:r>
              <a:rPr lang="en-IN" dirty="0"/>
              <a:t>ā</a:t>
            </a:r>
            <a:r>
              <a:rPr lang="en-IN" dirty="0">
                <a:latin typeface="Comic Sans MS" panose="030F0702030302020204" pitchFamily="66" charset="0"/>
              </a:rPr>
              <a:t>ratavar</a:t>
            </a:r>
            <a:r>
              <a:rPr lang="en-IN" dirty="0"/>
              <a:t>ṣa</a:t>
            </a:r>
            <a:r>
              <a:rPr lang="en-IN" dirty="0">
                <a:latin typeface="Comic Sans MS" panose="030F0702030302020204" pitchFamily="66" charset="0"/>
              </a:rPr>
              <a:t> or aryavarta in ancient time) is surrounded by Himalaya, Arabian Sea, Bay of Bengal, Indian oceans in north, west, east, south respectively make India a peninsula. In this chapter we are going to learn how Indian history is organised, how historians know and what are the sources of historians and many more things.</a:t>
            </a:r>
          </a:p>
        </p:txBody>
      </p:sp>
      <p:sp>
        <p:nvSpPr>
          <p:cNvPr id="23" name="AutoShape 43">
            <a:extLst>
              <a:ext uri="{FF2B5EF4-FFF2-40B4-BE49-F238E27FC236}">
                <a16:creationId xmlns:a16="http://schemas.microsoft.com/office/drawing/2014/main" id="{3FF1A742-E99E-4090-B6C5-8DCE9A4ED077}"/>
              </a:ext>
            </a:extLst>
          </p:cNvPr>
          <p:cNvSpPr>
            <a:spLocks noChangeArrowheads="1"/>
          </p:cNvSpPr>
          <p:nvPr/>
        </p:nvSpPr>
        <p:spPr bwMode="auto">
          <a:xfrm>
            <a:off x="3590925" y="10345738"/>
            <a:ext cx="381000" cy="295275"/>
          </a:xfrm>
          <a:prstGeom prst="roundRect">
            <a:avLst>
              <a:gd name="adj" fmla="val 16667"/>
            </a:avLst>
          </a:prstGeom>
          <a:solidFill>
            <a:srgbClr val="F0587C"/>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24" name="Text Box 45">
            <a:extLst>
              <a:ext uri="{FF2B5EF4-FFF2-40B4-BE49-F238E27FC236}">
                <a16:creationId xmlns:a16="http://schemas.microsoft.com/office/drawing/2014/main" id="{D45056D4-EE86-42CC-A89B-E69CF8720697}"/>
              </a:ext>
            </a:extLst>
          </p:cNvPr>
          <p:cNvSpPr txBox="1">
            <a:spLocks noChangeArrowheads="1"/>
          </p:cNvSpPr>
          <p:nvPr/>
        </p:nvSpPr>
        <p:spPr bwMode="auto">
          <a:xfrm>
            <a:off x="3590925" y="10261600"/>
            <a:ext cx="381000" cy="4508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fld id="{AA3A2C3A-815D-4324-A52B-0D6E1281FA41}" type="slidenum">
              <a:rPr kumimoji="0" lang="en-IN" altLang="en-US" sz="1400" b="0" i="0" u="none" strike="noStrike" cap="none" normalizeH="0" baseline="0" smtClean="0">
                <a:ln>
                  <a:noFill/>
                </a:ln>
                <a:solidFill>
                  <a:srgbClr val="FFFFFF"/>
                </a:solidFill>
                <a:effectLst/>
                <a:latin typeface="Poppins" panose="00000500000000000000" pitchFamily="2" charset="0"/>
              </a:rPr>
              <a:pPr marL="0" marR="0" lvl="0" indent="0" algn="ctr" defTabSz="914400" rtl="0" eaLnBrk="0" fontAlgn="base" latinLnBrk="0" hangingPunct="0">
                <a:lnSpc>
                  <a:spcPct val="100000"/>
                </a:lnSpc>
                <a:spcBef>
                  <a:spcPct val="0"/>
                </a:spcBef>
                <a:spcAft>
                  <a:spcPct val="0"/>
                </a:spcAft>
                <a:buClrTx/>
                <a:buSzTx/>
                <a:buFontTx/>
                <a:buNone/>
                <a:tabLst/>
              </a:pPr>
              <a:t>1</a:t>
            </a:fld>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5" name="Text Box 46">
            <a:extLst>
              <a:ext uri="{FF2B5EF4-FFF2-40B4-BE49-F238E27FC236}">
                <a16:creationId xmlns:a16="http://schemas.microsoft.com/office/drawing/2014/main" id="{6162D356-0840-4EFE-9AC1-E3278DE03980}"/>
              </a:ext>
            </a:extLst>
          </p:cNvPr>
          <p:cNvSpPr txBox="1">
            <a:spLocks noChangeArrowheads="1"/>
          </p:cNvSpPr>
          <p:nvPr/>
        </p:nvSpPr>
        <p:spPr bwMode="auto">
          <a:xfrm>
            <a:off x="0" y="10261600"/>
            <a:ext cx="3590925" cy="439738"/>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IN" altLang="en-US" sz="1000" b="0" i="0" u="none" strike="noStrike" cap="none" normalizeH="0" baseline="0">
                <a:ln>
                  <a:noFill/>
                </a:ln>
                <a:solidFill>
                  <a:srgbClr val="000000"/>
                </a:solidFill>
                <a:effectLst/>
                <a:latin typeface="Poppins" panose="00000500000000000000" pitchFamily="2" charset="0"/>
              </a:rPr>
              <a:t>VIDYAVANTAM — CBSE CLASS 7 HISTORY</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6" name="Text Box 47">
            <a:extLst>
              <a:ext uri="{FF2B5EF4-FFF2-40B4-BE49-F238E27FC236}">
                <a16:creationId xmlns:a16="http://schemas.microsoft.com/office/drawing/2014/main" id="{8A16E22B-B340-4C49-8EC7-A6A090B5C13F}"/>
              </a:ext>
            </a:extLst>
          </p:cNvPr>
          <p:cNvSpPr txBox="1">
            <a:spLocks noChangeArrowheads="1"/>
          </p:cNvSpPr>
          <p:nvPr/>
        </p:nvSpPr>
        <p:spPr bwMode="auto">
          <a:xfrm>
            <a:off x="3968273" y="10261600"/>
            <a:ext cx="3587750" cy="428625"/>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defTabSz="914400" eaLnBrk="0" fontAlgn="base" hangingPunct="0">
              <a:spcBef>
                <a:spcPct val="0"/>
              </a:spcBef>
              <a:spcAft>
                <a:spcPct val="0"/>
              </a:spcAft>
            </a:pPr>
            <a:r>
              <a:rPr lang="en-IN" sz="1000" dirty="0">
                <a:solidFill>
                  <a:srgbClr val="000000"/>
                </a:solidFill>
                <a:latin typeface="Poppins" panose="00000500000000000000" pitchFamily="2" charset="0"/>
              </a:rPr>
              <a:t>TRACING CHANGES THROUGH A THOUSAND YEARS </a:t>
            </a:r>
          </a:p>
        </p:txBody>
      </p:sp>
      <p:sp>
        <p:nvSpPr>
          <p:cNvPr id="27" name="AutoShape 28">
            <a:extLst>
              <a:ext uri="{FF2B5EF4-FFF2-40B4-BE49-F238E27FC236}">
                <a16:creationId xmlns:a16="http://schemas.microsoft.com/office/drawing/2014/main" id="{844F52DC-8D56-4C34-B9DC-3D0BD0A8E4AB}"/>
              </a:ext>
            </a:extLst>
          </p:cNvPr>
          <p:cNvSpPr>
            <a:spLocks noChangeArrowheads="1"/>
          </p:cNvSpPr>
          <p:nvPr/>
        </p:nvSpPr>
        <p:spPr bwMode="auto">
          <a:xfrm>
            <a:off x="484710" y="6106865"/>
            <a:ext cx="6643687" cy="4003667"/>
          </a:xfrm>
          <a:prstGeom prst="roundRect">
            <a:avLst>
              <a:gd name="adj" fmla="val 8539"/>
            </a:avLst>
          </a:prstGeom>
          <a:solidFill>
            <a:schemeClr val="bg1"/>
          </a:solidFill>
          <a:ln w="38100" algn="ctr">
            <a:solidFill>
              <a:srgbClr val="49C0C2"/>
            </a:solidFill>
            <a:round/>
            <a:headEnd/>
            <a:tailEnd/>
          </a:ln>
          <a:effectLst/>
        </p:spPr>
        <p:txBody>
          <a:bodyPr vert="horz" wrap="square" lIns="36576" tIns="36576" rIns="36576" bIns="36576" numCol="1" anchor="t" anchorCtr="0" compatLnSpc="1">
            <a:prstTxWarp prst="textNoShape">
              <a:avLst/>
            </a:prstTxWarp>
          </a:bodyPr>
          <a:lstStyle/>
          <a:p>
            <a:endParaRPr lang="en-IN" dirty="0"/>
          </a:p>
        </p:txBody>
      </p:sp>
      <p:sp>
        <p:nvSpPr>
          <p:cNvPr id="28" name="AutoShape 29">
            <a:extLst>
              <a:ext uri="{FF2B5EF4-FFF2-40B4-BE49-F238E27FC236}">
                <a16:creationId xmlns:a16="http://schemas.microsoft.com/office/drawing/2014/main" id="{61C4A84B-4280-48BF-A722-5B7E84F5935A}"/>
              </a:ext>
            </a:extLst>
          </p:cNvPr>
          <p:cNvSpPr>
            <a:spLocks noChangeArrowheads="1"/>
          </p:cNvSpPr>
          <p:nvPr/>
        </p:nvSpPr>
        <p:spPr bwMode="auto">
          <a:xfrm>
            <a:off x="1040335" y="5856041"/>
            <a:ext cx="3263442" cy="490538"/>
          </a:xfrm>
          <a:prstGeom prst="roundRect">
            <a:avLst>
              <a:gd name="adj" fmla="val 50000"/>
            </a:avLst>
          </a:prstGeom>
          <a:solidFill>
            <a:srgbClr val="49C0C2"/>
          </a:solidFill>
          <a:ln w="38100" algn="ctr">
            <a:solidFill>
              <a:srgbClr val="49C0C2"/>
            </a:solidFill>
            <a:round/>
            <a:headEnd/>
            <a:tailEnd/>
          </a:ln>
          <a:effectLst/>
        </p:spPr>
        <p:txBody>
          <a:bodyPr vert="horz" wrap="square" lIns="36576" tIns="36576" rIns="36576" bIns="36576" numCol="1" anchor="t" anchorCtr="0" compatLnSpc="1">
            <a:prstTxWarp prst="textNoShape">
              <a:avLst/>
            </a:prstTxWarp>
          </a:bodyPr>
          <a:lstStyle/>
          <a:p>
            <a:r>
              <a:rPr lang="en-IN" dirty="0"/>
              <a:t>	</a:t>
            </a:r>
          </a:p>
        </p:txBody>
      </p:sp>
      <p:sp>
        <p:nvSpPr>
          <p:cNvPr id="29" name="AutoShape 30">
            <a:extLst>
              <a:ext uri="{FF2B5EF4-FFF2-40B4-BE49-F238E27FC236}">
                <a16:creationId xmlns:a16="http://schemas.microsoft.com/office/drawing/2014/main" id="{71DA9EF0-724F-405C-949E-1D690C4F099C}"/>
              </a:ext>
            </a:extLst>
          </p:cNvPr>
          <p:cNvSpPr>
            <a:spLocks noChangeArrowheads="1"/>
          </p:cNvSpPr>
          <p:nvPr/>
        </p:nvSpPr>
        <p:spPr bwMode="auto">
          <a:xfrm>
            <a:off x="778396" y="5897316"/>
            <a:ext cx="3447595" cy="400050"/>
          </a:xfrm>
          <a:prstGeom prst="roundRect">
            <a:avLst>
              <a:gd name="adj" fmla="val 50000"/>
            </a:avLst>
          </a:prstGeom>
          <a:noFill/>
          <a:ln w="38100" algn="ctr">
            <a:solidFill>
              <a:srgbClr val="FFFFFF"/>
            </a:solidFill>
            <a:round/>
            <a:headEnd/>
            <a:tailEnd/>
          </a:ln>
          <a:effectLst/>
          <a:extLst>
            <a:ext uri="{909E8E84-426E-40DD-AFC4-6F175D3DCCD1}">
              <a14:hiddenFill xmlns:a14="http://schemas.microsoft.com/office/drawing/2010/main">
                <a:solidFill>
                  <a:srgbClr val="49C0C2"/>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30" name="Oval 31">
            <a:extLst>
              <a:ext uri="{FF2B5EF4-FFF2-40B4-BE49-F238E27FC236}">
                <a16:creationId xmlns:a16="http://schemas.microsoft.com/office/drawing/2014/main" id="{37A34C4F-E773-4E38-9203-031C2D8B159C}"/>
              </a:ext>
            </a:extLst>
          </p:cNvPr>
          <p:cNvSpPr>
            <a:spLocks noChangeArrowheads="1"/>
          </p:cNvSpPr>
          <p:nvPr/>
        </p:nvSpPr>
        <p:spPr bwMode="auto">
          <a:xfrm>
            <a:off x="700610" y="5743329"/>
            <a:ext cx="744537" cy="744537"/>
          </a:xfrm>
          <a:prstGeom prst="ellipse">
            <a:avLst/>
          </a:prstGeom>
          <a:solidFill>
            <a:srgbClr val="FFFFFF"/>
          </a:solidFill>
          <a:ln w="57150" algn="ctr">
            <a:solidFill>
              <a:srgbClr val="49C0C2"/>
            </a:solidFill>
            <a:round/>
            <a:headEnd/>
            <a:tailEnd/>
          </a:ln>
          <a:effectLst/>
        </p:spPr>
        <p:txBody>
          <a:bodyPr vert="horz" wrap="square" lIns="36576" tIns="36576" rIns="36576" bIns="36576" numCol="1" anchor="t" anchorCtr="0" compatLnSpc="1">
            <a:prstTxWarp prst="textNoShape">
              <a:avLst/>
            </a:prstTxWarp>
          </a:bodyPr>
          <a:lstStyle/>
          <a:p>
            <a:endParaRPr lang="en-IN" dirty="0"/>
          </a:p>
        </p:txBody>
      </p:sp>
      <p:sp>
        <p:nvSpPr>
          <p:cNvPr id="31" name="Title 1">
            <a:extLst>
              <a:ext uri="{FF2B5EF4-FFF2-40B4-BE49-F238E27FC236}">
                <a16:creationId xmlns:a16="http://schemas.microsoft.com/office/drawing/2014/main" id="{AE860F93-24F9-4660-94DE-2353546805FB}"/>
              </a:ext>
            </a:extLst>
          </p:cNvPr>
          <p:cNvSpPr txBox="1">
            <a:spLocks/>
          </p:cNvSpPr>
          <p:nvPr/>
        </p:nvSpPr>
        <p:spPr>
          <a:xfrm>
            <a:off x="1446258" y="5838896"/>
            <a:ext cx="2779733" cy="526891"/>
          </a:xfrm>
          <a:prstGeom prst="rect">
            <a:avLst/>
          </a:prstGeom>
          <a:effectLst/>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r>
              <a:rPr lang="en-IN" sz="1500" dirty="0">
                <a:solidFill>
                  <a:schemeClr val="bg1"/>
                </a:solidFill>
                <a:latin typeface="Comic Sans MS" panose="030F0702030302020204" pitchFamily="66" charset="0"/>
              </a:rPr>
              <a:t>Organising Indian History</a:t>
            </a:r>
            <a:endParaRPr lang="en-IN" sz="1500" dirty="0"/>
          </a:p>
        </p:txBody>
      </p:sp>
      <p:pic>
        <p:nvPicPr>
          <p:cNvPr id="32" name="Graphic 31">
            <a:extLst>
              <a:ext uri="{FF2B5EF4-FFF2-40B4-BE49-F238E27FC236}">
                <a16:creationId xmlns:a16="http://schemas.microsoft.com/office/drawing/2014/main" id="{5FE6780F-CB09-4975-A438-71A90050784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03626" y="5842858"/>
            <a:ext cx="545477" cy="545477"/>
          </a:xfrm>
          <a:prstGeom prst="rect">
            <a:avLst/>
          </a:prstGeom>
        </p:spPr>
      </p:pic>
      <p:sp>
        <p:nvSpPr>
          <p:cNvPr id="33" name="Title 1">
            <a:extLst>
              <a:ext uri="{FF2B5EF4-FFF2-40B4-BE49-F238E27FC236}">
                <a16:creationId xmlns:a16="http://schemas.microsoft.com/office/drawing/2014/main" id="{D6AAE0A2-232C-485B-B79A-6B83E4EE7BEA}"/>
              </a:ext>
            </a:extLst>
          </p:cNvPr>
          <p:cNvSpPr txBox="1">
            <a:spLocks/>
          </p:cNvSpPr>
          <p:nvPr/>
        </p:nvSpPr>
        <p:spPr>
          <a:xfrm>
            <a:off x="640285" y="6545013"/>
            <a:ext cx="6176963" cy="3534618"/>
          </a:xfrm>
          <a:prstGeom prst="rect">
            <a:avLst/>
          </a:prstGeom>
        </p:spPr>
        <p:txBody>
          <a:bodyPr vert="horz" lIns="91440" tIns="45720" rIns="91440" bIns="45720" rtlCol="0" anchor="t">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pPr algn="just">
              <a:lnSpc>
                <a:spcPct val="100000"/>
              </a:lnSpc>
              <a:spcAft>
                <a:spcPts val="600"/>
              </a:spcAft>
            </a:pPr>
            <a:r>
              <a:rPr lang="en-IN" sz="1800" dirty="0">
                <a:latin typeface="Comic Sans MS" panose="030F0702030302020204" pitchFamily="66" charset="0"/>
              </a:rPr>
              <a:t>In the book “The History of British India” James </a:t>
            </a:r>
            <a:r>
              <a:rPr lang="en-IN" sz="1800">
                <a:latin typeface="Comic Sans MS" panose="030F0702030302020204" pitchFamily="66" charset="0"/>
              </a:rPr>
              <a:t>Mill written in 1817 AD </a:t>
            </a:r>
            <a:r>
              <a:rPr lang="en-IN" sz="1800" dirty="0">
                <a:latin typeface="Comic Sans MS" panose="030F0702030302020204" pitchFamily="66" charset="0"/>
              </a:rPr>
              <a:t>classify Indian history into three division that were – Hindu, Muslim, and British (Christians) Time Period where these time period were named upon the religion which is the biggest limitation of this classification because whole time period can’t be named upon the ruler religion for example in Muslim period the citizens were not only Muslim and in British rule there were not only Christians. So due to the limitations of the classification of Indian history the historians divided Indian history into Ancient, Medieval and Modern History.</a:t>
            </a:r>
          </a:p>
        </p:txBody>
      </p:sp>
    </p:spTree>
    <p:extLst>
      <p:ext uri="{BB962C8B-B14F-4D97-AF65-F5344CB8AC3E}">
        <p14:creationId xmlns:p14="http://schemas.microsoft.com/office/powerpoint/2010/main" val="17952834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AutoShape 43">
            <a:extLst>
              <a:ext uri="{FF2B5EF4-FFF2-40B4-BE49-F238E27FC236}">
                <a16:creationId xmlns:a16="http://schemas.microsoft.com/office/drawing/2014/main" id="{70739B50-31DC-41DC-A3B5-F9CC3940142C}"/>
              </a:ext>
            </a:extLst>
          </p:cNvPr>
          <p:cNvSpPr>
            <a:spLocks noChangeArrowheads="1"/>
          </p:cNvSpPr>
          <p:nvPr/>
        </p:nvSpPr>
        <p:spPr bwMode="auto">
          <a:xfrm>
            <a:off x="3590925" y="10345738"/>
            <a:ext cx="381000" cy="295275"/>
          </a:xfrm>
          <a:prstGeom prst="roundRect">
            <a:avLst>
              <a:gd name="adj" fmla="val 16667"/>
            </a:avLst>
          </a:prstGeom>
          <a:solidFill>
            <a:srgbClr val="F0587C"/>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12" name="Text Box 45">
            <a:extLst>
              <a:ext uri="{FF2B5EF4-FFF2-40B4-BE49-F238E27FC236}">
                <a16:creationId xmlns:a16="http://schemas.microsoft.com/office/drawing/2014/main" id="{8E54721D-1185-4F4E-9328-0205B49531D1}"/>
              </a:ext>
            </a:extLst>
          </p:cNvPr>
          <p:cNvSpPr txBox="1">
            <a:spLocks noChangeArrowheads="1"/>
          </p:cNvSpPr>
          <p:nvPr/>
        </p:nvSpPr>
        <p:spPr bwMode="auto">
          <a:xfrm>
            <a:off x="3590925" y="10261600"/>
            <a:ext cx="381000" cy="4508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fld id="{AA3A2C3A-815D-4324-A52B-0D6E1281FA41}" type="slidenum">
              <a:rPr kumimoji="0" lang="en-IN" altLang="en-US" sz="1400" b="0" i="0" u="none" strike="noStrike" cap="none" normalizeH="0" baseline="0" smtClean="0">
                <a:ln>
                  <a:noFill/>
                </a:ln>
                <a:solidFill>
                  <a:srgbClr val="FFFFFF"/>
                </a:solidFill>
                <a:effectLst/>
                <a:latin typeface="Poppins" panose="00000500000000000000" pitchFamily="2" charset="0"/>
              </a:rPr>
              <a:pPr marL="0" marR="0" lvl="0" indent="0" algn="ctr" defTabSz="914400" rtl="0" eaLnBrk="0" fontAlgn="base" latinLnBrk="0" hangingPunct="0">
                <a:lnSpc>
                  <a:spcPct val="100000"/>
                </a:lnSpc>
                <a:spcBef>
                  <a:spcPct val="0"/>
                </a:spcBef>
                <a:spcAft>
                  <a:spcPct val="0"/>
                </a:spcAft>
                <a:buClrTx/>
                <a:buSzTx/>
                <a:buFontTx/>
                <a:buNone/>
                <a:tabLst/>
              </a:pPr>
              <a:t>2</a:t>
            </a:fld>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3" name="Text Box 46">
            <a:extLst>
              <a:ext uri="{FF2B5EF4-FFF2-40B4-BE49-F238E27FC236}">
                <a16:creationId xmlns:a16="http://schemas.microsoft.com/office/drawing/2014/main" id="{FB98ED1A-52E3-4799-85FB-88F042410805}"/>
              </a:ext>
            </a:extLst>
          </p:cNvPr>
          <p:cNvSpPr txBox="1">
            <a:spLocks noChangeArrowheads="1"/>
          </p:cNvSpPr>
          <p:nvPr/>
        </p:nvSpPr>
        <p:spPr bwMode="auto">
          <a:xfrm>
            <a:off x="0" y="10261600"/>
            <a:ext cx="3590925" cy="439738"/>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IN" altLang="en-US" sz="1000" b="0" i="0" u="none" strike="noStrike" cap="none" normalizeH="0" baseline="0">
                <a:ln>
                  <a:noFill/>
                </a:ln>
                <a:solidFill>
                  <a:srgbClr val="000000"/>
                </a:solidFill>
                <a:effectLst/>
                <a:latin typeface="Poppins" panose="00000500000000000000" pitchFamily="2" charset="0"/>
              </a:rPr>
              <a:t>VIDYAVANTAM — CBSE CLASS 7 HISTORY</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4" name="Text Box 47">
            <a:extLst>
              <a:ext uri="{FF2B5EF4-FFF2-40B4-BE49-F238E27FC236}">
                <a16:creationId xmlns:a16="http://schemas.microsoft.com/office/drawing/2014/main" id="{AFB6BEDC-1D1D-4748-B7D3-A45435C01F0A}"/>
              </a:ext>
            </a:extLst>
          </p:cNvPr>
          <p:cNvSpPr txBox="1">
            <a:spLocks noChangeArrowheads="1"/>
          </p:cNvSpPr>
          <p:nvPr/>
        </p:nvSpPr>
        <p:spPr bwMode="auto">
          <a:xfrm>
            <a:off x="3968273" y="10261600"/>
            <a:ext cx="3587750" cy="428625"/>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defTabSz="914400" eaLnBrk="0" fontAlgn="base" hangingPunct="0">
              <a:spcBef>
                <a:spcPct val="0"/>
              </a:spcBef>
              <a:spcAft>
                <a:spcPct val="0"/>
              </a:spcAft>
            </a:pPr>
            <a:r>
              <a:rPr lang="en-IN" sz="1000" dirty="0">
                <a:solidFill>
                  <a:srgbClr val="000000"/>
                </a:solidFill>
                <a:latin typeface="Poppins" panose="00000500000000000000" pitchFamily="2" charset="0"/>
              </a:rPr>
              <a:t>TRACING CHANGES THROUGH A THOUSAND YEARS </a:t>
            </a:r>
          </a:p>
        </p:txBody>
      </p:sp>
      <p:sp>
        <p:nvSpPr>
          <p:cNvPr id="19" name="AutoShape 16">
            <a:extLst>
              <a:ext uri="{FF2B5EF4-FFF2-40B4-BE49-F238E27FC236}">
                <a16:creationId xmlns:a16="http://schemas.microsoft.com/office/drawing/2014/main" id="{76C6D420-8190-47F8-8F10-3227D3BCE48D}"/>
              </a:ext>
            </a:extLst>
          </p:cNvPr>
          <p:cNvSpPr>
            <a:spLocks noChangeArrowheads="1"/>
          </p:cNvSpPr>
          <p:nvPr/>
        </p:nvSpPr>
        <p:spPr bwMode="auto">
          <a:xfrm>
            <a:off x="560953" y="2509571"/>
            <a:ext cx="1851740" cy="623887"/>
          </a:xfrm>
          <a:prstGeom prst="roundRect">
            <a:avLst>
              <a:gd name="adj" fmla="val 50000"/>
            </a:avLst>
          </a:prstGeom>
          <a:solidFill>
            <a:srgbClr val="2BBEE1"/>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a:r>
              <a:rPr lang="en-IN" dirty="0">
                <a:latin typeface="Comic Sans MS" panose="030F0702030302020204" pitchFamily="66" charset="0"/>
              </a:rPr>
              <a:t>Ancient</a:t>
            </a:r>
          </a:p>
        </p:txBody>
      </p:sp>
      <p:cxnSp>
        <p:nvCxnSpPr>
          <p:cNvPr id="20" name="AutoShape 17">
            <a:extLst>
              <a:ext uri="{FF2B5EF4-FFF2-40B4-BE49-F238E27FC236}">
                <a16:creationId xmlns:a16="http://schemas.microsoft.com/office/drawing/2014/main" id="{E9E38C18-D65F-4D3B-9737-2F1424255A4B}"/>
              </a:ext>
            </a:extLst>
          </p:cNvPr>
          <p:cNvCxnSpPr>
            <a:cxnSpLocks noChangeShapeType="1"/>
            <a:endCxn id="19" idx="0"/>
          </p:cNvCxnSpPr>
          <p:nvPr/>
        </p:nvCxnSpPr>
        <p:spPr bwMode="auto">
          <a:xfrm>
            <a:off x="1486823" y="1895340"/>
            <a:ext cx="0" cy="614231"/>
          </a:xfrm>
          <a:prstGeom prst="straightConnector1">
            <a:avLst/>
          </a:prstGeom>
          <a:noFill/>
          <a:ln w="25400" algn="ctr">
            <a:solidFill>
              <a:srgbClr val="3C7B9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000000"/>
                  </a:outerShdw>
                </a:effectLst>
              </a14:hiddenEffects>
            </a:ext>
          </a:extLst>
        </p:spPr>
      </p:cxnSp>
      <p:sp>
        <p:nvSpPr>
          <p:cNvPr id="21" name="AutoShape 16">
            <a:extLst>
              <a:ext uri="{FF2B5EF4-FFF2-40B4-BE49-F238E27FC236}">
                <a16:creationId xmlns:a16="http://schemas.microsoft.com/office/drawing/2014/main" id="{AAE04DBF-BD8E-4093-9749-4520780EDB60}"/>
              </a:ext>
            </a:extLst>
          </p:cNvPr>
          <p:cNvSpPr>
            <a:spLocks noChangeArrowheads="1"/>
          </p:cNvSpPr>
          <p:nvPr/>
        </p:nvSpPr>
        <p:spPr bwMode="auto">
          <a:xfrm>
            <a:off x="2825163" y="2528918"/>
            <a:ext cx="1851740" cy="623887"/>
          </a:xfrm>
          <a:prstGeom prst="roundRect">
            <a:avLst>
              <a:gd name="adj" fmla="val 50000"/>
            </a:avLst>
          </a:prstGeom>
          <a:solidFill>
            <a:srgbClr val="2BBEE1"/>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a:r>
              <a:rPr lang="en-IN" dirty="0">
                <a:latin typeface="Comic Sans MS" panose="030F0702030302020204" pitchFamily="66" charset="0"/>
              </a:rPr>
              <a:t>Medieval</a:t>
            </a:r>
          </a:p>
        </p:txBody>
      </p:sp>
      <p:cxnSp>
        <p:nvCxnSpPr>
          <p:cNvPr id="22" name="AutoShape 17">
            <a:extLst>
              <a:ext uri="{FF2B5EF4-FFF2-40B4-BE49-F238E27FC236}">
                <a16:creationId xmlns:a16="http://schemas.microsoft.com/office/drawing/2014/main" id="{CE7FB33F-80B0-44A8-ADB6-249011C21D2A}"/>
              </a:ext>
            </a:extLst>
          </p:cNvPr>
          <p:cNvCxnSpPr>
            <a:cxnSpLocks noChangeShapeType="1"/>
            <a:endCxn id="21" idx="0"/>
          </p:cNvCxnSpPr>
          <p:nvPr/>
        </p:nvCxnSpPr>
        <p:spPr bwMode="auto">
          <a:xfrm>
            <a:off x="3751033" y="1895340"/>
            <a:ext cx="0" cy="633578"/>
          </a:xfrm>
          <a:prstGeom prst="straightConnector1">
            <a:avLst/>
          </a:prstGeom>
          <a:noFill/>
          <a:ln w="25400" algn="ctr">
            <a:solidFill>
              <a:srgbClr val="3C7B9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000000"/>
                  </a:outerShdw>
                </a:effectLst>
              </a14:hiddenEffects>
            </a:ext>
          </a:extLst>
        </p:spPr>
      </p:cxnSp>
      <p:sp>
        <p:nvSpPr>
          <p:cNvPr id="23" name="AutoShape 16">
            <a:extLst>
              <a:ext uri="{FF2B5EF4-FFF2-40B4-BE49-F238E27FC236}">
                <a16:creationId xmlns:a16="http://schemas.microsoft.com/office/drawing/2014/main" id="{9097D550-10BC-441C-93CF-C9773554082D}"/>
              </a:ext>
            </a:extLst>
          </p:cNvPr>
          <p:cNvSpPr>
            <a:spLocks noChangeArrowheads="1"/>
          </p:cNvSpPr>
          <p:nvPr/>
        </p:nvSpPr>
        <p:spPr bwMode="auto">
          <a:xfrm>
            <a:off x="5117948" y="2527519"/>
            <a:ext cx="2051687" cy="623887"/>
          </a:xfrm>
          <a:prstGeom prst="roundRect">
            <a:avLst>
              <a:gd name="adj" fmla="val 50000"/>
            </a:avLst>
          </a:prstGeom>
          <a:solidFill>
            <a:srgbClr val="2BBEE1"/>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a:r>
              <a:rPr lang="en-IN" dirty="0">
                <a:latin typeface="Comic Sans MS" panose="030F0702030302020204" pitchFamily="66" charset="0"/>
              </a:rPr>
              <a:t>Modern</a:t>
            </a:r>
          </a:p>
        </p:txBody>
      </p:sp>
      <p:cxnSp>
        <p:nvCxnSpPr>
          <p:cNvPr id="24" name="AutoShape 17">
            <a:extLst>
              <a:ext uri="{FF2B5EF4-FFF2-40B4-BE49-F238E27FC236}">
                <a16:creationId xmlns:a16="http://schemas.microsoft.com/office/drawing/2014/main" id="{B8FC99DD-48D2-4BD1-82DC-9850F74E8136}"/>
              </a:ext>
            </a:extLst>
          </p:cNvPr>
          <p:cNvCxnSpPr>
            <a:cxnSpLocks noChangeShapeType="1"/>
            <a:endCxn id="23" idx="0"/>
          </p:cNvCxnSpPr>
          <p:nvPr/>
        </p:nvCxnSpPr>
        <p:spPr bwMode="auto">
          <a:xfrm>
            <a:off x="6143792" y="1895340"/>
            <a:ext cx="0" cy="632179"/>
          </a:xfrm>
          <a:prstGeom prst="straightConnector1">
            <a:avLst/>
          </a:prstGeom>
          <a:noFill/>
          <a:ln w="25400" algn="ctr">
            <a:solidFill>
              <a:srgbClr val="3C7B9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000000"/>
                  </a:outerShdw>
                </a:effectLst>
              </a14:hiddenEffects>
            </a:ext>
          </a:extLst>
        </p:spPr>
      </p:cxnSp>
      <p:cxnSp>
        <p:nvCxnSpPr>
          <p:cNvPr id="25" name="Straight Connector 24">
            <a:extLst>
              <a:ext uri="{FF2B5EF4-FFF2-40B4-BE49-F238E27FC236}">
                <a16:creationId xmlns:a16="http://schemas.microsoft.com/office/drawing/2014/main" id="{E517627D-7355-4467-A142-673C56D500C6}"/>
              </a:ext>
            </a:extLst>
          </p:cNvPr>
          <p:cNvCxnSpPr/>
          <p:nvPr/>
        </p:nvCxnSpPr>
        <p:spPr>
          <a:xfrm>
            <a:off x="1486823" y="1895340"/>
            <a:ext cx="4662050" cy="0"/>
          </a:xfrm>
          <a:prstGeom prst="line">
            <a:avLst/>
          </a:prstGeom>
          <a:ln w="28575">
            <a:solidFill>
              <a:srgbClr val="3C7B93"/>
            </a:solidFill>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000000"/>
                  </a:outerShdw>
                </a:effectLst>
              </a14:hiddenEffects>
            </a:ext>
          </a:extLst>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B09964C6-6719-492F-83DD-82E3D426B37F}"/>
              </a:ext>
            </a:extLst>
          </p:cNvPr>
          <p:cNvCxnSpPr>
            <a:cxnSpLocks/>
          </p:cNvCxnSpPr>
          <p:nvPr/>
        </p:nvCxnSpPr>
        <p:spPr>
          <a:xfrm>
            <a:off x="3751033" y="1366835"/>
            <a:ext cx="0" cy="528505"/>
          </a:xfrm>
          <a:prstGeom prst="line">
            <a:avLst/>
          </a:prstGeom>
          <a:ln w="28575">
            <a:solidFill>
              <a:srgbClr val="3C7B93"/>
            </a:solidFill>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00000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7" name="AutoShape 11">
            <a:extLst>
              <a:ext uri="{FF2B5EF4-FFF2-40B4-BE49-F238E27FC236}">
                <a16:creationId xmlns:a16="http://schemas.microsoft.com/office/drawing/2014/main" id="{86E3F900-AC76-4E01-983E-AB4FCB8B2346}"/>
              </a:ext>
            </a:extLst>
          </p:cNvPr>
          <p:cNvSpPr>
            <a:spLocks noChangeArrowheads="1"/>
          </p:cNvSpPr>
          <p:nvPr/>
        </p:nvSpPr>
        <p:spPr bwMode="auto">
          <a:xfrm>
            <a:off x="2645339" y="741359"/>
            <a:ext cx="2211388" cy="625475"/>
          </a:xfrm>
          <a:prstGeom prst="roundRect">
            <a:avLst>
              <a:gd name="adj" fmla="val 50000"/>
            </a:avLst>
          </a:prstGeom>
          <a:solidFill>
            <a:srgbClr val="FF9900"/>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a:r>
              <a:rPr lang="en-IN" dirty="0">
                <a:solidFill>
                  <a:schemeClr val="bg1"/>
                </a:solidFill>
                <a:latin typeface="Comic Sans MS" panose="030F0702030302020204" pitchFamily="66" charset="0"/>
              </a:rPr>
              <a:t>Indian History</a:t>
            </a:r>
          </a:p>
        </p:txBody>
      </p:sp>
      <p:sp>
        <p:nvSpPr>
          <p:cNvPr id="40" name="AutoShape 28">
            <a:extLst>
              <a:ext uri="{FF2B5EF4-FFF2-40B4-BE49-F238E27FC236}">
                <a16:creationId xmlns:a16="http://schemas.microsoft.com/office/drawing/2014/main" id="{F023A0F1-1DE6-4944-853D-5F176D0C0BC2}"/>
              </a:ext>
            </a:extLst>
          </p:cNvPr>
          <p:cNvSpPr>
            <a:spLocks noChangeArrowheads="1"/>
          </p:cNvSpPr>
          <p:nvPr/>
        </p:nvSpPr>
        <p:spPr bwMode="auto">
          <a:xfrm>
            <a:off x="466725" y="3838540"/>
            <a:ext cx="6643687" cy="1687388"/>
          </a:xfrm>
          <a:prstGeom prst="roundRect">
            <a:avLst>
              <a:gd name="adj" fmla="val 8539"/>
            </a:avLst>
          </a:prstGeom>
          <a:solidFill>
            <a:schemeClr val="bg1"/>
          </a:solidFill>
          <a:ln w="38100" algn="ctr">
            <a:solidFill>
              <a:srgbClr val="49C0C2"/>
            </a:solidFill>
            <a:round/>
            <a:headEnd/>
            <a:tailEnd/>
          </a:ln>
          <a:effectLst/>
        </p:spPr>
        <p:txBody>
          <a:bodyPr vert="horz" wrap="square" lIns="36576" tIns="36576" rIns="36576" bIns="36576" numCol="1" anchor="t" anchorCtr="0" compatLnSpc="1">
            <a:prstTxWarp prst="textNoShape">
              <a:avLst/>
            </a:prstTxWarp>
          </a:bodyPr>
          <a:lstStyle/>
          <a:p>
            <a:endParaRPr lang="en-IN" dirty="0"/>
          </a:p>
        </p:txBody>
      </p:sp>
      <p:sp>
        <p:nvSpPr>
          <p:cNvPr id="41" name="AutoShape 29">
            <a:extLst>
              <a:ext uri="{FF2B5EF4-FFF2-40B4-BE49-F238E27FC236}">
                <a16:creationId xmlns:a16="http://schemas.microsoft.com/office/drawing/2014/main" id="{6573DBCE-388E-4D2A-BFC2-8F1BA52FEF5D}"/>
              </a:ext>
            </a:extLst>
          </p:cNvPr>
          <p:cNvSpPr>
            <a:spLocks noChangeArrowheads="1"/>
          </p:cNvSpPr>
          <p:nvPr/>
        </p:nvSpPr>
        <p:spPr bwMode="auto">
          <a:xfrm>
            <a:off x="950834" y="3644630"/>
            <a:ext cx="3525916" cy="490538"/>
          </a:xfrm>
          <a:prstGeom prst="roundRect">
            <a:avLst>
              <a:gd name="adj" fmla="val 50000"/>
            </a:avLst>
          </a:prstGeom>
          <a:solidFill>
            <a:srgbClr val="49C0C2"/>
          </a:solidFill>
          <a:ln w="38100" algn="ctr">
            <a:solidFill>
              <a:srgbClr val="49C0C2"/>
            </a:solidFill>
            <a:round/>
            <a:headEnd/>
            <a:tailEnd/>
          </a:ln>
          <a:effectLst/>
        </p:spPr>
        <p:txBody>
          <a:bodyPr vert="horz" wrap="square" lIns="36576" tIns="36576" rIns="36576" bIns="36576" numCol="1" anchor="t" anchorCtr="0" compatLnSpc="1">
            <a:prstTxWarp prst="textNoShape">
              <a:avLst/>
            </a:prstTxWarp>
          </a:bodyPr>
          <a:lstStyle/>
          <a:p>
            <a:r>
              <a:rPr lang="en-IN" dirty="0"/>
              <a:t>	</a:t>
            </a:r>
          </a:p>
        </p:txBody>
      </p:sp>
      <p:sp>
        <p:nvSpPr>
          <p:cNvPr id="42" name="AutoShape 30">
            <a:extLst>
              <a:ext uri="{FF2B5EF4-FFF2-40B4-BE49-F238E27FC236}">
                <a16:creationId xmlns:a16="http://schemas.microsoft.com/office/drawing/2014/main" id="{68BF43A9-6427-428A-A44B-F12EBD325BAD}"/>
              </a:ext>
            </a:extLst>
          </p:cNvPr>
          <p:cNvSpPr>
            <a:spLocks noChangeArrowheads="1"/>
          </p:cNvSpPr>
          <p:nvPr/>
        </p:nvSpPr>
        <p:spPr bwMode="auto">
          <a:xfrm>
            <a:off x="688895" y="3685905"/>
            <a:ext cx="3724880" cy="400050"/>
          </a:xfrm>
          <a:prstGeom prst="roundRect">
            <a:avLst>
              <a:gd name="adj" fmla="val 50000"/>
            </a:avLst>
          </a:prstGeom>
          <a:noFill/>
          <a:ln w="38100" algn="ctr">
            <a:solidFill>
              <a:srgbClr val="FFFFFF"/>
            </a:solidFill>
            <a:round/>
            <a:headEnd/>
            <a:tailEnd/>
          </a:ln>
          <a:effectLst/>
          <a:extLst>
            <a:ext uri="{909E8E84-426E-40DD-AFC4-6F175D3DCCD1}">
              <a14:hiddenFill xmlns:a14="http://schemas.microsoft.com/office/drawing/2010/main">
                <a:solidFill>
                  <a:srgbClr val="49C0C2"/>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43" name="Oval 31">
            <a:extLst>
              <a:ext uri="{FF2B5EF4-FFF2-40B4-BE49-F238E27FC236}">
                <a16:creationId xmlns:a16="http://schemas.microsoft.com/office/drawing/2014/main" id="{C94EC160-1E26-4F5F-8170-69443BA11F46}"/>
              </a:ext>
            </a:extLst>
          </p:cNvPr>
          <p:cNvSpPr>
            <a:spLocks noChangeArrowheads="1"/>
          </p:cNvSpPr>
          <p:nvPr/>
        </p:nvSpPr>
        <p:spPr bwMode="auto">
          <a:xfrm>
            <a:off x="611109" y="3531918"/>
            <a:ext cx="744537" cy="744537"/>
          </a:xfrm>
          <a:prstGeom prst="ellipse">
            <a:avLst/>
          </a:prstGeom>
          <a:solidFill>
            <a:srgbClr val="FFFFFF"/>
          </a:solidFill>
          <a:ln w="57150" algn="ctr">
            <a:solidFill>
              <a:srgbClr val="49C0C2"/>
            </a:solidFill>
            <a:round/>
            <a:headEnd/>
            <a:tailEnd/>
          </a:ln>
          <a:effectLst/>
        </p:spPr>
        <p:txBody>
          <a:bodyPr vert="horz" wrap="square" lIns="36576" tIns="36576" rIns="36576" bIns="36576" numCol="1" anchor="t" anchorCtr="0" compatLnSpc="1">
            <a:prstTxWarp prst="textNoShape">
              <a:avLst/>
            </a:prstTxWarp>
          </a:bodyPr>
          <a:lstStyle/>
          <a:p>
            <a:endParaRPr lang="en-IN" dirty="0"/>
          </a:p>
        </p:txBody>
      </p:sp>
      <p:sp>
        <p:nvSpPr>
          <p:cNvPr id="44" name="Title 1">
            <a:extLst>
              <a:ext uri="{FF2B5EF4-FFF2-40B4-BE49-F238E27FC236}">
                <a16:creationId xmlns:a16="http://schemas.microsoft.com/office/drawing/2014/main" id="{20344A6D-24BE-4E6F-893A-6F5A9CFE8367}"/>
              </a:ext>
            </a:extLst>
          </p:cNvPr>
          <p:cNvSpPr txBox="1">
            <a:spLocks/>
          </p:cNvSpPr>
          <p:nvPr/>
        </p:nvSpPr>
        <p:spPr>
          <a:xfrm>
            <a:off x="1356757" y="3627485"/>
            <a:ext cx="3057018" cy="526891"/>
          </a:xfrm>
          <a:prstGeom prst="rect">
            <a:avLst/>
          </a:prstGeom>
          <a:effectLst/>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r>
              <a:rPr lang="en-IN" sz="1600" dirty="0">
                <a:solidFill>
                  <a:schemeClr val="bg1"/>
                </a:solidFill>
                <a:latin typeface="Comic Sans MS" panose="030F0702030302020204" pitchFamily="66" charset="0"/>
              </a:rPr>
              <a:t>Historians and their Sources</a:t>
            </a:r>
            <a:endParaRPr lang="en-IN" sz="1500" dirty="0">
              <a:solidFill>
                <a:schemeClr val="bg1"/>
              </a:solidFill>
            </a:endParaRPr>
          </a:p>
        </p:txBody>
      </p:sp>
      <p:pic>
        <p:nvPicPr>
          <p:cNvPr id="45" name="Graphic 44">
            <a:extLst>
              <a:ext uri="{FF2B5EF4-FFF2-40B4-BE49-F238E27FC236}">
                <a16:creationId xmlns:a16="http://schemas.microsoft.com/office/drawing/2014/main" id="{6EB41655-8FDC-49A2-BF3A-ADAE6608E43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14125" y="3631447"/>
            <a:ext cx="545477" cy="545477"/>
          </a:xfrm>
          <a:prstGeom prst="rect">
            <a:avLst/>
          </a:prstGeom>
        </p:spPr>
      </p:pic>
      <p:sp>
        <p:nvSpPr>
          <p:cNvPr id="46" name="Title 1">
            <a:extLst>
              <a:ext uri="{FF2B5EF4-FFF2-40B4-BE49-F238E27FC236}">
                <a16:creationId xmlns:a16="http://schemas.microsoft.com/office/drawing/2014/main" id="{2753C9F6-99E5-4CFB-960E-5131D640E77C}"/>
              </a:ext>
            </a:extLst>
          </p:cNvPr>
          <p:cNvSpPr txBox="1">
            <a:spLocks/>
          </p:cNvSpPr>
          <p:nvPr/>
        </p:nvSpPr>
        <p:spPr>
          <a:xfrm>
            <a:off x="622300" y="4276687"/>
            <a:ext cx="6176963" cy="1249240"/>
          </a:xfrm>
          <a:prstGeom prst="rect">
            <a:avLst/>
          </a:prstGeom>
        </p:spPr>
        <p:txBody>
          <a:bodyPr vert="horz" lIns="91440" tIns="45720" rIns="91440" bIns="45720" rtlCol="0" anchor="t">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pPr algn="just">
              <a:lnSpc>
                <a:spcPct val="100000"/>
              </a:lnSpc>
              <a:spcAft>
                <a:spcPts val="600"/>
              </a:spcAft>
            </a:pPr>
            <a:r>
              <a:rPr lang="en-IN" sz="1800" dirty="0">
                <a:latin typeface="Comic Sans MS" panose="030F0702030302020204" pitchFamily="66" charset="0"/>
              </a:rPr>
              <a:t>What were the sources that historians use to know what were before. These sources are classified into tow major divisions – </a:t>
            </a:r>
            <a:r>
              <a:rPr lang="en-IN" sz="1800" b="1" dirty="0">
                <a:latin typeface="Comic Sans MS" panose="030F0702030302020204" pitchFamily="66" charset="0"/>
              </a:rPr>
              <a:t>Primary </a:t>
            </a:r>
            <a:r>
              <a:rPr lang="en-IN" sz="1800" dirty="0">
                <a:latin typeface="Comic Sans MS" panose="030F0702030302020204" pitchFamily="66" charset="0"/>
              </a:rPr>
              <a:t>and </a:t>
            </a:r>
            <a:r>
              <a:rPr lang="en-IN" sz="1800" b="1" dirty="0">
                <a:latin typeface="Comic Sans MS" panose="030F0702030302020204" pitchFamily="66" charset="0"/>
              </a:rPr>
              <a:t>Secondary </a:t>
            </a:r>
            <a:r>
              <a:rPr lang="en-IN" sz="1800" dirty="0">
                <a:latin typeface="Comic Sans MS" panose="030F0702030302020204" pitchFamily="66" charset="0"/>
              </a:rPr>
              <a:t>sources</a:t>
            </a:r>
          </a:p>
        </p:txBody>
      </p:sp>
      <p:sp>
        <p:nvSpPr>
          <p:cNvPr id="29" name="AutoShape 23">
            <a:extLst>
              <a:ext uri="{FF2B5EF4-FFF2-40B4-BE49-F238E27FC236}">
                <a16:creationId xmlns:a16="http://schemas.microsoft.com/office/drawing/2014/main" id="{1C2CA68D-42AC-4A90-A281-7ED08B59692B}"/>
              </a:ext>
            </a:extLst>
          </p:cNvPr>
          <p:cNvSpPr>
            <a:spLocks noChangeArrowheads="1"/>
          </p:cNvSpPr>
          <p:nvPr/>
        </p:nvSpPr>
        <p:spPr bwMode="auto">
          <a:xfrm>
            <a:off x="473394" y="5771512"/>
            <a:ext cx="3306444" cy="522288"/>
          </a:xfrm>
          <a:prstGeom prst="roundRect">
            <a:avLst>
              <a:gd name="adj" fmla="val 50000"/>
            </a:avLst>
          </a:prstGeom>
          <a:solidFill>
            <a:srgbClr val="F0587C"/>
          </a:solidFill>
          <a:ln w="25400" algn="ctr">
            <a:solidFill>
              <a:srgbClr val="F0587C"/>
            </a:solidFill>
            <a:round/>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30" name="Title 1">
            <a:extLst>
              <a:ext uri="{FF2B5EF4-FFF2-40B4-BE49-F238E27FC236}">
                <a16:creationId xmlns:a16="http://schemas.microsoft.com/office/drawing/2014/main" id="{A58C609F-4EB9-4E78-B063-8F9E3960F27D}"/>
              </a:ext>
            </a:extLst>
          </p:cNvPr>
          <p:cNvSpPr txBox="1">
            <a:spLocks/>
          </p:cNvSpPr>
          <p:nvPr/>
        </p:nvSpPr>
        <p:spPr>
          <a:xfrm>
            <a:off x="513080" y="5798500"/>
            <a:ext cx="464344" cy="466090"/>
          </a:xfrm>
          <a:prstGeom prst="ellipse">
            <a:avLst/>
          </a:prstGeom>
          <a:solidFill>
            <a:schemeClr val="bg1"/>
          </a:solidFill>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r>
              <a:rPr lang="en-IN" sz="1500" b="1" dirty="0">
                <a:solidFill>
                  <a:srgbClr val="F0597C"/>
                </a:solidFill>
                <a:latin typeface="Comic Sans MS" panose="030F0702030302020204" pitchFamily="66" charset="0"/>
              </a:rPr>
              <a:t>1</a:t>
            </a:r>
          </a:p>
        </p:txBody>
      </p:sp>
      <p:sp>
        <p:nvSpPr>
          <p:cNvPr id="31" name="Rectangle 30">
            <a:extLst>
              <a:ext uri="{FF2B5EF4-FFF2-40B4-BE49-F238E27FC236}">
                <a16:creationId xmlns:a16="http://schemas.microsoft.com/office/drawing/2014/main" id="{2659FD8B-DFB9-4132-992A-9C90EB8CB1C7}"/>
              </a:ext>
            </a:extLst>
          </p:cNvPr>
          <p:cNvSpPr/>
          <p:nvPr/>
        </p:nvSpPr>
        <p:spPr>
          <a:xfrm>
            <a:off x="1043395" y="5879900"/>
            <a:ext cx="2442756" cy="369332"/>
          </a:xfrm>
          <a:prstGeom prst="rect">
            <a:avLst/>
          </a:prstGeom>
        </p:spPr>
        <p:txBody>
          <a:bodyPr wrap="square" anchor="ctr">
            <a:spAutoFit/>
          </a:bodyPr>
          <a:lstStyle/>
          <a:p>
            <a:pPr algn="ctr"/>
            <a:r>
              <a:rPr lang="en-IN" dirty="0">
                <a:solidFill>
                  <a:schemeClr val="bg1"/>
                </a:solidFill>
                <a:latin typeface="Comic Sans MS" panose="030F0702030302020204" pitchFamily="66" charset="0"/>
              </a:rPr>
              <a:t>Primary Sources</a:t>
            </a:r>
          </a:p>
        </p:txBody>
      </p:sp>
      <p:sp>
        <p:nvSpPr>
          <p:cNvPr id="32" name="Title 1">
            <a:extLst>
              <a:ext uri="{FF2B5EF4-FFF2-40B4-BE49-F238E27FC236}">
                <a16:creationId xmlns:a16="http://schemas.microsoft.com/office/drawing/2014/main" id="{61DEC1EA-D967-4399-825A-EEEF0E0F7DDA}"/>
              </a:ext>
            </a:extLst>
          </p:cNvPr>
          <p:cNvSpPr txBox="1">
            <a:spLocks/>
          </p:cNvSpPr>
          <p:nvPr/>
        </p:nvSpPr>
        <p:spPr>
          <a:xfrm>
            <a:off x="466726" y="6319413"/>
            <a:ext cx="6726554" cy="2170537"/>
          </a:xfrm>
          <a:prstGeom prst="rect">
            <a:avLst/>
          </a:prstGeom>
        </p:spPr>
        <p:txBody>
          <a:bodyPr vert="horz" lIns="91440" tIns="45720" rIns="91440" bIns="45720" rtlCol="0" anchor="t">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pPr algn="just">
              <a:lnSpc>
                <a:spcPct val="100000"/>
              </a:lnSpc>
              <a:spcAft>
                <a:spcPts val="600"/>
              </a:spcAft>
            </a:pPr>
            <a:r>
              <a:rPr lang="en-IN" sz="1800" dirty="0">
                <a:latin typeface="Comic Sans MS" panose="030F0702030302020204" pitchFamily="66" charset="0"/>
              </a:rPr>
              <a:t>A primary source is a first-hand or contemporary account of an event or topic. They are the most direct evidence of a time or event because they were created by people or things that were there at the time or event. These sources have not been modified by interpretation and offer original thought or new information. This includes Inscriptions, monuments, artefacts and coins, and the information available in them</a:t>
            </a:r>
          </a:p>
        </p:txBody>
      </p:sp>
      <p:sp>
        <p:nvSpPr>
          <p:cNvPr id="47" name="Rectangle 46">
            <a:extLst>
              <a:ext uri="{FF2B5EF4-FFF2-40B4-BE49-F238E27FC236}">
                <a16:creationId xmlns:a16="http://schemas.microsoft.com/office/drawing/2014/main" id="{F7664D5A-C0DD-4CFE-9329-DA95F14D315D}"/>
              </a:ext>
            </a:extLst>
          </p:cNvPr>
          <p:cNvSpPr/>
          <p:nvPr/>
        </p:nvSpPr>
        <p:spPr>
          <a:xfrm>
            <a:off x="473394" y="8683270"/>
            <a:ext cx="6726555" cy="1200329"/>
          </a:xfrm>
          <a:prstGeom prst="rect">
            <a:avLst/>
          </a:prstGeom>
        </p:spPr>
        <p:txBody>
          <a:bodyPr wrap="square">
            <a:spAutoFit/>
          </a:bodyPr>
          <a:lstStyle/>
          <a:p>
            <a:pPr marL="342900" indent="-342900" algn="just">
              <a:buFont typeface="+mj-lt"/>
              <a:buAutoNum type="arabicPeriod"/>
            </a:pPr>
            <a:r>
              <a:rPr lang="en-IN" dirty="0">
                <a:solidFill>
                  <a:srgbClr val="0070C0"/>
                </a:solidFill>
                <a:latin typeface="Comic Sans MS" panose="030F0702030302020204" pitchFamily="66" charset="0"/>
                <a:ea typeface="+mj-ea"/>
                <a:cs typeface="+mj-cs"/>
              </a:rPr>
              <a:t>Inscription</a:t>
            </a:r>
          </a:p>
          <a:p>
            <a:pPr algn="just"/>
            <a:r>
              <a:rPr lang="en-IN" dirty="0">
                <a:latin typeface="Comic Sans MS" panose="030F0702030302020204" pitchFamily="66" charset="0"/>
                <a:ea typeface="+mj-ea"/>
                <a:cs typeface="+mj-cs"/>
              </a:rPr>
              <a:t>Writings engraved on rocks, pillars, metal plates, clay tablets, wall of temples, houses and tombs are called </a:t>
            </a:r>
            <a:r>
              <a:rPr lang="en-IN" b="1" dirty="0">
                <a:latin typeface="Comic Sans MS" panose="030F0702030302020204" pitchFamily="66" charset="0"/>
                <a:ea typeface="+mj-ea"/>
                <a:cs typeface="+mj-cs"/>
              </a:rPr>
              <a:t>inscriptions. </a:t>
            </a:r>
          </a:p>
        </p:txBody>
      </p:sp>
    </p:spTree>
    <p:extLst>
      <p:ext uri="{BB962C8B-B14F-4D97-AF65-F5344CB8AC3E}">
        <p14:creationId xmlns:p14="http://schemas.microsoft.com/office/powerpoint/2010/main" val="24977822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43">
            <a:extLst>
              <a:ext uri="{FF2B5EF4-FFF2-40B4-BE49-F238E27FC236}">
                <a16:creationId xmlns:a16="http://schemas.microsoft.com/office/drawing/2014/main" id="{25ED4234-E99D-4EEC-AE38-333CECE1ECBD}"/>
              </a:ext>
            </a:extLst>
          </p:cNvPr>
          <p:cNvSpPr>
            <a:spLocks noChangeArrowheads="1"/>
          </p:cNvSpPr>
          <p:nvPr/>
        </p:nvSpPr>
        <p:spPr bwMode="auto">
          <a:xfrm>
            <a:off x="3590925" y="10345738"/>
            <a:ext cx="381000" cy="295275"/>
          </a:xfrm>
          <a:prstGeom prst="roundRect">
            <a:avLst>
              <a:gd name="adj" fmla="val 16667"/>
            </a:avLst>
          </a:prstGeom>
          <a:solidFill>
            <a:srgbClr val="F0587C"/>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8" name="Text Box 45">
            <a:extLst>
              <a:ext uri="{FF2B5EF4-FFF2-40B4-BE49-F238E27FC236}">
                <a16:creationId xmlns:a16="http://schemas.microsoft.com/office/drawing/2014/main" id="{3452B974-0815-43DB-A782-32D9B9744BC5}"/>
              </a:ext>
            </a:extLst>
          </p:cNvPr>
          <p:cNvSpPr txBox="1">
            <a:spLocks noChangeArrowheads="1"/>
          </p:cNvSpPr>
          <p:nvPr/>
        </p:nvSpPr>
        <p:spPr bwMode="auto">
          <a:xfrm>
            <a:off x="3590925" y="10261600"/>
            <a:ext cx="381000" cy="4508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fld id="{AA3A2C3A-815D-4324-A52B-0D6E1281FA41}" type="slidenum">
              <a:rPr kumimoji="0" lang="en-IN" altLang="en-US" sz="1400" b="0" i="0" u="none" strike="noStrike" cap="none" normalizeH="0" baseline="0" smtClean="0">
                <a:ln>
                  <a:noFill/>
                </a:ln>
                <a:solidFill>
                  <a:srgbClr val="FFFFFF"/>
                </a:solidFill>
                <a:effectLst/>
                <a:latin typeface="Poppins" panose="00000500000000000000" pitchFamily="2" charset="0"/>
              </a:rPr>
              <a:pPr marL="0" marR="0" lvl="0" indent="0" algn="ctr" defTabSz="914400" rtl="0" eaLnBrk="0" fontAlgn="base" latinLnBrk="0" hangingPunct="0">
                <a:lnSpc>
                  <a:spcPct val="100000"/>
                </a:lnSpc>
                <a:spcBef>
                  <a:spcPct val="0"/>
                </a:spcBef>
                <a:spcAft>
                  <a:spcPct val="0"/>
                </a:spcAft>
                <a:buClrTx/>
                <a:buSzTx/>
                <a:buFontTx/>
                <a:buNone/>
                <a:tabLst/>
              </a:pPr>
              <a:t>3</a:t>
            </a:fld>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Text Box 46">
            <a:extLst>
              <a:ext uri="{FF2B5EF4-FFF2-40B4-BE49-F238E27FC236}">
                <a16:creationId xmlns:a16="http://schemas.microsoft.com/office/drawing/2014/main" id="{CCC9F5D3-66A3-47B9-8A51-751404D9B5B9}"/>
              </a:ext>
            </a:extLst>
          </p:cNvPr>
          <p:cNvSpPr txBox="1">
            <a:spLocks noChangeArrowheads="1"/>
          </p:cNvSpPr>
          <p:nvPr/>
        </p:nvSpPr>
        <p:spPr bwMode="auto">
          <a:xfrm>
            <a:off x="0" y="10261600"/>
            <a:ext cx="3590925" cy="439738"/>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IN" altLang="en-US" sz="1000" b="0" i="0" u="none" strike="noStrike" cap="none" normalizeH="0" baseline="0">
                <a:ln>
                  <a:noFill/>
                </a:ln>
                <a:solidFill>
                  <a:srgbClr val="000000"/>
                </a:solidFill>
                <a:effectLst/>
                <a:latin typeface="Poppins" panose="00000500000000000000" pitchFamily="2" charset="0"/>
              </a:rPr>
              <a:t>VIDYAVANTAM — CBSE CLASS 7 HISTORY</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Text Box 47">
            <a:extLst>
              <a:ext uri="{FF2B5EF4-FFF2-40B4-BE49-F238E27FC236}">
                <a16:creationId xmlns:a16="http://schemas.microsoft.com/office/drawing/2014/main" id="{04A9F3F2-488F-442C-9287-787DAD8994DA}"/>
              </a:ext>
            </a:extLst>
          </p:cNvPr>
          <p:cNvSpPr txBox="1">
            <a:spLocks noChangeArrowheads="1"/>
          </p:cNvSpPr>
          <p:nvPr/>
        </p:nvSpPr>
        <p:spPr bwMode="auto">
          <a:xfrm>
            <a:off x="3968273" y="10261600"/>
            <a:ext cx="3587750" cy="428625"/>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defTabSz="914400" eaLnBrk="0" fontAlgn="base" hangingPunct="0">
              <a:spcBef>
                <a:spcPct val="0"/>
              </a:spcBef>
              <a:spcAft>
                <a:spcPct val="0"/>
              </a:spcAft>
            </a:pPr>
            <a:r>
              <a:rPr lang="en-IN" sz="1000" dirty="0">
                <a:solidFill>
                  <a:srgbClr val="000000"/>
                </a:solidFill>
                <a:latin typeface="Poppins" panose="00000500000000000000" pitchFamily="2" charset="0"/>
              </a:rPr>
              <a:t>TRACING CHANGES THROUGH A THOUSAND YEARS </a:t>
            </a:r>
          </a:p>
        </p:txBody>
      </p:sp>
      <p:sp>
        <p:nvSpPr>
          <p:cNvPr id="2" name="Rectangle 1">
            <a:extLst>
              <a:ext uri="{FF2B5EF4-FFF2-40B4-BE49-F238E27FC236}">
                <a16:creationId xmlns:a16="http://schemas.microsoft.com/office/drawing/2014/main" id="{F2BE3017-847F-4961-B44F-82C6738434C6}"/>
              </a:ext>
            </a:extLst>
          </p:cNvPr>
          <p:cNvSpPr/>
          <p:nvPr/>
        </p:nvSpPr>
        <p:spPr>
          <a:xfrm>
            <a:off x="466725" y="1875909"/>
            <a:ext cx="6726555" cy="2139047"/>
          </a:xfrm>
          <a:prstGeom prst="rect">
            <a:avLst/>
          </a:prstGeom>
        </p:spPr>
        <p:txBody>
          <a:bodyPr wrap="square">
            <a:spAutoFit/>
          </a:bodyPr>
          <a:lstStyle/>
          <a:p>
            <a:pPr marL="342900" indent="-342900" algn="just">
              <a:buFont typeface="+mj-lt"/>
              <a:buAutoNum type="arabicPeriod"/>
            </a:pPr>
            <a:r>
              <a:rPr lang="en-IN" sz="1900" dirty="0">
                <a:solidFill>
                  <a:srgbClr val="0070C0"/>
                </a:solidFill>
                <a:latin typeface="Comic Sans MS" panose="030F0702030302020204" pitchFamily="66" charset="0"/>
                <a:ea typeface="+mj-ea"/>
                <a:cs typeface="+mj-cs"/>
              </a:rPr>
              <a:t>Inscription</a:t>
            </a:r>
          </a:p>
          <a:p>
            <a:pPr algn="just"/>
            <a:r>
              <a:rPr lang="en-IN" sz="1900" dirty="0">
                <a:latin typeface="Comic Sans MS" panose="030F0702030302020204" pitchFamily="66" charset="0"/>
                <a:ea typeface="+mj-ea"/>
                <a:cs typeface="+mj-cs"/>
              </a:rPr>
              <a:t>Writings engraved on rocks, pillars, metal plates, clay tablets, wall of temples, houses and tombs are called </a:t>
            </a:r>
            <a:r>
              <a:rPr lang="en-IN" sz="1900" b="1" dirty="0">
                <a:latin typeface="Comic Sans MS" panose="030F0702030302020204" pitchFamily="66" charset="0"/>
                <a:ea typeface="+mj-ea"/>
                <a:cs typeface="+mj-cs"/>
              </a:rPr>
              <a:t>inscriptions. </a:t>
            </a:r>
            <a:r>
              <a:rPr lang="en-IN" sz="1900" dirty="0">
                <a:latin typeface="Comic Sans MS" panose="030F0702030302020204" pitchFamily="66" charset="0"/>
                <a:ea typeface="+mj-ea"/>
                <a:cs typeface="+mj-cs"/>
              </a:rPr>
              <a:t>They tell us about the victories of rulers in battles or some occasions. The process of reading and understanding the script using in inscriptions is called as </a:t>
            </a:r>
            <a:r>
              <a:rPr lang="en-IN" sz="1900" b="1" dirty="0">
                <a:latin typeface="Comic Sans MS" panose="030F0702030302020204" pitchFamily="66" charset="0"/>
                <a:ea typeface="+mj-ea"/>
                <a:cs typeface="+mj-cs"/>
              </a:rPr>
              <a:t>decipherment</a:t>
            </a:r>
            <a:r>
              <a:rPr lang="en-IN" sz="1900" dirty="0">
                <a:latin typeface="Comic Sans MS" panose="030F0702030302020204" pitchFamily="66" charset="0"/>
                <a:ea typeface="+mj-ea"/>
                <a:cs typeface="+mj-cs"/>
              </a:rPr>
              <a:t>.</a:t>
            </a:r>
            <a:endParaRPr lang="en-IN" sz="1900" b="1" dirty="0">
              <a:latin typeface="Comic Sans MS" panose="030F0702030302020204" pitchFamily="66" charset="0"/>
              <a:ea typeface="+mj-ea"/>
              <a:cs typeface="+mj-cs"/>
            </a:endParaRPr>
          </a:p>
        </p:txBody>
      </p:sp>
      <p:pic>
        <p:nvPicPr>
          <p:cNvPr id="26" name="Picture 25">
            <a:extLst>
              <a:ext uri="{FF2B5EF4-FFF2-40B4-BE49-F238E27FC236}">
                <a16:creationId xmlns:a16="http://schemas.microsoft.com/office/drawing/2014/main" id="{F5A8EDCD-3A82-4AF6-AD68-98A213434A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725" y="4246442"/>
            <a:ext cx="6694170" cy="5020629"/>
          </a:xfrm>
          <a:prstGeom prst="roundRect">
            <a:avLst>
              <a:gd name="adj" fmla="val 6658"/>
            </a:avLst>
          </a:prstGeom>
          <a:solidFill>
            <a:srgbClr val="FFFFFF">
              <a:shade val="85000"/>
            </a:srgbClr>
          </a:solidFill>
          <a:ln w="57150" cap="sq">
            <a:noFill/>
            <a:miter lim="800000"/>
          </a:ln>
          <a:effectLst/>
          <a:scene3d>
            <a:camera prst="orthographicFront"/>
            <a:lightRig rig="twoPt" dir="t">
              <a:rot lat="0" lon="0" rev="7200000"/>
            </a:lightRig>
          </a:scene3d>
          <a:sp3d>
            <a:contourClr>
              <a:srgbClr val="FFFFFF"/>
            </a:contourClr>
          </a:sp3d>
        </p:spPr>
      </p:pic>
      <p:sp>
        <p:nvSpPr>
          <p:cNvPr id="3" name="Rectangle 2">
            <a:extLst>
              <a:ext uri="{FF2B5EF4-FFF2-40B4-BE49-F238E27FC236}">
                <a16:creationId xmlns:a16="http://schemas.microsoft.com/office/drawing/2014/main" id="{E8831330-02D7-492C-AA31-89C4084F7D48}"/>
              </a:ext>
            </a:extLst>
          </p:cNvPr>
          <p:cNvSpPr/>
          <p:nvPr/>
        </p:nvSpPr>
        <p:spPr>
          <a:xfrm>
            <a:off x="466725" y="8696405"/>
            <a:ext cx="6758940" cy="553998"/>
          </a:xfrm>
          <a:prstGeom prst="rect">
            <a:avLst/>
          </a:prstGeom>
          <a:solidFill>
            <a:schemeClr val="bg1"/>
          </a:solidFill>
        </p:spPr>
        <p:txBody>
          <a:bodyPr wrap="square">
            <a:spAutoFit/>
          </a:bodyPr>
          <a:lstStyle/>
          <a:p>
            <a:pPr algn="ctr"/>
            <a:r>
              <a:rPr lang="en-IN" sz="1600" dirty="0">
                <a:latin typeface="Comic Sans MS" panose="030F0702030302020204" pitchFamily="66" charset="0"/>
              </a:rPr>
              <a:t>An Ashoka inscription</a:t>
            </a:r>
          </a:p>
          <a:p>
            <a:pPr algn="ctr"/>
            <a:r>
              <a:rPr lang="en-IN" sz="1400" dirty="0">
                <a:latin typeface="Comic Sans MS" panose="030F0702030302020204" pitchFamily="66" charset="0"/>
              </a:rPr>
              <a:t>Credit : Wikipedia</a:t>
            </a:r>
            <a:endParaRPr lang="en-IN" sz="1400" dirty="0"/>
          </a:p>
        </p:txBody>
      </p:sp>
      <p:sp>
        <p:nvSpPr>
          <p:cNvPr id="27" name="Rectangle: Rounded Corners 26">
            <a:extLst>
              <a:ext uri="{FF2B5EF4-FFF2-40B4-BE49-F238E27FC236}">
                <a16:creationId xmlns:a16="http://schemas.microsoft.com/office/drawing/2014/main" id="{A05A37E8-8119-43CB-9ABF-BCE34C60308E}"/>
              </a:ext>
            </a:extLst>
          </p:cNvPr>
          <p:cNvSpPr/>
          <p:nvPr/>
        </p:nvSpPr>
        <p:spPr>
          <a:xfrm>
            <a:off x="499110" y="4229774"/>
            <a:ext cx="6694170" cy="5020629"/>
          </a:xfrm>
          <a:prstGeom prst="roundRect">
            <a:avLst>
              <a:gd name="adj" fmla="val 6343"/>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2" name="Rectangle 11">
            <a:extLst>
              <a:ext uri="{FF2B5EF4-FFF2-40B4-BE49-F238E27FC236}">
                <a16:creationId xmlns:a16="http://schemas.microsoft.com/office/drawing/2014/main" id="{DB6FFB36-D0DD-4081-A310-DC90E3D82479}"/>
              </a:ext>
            </a:extLst>
          </p:cNvPr>
          <p:cNvSpPr/>
          <p:nvPr/>
        </p:nvSpPr>
        <p:spPr>
          <a:xfrm>
            <a:off x="466726" y="618262"/>
            <a:ext cx="6726554" cy="1261884"/>
          </a:xfrm>
          <a:prstGeom prst="rect">
            <a:avLst/>
          </a:prstGeom>
        </p:spPr>
        <p:txBody>
          <a:bodyPr wrap="square">
            <a:spAutoFit/>
          </a:bodyPr>
          <a:lstStyle/>
          <a:p>
            <a:pPr algn="just"/>
            <a:r>
              <a:rPr lang="en-IN" sz="1900" dirty="0">
                <a:latin typeface="Comic Sans MS" panose="030F0702030302020204" pitchFamily="66" charset="0"/>
              </a:rPr>
              <a:t>They tell us about the victories of rulers in battles or some occasions. The process of reading and understanding the script using in inscriptions is called as </a:t>
            </a:r>
            <a:r>
              <a:rPr lang="en-IN" sz="1900" b="1" dirty="0">
                <a:latin typeface="Comic Sans MS" panose="030F0702030302020204" pitchFamily="66" charset="0"/>
              </a:rPr>
              <a:t>decipherment</a:t>
            </a:r>
            <a:r>
              <a:rPr lang="en-IN" sz="1900" dirty="0">
                <a:latin typeface="Comic Sans MS" panose="030F0702030302020204" pitchFamily="66" charset="0"/>
              </a:rPr>
              <a:t>.</a:t>
            </a:r>
            <a:endParaRPr lang="en-IN" sz="1900" dirty="0"/>
          </a:p>
        </p:txBody>
      </p:sp>
    </p:spTree>
    <p:extLst>
      <p:ext uri="{BB962C8B-B14F-4D97-AF65-F5344CB8AC3E}">
        <p14:creationId xmlns:p14="http://schemas.microsoft.com/office/powerpoint/2010/main" val="27960693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Rounded Corners 12">
            <a:extLst>
              <a:ext uri="{FF2B5EF4-FFF2-40B4-BE49-F238E27FC236}">
                <a16:creationId xmlns:a16="http://schemas.microsoft.com/office/drawing/2014/main" id="{DEC8E1C4-6166-461B-BE41-A0AB9BE10C72}"/>
              </a:ext>
            </a:extLst>
          </p:cNvPr>
          <p:cNvSpPr/>
          <p:nvPr/>
        </p:nvSpPr>
        <p:spPr>
          <a:xfrm>
            <a:off x="4114800" y="584201"/>
            <a:ext cx="2952344" cy="4469701"/>
          </a:xfrm>
          <a:prstGeom prst="roundRect">
            <a:avLst>
              <a:gd name="adj" fmla="val 1874"/>
            </a:avLst>
          </a:prstGeom>
          <a:solidFill>
            <a:schemeClr val="accent4">
              <a:lumMod val="20000"/>
              <a:lumOff val="80000"/>
            </a:schemeClr>
          </a:solidFill>
          <a:ln w="5715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 name="AutoShape 43">
            <a:extLst>
              <a:ext uri="{FF2B5EF4-FFF2-40B4-BE49-F238E27FC236}">
                <a16:creationId xmlns:a16="http://schemas.microsoft.com/office/drawing/2014/main" id="{F672BDDF-2C95-4285-A502-75F087937158}"/>
              </a:ext>
            </a:extLst>
          </p:cNvPr>
          <p:cNvSpPr>
            <a:spLocks noChangeArrowheads="1"/>
          </p:cNvSpPr>
          <p:nvPr/>
        </p:nvSpPr>
        <p:spPr bwMode="auto">
          <a:xfrm>
            <a:off x="3590925" y="10345738"/>
            <a:ext cx="381000" cy="295275"/>
          </a:xfrm>
          <a:prstGeom prst="roundRect">
            <a:avLst>
              <a:gd name="adj" fmla="val 16667"/>
            </a:avLst>
          </a:prstGeom>
          <a:solidFill>
            <a:srgbClr val="F0587C"/>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5" name="Text Box 45">
            <a:extLst>
              <a:ext uri="{FF2B5EF4-FFF2-40B4-BE49-F238E27FC236}">
                <a16:creationId xmlns:a16="http://schemas.microsoft.com/office/drawing/2014/main" id="{5BCF5E01-B72D-4E10-A557-E19EA1D83A53}"/>
              </a:ext>
            </a:extLst>
          </p:cNvPr>
          <p:cNvSpPr txBox="1">
            <a:spLocks noChangeArrowheads="1"/>
          </p:cNvSpPr>
          <p:nvPr/>
        </p:nvSpPr>
        <p:spPr bwMode="auto">
          <a:xfrm>
            <a:off x="3590925" y="10261600"/>
            <a:ext cx="381000" cy="4508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fld id="{AA3A2C3A-815D-4324-A52B-0D6E1281FA41}" type="slidenum">
              <a:rPr kumimoji="0" lang="en-IN" altLang="en-US" sz="1400" b="0" i="0" u="none" strike="noStrike" cap="none" normalizeH="0" baseline="0" smtClean="0">
                <a:ln>
                  <a:noFill/>
                </a:ln>
                <a:solidFill>
                  <a:srgbClr val="FFFFFF"/>
                </a:solidFill>
                <a:effectLst/>
                <a:latin typeface="Poppins" panose="00000500000000000000" pitchFamily="2" charset="0"/>
              </a:rPr>
              <a:pPr marL="0" marR="0" lvl="0" indent="0" algn="ctr" defTabSz="914400" rtl="0" eaLnBrk="0" fontAlgn="base" latinLnBrk="0" hangingPunct="0">
                <a:lnSpc>
                  <a:spcPct val="100000"/>
                </a:lnSpc>
                <a:spcBef>
                  <a:spcPct val="0"/>
                </a:spcBef>
                <a:spcAft>
                  <a:spcPct val="0"/>
                </a:spcAft>
                <a:buClrTx/>
                <a:buSzTx/>
                <a:buFontTx/>
                <a:buNone/>
                <a:tabLst/>
              </a:pPr>
              <a:t>4</a:t>
            </a:fld>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Text Box 46">
            <a:extLst>
              <a:ext uri="{FF2B5EF4-FFF2-40B4-BE49-F238E27FC236}">
                <a16:creationId xmlns:a16="http://schemas.microsoft.com/office/drawing/2014/main" id="{06CE2BFF-2D33-4B2B-A909-9F86CE20EB3D}"/>
              </a:ext>
            </a:extLst>
          </p:cNvPr>
          <p:cNvSpPr txBox="1">
            <a:spLocks noChangeArrowheads="1"/>
          </p:cNvSpPr>
          <p:nvPr/>
        </p:nvSpPr>
        <p:spPr bwMode="auto">
          <a:xfrm>
            <a:off x="0" y="10261600"/>
            <a:ext cx="3590925" cy="439738"/>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lvl="0" algn="ctr" defTabSz="914400" eaLnBrk="0" fontAlgn="base" hangingPunct="0">
              <a:spcBef>
                <a:spcPct val="0"/>
              </a:spcBef>
              <a:spcAft>
                <a:spcPct val="0"/>
              </a:spcAft>
            </a:pPr>
            <a:r>
              <a:rPr lang="en-IN" altLang="en-US" sz="1000">
                <a:solidFill>
                  <a:srgbClr val="000000"/>
                </a:solidFill>
                <a:latin typeface="Poppins" panose="00000500000000000000" pitchFamily="2" charset="0"/>
              </a:rPr>
              <a:t>VIDYAVANTAM — CBSE CLASS 7 HISTORY</a:t>
            </a:r>
            <a:endParaRPr lang="en-US" altLang="en-US" dirty="0">
              <a:latin typeface="Arial" panose="020B0604020202020204" pitchFamily="34" charset="0"/>
            </a:endParaRPr>
          </a:p>
        </p:txBody>
      </p:sp>
      <p:sp>
        <p:nvSpPr>
          <p:cNvPr id="7" name="Text Box 47">
            <a:extLst>
              <a:ext uri="{FF2B5EF4-FFF2-40B4-BE49-F238E27FC236}">
                <a16:creationId xmlns:a16="http://schemas.microsoft.com/office/drawing/2014/main" id="{9EE6FC62-6289-4242-BD90-A1ADC63D75F8}"/>
              </a:ext>
            </a:extLst>
          </p:cNvPr>
          <p:cNvSpPr txBox="1">
            <a:spLocks noChangeArrowheads="1"/>
          </p:cNvSpPr>
          <p:nvPr/>
        </p:nvSpPr>
        <p:spPr bwMode="auto">
          <a:xfrm>
            <a:off x="3968273" y="10261600"/>
            <a:ext cx="3587750" cy="428625"/>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defTabSz="914400" eaLnBrk="0" fontAlgn="base" hangingPunct="0">
              <a:spcBef>
                <a:spcPct val="0"/>
              </a:spcBef>
              <a:spcAft>
                <a:spcPct val="0"/>
              </a:spcAft>
            </a:pPr>
            <a:r>
              <a:rPr lang="en-IN" sz="1000" dirty="0">
                <a:solidFill>
                  <a:srgbClr val="000000"/>
                </a:solidFill>
                <a:latin typeface="Poppins" panose="00000500000000000000" pitchFamily="2" charset="0"/>
              </a:rPr>
              <a:t>TRACING CHANGES THROUGH A THOUSAND YEARS </a:t>
            </a:r>
          </a:p>
        </p:txBody>
      </p:sp>
      <p:sp>
        <p:nvSpPr>
          <p:cNvPr id="8" name="Rectangle 7">
            <a:extLst>
              <a:ext uri="{FF2B5EF4-FFF2-40B4-BE49-F238E27FC236}">
                <a16:creationId xmlns:a16="http://schemas.microsoft.com/office/drawing/2014/main" id="{5CF34B03-BB81-473F-8AB0-C224A9A78FB6}"/>
              </a:ext>
            </a:extLst>
          </p:cNvPr>
          <p:cNvSpPr/>
          <p:nvPr/>
        </p:nvSpPr>
        <p:spPr>
          <a:xfrm>
            <a:off x="466725" y="520700"/>
            <a:ext cx="3577742" cy="4247317"/>
          </a:xfrm>
          <a:prstGeom prst="rect">
            <a:avLst/>
          </a:prstGeom>
        </p:spPr>
        <p:txBody>
          <a:bodyPr wrap="square">
            <a:spAutoFit/>
          </a:bodyPr>
          <a:lstStyle/>
          <a:p>
            <a:pPr algn="just"/>
            <a:r>
              <a:rPr lang="en-IN" dirty="0">
                <a:solidFill>
                  <a:srgbClr val="0070C0"/>
                </a:solidFill>
                <a:latin typeface="Comic Sans MS" panose="030F0702030302020204" pitchFamily="66" charset="0"/>
                <a:ea typeface="+mj-ea"/>
                <a:cs typeface="+mj-cs"/>
              </a:rPr>
              <a:t>2. Monuments</a:t>
            </a:r>
          </a:p>
          <a:p>
            <a:pPr algn="just"/>
            <a:r>
              <a:rPr lang="en-IN" dirty="0">
                <a:latin typeface="Comic Sans MS" panose="030F0702030302020204" pitchFamily="66" charset="0"/>
                <a:ea typeface="+mj-ea"/>
                <a:cs typeface="+mj-cs"/>
              </a:rPr>
              <a:t>Temples, forts, places and other structures built for some special purpose are called </a:t>
            </a:r>
            <a:r>
              <a:rPr lang="en-IN" b="1" dirty="0">
                <a:latin typeface="Comic Sans MS" panose="030F0702030302020204" pitchFamily="66" charset="0"/>
                <a:ea typeface="+mj-ea"/>
                <a:cs typeface="+mj-cs"/>
              </a:rPr>
              <a:t>monuments</a:t>
            </a:r>
            <a:r>
              <a:rPr lang="en-IN" dirty="0">
                <a:latin typeface="Comic Sans MS" panose="030F0702030302020204" pitchFamily="66" charset="0"/>
                <a:ea typeface="+mj-ea"/>
                <a:cs typeface="+mj-cs"/>
              </a:rPr>
              <a:t>.</a:t>
            </a:r>
            <a:r>
              <a:rPr lang="en-IN" b="1" dirty="0">
                <a:latin typeface="Comic Sans MS" panose="030F0702030302020204" pitchFamily="66" charset="0"/>
                <a:ea typeface="+mj-ea"/>
                <a:cs typeface="+mj-cs"/>
              </a:rPr>
              <a:t> </a:t>
            </a:r>
            <a:r>
              <a:rPr lang="en-IN" dirty="0">
                <a:latin typeface="Comic Sans MS" panose="030F0702030302020204" pitchFamily="66" charset="0"/>
                <a:ea typeface="+mj-ea"/>
                <a:cs typeface="+mj-cs"/>
              </a:rPr>
              <a:t>They tell us about the period which they were built, the artistic skills of that period, the religion that received the patronage of builders or rulers</a:t>
            </a:r>
            <a:r>
              <a:rPr lang="en-IN" dirty="0">
                <a:latin typeface="Comic Sans MS" panose="030F0702030302020204" pitchFamily="66" charset="0"/>
              </a:rPr>
              <a:t> , etc. For Example Ashoka Pillar, Sanchi Stupa, Kailash Mandir at Ellora (largest monolithic (made from one stone) monuments in the world), etc.</a:t>
            </a:r>
            <a:endParaRPr lang="en-IN" b="1" dirty="0">
              <a:latin typeface="Comic Sans MS" panose="030F0702030302020204" pitchFamily="66" charset="0"/>
              <a:ea typeface="+mj-ea"/>
              <a:cs typeface="+mj-cs"/>
            </a:endParaRPr>
          </a:p>
        </p:txBody>
      </p:sp>
      <p:pic>
        <p:nvPicPr>
          <p:cNvPr id="10" name="Picture 9">
            <a:extLst>
              <a:ext uri="{FF2B5EF4-FFF2-40B4-BE49-F238E27FC236}">
                <a16:creationId xmlns:a16="http://schemas.microsoft.com/office/drawing/2014/main" id="{FCE3E4CE-96C1-4FC2-ABDB-89678A6D48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24756" y="776426"/>
            <a:ext cx="2570456" cy="3427274"/>
          </a:xfrm>
          <a:prstGeom prst="rect">
            <a:avLst/>
          </a:prstGeom>
          <a:solidFill>
            <a:srgbClr val="FFFFFF">
              <a:shade val="85000"/>
            </a:srgbClr>
          </a:solidFill>
          <a:ln w="88900" cap="sq">
            <a:solidFill>
              <a:srgbClr val="FFFFFF"/>
            </a:solidFill>
            <a:miter lim="800000"/>
          </a:ln>
          <a:effectLst/>
          <a:scene3d>
            <a:camera prst="orthographicFront"/>
            <a:lightRig rig="twoPt" dir="t">
              <a:rot lat="0" lon="0" rev="7200000"/>
            </a:lightRig>
          </a:scene3d>
          <a:sp3d>
            <a:contourClr>
              <a:srgbClr val="FFFFFF"/>
            </a:contourClr>
          </a:sp3d>
        </p:spPr>
      </p:pic>
      <p:sp>
        <p:nvSpPr>
          <p:cNvPr id="17" name="Rectangle: Rounded Corners 16">
            <a:extLst>
              <a:ext uri="{FF2B5EF4-FFF2-40B4-BE49-F238E27FC236}">
                <a16:creationId xmlns:a16="http://schemas.microsoft.com/office/drawing/2014/main" id="{927B2634-EDF2-44B2-97C4-B32108681DD8}"/>
              </a:ext>
            </a:extLst>
          </p:cNvPr>
          <p:cNvSpPr/>
          <p:nvPr/>
        </p:nvSpPr>
        <p:spPr>
          <a:xfrm>
            <a:off x="4324756" y="6489725"/>
            <a:ext cx="2952344" cy="3332000"/>
          </a:xfrm>
          <a:prstGeom prst="roundRect">
            <a:avLst>
              <a:gd name="adj" fmla="val 1874"/>
            </a:avLst>
          </a:prstGeom>
          <a:solidFill>
            <a:schemeClr val="accent4">
              <a:lumMod val="20000"/>
              <a:lumOff val="80000"/>
            </a:schemeClr>
          </a:solidFill>
          <a:ln w="5715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2" name="Rectangle 11">
            <a:extLst>
              <a:ext uri="{FF2B5EF4-FFF2-40B4-BE49-F238E27FC236}">
                <a16:creationId xmlns:a16="http://schemas.microsoft.com/office/drawing/2014/main" id="{5DCE97B1-9080-446F-9764-C10096D13E45}"/>
              </a:ext>
            </a:extLst>
          </p:cNvPr>
          <p:cNvSpPr/>
          <p:nvPr/>
        </p:nvSpPr>
        <p:spPr>
          <a:xfrm>
            <a:off x="466725" y="5229225"/>
            <a:ext cx="6479287" cy="1200329"/>
          </a:xfrm>
          <a:prstGeom prst="rect">
            <a:avLst/>
          </a:prstGeom>
        </p:spPr>
        <p:txBody>
          <a:bodyPr wrap="square">
            <a:spAutoFit/>
          </a:bodyPr>
          <a:lstStyle/>
          <a:p>
            <a:pPr algn="just"/>
            <a:r>
              <a:rPr lang="en-IN" dirty="0">
                <a:solidFill>
                  <a:srgbClr val="0070C0"/>
                </a:solidFill>
                <a:latin typeface="Comic Sans MS" panose="030F0702030302020204" pitchFamily="66" charset="0"/>
                <a:ea typeface="+mj-ea"/>
                <a:cs typeface="+mj-cs"/>
              </a:rPr>
              <a:t>3. Artefacts</a:t>
            </a:r>
          </a:p>
          <a:p>
            <a:pPr algn="just"/>
            <a:r>
              <a:rPr lang="en-IN" dirty="0">
                <a:latin typeface="Comic Sans MS" panose="030F0702030302020204" pitchFamily="66" charset="0"/>
                <a:ea typeface="+mj-ea"/>
                <a:cs typeface="+mj-cs"/>
              </a:rPr>
              <a:t>Articles such as tools, weapons, pottery, tiny sculptures, toy, jewels, etc. made and used by people in the past are called </a:t>
            </a:r>
            <a:r>
              <a:rPr lang="en-IN" b="1" dirty="0">
                <a:latin typeface="Comic Sans MS" panose="030F0702030302020204" pitchFamily="66" charset="0"/>
                <a:ea typeface="+mj-ea"/>
                <a:cs typeface="+mj-cs"/>
              </a:rPr>
              <a:t>artefacts. </a:t>
            </a:r>
            <a:r>
              <a:rPr lang="en-IN" dirty="0">
                <a:latin typeface="Comic Sans MS" panose="030F0702030302020204" pitchFamily="66" charset="0"/>
                <a:ea typeface="+mj-ea"/>
                <a:cs typeface="+mj-cs"/>
              </a:rPr>
              <a:t>They give us vital clues about the past</a:t>
            </a:r>
          </a:p>
        </p:txBody>
      </p:sp>
      <p:sp>
        <p:nvSpPr>
          <p:cNvPr id="14" name="Rectangle 13">
            <a:extLst>
              <a:ext uri="{FF2B5EF4-FFF2-40B4-BE49-F238E27FC236}">
                <a16:creationId xmlns:a16="http://schemas.microsoft.com/office/drawing/2014/main" id="{132BCBEF-77C8-4ED3-A78F-0C771B75D87D}"/>
              </a:ext>
            </a:extLst>
          </p:cNvPr>
          <p:cNvSpPr/>
          <p:nvPr/>
        </p:nvSpPr>
        <p:spPr>
          <a:xfrm>
            <a:off x="466725" y="6628188"/>
            <a:ext cx="3749675" cy="1754326"/>
          </a:xfrm>
          <a:prstGeom prst="rect">
            <a:avLst/>
          </a:prstGeom>
        </p:spPr>
        <p:txBody>
          <a:bodyPr wrap="square">
            <a:spAutoFit/>
          </a:bodyPr>
          <a:lstStyle/>
          <a:p>
            <a:pPr algn="just"/>
            <a:r>
              <a:rPr lang="en-IN" dirty="0">
                <a:solidFill>
                  <a:srgbClr val="0070C0"/>
                </a:solidFill>
                <a:latin typeface="Comic Sans MS" panose="030F0702030302020204" pitchFamily="66" charset="0"/>
                <a:ea typeface="+mj-ea"/>
                <a:cs typeface="+mj-cs"/>
              </a:rPr>
              <a:t>4. Seals</a:t>
            </a:r>
          </a:p>
          <a:p>
            <a:pPr algn="just"/>
            <a:r>
              <a:rPr lang="en-IN" dirty="0">
                <a:latin typeface="Comic Sans MS" panose="030F0702030302020204" pitchFamily="66" charset="0"/>
                <a:ea typeface="+mj-ea"/>
                <a:cs typeface="+mj-cs"/>
              </a:rPr>
              <a:t>Seals are objects with engraved emblem or stamp of authority like the seal of a yogi called </a:t>
            </a:r>
            <a:r>
              <a:rPr lang="en-IN" b="1" dirty="0">
                <a:latin typeface="Comic Sans MS" panose="030F0702030302020204" pitchFamily="66" charset="0"/>
                <a:ea typeface="+mj-ea"/>
                <a:cs typeface="+mj-cs"/>
              </a:rPr>
              <a:t>Pashupati</a:t>
            </a:r>
            <a:r>
              <a:rPr lang="en-IN" dirty="0">
                <a:latin typeface="Comic Sans MS" panose="030F0702030302020204" pitchFamily="66" charset="0"/>
                <a:ea typeface="+mj-ea"/>
                <a:cs typeface="+mj-cs"/>
              </a:rPr>
              <a:t> found on Indus Valley Civilisation.</a:t>
            </a:r>
          </a:p>
        </p:txBody>
      </p:sp>
      <p:pic>
        <p:nvPicPr>
          <p:cNvPr id="16" name="Picture 15">
            <a:extLst>
              <a:ext uri="{FF2B5EF4-FFF2-40B4-BE49-F238E27FC236}">
                <a16:creationId xmlns:a16="http://schemas.microsoft.com/office/drawing/2014/main" id="{CC96D308-DBB2-4C7D-B60C-7692D92F36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57559" y="6680200"/>
            <a:ext cx="2362937" cy="2374811"/>
          </a:xfrm>
          <a:prstGeom prst="rect">
            <a:avLst/>
          </a:prstGeom>
        </p:spPr>
      </p:pic>
      <p:sp>
        <p:nvSpPr>
          <p:cNvPr id="2" name="Rectangle 1">
            <a:extLst>
              <a:ext uri="{FF2B5EF4-FFF2-40B4-BE49-F238E27FC236}">
                <a16:creationId xmlns:a16="http://schemas.microsoft.com/office/drawing/2014/main" id="{D7DA5888-4B1D-4E46-86F0-2B10405782B2}"/>
              </a:ext>
            </a:extLst>
          </p:cNvPr>
          <p:cNvSpPr/>
          <p:nvPr/>
        </p:nvSpPr>
        <p:spPr>
          <a:xfrm>
            <a:off x="4657559" y="9157820"/>
            <a:ext cx="2362937" cy="646331"/>
          </a:xfrm>
          <a:prstGeom prst="rect">
            <a:avLst/>
          </a:prstGeom>
        </p:spPr>
        <p:txBody>
          <a:bodyPr wrap="square">
            <a:spAutoFit/>
          </a:bodyPr>
          <a:lstStyle/>
          <a:p>
            <a:pPr algn="just"/>
            <a:r>
              <a:rPr lang="en-IN" sz="1200" dirty="0">
                <a:latin typeface="Comic Sans MS" panose="030F0702030302020204" pitchFamily="66" charset="0"/>
              </a:rPr>
              <a:t>A yogi called Pashupati Seal found in Indus valley civilisation </a:t>
            </a:r>
            <a:endParaRPr lang="en-IN" sz="1200" dirty="0"/>
          </a:p>
        </p:txBody>
      </p:sp>
      <p:sp>
        <p:nvSpPr>
          <p:cNvPr id="3" name="Rectangle 2">
            <a:extLst>
              <a:ext uri="{FF2B5EF4-FFF2-40B4-BE49-F238E27FC236}">
                <a16:creationId xmlns:a16="http://schemas.microsoft.com/office/drawing/2014/main" id="{68AC0AA1-222A-4577-92A2-5C82EFE2ACE5}"/>
              </a:ext>
            </a:extLst>
          </p:cNvPr>
          <p:cNvSpPr/>
          <p:nvPr/>
        </p:nvSpPr>
        <p:spPr>
          <a:xfrm>
            <a:off x="4229100" y="4285218"/>
            <a:ext cx="2678811" cy="523220"/>
          </a:xfrm>
          <a:prstGeom prst="rect">
            <a:avLst/>
          </a:prstGeom>
        </p:spPr>
        <p:txBody>
          <a:bodyPr wrap="square">
            <a:spAutoFit/>
          </a:bodyPr>
          <a:lstStyle/>
          <a:p>
            <a:pPr algn="just"/>
            <a:r>
              <a:rPr lang="en-IN" sz="1400" dirty="0">
                <a:latin typeface="Comic Sans MS" panose="030F0702030302020204" pitchFamily="66" charset="0"/>
              </a:rPr>
              <a:t>Ashoka Pillar with 33 found inscription</a:t>
            </a:r>
            <a:endParaRPr lang="en-IN" sz="1400" dirty="0"/>
          </a:p>
        </p:txBody>
      </p:sp>
    </p:spTree>
    <p:extLst>
      <p:ext uri="{BB962C8B-B14F-4D97-AF65-F5344CB8AC3E}">
        <p14:creationId xmlns:p14="http://schemas.microsoft.com/office/powerpoint/2010/main" val="18212864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3">
            <a:extLst>
              <a:ext uri="{FF2B5EF4-FFF2-40B4-BE49-F238E27FC236}">
                <a16:creationId xmlns:a16="http://schemas.microsoft.com/office/drawing/2014/main" id="{1FFA810C-D84B-464A-A84F-A5A7B2334E05}"/>
              </a:ext>
            </a:extLst>
          </p:cNvPr>
          <p:cNvSpPr>
            <a:spLocks noChangeArrowheads="1"/>
          </p:cNvSpPr>
          <p:nvPr/>
        </p:nvSpPr>
        <p:spPr bwMode="auto">
          <a:xfrm>
            <a:off x="3590925" y="10345738"/>
            <a:ext cx="381000" cy="295275"/>
          </a:xfrm>
          <a:prstGeom prst="roundRect">
            <a:avLst>
              <a:gd name="adj" fmla="val 16667"/>
            </a:avLst>
          </a:prstGeom>
          <a:solidFill>
            <a:srgbClr val="F0587C"/>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5" name="Text Box 45">
            <a:extLst>
              <a:ext uri="{FF2B5EF4-FFF2-40B4-BE49-F238E27FC236}">
                <a16:creationId xmlns:a16="http://schemas.microsoft.com/office/drawing/2014/main" id="{60D3F1A4-CB3F-441E-95E3-BBF540C025D1}"/>
              </a:ext>
            </a:extLst>
          </p:cNvPr>
          <p:cNvSpPr txBox="1">
            <a:spLocks noChangeArrowheads="1"/>
          </p:cNvSpPr>
          <p:nvPr/>
        </p:nvSpPr>
        <p:spPr bwMode="auto">
          <a:xfrm>
            <a:off x="3590925" y="10261600"/>
            <a:ext cx="381000" cy="4508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fld id="{AA3A2C3A-815D-4324-A52B-0D6E1281FA41}" type="slidenum">
              <a:rPr kumimoji="0" lang="en-IN" altLang="en-US" sz="1400" b="0" i="0" u="none" strike="noStrike" cap="none" normalizeH="0" baseline="0" smtClean="0">
                <a:ln>
                  <a:noFill/>
                </a:ln>
                <a:solidFill>
                  <a:srgbClr val="FFFFFF"/>
                </a:solidFill>
                <a:effectLst/>
                <a:latin typeface="Poppins" panose="00000500000000000000" pitchFamily="2" charset="0"/>
              </a:rPr>
              <a:pPr marL="0" marR="0" lvl="0" indent="0" algn="ctr" defTabSz="914400" rtl="0" eaLnBrk="0" fontAlgn="base" latinLnBrk="0" hangingPunct="0">
                <a:lnSpc>
                  <a:spcPct val="100000"/>
                </a:lnSpc>
                <a:spcBef>
                  <a:spcPct val="0"/>
                </a:spcBef>
                <a:spcAft>
                  <a:spcPct val="0"/>
                </a:spcAft>
                <a:buClrTx/>
                <a:buSzTx/>
                <a:buFontTx/>
                <a:buNone/>
                <a:tabLst/>
              </a:pPr>
              <a:t>5</a:t>
            </a:fld>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Text Box 46">
            <a:extLst>
              <a:ext uri="{FF2B5EF4-FFF2-40B4-BE49-F238E27FC236}">
                <a16:creationId xmlns:a16="http://schemas.microsoft.com/office/drawing/2014/main" id="{50964767-DE12-4E8B-A5F9-AC3BD4E3B90C}"/>
              </a:ext>
            </a:extLst>
          </p:cNvPr>
          <p:cNvSpPr txBox="1">
            <a:spLocks noChangeArrowheads="1"/>
          </p:cNvSpPr>
          <p:nvPr/>
        </p:nvSpPr>
        <p:spPr bwMode="auto">
          <a:xfrm>
            <a:off x="0" y="10261600"/>
            <a:ext cx="3590925" cy="439738"/>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lvl="0" algn="ctr" defTabSz="914400" eaLnBrk="0" fontAlgn="base" hangingPunct="0">
              <a:spcBef>
                <a:spcPct val="0"/>
              </a:spcBef>
              <a:spcAft>
                <a:spcPct val="0"/>
              </a:spcAft>
            </a:pPr>
            <a:r>
              <a:rPr lang="en-IN" altLang="en-US" sz="1000" dirty="0">
                <a:solidFill>
                  <a:srgbClr val="000000"/>
                </a:solidFill>
                <a:latin typeface="Poppins" panose="00000500000000000000" pitchFamily="2" charset="0"/>
              </a:rPr>
              <a:t>VIDYAVANTAM — CBSE CLASS 7 HISTORY</a:t>
            </a:r>
            <a:endParaRPr lang="en-US" altLang="en-US" dirty="0">
              <a:latin typeface="Arial" panose="020B0604020202020204" pitchFamily="34" charset="0"/>
            </a:endParaRPr>
          </a:p>
        </p:txBody>
      </p:sp>
      <p:sp>
        <p:nvSpPr>
          <p:cNvPr id="7" name="Text Box 47">
            <a:extLst>
              <a:ext uri="{FF2B5EF4-FFF2-40B4-BE49-F238E27FC236}">
                <a16:creationId xmlns:a16="http://schemas.microsoft.com/office/drawing/2014/main" id="{A22551C4-BC64-4C95-9054-6AF2453B63B8}"/>
              </a:ext>
            </a:extLst>
          </p:cNvPr>
          <p:cNvSpPr txBox="1">
            <a:spLocks noChangeArrowheads="1"/>
          </p:cNvSpPr>
          <p:nvPr/>
        </p:nvSpPr>
        <p:spPr bwMode="auto">
          <a:xfrm>
            <a:off x="3968273" y="10261600"/>
            <a:ext cx="3587750" cy="428625"/>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defTabSz="914400" eaLnBrk="0" fontAlgn="base" hangingPunct="0">
              <a:spcBef>
                <a:spcPct val="0"/>
              </a:spcBef>
              <a:spcAft>
                <a:spcPct val="0"/>
              </a:spcAft>
            </a:pPr>
            <a:r>
              <a:rPr lang="en-IN" sz="1000" dirty="0">
                <a:solidFill>
                  <a:srgbClr val="000000"/>
                </a:solidFill>
                <a:latin typeface="Poppins" panose="00000500000000000000" pitchFamily="2" charset="0"/>
              </a:rPr>
              <a:t>TRACING CHANGES THROUGH A THOUSAND YEARS </a:t>
            </a:r>
          </a:p>
        </p:txBody>
      </p:sp>
      <p:sp>
        <p:nvSpPr>
          <p:cNvPr id="8" name="AutoShape 23">
            <a:extLst>
              <a:ext uri="{FF2B5EF4-FFF2-40B4-BE49-F238E27FC236}">
                <a16:creationId xmlns:a16="http://schemas.microsoft.com/office/drawing/2014/main" id="{BA7DA4DF-C64E-47DF-BEE1-5BFB25B10C16}"/>
              </a:ext>
            </a:extLst>
          </p:cNvPr>
          <p:cNvSpPr>
            <a:spLocks noChangeArrowheads="1"/>
          </p:cNvSpPr>
          <p:nvPr/>
        </p:nvSpPr>
        <p:spPr bwMode="auto">
          <a:xfrm>
            <a:off x="473394" y="608962"/>
            <a:ext cx="3306444" cy="522288"/>
          </a:xfrm>
          <a:prstGeom prst="roundRect">
            <a:avLst>
              <a:gd name="adj" fmla="val 50000"/>
            </a:avLst>
          </a:prstGeom>
          <a:solidFill>
            <a:srgbClr val="F0587C"/>
          </a:solidFill>
          <a:ln w="25400" algn="ctr">
            <a:solidFill>
              <a:srgbClr val="F0587C"/>
            </a:solidFill>
            <a:round/>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9" name="Title 1">
            <a:extLst>
              <a:ext uri="{FF2B5EF4-FFF2-40B4-BE49-F238E27FC236}">
                <a16:creationId xmlns:a16="http://schemas.microsoft.com/office/drawing/2014/main" id="{D29023DB-3F42-4B56-A638-2E7A3AF3EAB1}"/>
              </a:ext>
            </a:extLst>
          </p:cNvPr>
          <p:cNvSpPr txBox="1">
            <a:spLocks/>
          </p:cNvSpPr>
          <p:nvPr/>
        </p:nvSpPr>
        <p:spPr>
          <a:xfrm>
            <a:off x="513080" y="635950"/>
            <a:ext cx="464344" cy="466090"/>
          </a:xfrm>
          <a:prstGeom prst="ellipse">
            <a:avLst/>
          </a:prstGeom>
          <a:solidFill>
            <a:schemeClr val="bg1"/>
          </a:solidFill>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r>
              <a:rPr lang="en-IN" sz="1500" b="1" dirty="0">
                <a:solidFill>
                  <a:srgbClr val="F0597C"/>
                </a:solidFill>
                <a:latin typeface="Comic Sans MS" panose="030F0702030302020204" pitchFamily="66" charset="0"/>
              </a:rPr>
              <a:t>2</a:t>
            </a:r>
          </a:p>
        </p:txBody>
      </p:sp>
      <p:sp>
        <p:nvSpPr>
          <p:cNvPr id="10" name="Rectangle 9">
            <a:extLst>
              <a:ext uri="{FF2B5EF4-FFF2-40B4-BE49-F238E27FC236}">
                <a16:creationId xmlns:a16="http://schemas.microsoft.com/office/drawing/2014/main" id="{1058E8A0-5ED7-4F07-9A4A-E787F8E8F175}"/>
              </a:ext>
            </a:extLst>
          </p:cNvPr>
          <p:cNvSpPr/>
          <p:nvPr/>
        </p:nvSpPr>
        <p:spPr>
          <a:xfrm>
            <a:off x="1043395" y="663785"/>
            <a:ext cx="2547530" cy="369332"/>
          </a:xfrm>
          <a:prstGeom prst="rect">
            <a:avLst/>
          </a:prstGeom>
        </p:spPr>
        <p:txBody>
          <a:bodyPr wrap="square">
            <a:spAutoFit/>
          </a:bodyPr>
          <a:lstStyle/>
          <a:p>
            <a:pPr algn="ctr"/>
            <a:r>
              <a:rPr lang="en-IN" dirty="0">
                <a:solidFill>
                  <a:schemeClr val="bg1"/>
                </a:solidFill>
                <a:latin typeface="Comic Sans MS" panose="030F0702030302020204" pitchFamily="66" charset="0"/>
              </a:rPr>
              <a:t>Secondary Sources</a:t>
            </a:r>
          </a:p>
        </p:txBody>
      </p:sp>
      <p:sp>
        <p:nvSpPr>
          <p:cNvPr id="11" name="Title 1">
            <a:extLst>
              <a:ext uri="{FF2B5EF4-FFF2-40B4-BE49-F238E27FC236}">
                <a16:creationId xmlns:a16="http://schemas.microsoft.com/office/drawing/2014/main" id="{9A6509AD-732E-46BC-AF0B-096CCCD361F1}"/>
              </a:ext>
            </a:extLst>
          </p:cNvPr>
          <p:cNvSpPr txBox="1">
            <a:spLocks/>
          </p:cNvSpPr>
          <p:nvPr/>
        </p:nvSpPr>
        <p:spPr>
          <a:xfrm>
            <a:off x="466726" y="1156864"/>
            <a:ext cx="6726554" cy="986262"/>
          </a:xfrm>
          <a:prstGeom prst="rect">
            <a:avLst/>
          </a:prstGeom>
        </p:spPr>
        <p:txBody>
          <a:bodyPr vert="horz" lIns="91440" tIns="45720" rIns="91440" bIns="45720" rtlCol="0" anchor="t">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pPr algn="just">
              <a:lnSpc>
                <a:spcPct val="100000"/>
              </a:lnSpc>
              <a:spcAft>
                <a:spcPts val="600"/>
              </a:spcAft>
            </a:pPr>
            <a:r>
              <a:rPr lang="en-IN" sz="1800" dirty="0">
                <a:latin typeface="Comic Sans MS" panose="030F0702030302020204" pitchFamily="66" charset="0"/>
              </a:rPr>
              <a:t>Literary works, chronicles, travelogues, biographies and autobiographies, etc. that provides information about history but are not the direct source.</a:t>
            </a:r>
          </a:p>
        </p:txBody>
      </p:sp>
      <p:sp>
        <p:nvSpPr>
          <p:cNvPr id="12" name="Title 1">
            <a:extLst>
              <a:ext uri="{FF2B5EF4-FFF2-40B4-BE49-F238E27FC236}">
                <a16:creationId xmlns:a16="http://schemas.microsoft.com/office/drawing/2014/main" id="{68E69A0F-B75F-414A-8858-C1E0B7D6FD9A}"/>
              </a:ext>
            </a:extLst>
          </p:cNvPr>
          <p:cNvSpPr txBox="1">
            <a:spLocks/>
          </p:cNvSpPr>
          <p:nvPr/>
        </p:nvSpPr>
        <p:spPr>
          <a:xfrm>
            <a:off x="466725" y="2913064"/>
            <a:ext cx="6726554" cy="2103436"/>
          </a:xfrm>
          <a:prstGeom prst="rect">
            <a:avLst/>
          </a:prstGeom>
        </p:spPr>
        <p:txBody>
          <a:bodyPr vert="horz" lIns="91440" tIns="45720" rIns="91440" bIns="45720" rtlCol="0" anchor="t">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pPr algn="just">
              <a:lnSpc>
                <a:spcPct val="100000"/>
              </a:lnSpc>
              <a:spcAft>
                <a:spcPts val="600"/>
              </a:spcAft>
            </a:pPr>
            <a:r>
              <a:rPr lang="en-IN" sz="1800" dirty="0">
                <a:latin typeface="Comic Sans MS" panose="030F0702030302020204" pitchFamily="66" charset="0"/>
              </a:rPr>
              <a:t>All written records of  the past are literary sources. Most of the available literary sources of ancient history are </a:t>
            </a:r>
            <a:r>
              <a:rPr lang="en-IN" sz="1800" b="1" i="1" dirty="0">
                <a:latin typeface="Comic Sans MS" panose="030F0702030302020204" pitchFamily="66" charset="0"/>
              </a:rPr>
              <a:t>manuscripts</a:t>
            </a:r>
            <a:r>
              <a:rPr lang="en-IN" sz="1800" dirty="0">
                <a:latin typeface="Comic Sans MS" panose="030F0702030302020204" pitchFamily="66" charset="0"/>
              </a:rPr>
              <a:t>. Manuscripts were placed in libraries and </a:t>
            </a:r>
            <a:r>
              <a:rPr lang="en-IN" sz="1800" b="1" dirty="0">
                <a:latin typeface="Comic Sans MS" panose="030F0702030302020204" pitchFamily="66" charset="0"/>
              </a:rPr>
              <a:t>archives</a:t>
            </a:r>
            <a:r>
              <a:rPr lang="en-IN" sz="1800" dirty="0">
                <a:latin typeface="Comic Sans MS" panose="030F0702030302020204" pitchFamily="66" charset="0"/>
              </a:rPr>
              <a:t>. Before the invention of paper the manuscripts is written in on </a:t>
            </a:r>
            <a:r>
              <a:rPr lang="en-IN" sz="1800" i="1" dirty="0">
                <a:latin typeface="Comic Sans MS" panose="030F0702030302020204" pitchFamily="66" charset="0"/>
              </a:rPr>
              <a:t>bhojapatra </a:t>
            </a:r>
            <a:r>
              <a:rPr lang="en-IN" sz="1800" dirty="0">
                <a:latin typeface="Comic Sans MS" panose="030F0702030302020204" pitchFamily="66" charset="0"/>
              </a:rPr>
              <a:t>(birch bark) and palm leaves. The language of these manuscripts were generally Sanskrit and Prakrit and the script was Brahmi. Later Sanskrit adopted Devanagari as its script.</a:t>
            </a:r>
          </a:p>
        </p:txBody>
      </p:sp>
      <p:sp>
        <p:nvSpPr>
          <p:cNvPr id="2" name="Rectangle 1">
            <a:extLst>
              <a:ext uri="{FF2B5EF4-FFF2-40B4-BE49-F238E27FC236}">
                <a16:creationId xmlns:a16="http://schemas.microsoft.com/office/drawing/2014/main" id="{3DB03A46-B7C2-4327-959B-365CFE3A8A5D}"/>
              </a:ext>
            </a:extLst>
          </p:cNvPr>
          <p:cNvSpPr/>
          <p:nvPr/>
        </p:nvSpPr>
        <p:spPr>
          <a:xfrm>
            <a:off x="513080" y="5362536"/>
            <a:ext cx="6579870" cy="1477328"/>
          </a:xfrm>
          <a:prstGeom prst="rect">
            <a:avLst/>
          </a:prstGeom>
        </p:spPr>
        <p:txBody>
          <a:bodyPr wrap="square">
            <a:spAutoFit/>
          </a:bodyPr>
          <a:lstStyle/>
          <a:p>
            <a:pPr algn="just"/>
            <a:r>
              <a:rPr lang="en-IN" dirty="0">
                <a:solidFill>
                  <a:schemeClr val="accent1"/>
                </a:solidFill>
                <a:latin typeface="Comic Sans MS" panose="030F0702030302020204" pitchFamily="66" charset="0"/>
              </a:rPr>
              <a:t>Religious Literature</a:t>
            </a:r>
          </a:p>
          <a:p>
            <a:pPr algn="just"/>
            <a:r>
              <a:rPr lang="en-IN" dirty="0">
                <a:latin typeface="Comic Sans MS" panose="030F0702030302020204" pitchFamily="66" charset="0"/>
              </a:rPr>
              <a:t>Writing on religious themes are called religious literature. </a:t>
            </a:r>
            <a:r>
              <a:rPr lang="en-IN" i="1" dirty="0">
                <a:latin typeface="Comic Sans MS" panose="030F0702030302020204" pitchFamily="66" charset="0"/>
              </a:rPr>
              <a:t>The Vedas, The Ramayana, The Mahabharata, Upanishads, Puranas, Geeta, </a:t>
            </a:r>
            <a:r>
              <a:rPr lang="en-IN" dirty="0">
                <a:latin typeface="Comic Sans MS" panose="030F0702030302020204" pitchFamily="66" charset="0"/>
              </a:rPr>
              <a:t>which provide the wealth of knowledge about India’s ancient past and about the Hinduism</a:t>
            </a:r>
          </a:p>
        </p:txBody>
      </p:sp>
      <p:sp>
        <p:nvSpPr>
          <p:cNvPr id="13" name="AutoShape 11">
            <a:extLst>
              <a:ext uri="{FF2B5EF4-FFF2-40B4-BE49-F238E27FC236}">
                <a16:creationId xmlns:a16="http://schemas.microsoft.com/office/drawing/2014/main" id="{CB508A1F-2391-43BD-8CC5-E0CC599B5983}"/>
              </a:ext>
            </a:extLst>
          </p:cNvPr>
          <p:cNvSpPr>
            <a:spLocks noChangeArrowheads="1"/>
          </p:cNvSpPr>
          <p:nvPr/>
        </p:nvSpPr>
        <p:spPr bwMode="auto">
          <a:xfrm>
            <a:off x="466725" y="2241571"/>
            <a:ext cx="2540000" cy="625475"/>
          </a:xfrm>
          <a:prstGeom prst="roundRect">
            <a:avLst>
              <a:gd name="adj" fmla="val 50000"/>
            </a:avLst>
          </a:prstGeom>
          <a:solidFill>
            <a:srgbClr val="FED013"/>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a:lnSpc>
                <a:spcPct val="100000"/>
              </a:lnSpc>
              <a:spcAft>
                <a:spcPts val="600"/>
              </a:spcAft>
            </a:pPr>
            <a:r>
              <a:rPr lang="en-IN" sz="2000" dirty="0">
                <a:latin typeface="Comic Sans MS" panose="030F0702030302020204" pitchFamily="66" charset="0"/>
              </a:rPr>
              <a:t>Literary Sources</a:t>
            </a:r>
          </a:p>
        </p:txBody>
      </p:sp>
      <p:sp>
        <p:nvSpPr>
          <p:cNvPr id="14" name="Rectangle 13">
            <a:extLst>
              <a:ext uri="{FF2B5EF4-FFF2-40B4-BE49-F238E27FC236}">
                <a16:creationId xmlns:a16="http://schemas.microsoft.com/office/drawing/2014/main" id="{3EA1FDF6-0834-4B8D-B298-EC354D684051}"/>
              </a:ext>
            </a:extLst>
          </p:cNvPr>
          <p:cNvSpPr/>
          <p:nvPr/>
        </p:nvSpPr>
        <p:spPr>
          <a:xfrm>
            <a:off x="513080" y="6972400"/>
            <a:ext cx="6579870" cy="3139321"/>
          </a:xfrm>
          <a:prstGeom prst="rect">
            <a:avLst/>
          </a:prstGeom>
        </p:spPr>
        <p:txBody>
          <a:bodyPr wrap="square">
            <a:spAutoFit/>
          </a:bodyPr>
          <a:lstStyle/>
          <a:p>
            <a:pPr algn="just"/>
            <a:r>
              <a:rPr lang="en-IN" dirty="0">
                <a:solidFill>
                  <a:schemeClr val="accent1"/>
                </a:solidFill>
                <a:latin typeface="Comic Sans MS" panose="030F0702030302020204" pitchFamily="66" charset="0"/>
              </a:rPr>
              <a:t>Secular Literature</a:t>
            </a:r>
          </a:p>
          <a:p>
            <a:pPr algn="just"/>
            <a:r>
              <a:rPr lang="en-IN" dirty="0">
                <a:latin typeface="Comic Sans MS" panose="030F0702030302020204" pitchFamily="66" charset="0"/>
              </a:rPr>
              <a:t>The literature that is not connected with any religion is called secular literature such as Chand Bardai’s Prithiviraj Raso portrays the Rajput king’s valour. Madura Vijayam and Amuktamalyatha were poems composed by Gangadevi and Krishnadevaraya respectively that help us gain insight into the events and individuals associated with the Vijayanagara Empire. It includes the biographies of kings and books on politics and science. For examples are Indica written by Megasthenes, the accounts of Fa-Hien and Hiuen Tsang, Harshacharitra written by Banbhatta.</a:t>
            </a:r>
          </a:p>
        </p:txBody>
      </p:sp>
    </p:spTree>
    <p:extLst>
      <p:ext uri="{BB962C8B-B14F-4D97-AF65-F5344CB8AC3E}">
        <p14:creationId xmlns:p14="http://schemas.microsoft.com/office/powerpoint/2010/main" val="28010950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utoShape 43">
            <a:extLst>
              <a:ext uri="{FF2B5EF4-FFF2-40B4-BE49-F238E27FC236}">
                <a16:creationId xmlns:a16="http://schemas.microsoft.com/office/drawing/2014/main" id="{6A4942B6-6294-45F0-864A-2FDC131BE78F}"/>
              </a:ext>
            </a:extLst>
          </p:cNvPr>
          <p:cNvSpPr>
            <a:spLocks noChangeArrowheads="1"/>
          </p:cNvSpPr>
          <p:nvPr/>
        </p:nvSpPr>
        <p:spPr bwMode="auto">
          <a:xfrm>
            <a:off x="3590925" y="10345738"/>
            <a:ext cx="381000" cy="295275"/>
          </a:xfrm>
          <a:prstGeom prst="roundRect">
            <a:avLst>
              <a:gd name="adj" fmla="val 16667"/>
            </a:avLst>
          </a:prstGeom>
          <a:solidFill>
            <a:srgbClr val="F0587C"/>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9" name="Text Box 45">
            <a:extLst>
              <a:ext uri="{FF2B5EF4-FFF2-40B4-BE49-F238E27FC236}">
                <a16:creationId xmlns:a16="http://schemas.microsoft.com/office/drawing/2014/main" id="{2C6701D2-27A1-4027-8886-095C2FBCCAE3}"/>
              </a:ext>
            </a:extLst>
          </p:cNvPr>
          <p:cNvSpPr txBox="1">
            <a:spLocks noChangeArrowheads="1"/>
          </p:cNvSpPr>
          <p:nvPr/>
        </p:nvSpPr>
        <p:spPr bwMode="auto">
          <a:xfrm>
            <a:off x="3590925" y="10261600"/>
            <a:ext cx="381000" cy="4508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fld id="{AA3A2C3A-815D-4324-A52B-0D6E1281FA41}" type="slidenum">
              <a:rPr kumimoji="0" lang="en-IN" altLang="en-US" sz="1400" b="0" i="0" u="none" strike="noStrike" cap="none" normalizeH="0" baseline="0" smtClean="0">
                <a:ln>
                  <a:noFill/>
                </a:ln>
                <a:solidFill>
                  <a:srgbClr val="FFFFFF"/>
                </a:solidFill>
                <a:effectLst/>
                <a:latin typeface="Poppins" panose="00000500000000000000" pitchFamily="2" charset="0"/>
              </a:rPr>
              <a:pPr marL="0" marR="0" lvl="0" indent="0" algn="ctr" defTabSz="914400" rtl="0" eaLnBrk="0" fontAlgn="base" latinLnBrk="0" hangingPunct="0">
                <a:lnSpc>
                  <a:spcPct val="100000"/>
                </a:lnSpc>
                <a:spcBef>
                  <a:spcPct val="0"/>
                </a:spcBef>
                <a:spcAft>
                  <a:spcPct val="0"/>
                </a:spcAft>
                <a:buClrTx/>
                <a:buSzTx/>
                <a:buFontTx/>
                <a:buNone/>
                <a:tabLst/>
              </a:pPr>
              <a:t>6</a:t>
            </a:fld>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Text Box 46">
            <a:extLst>
              <a:ext uri="{FF2B5EF4-FFF2-40B4-BE49-F238E27FC236}">
                <a16:creationId xmlns:a16="http://schemas.microsoft.com/office/drawing/2014/main" id="{98BEA848-C23C-4ABD-8FBE-7BB093D3665A}"/>
              </a:ext>
            </a:extLst>
          </p:cNvPr>
          <p:cNvSpPr txBox="1">
            <a:spLocks noChangeArrowheads="1"/>
          </p:cNvSpPr>
          <p:nvPr/>
        </p:nvSpPr>
        <p:spPr bwMode="auto">
          <a:xfrm>
            <a:off x="0" y="10261600"/>
            <a:ext cx="3590925" cy="439738"/>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lvl="0" algn="ctr" defTabSz="914400" eaLnBrk="0" fontAlgn="base" hangingPunct="0">
              <a:spcBef>
                <a:spcPct val="0"/>
              </a:spcBef>
              <a:spcAft>
                <a:spcPct val="0"/>
              </a:spcAft>
            </a:pPr>
            <a:r>
              <a:rPr lang="en-IN" altLang="en-US" sz="1000">
                <a:solidFill>
                  <a:srgbClr val="000000"/>
                </a:solidFill>
                <a:latin typeface="Poppins" panose="00000500000000000000" pitchFamily="2" charset="0"/>
              </a:rPr>
              <a:t>VIDYAVANTAM — CBSE CLASS 7 HISTORY</a:t>
            </a:r>
            <a:endParaRPr lang="en-US" altLang="en-US" dirty="0">
              <a:latin typeface="Arial" panose="020B0604020202020204" pitchFamily="34" charset="0"/>
            </a:endParaRPr>
          </a:p>
        </p:txBody>
      </p:sp>
      <p:sp>
        <p:nvSpPr>
          <p:cNvPr id="11" name="Text Box 47">
            <a:extLst>
              <a:ext uri="{FF2B5EF4-FFF2-40B4-BE49-F238E27FC236}">
                <a16:creationId xmlns:a16="http://schemas.microsoft.com/office/drawing/2014/main" id="{0BA7C505-596C-4C02-BEC1-10D652FC0265}"/>
              </a:ext>
            </a:extLst>
          </p:cNvPr>
          <p:cNvSpPr txBox="1">
            <a:spLocks noChangeArrowheads="1"/>
          </p:cNvSpPr>
          <p:nvPr/>
        </p:nvSpPr>
        <p:spPr bwMode="auto">
          <a:xfrm>
            <a:off x="3968273" y="10261600"/>
            <a:ext cx="3587750" cy="428625"/>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defTabSz="914400" eaLnBrk="0" fontAlgn="base" hangingPunct="0">
              <a:spcBef>
                <a:spcPct val="0"/>
              </a:spcBef>
              <a:spcAft>
                <a:spcPct val="0"/>
              </a:spcAft>
            </a:pPr>
            <a:r>
              <a:rPr lang="en-IN" sz="1000" dirty="0">
                <a:solidFill>
                  <a:srgbClr val="000000"/>
                </a:solidFill>
                <a:latin typeface="Poppins" panose="00000500000000000000" pitchFamily="2" charset="0"/>
              </a:rPr>
              <a:t>TRACING CHANGES THROUGH A THOUSAND YEARS </a:t>
            </a:r>
          </a:p>
        </p:txBody>
      </p:sp>
      <p:sp>
        <p:nvSpPr>
          <p:cNvPr id="12" name="AutoShape 11">
            <a:extLst>
              <a:ext uri="{FF2B5EF4-FFF2-40B4-BE49-F238E27FC236}">
                <a16:creationId xmlns:a16="http://schemas.microsoft.com/office/drawing/2014/main" id="{C459F325-9C1F-4B7C-9EA9-FE2CC244D3CB}"/>
              </a:ext>
            </a:extLst>
          </p:cNvPr>
          <p:cNvSpPr>
            <a:spLocks noChangeArrowheads="1"/>
          </p:cNvSpPr>
          <p:nvPr/>
        </p:nvSpPr>
        <p:spPr bwMode="auto">
          <a:xfrm>
            <a:off x="466724" y="485775"/>
            <a:ext cx="4067176" cy="625475"/>
          </a:xfrm>
          <a:prstGeom prst="roundRect">
            <a:avLst>
              <a:gd name="adj" fmla="val 50000"/>
            </a:avLst>
          </a:prstGeom>
          <a:solidFill>
            <a:srgbClr val="FED013"/>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a:lnSpc>
                <a:spcPct val="100000"/>
              </a:lnSpc>
              <a:spcAft>
                <a:spcPts val="600"/>
              </a:spcAft>
            </a:pPr>
            <a:r>
              <a:rPr lang="en-IN" sz="2000" dirty="0">
                <a:latin typeface="Comic Sans MS" panose="030F0702030302020204" pitchFamily="66" charset="0"/>
              </a:rPr>
              <a:t>Travellers and Travelogues</a:t>
            </a:r>
          </a:p>
        </p:txBody>
      </p:sp>
      <p:sp>
        <p:nvSpPr>
          <p:cNvPr id="13" name="Rectangle 12">
            <a:extLst>
              <a:ext uri="{FF2B5EF4-FFF2-40B4-BE49-F238E27FC236}">
                <a16:creationId xmlns:a16="http://schemas.microsoft.com/office/drawing/2014/main" id="{BED8FEFE-4A6C-4814-AC0A-1E19F75D1646}"/>
              </a:ext>
            </a:extLst>
          </p:cNvPr>
          <p:cNvSpPr/>
          <p:nvPr/>
        </p:nvSpPr>
        <p:spPr>
          <a:xfrm>
            <a:off x="466725" y="1258888"/>
            <a:ext cx="6645275" cy="2616101"/>
          </a:xfrm>
          <a:prstGeom prst="rect">
            <a:avLst/>
          </a:prstGeom>
        </p:spPr>
        <p:txBody>
          <a:bodyPr wrap="square">
            <a:spAutoFit/>
          </a:bodyPr>
          <a:lstStyle/>
          <a:p>
            <a:pPr algn="just"/>
            <a:r>
              <a:rPr lang="en-IN" sz="2000" dirty="0">
                <a:solidFill>
                  <a:schemeClr val="accent1"/>
                </a:solidFill>
                <a:latin typeface="Comic Sans MS" panose="030F0702030302020204" pitchFamily="66" charset="0"/>
              </a:rPr>
              <a:t>Marco Polo</a:t>
            </a:r>
            <a:endParaRPr lang="en-IN" sz="1050" dirty="0">
              <a:solidFill>
                <a:schemeClr val="accent1"/>
              </a:solidFill>
              <a:latin typeface="Comic Sans MS" panose="030F0702030302020204" pitchFamily="66" charset="0"/>
            </a:endParaRPr>
          </a:p>
          <a:p>
            <a:pPr algn="just"/>
            <a:r>
              <a:rPr lang="en-IN" dirty="0">
                <a:latin typeface="Comic Sans MS" panose="030F0702030302020204" pitchFamily="66" charset="0"/>
              </a:rPr>
              <a:t>Marco Polo, a Venetian traveller, visited when the Pandya kingdom was becoming the leading Tamil power in the 13th century. Marco Polo was twice in Kayal, which was a port city (presently in Thoothukudi district of Tamilnadu). It was full of ships from Arabia and China. Marco Polo tells us that he himself came by a ship from China. According to Marco Polo, thousands of horses were imported into southern India by sea from Arabia and Persia.</a:t>
            </a:r>
          </a:p>
        </p:txBody>
      </p:sp>
      <p:sp>
        <p:nvSpPr>
          <p:cNvPr id="14" name="Rectangle 13">
            <a:extLst>
              <a:ext uri="{FF2B5EF4-FFF2-40B4-BE49-F238E27FC236}">
                <a16:creationId xmlns:a16="http://schemas.microsoft.com/office/drawing/2014/main" id="{304CBA02-1365-4B57-AFC3-9585A1A5014A}"/>
              </a:ext>
            </a:extLst>
          </p:cNvPr>
          <p:cNvSpPr/>
          <p:nvPr/>
        </p:nvSpPr>
        <p:spPr>
          <a:xfrm>
            <a:off x="457199" y="3959127"/>
            <a:ext cx="6645275" cy="2616101"/>
          </a:xfrm>
          <a:prstGeom prst="rect">
            <a:avLst/>
          </a:prstGeom>
        </p:spPr>
        <p:txBody>
          <a:bodyPr wrap="square">
            <a:spAutoFit/>
          </a:bodyPr>
          <a:lstStyle/>
          <a:p>
            <a:pPr algn="just"/>
            <a:r>
              <a:rPr lang="en-IN" sz="2000" dirty="0">
                <a:solidFill>
                  <a:schemeClr val="accent1"/>
                </a:solidFill>
                <a:latin typeface="Comic Sans MS" panose="030F0702030302020204" pitchFamily="66" charset="0"/>
              </a:rPr>
              <a:t>Al-Beruni</a:t>
            </a:r>
          </a:p>
          <a:p>
            <a:pPr algn="just"/>
            <a:r>
              <a:rPr lang="en-IN" dirty="0">
                <a:latin typeface="Comic Sans MS" panose="030F0702030302020204" pitchFamily="66" charset="0"/>
              </a:rPr>
              <a:t>Al-Beruni (11</a:t>
            </a:r>
            <a:r>
              <a:rPr lang="en-IN" baseline="30000" dirty="0">
                <a:latin typeface="Comic Sans MS" panose="030F0702030302020204" pitchFamily="66" charset="0"/>
              </a:rPr>
              <a:t>th</a:t>
            </a:r>
            <a:r>
              <a:rPr lang="en-IN" dirty="0">
                <a:latin typeface="Comic Sans MS" panose="030F0702030302020204" pitchFamily="66" charset="0"/>
              </a:rPr>
              <a:t> century) accompanied Mahmud of Ghazni in one of his campaigns, and stayed in India for 10 years. The most accurate account of Mahmud’s Somnath expedition is that of Alberuni. As learned man and a scholar, he travelled all over India trying to understand India and her people. He learnt Sanskrit and studied the philosophy of India. In his book Tahquiq-i-Hind, Alberuni discussed the Indian conditions, systems of knowledge, social norms and religion.</a:t>
            </a:r>
          </a:p>
        </p:txBody>
      </p:sp>
      <p:sp>
        <p:nvSpPr>
          <p:cNvPr id="16" name="Rectangle 15">
            <a:extLst>
              <a:ext uri="{FF2B5EF4-FFF2-40B4-BE49-F238E27FC236}">
                <a16:creationId xmlns:a16="http://schemas.microsoft.com/office/drawing/2014/main" id="{F06B06A5-FBE6-412F-96CE-657D886C0B99}"/>
              </a:ext>
            </a:extLst>
          </p:cNvPr>
          <p:cNvSpPr/>
          <p:nvPr/>
        </p:nvSpPr>
        <p:spPr>
          <a:xfrm>
            <a:off x="466725" y="6576300"/>
            <a:ext cx="6635749" cy="923330"/>
          </a:xfrm>
          <a:prstGeom prst="rect">
            <a:avLst/>
          </a:prstGeom>
        </p:spPr>
        <p:txBody>
          <a:bodyPr wrap="square">
            <a:spAutoFit/>
          </a:bodyPr>
          <a:lstStyle/>
          <a:p>
            <a:pPr algn="just"/>
            <a:r>
              <a:rPr lang="en-IN" dirty="0">
                <a:latin typeface="Comic Sans MS" panose="030F0702030302020204" pitchFamily="66" charset="0"/>
              </a:rPr>
              <a:t>And there were many travellers for example Ibn Battuta (14</a:t>
            </a:r>
            <a:r>
              <a:rPr lang="en-IN" baseline="30000" dirty="0">
                <a:latin typeface="Comic Sans MS" panose="030F0702030302020204" pitchFamily="66" charset="0"/>
              </a:rPr>
              <a:t>th</a:t>
            </a:r>
            <a:r>
              <a:rPr lang="en-IN" dirty="0">
                <a:latin typeface="Comic Sans MS" panose="030F0702030302020204" pitchFamily="66" charset="0"/>
              </a:rPr>
              <a:t> century), Fa-Hien and Hiuen Tsang who wrote and describe India of that time</a:t>
            </a:r>
            <a:endParaRPr lang="en-IN" dirty="0"/>
          </a:p>
        </p:txBody>
      </p:sp>
      <p:sp>
        <p:nvSpPr>
          <p:cNvPr id="15" name="Rectangle: Rounded Corners 14">
            <a:extLst>
              <a:ext uri="{FF2B5EF4-FFF2-40B4-BE49-F238E27FC236}">
                <a16:creationId xmlns:a16="http://schemas.microsoft.com/office/drawing/2014/main" id="{CA5BE861-FB5F-47C9-84EA-407F29594BC4}"/>
              </a:ext>
            </a:extLst>
          </p:cNvPr>
          <p:cNvSpPr/>
          <p:nvPr/>
        </p:nvSpPr>
        <p:spPr>
          <a:xfrm>
            <a:off x="515938" y="7599460"/>
            <a:ext cx="2290762" cy="2628803"/>
          </a:xfrm>
          <a:prstGeom prst="roundRect">
            <a:avLst>
              <a:gd name="adj" fmla="val 4148"/>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3" name="Picture 2">
            <a:extLst>
              <a:ext uri="{FF2B5EF4-FFF2-40B4-BE49-F238E27FC236}">
                <a16:creationId xmlns:a16="http://schemas.microsoft.com/office/drawing/2014/main" id="{523B4F29-8EE8-4DB3-96DE-9FDF2F6113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0763" y="7806462"/>
            <a:ext cx="1877337" cy="1877337"/>
          </a:xfrm>
          <a:prstGeom prst="rect">
            <a:avLst/>
          </a:prstGeom>
        </p:spPr>
      </p:pic>
      <p:sp>
        <p:nvSpPr>
          <p:cNvPr id="4" name="Rectangle 3">
            <a:extLst>
              <a:ext uri="{FF2B5EF4-FFF2-40B4-BE49-F238E27FC236}">
                <a16:creationId xmlns:a16="http://schemas.microsoft.com/office/drawing/2014/main" id="{DA9E5889-466D-4F43-BE1C-BF77468295DF}"/>
              </a:ext>
            </a:extLst>
          </p:cNvPr>
          <p:cNvSpPr/>
          <p:nvPr/>
        </p:nvSpPr>
        <p:spPr>
          <a:xfrm>
            <a:off x="700763" y="9755236"/>
            <a:ext cx="1877337" cy="276999"/>
          </a:xfrm>
          <a:prstGeom prst="rect">
            <a:avLst/>
          </a:prstGeom>
        </p:spPr>
        <p:txBody>
          <a:bodyPr wrap="square">
            <a:spAutoFit/>
          </a:bodyPr>
          <a:lstStyle/>
          <a:p>
            <a:pPr algn="ctr"/>
            <a:r>
              <a:rPr lang="en-IN" sz="1200" dirty="0">
                <a:latin typeface="Comic Sans MS" panose="030F0702030302020204" pitchFamily="66" charset="0"/>
              </a:rPr>
              <a:t>Fa Hien</a:t>
            </a:r>
            <a:endParaRPr lang="en-IN" sz="1200" dirty="0"/>
          </a:p>
        </p:txBody>
      </p:sp>
      <p:sp>
        <p:nvSpPr>
          <p:cNvPr id="17" name="Rectangle: Rounded Corners 16">
            <a:extLst>
              <a:ext uri="{FF2B5EF4-FFF2-40B4-BE49-F238E27FC236}">
                <a16:creationId xmlns:a16="http://schemas.microsoft.com/office/drawing/2014/main" id="{BEA4DA51-8A36-4973-8D77-15363BF47899}"/>
              </a:ext>
            </a:extLst>
          </p:cNvPr>
          <p:cNvSpPr/>
          <p:nvPr/>
        </p:nvSpPr>
        <p:spPr>
          <a:xfrm>
            <a:off x="4752975" y="7538820"/>
            <a:ext cx="2290762" cy="2628803"/>
          </a:xfrm>
          <a:prstGeom prst="roundRect">
            <a:avLst>
              <a:gd name="adj" fmla="val 4148"/>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8" name="Picture 17">
            <a:extLst>
              <a:ext uri="{FF2B5EF4-FFF2-40B4-BE49-F238E27FC236}">
                <a16:creationId xmlns:a16="http://schemas.microsoft.com/office/drawing/2014/main" id="{42D24AA1-3123-48B1-8DCB-919C478923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60174" y="7733307"/>
            <a:ext cx="2095330" cy="1746108"/>
          </a:xfrm>
          <a:prstGeom prst="rect">
            <a:avLst/>
          </a:prstGeom>
        </p:spPr>
      </p:pic>
      <p:sp>
        <p:nvSpPr>
          <p:cNvPr id="19" name="Rectangle 18">
            <a:extLst>
              <a:ext uri="{FF2B5EF4-FFF2-40B4-BE49-F238E27FC236}">
                <a16:creationId xmlns:a16="http://schemas.microsoft.com/office/drawing/2014/main" id="{ABB59852-A859-4F86-99CB-27D91C66C632}"/>
              </a:ext>
            </a:extLst>
          </p:cNvPr>
          <p:cNvSpPr/>
          <p:nvPr/>
        </p:nvSpPr>
        <p:spPr>
          <a:xfrm>
            <a:off x="4937800" y="9694596"/>
            <a:ext cx="1877337" cy="276999"/>
          </a:xfrm>
          <a:prstGeom prst="rect">
            <a:avLst/>
          </a:prstGeom>
        </p:spPr>
        <p:txBody>
          <a:bodyPr wrap="square">
            <a:spAutoFit/>
          </a:bodyPr>
          <a:lstStyle/>
          <a:p>
            <a:pPr algn="ctr"/>
            <a:r>
              <a:rPr lang="en-IN" sz="1200" dirty="0">
                <a:latin typeface="Comic Sans MS" panose="030F0702030302020204" pitchFamily="66" charset="0"/>
              </a:rPr>
              <a:t>Al Beruni</a:t>
            </a:r>
            <a:endParaRPr lang="en-IN" sz="1200" dirty="0"/>
          </a:p>
        </p:txBody>
      </p:sp>
    </p:spTree>
    <p:extLst>
      <p:ext uri="{BB962C8B-B14F-4D97-AF65-F5344CB8AC3E}">
        <p14:creationId xmlns:p14="http://schemas.microsoft.com/office/powerpoint/2010/main" val="4321926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28">
            <a:extLst>
              <a:ext uri="{FF2B5EF4-FFF2-40B4-BE49-F238E27FC236}">
                <a16:creationId xmlns:a16="http://schemas.microsoft.com/office/drawing/2014/main" id="{668C2F2F-8E4E-43F7-9527-24446647DDE5}"/>
              </a:ext>
            </a:extLst>
          </p:cNvPr>
          <p:cNvSpPr>
            <a:spLocks noChangeArrowheads="1"/>
          </p:cNvSpPr>
          <p:nvPr/>
        </p:nvSpPr>
        <p:spPr bwMode="auto">
          <a:xfrm>
            <a:off x="466725" y="792396"/>
            <a:ext cx="6643687" cy="7005404"/>
          </a:xfrm>
          <a:prstGeom prst="roundRect">
            <a:avLst>
              <a:gd name="adj" fmla="val 4525"/>
            </a:avLst>
          </a:prstGeom>
          <a:solidFill>
            <a:schemeClr val="bg1"/>
          </a:solidFill>
          <a:ln w="38100" algn="ctr">
            <a:solidFill>
              <a:srgbClr val="49C0C2"/>
            </a:solidFill>
            <a:round/>
            <a:headEnd/>
            <a:tailEnd/>
          </a:ln>
          <a:effectLst/>
        </p:spPr>
        <p:txBody>
          <a:bodyPr vert="horz" wrap="square" lIns="36576" tIns="36576" rIns="36576" bIns="36576" numCol="1" anchor="t" anchorCtr="0" compatLnSpc="1">
            <a:prstTxWarp prst="textNoShape">
              <a:avLst/>
            </a:prstTxWarp>
          </a:bodyPr>
          <a:lstStyle/>
          <a:p>
            <a:endParaRPr lang="en-IN" dirty="0"/>
          </a:p>
        </p:txBody>
      </p:sp>
      <p:sp>
        <p:nvSpPr>
          <p:cNvPr id="7" name="AutoShape 29">
            <a:extLst>
              <a:ext uri="{FF2B5EF4-FFF2-40B4-BE49-F238E27FC236}">
                <a16:creationId xmlns:a16="http://schemas.microsoft.com/office/drawing/2014/main" id="{A9E8C1A9-2EB1-4025-8F43-BB8285AEB916}"/>
              </a:ext>
            </a:extLst>
          </p:cNvPr>
          <p:cNvSpPr>
            <a:spLocks noChangeArrowheads="1"/>
          </p:cNvSpPr>
          <p:nvPr/>
        </p:nvSpPr>
        <p:spPr bwMode="auto">
          <a:xfrm>
            <a:off x="950834" y="598487"/>
            <a:ext cx="3525916" cy="490538"/>
          </a:xfrm>
          <a:prstGeom prst="roundRect">
            <a:avLst>
              <a:gd name="adj" fmla="val 50000"/>
            </a:avLst>
          </a:prstGeom>
          <a:solidFill>
            <a:srgbClr val="49C0C2"/>
          </a:solidFill>
          <a:ln w="38100" algn="ctr">
            <a:solidFill>
              <a:srgbClr val="49C0C2"/>
            </a:solidFill>
            <a:round/>
            <a:headEnd/>
            <a:tailEnd/>
          </a:ln>
          <a:effectLst/>
        </p:spPr>
        <p:txBody>
          <a:bodyPr vert="horz" wrap="square" lIns="36576" tIns="36576" rIns="36576" bIns="36576" numCol="1" anchor="t" anchorCtr="0" compatLnSpc="1">
            <a:prstTxWarp prst="textNoShape">
              <a:avLst/>
            </a:prstTxWarp>
          </a:bodyPr>
          <a:lstStyle/>
          <a:p>
            <a:r>
              <a:rPr lang="en-IN" dirty="0"/>
              <a:t>	</a:t>
            </a:r>
          </a:p>
        </p:txBody>
      </p:sp>
      <p:sp>
        <p:nvSpPr>
          <p:cNvPr id="8" name="AutoShape 30">
            <a:extLst>
              <a:ext uri="{FF2B5EF4-FFF2-40B4-BE49-F238E27FC236}">
                <a16:creationId xmlns:a16="http://schemas.microsoft.com/office/drawing/2014/main" id="{604746A6-1F79-4CD9-98CE-3F2DF343E230}"/>
              </a:ext>
            </a:extLst>
          </p:cNvPr>
          <p:cNvSpPr>
            <a:spLocks noChangeArrowheads="1"/>
          </p:cNvSpPr>
          <p:nvPr/>
        </p:nvSpPr>
        <p:spPr bwMode="auto">
          <a:xfrm>
            <a:off x="688895" y="639762"/>
            <a:ext cx="3724880" cy="400050"/>
          </a:xfrm>
          <a:prstGeom prst="roundRect">
            <a:avLst>
              <a:gd name="adj" fmla="val 50000"/>
            </a:avLst>
          </a:prstGeom>
          <a:noFill/>
          <a:ln w="38100" algn="ctr">
            <a:solidFill>
              <a:srgbClr val="FFFFFF"/>
            </a:solidFill>
            <a:round/>
            <a:headEnd/>
            <a:tailEnd/>
          </a:ln>
          <a:effectLst/>
          <a:extLst>
            <a:ext uri="{909E8E84-426E-40DD-AFC4-6F175D3DCCD1}">
              <a14:hiddenFill xmlns:a14="http://schemas.microsoft.com/office/drawing/2010/main">
                <a:solidFill>
                  <a:srgbClr val="49C0C2"/>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9" name="Oval 31">
            <a:extLst>
              <a:ext uri="{FF2B5EF4-FFF2-40B4-BE49-F238E27FC236}">
                <a16:creationId xmlns:a16="http://schemas.microsoft.com/office/drawing/2014/main" id="{C622E6B1-DACC-4A6E-BFA3-00172E99413D}"/>
              </a:ext>
            </a:extLst>
          </p:cNvPr>
          <p:cNvSpPr>
            <a:spLocks noChangeArrowheads="1"/>
          </p:cNvSpPr>
          <p:nvPr/>
        </p:nvSpPr>
        <p:spPr bwMode="auto">
          <a:xfrm>
            <a:off x="611109" y="485775"/>
            <a:ext cx="744537" cy="744537"/>
          </a:xfrm>
          <a:prstGeom prst="ellipse">
            <a:avLst/>
          </a:prstGeom>
          <a:solidFill>
            <a:srgbClr val="FFFFFF"/>
          </a:solidFill>
          <a:ln w="57150" algn="ctr">
            <a:solidFill>
              <a:srgbClr val="49C0C2"/>
            </a:solidFill>
            <a:round/>
            <a:headEnd/>
            <a:tailEnd/>
          </a:ln>
          <a:effectLst/>
        </p:spPr>
        <p:txBody>
          <a:bodyPr vert="horz" wrap="square" lIns="36576" tIns="36576" rIns="36576" bIns="36576" numCol="1" anchor="t" anchorCtr="0" compatLnSpc="1">
            <a:prstTxWarp prst="textNoShape">
              <a:avLst/>
            </a:prstTxWarp>
          </a:bodyPr>
          <a:lstStyle/>
          <a:p>
            <a:endParaRPr lang="en-IN" dirty="0"/>
          </a:p>
        </p:txBody>
      </p:sp>
      <p:sp>
        <p:nvSpPr>
          <p:cNvPr id="10" name="Title 1">
            <a:extLst>
              <a:ext uri="{FF2B5EF4-FFF2-40B4-BE49-F238E27FC236}">
                <a16:creationId xmlns:a16="http://schemas.microsoft.com/office/drawing/2014/main" id="{3F03117F-2A16-4862-9B94-AB45DDC28E80}"/>
              </a:ext>
            </a:extLst>
          </p:cNvPr>
          <p:cNvSpPr txBox="1">
            <a:spLocks/>
          </p:cNvSpPr>
          <p:nvPr/>
        </p:nvSpPr>
        <p:spPr>
          <a:xfrm>
            <a:off x="1356757" y="581342"/>
            <a:ext cx="3057018" cy="526891"/>
          </a:xfrm>
          <a:prstGeom prst="rect">
            <a:avLst/>
          </a:prstGeom>
          <a:effectLst/>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r>
              <a:rPr lang="en-IN" sz="1600" dirty="0">
                <a:solidFill>
                  <a:schemeClr val="bg1"/>
                </a:solidFill>
                <a:latin typeface="Comic Sans MS" panose="030F0702030302020204" pitchFamily="66" charset="0"/>
              </a:rPr>
              <a:t>Mistakes in Sources</a:t>
            </a:r>
            <a:endParaRPr lang="en-IN" sz="1500" dirty="0">
              <a:solidFill>
                <a:schemeClr val="bg1"/>
              </a:solidFill>
            </a:endParaRPr>
          </a:p>
        </p:txBody>
      </p:sp>
      <p:pic>
        <p:nvPicPr>
          <p:cNvPr id="11" name="Graphic 10">
            <a:extLst>
              <a:ext uri="{FF2B5EF4-FFF2-40B4-BE49-F238E27FC236}">
                <a16:creationId xmlns:a16="http://schemas.microsoft.com/office/drawing/2014/main" id="{A889A678-D4E3-4429-AF57-E24E1E67056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14125" y="585304"/>
            <a:ext cx="545477" cy="545477"/>
          </a:xfrm>
          <a:prstGeom prst="rect">
            <a:avLst/>
          </a:prstGeom>
        </p:spPr>
      </p:pic>
      <p:sp>
        <p:nvSpPr>
          <p:cNvPr id="12" name="Title 1">
            <a:extLst>
              <a:ext uri="{FF2B5EF4-FFF2-40B4-BE49-F238E27FC236}">
                <a16:creationId xmlns:a16="http://schemas.microsoft.com/office/drawing/2014/main" id="{6844BAEB-AE73-4904-9CC0-C1B44A272777}"/>
              </a:ext>
            </a:extLst>
          </p:cNvPr>
          <p:cNvSpPr txBox="1">
            <a:spLocks/>
          </p:cNvSpPr>
          <p:nvPr/>
        </p:nvSpPr>
        <p:spPr>
          <a:xfrm>
            <a:off x="622300" y="1230542"/>
            <a:ext cx="6271986" cy="6224358"/>
          </a:xfrm>
          <a:prstGeom prst="rect">
            <a:avLst/>
          </a:prstGeom>
        </p:spPr>
        <p:txBody>
          <a:bodyPr vert="horz" lIns="91440" tIns="45720" rIns="91440" bIns="45720" rtlCol="0" anchor="t">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pPr algn="just">
              <a:lnSpc>
                <a:spcPct val="100000"/>
              </a:lnSpc>
              <a:spcAft>
                <a:spcPts val="600"/>
              </a:spcAft>
            </a:pPr>
            <a:r>
              <a:rPr lang="en-IN" sz="1800" dirty="0">
                <a:latin typeface="Comic Sans MS" panose="030F0702030302020204" pitchFamily="66" charset="0"/>
              </a:rPr>
              <a:t>Have you ever thought that does all the sources are correct. Does the sources that historians read mislead them. There are so many historical sources that were wrong for instance Ghiazuddin Balban wrote in his inscriptions that his dynasty were from Ghazni (Gajjana) in Afghanistan in the west to Bengal (Gauda) in the east and included all South India which was wrong. And there is also many mistakes that is occurred while copying the sources. By saying this means there were no printers who can copy the pages multiple times without writing anything so there were a job named scribes who copy sources. But there were a problem if one copy source to first book but another copies the first copy but the another didn’t specific word and he wrote something else. There a small changes but if this cycle of writing mistakes continues the final copy that historians sees that will be different from the original source. This is a serious problem because we rarely find the original manuscript of the author today. We are totally dependent upon the copies made by later scribes. As a result historians have to read different manuscript versions of the same text to guess what the author had originally written.</a:t>
            </a:r>
          </a:p>
        </p:txBody>
      </p:sp>
      <p:sp>
        <p:nvSpPr>
          <p:cNvPr id="20" name="AutoShape 43">
            <a:extLst>
              <a:ext uri="{FF2B5EF4-FFF2-40B4-BE49-F238E27FC236}">
                <a16:creationId xmlns:a16="http://schemas.microsoft.com/office/drawing/2014/main" id="{34821348-E8AA-4A4F-83FA-46B62ABF5FCB}"/>
              </a:ext>
            </a:extLst>
          </p:cNvPr>
          <p:cNvSpPr>
            <a:spLocks noChangeArrowheads="1"/>
          </p:cNvSpPr>
          <p:nvPr/>
        </p:nvSpPr>
        <p:spPr bwMode="auto">
          <a:xfrm>
            <a:off x="3590925" y="10345738"/>
            <a:ext cx="381000" cy="295275"/>
          </a:xfrm>
          <a:prstGeom prst="roundRect">
            <a:avLst>
              <a:gd name="adj" fmla="val 16667"/>
            </a:avLst>
          </a:prstGeom>
          <a:solidFill>
            <a:srgbClr val="F0587C"/>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21" name="Text Box 45">
            <a:extLst>
              <a:ext uri="{FF2B5EF4-FFF2-40B4-BE49-F238E27FC236}">
                <a16:creationId xmlns:a16="http://schemas.microsoft.com/office/drawing/2014/main" id="{27C4E18E-5756-489E-B1BC-E03291A8B23B}"/>
              </a:ext>
            </a:extLst>
          </p:cNvPr>
          <p:cNvSpPr txBox="1">
            <a:spLocks noChangeArrowheads="1"/>
          </p:cNvSpPr>
          <p:nvPr/>
        </p:nvSpPr>
        <p:spPr bwMode="auto">
          <a:xfrm>
            <a:off x="3590925" y="10261600"/>
            <a:ext cx="381000" cy="4508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fld id="{AA3A2C3A-815D-4324-A52B-0D6E1281FA41}" type="slidenum">
              <a:rPr kumimoji="0" lang="en-IN" altLang="en-US" sz="1400" b="0" i="0" u="none" strike="noStrike" cap="none" normalizeH="0" baseline="0" smtClean="0">
                <a:ln>
                  <a:noFill/>
                </a:ln>
                <a:solidFill>
                  <a:srgbClr val="FFFFFF"/>
                </a:solidFill>
                <a:effectLst/>
                <a:latin typeface="Poppins" panose="00000500000000000000" pitchFamily="2" charset="0"/>
              </a:rPr>
              <a:pPr marL="0" marR="0" lvl="0" indent="0" algn="ctr" defTabSz="914400" rtl="0" eaLnBrk="0" fontAlgn="base" latinLnBrk="0" hangingPunct="0">
                <a:lnSpc>
                  <a:spcPct val="100000"/>
                </a:lnSpc>
                <a:spcBef>
                  <a:spcPct val="0"/>
                </a:spcBef>
                <a:spcAft>
                  <a:spcPct val="0"/>
                </a:spcAft>
                <a:buClrTx/>
                <a:buSzTx/>
                <a:buFontTx/>
                <a:buNone/>
                <a:tabLst/>
              </a:pPr>
              <a:t>7</a:t>
            </a:fld>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2" name="Text Box 46">
            <a:extLst>
              <a:ext uri="{FF2B5EF4-FFF2-40B4-BE49-F238E27FC236}">
                <a16:creationId xmlns:a16="http://schemas.microsoft.com/office/drawing/2014/main" id="{968870B2-FFD0-4F7F-8539-DB86F4AB1175}"/>
              </a:ext>
            </a:extLst>
          </p:cNvPr>
          <p:cNvSpPr txBox="1">
            <a:spLocks noChangeArrowheads="1"/>
          </p:cNvSpPr>
          <p:nvPr/>
        </p:nvSpPr>
        <p:spPr bwMode="auto">
          <a:xfrm>
            <a:off x="0" y="10261600"/>
            <a:ext cx="3590925" cy="439738"/>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lvl="0" algn="ctr" defTabSz="914400" eaLnBrk="0" fontAlgn="base" hangingPunct="0">
              <a:spcBef>
                <a:spcPct val="0"/>
              </a:spcBef>
              <a:spcAft>
                <a:spcPct val="0"/>
              </a:spcAft>
            </a:pPr>
            <a:r>
              <a:rPr lang="en-IN" altLang="en-US" sz="1000">
                <a:solidFill>
                  <a:srgbClr val="000000"/>
                </a:solidFill>
                <a:latin typeface="Poppins" panose="00000500000000000000" pitchFamily="2" charset="0"/>
              </a:rPr>
              <a:t>VIDYAVANTAM — CBSE CLASS 7 HISTORY</a:t>
            </a:r>
            <a:endParaRPr lang="en-US" altLang="en-US" dirty="0">
              <a:latin typeface="Arial" panose="020B0604020202020204" pitchFamily="34" charset="0"/>
            </a:endParaRPr>
          </a:p>
        </p:txBody>
      </p:sp>
      <p:sp>
        <p:nvSpPr>
          <p:cNvPr id="23" name="Text Box 47">
            <a:extLst>
              <a:ext uri="{FF2B5EF4-FFF2-40B4-BE49-F238E27FC236}">
                <a16:creationId xmlns:a16="http://schemas.microsoft.com/office/drawing/2014/main" id="{A29131F1-0ECD-4139-BFC6-009EC9753F54}"/>
              </a:ext>
            </a:extLst>
          </p:cNvPr>
          <p:cNvSpPr txBox="1">
            <a:spLocks noChangeArrowheads="1"/>
          </p:cNvSpPr>
          <p:nvPr/>
        </p:nvSpPr>
        <p:spPr bwMode="auto">
          <a:xfrm>
            <a:off x="3968273" y="10261600"/>
            <a:ext cx="3587750" cy="428625"/>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defTabSz="914400" eaLnBrk="0" fontAlgn="base" hangingPunct="0">
              <a:spcBef>
                <a:spcPct val="0"/>
              </a:spcBef>
              <a:spcAft>
                <a:spcPct val="0"/>
              </a:spcAft>
            </a:pPr>
            <a:r>
              <a:rPr lang="en-IN" sz="1000" dirty="0">
                <a:solidFill>
                  <a:srgbClr val="000000"/>
                </a:solidFill>
                <a:latin typeface="Poppins" panose="00000500000000000000" pitchFamily="2" charset="0"/>
              </a:rPr>
              <a:t>TRACING CHANGES THROUGH A THOUSAND YEARS </a:t>
            </a:r>
          </a:p>
        </p:txBody>
      </p:sp>
    </p:spTree>
    <p:extLst>
      <p:ext uri="{BB962C8B-B14F-4D97-AF65-F5344CB8AC3E}">
        <p14:creationId xmlns:p14="http://schemas.microsoft.com/office/powerpoint/2010/main" val="23334263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3">
            <a:extLst>
              <a:ext uri="{FF2B5EF4-FFF2-40B4-BE49-F238E27FC236}">
                <a16:creationId xmlns:a16="http://schemas.microsoft.com/office/drawing/2014/main" id="{E2F21BFB-1FCE-46BD-99CE-80FF505686CD}"/>
              </a:ext>
            </a:extLst>
          </p:cNvPr>
          <p:cNvSpPr>
            <a:spLocks noChangeArrowheads="1"/>
          </p:cNvSpPr>
          <p:nvPr/>
        </p:nvSpPr>
        <p:spPr bwMode="auto">
          <a:xfrm>
            <a:off x="3590925" y="10345738"/>
            <a:ext cx="381000" cy="295275"/>
          </a:xfrm>
          <a:prstGeom prst="roundRect">
            <a:avLst>
              <a:gd name="adj" fmla="val 16667"/>
            </a:avLst>
          </a:prstGeom>
          <a:solidFill>
            <a:srgbClr val="F0587C"/>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5" name="Text Box 45">
            <a:extLst>
              <a:ext uri="{FF2B5EF4-FFF2-40B4-BE49-F238E27FC236}">
                <a16:creationId xmlns:a16="http://schemas.microsoft.com/office/drawing/2014/main" id="{BEE847CF-870F-401D-B977-A6AD728D35C0}"/>
              </a:ext>
            </a:extLst>
          </p:cNvPr>
          <p:cNvSpPr txBox="1">
            <a:spLocks noChangeArrowheads="1"/>
          </p:cNvSpPr>
          <p:nvPr/>
        </p:nvSpPr>
        <p:spPr bwMode="auto">
          <a:xfrm>
            <a:off x="3590925" y="10261600"/>
            <a:ext cx="381000" cy="4508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fld id="{AA3A2C3A-815D-4324-A52B-0D6E1281FA41}" type="slidenum">
              <a:rPr kumimoji="0" lang="en-IN" altLang="en-US" sz="1400" b="0" i="0" u="none" strike="noStrike" cap="none" normalizeH="0" baseline="0" smtClean="0">
                <a:ln>
                  <a:noFill/>
                </a:ln>
                <a:solidFill>
                  <a:srgbClr val="FFFFFF"/>
                </a:solidFill>
                <a:effectLst/>
                <a:latin typeface="Poppins" panose="00000500000000000000" pitchFamily="2" charset="0"/>
              </a:rPr>
              <a:pPr marL="0" marR="0" lvl="0" indent="0" algn="ctr" defTabSz="914400" rtl="0" eaLnBrk="0" fontAlgn="base" latinLnBrk="0" hangingPunct="0">
                <a:lnSpc>
                  <a:spcPct val="100000"/>
                </a:lnSpc>
                <a:spcBef>
                  <a:spcPct val="0"/>
                </a:spcBef>
                <a:spcAft>
                  <a:spcPct val="0"/>
                </a:spcAft>
                <a:buClrTx/>
                <a:buSzTx/>
                <a:buFontTx/>
                <a:buNone/>
                <a:tabLst/>
              </a:pPr>
              <a:t>8</a:t>
            </a:fld>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Text Box 46">
            <a:extLst>
              <a:ext uri="{FF2B5EF4-FFF2-40B4-BE49-F238E27FC236}">
                <a16:creationId xmlns:a16="http://schemas.microsoft.com/office/drawing/2014/main" id="{5EB47D1F-6B7C-45BF-A5FC-2C4D20E0BE8F}"/>
              </a:ext>
            </a:extLst>
          </p:cNvPr>
          <p:cNvSpPr txBox="1">
            <a:spLocks noChangeArrowheads="1"/>
          </p:cNvSpPr>
          <p:nvPr/>
        </p:nvSpPr>
        <p:spPr bwMode="auto">
          <a:xfrm>
            <a:off x="0" y="10261600"/>
            <a:ext cx="3590925" cy="439738"/>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IN" altLang="en-US" sz="1000" b="0" i="0" u="none" strike="noStrike" cap="none" normalizeH="0" baseline="0">
                <a:ln>
                  <a:noFill/>
                </a:ln>
                <a:solidFill>
                  <a:srgbClr val="000000"/>
                </a:solidFill>
                <a:effectLst/>
                <a:latin typeface="Poppins" panose="00000500000000000000" pitchFamily="2" charset="0"/>
              </a:rPr>
              <a:t>VIDYAVANTAM — CBSE CLASS 7 HISTORY</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Text Box 47">
            <a:extLst>
              <a:ext uri="{FF2B5EF4-FFF2-40B4-BE49-F238E27FC236}">
                <a16:creationId xmlns:a16="http://schemas.microsoft.com/office/drawing/2014/main" id="{BEF844EC-098E-49D9-B55C-0F435A3C9FFC}"/>
              </a:ext>
            </a:extLst>
          </p:cNvPr>
          <p:cNvSpPr txBox="1">
            <a:spLocks noChangeArrowheads="1"/>
          </p:cNvSpPr>
          <p:nvPr/>
        </p:nvSpPr>
        <p:spPr bwMode="auto">
          <a:xfrm>
            <a:off x="3968273" y="10261600"/>
            <a:ext cx="3587750" cy="428625"/>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defTabSz="914400" eaLnBrk="0" fontAlgn="base" hangingPunct="0">
              <a:spcBef>
                <a:spcPct val="0"/>
              </a:spcBef>
              <a:spcAft>
                <a:spcPct val="0"/>
              </a:spcAft>
            </a:pPr>
            <a:r>
              <a:rPr lang="en-IN" sz="1000" dirty="0">
                <a:solidFill>
                  <a:srgbClr val="000000"/>
                </a:solidFill>
                <a:latin typeface="Poppins" panose="00000500000000000000" pitchFamily="2" charset="0"/>
              </a:rPr>
              <a:t>RASHTRAKUTA, PALA, GURJAR PRATIHAR DYNASTY</a:t>
            </a:r>
          </a:p>
        </p:txBody>
      </p:sp>
      <p:sp>
        <p:nvSpPr>
          <p:cNvPr id="8" name="Rectangle 32">
            <a:extLst>
              <a:ext uri="{FF2B5EF4-FFF2-40B4-BE49-F238E27FC236}">
                <a16:creationId xmlns:a16="http://schemas.microsoft.com/office/drawing/2014/main" id="{67B69EEA-EAEC-4346-8A62-1FC4A6B3B3A1}"/>
              </a:ext>
            </a:extLst>
          </p:cNvPr>
          <p:cNvSpPr>
            <a:spLocks noChangeArrowheads="1"/>
          </p:cNvSpPr>
          <p:nvPr/>
        </p:nvSpPr>
        <p:spPr bwMode="auto">
          <a:xfrm>
            <a:off x="-3652" y="-20797"/>
            <a:ext cx="7559675" cy="2338582"/>
          </a:xfrm>
          <a:prstGeom prst="rect">
            <a:avLst/>
          </a:prstGeom>
          <a:solidFill>
            <a:srgbClr val="27B9C0"/>
          </a:solidFill>
          <a:ln>
            <a:noFill/>
          </a:ln>
          <a:effectLst/>
          <a:extLs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9" name="Title 1">
            <a:extLst>
              <a:ext uri="{FF2B5EF4-FFF2-40B4-BE49-F238E27FC236}">
                <a16:creationId xmlns:a16="http://schemas.microsoft.com/office/drawing/2014/main" id="{D6B97C0A-917D-4192-880E-CBF75BF819E8}"/>
              </a:ext>
            </a:extLst>
          </p:cNvPr>
          <p:cNvSpPr txBox="1">
            <a:spLocks/>
          </p:cNvSpPr>
          <p:nvPr/>
        </p:nvSpPr>
        <p:spPr>
          <a:xfrm>
            <a:off x="484710" y="739298"/>
            <a:ext cx="699996" cy="702628"/>
          </a:xfrm>
          <a:prstGeom prst="ellipse">
            <a:avLst/>
          </a:prstGeom>
          <a:solidFill>
            <a:schemeClr val="bg1"/>
          </a:solidFill>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r>
              <a:rPr lang="en-IN" sz="3200" b="1" dirty="0">
                <a:solidFill>
                  <a:srgbClr val="49C0C2"/>
                </a:solidFill>
                <a:latin typeface="Comic Sans MS" panose="030F0702030302020204" pitchFamily="66" charset="0"/>
              </a:rPr>
              <a:t>2</a:t>
            </a:r>
            <a:endParaRPr lang="en-IN" sz="3200" b="1" dirty="0">
              <a:solidFill>
                <a:srgbClr val="49C0C2"/>
              </a:solidFill>
            </a:endParaRPr>
          </a:p>
        </p:txBody>
      </p:sp>
      <p:sp>
        <p:nvSpPr>
          <p:cNvPr id="10" name="Title 1">
            <a:extLst>
              <a:ext uri="{FF2B5EF4-FFF2-40B4-BE49-F238E27FC236}">
                <a16:creationId xmlns:a16="http://schemas.microsoft.com/office/drawing/2014/main" id="{B8EF024A-82C6-4726-A051-425C3C613A84}"/>
              </a:ext>
            </a:extLst>
          </p:cNvPr>
          <p:cNvSpPr txBox="1">
            <a:spLocks/>
          </p:cNvSpPr>
          <p:nvPr/>
        </p:nvSpPr>
        <p:spPr>
          <a:xfrm>
            <a:off x="1380809" y="-20797"/>
            <a:ext cx="6175214" cy="2345330"/>
          </a:xfrm>
          <a:prstGeom prst="rect">
            <a:avLst/>
          </a:prstGeom>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pPr algn="l"/>
            <a:r>
              <a:rPr lang="en-IN" sz="3600" b="1" dirty="0">
                <a:ln w="12700">
                  <a:solidFill>
                    <a:schemeClr val="tx1"/>
                  </a:solidFill>
                </a:ln>
                <a:solidFill>
                  <a:schemeClr val="bg1"/>
                </a:solidFill>
                <a:latin typeface="Comic Sans MS" panose="030F0702030302020204" pitchFamily="66" charset="0"/>
              </a:rPr>
              <a:t>Rashtrakuta, Pala, Gurjar Pratihar Dynasty</a:t>
            </a:r>
          </a:p>
        </p:txBody>
      </p:sp>
      <p:sp>
        <p:nvSpPr>
          <p:cNvPr id="11" name="AutoShape 26">
            <a:extLst>
              <a:ext uri="{FF2B5EF4-FFF2-40B4-BE49-F238E27FC236}">
                <a16:creationId xmlns:a16="http://schemas.microsoft.com/office/drawing/2014/main" id="{110F10E1-2078-4570-84F0-195FE83C7892}"/>
              </a:ext>
            </a:extLst>
          </p:cNvPr>
          <p:cNvSpPr>
            <a:spLocks noChangeArrowheads="1"/>
          </p:cNvSpPr>
          <p:nvPr/>
        </p:nvSpPr>
        <p:spPr bwMode="auto">
          <a:xfrm>
            <a:off x="729853" y="2579780"/>
            <a:ext cx="2219325" cy="438150"/>
          </a:xfrm>
          <a:prstGeom prst="roundRect">
            <a:avLst>
              <a:gd name="adj" fmla="val 50000"/>
            </a:avLst>
          </a:prstGeom>
          <a:noFill/>
          <a:ln w="38100" algn="ctr">
            <a:solidFill>
              <a:srgbClr val="FFFFFF"/>
            </a:solidFill>
            <a:round/>
            <a:headEnd/>
            <a:tailEnd/>
          </a:ln>
          <a:effectLst/>
          <a:extLst>
            <a:ext uri="{909E8E84-426E-40DD-AFC4-6F175D3DCCD1}">
              <a14:hiddenFill xmlns:a14="http://schemas.microsoft.com/office/drawing/2010/main">
                <a:solidFill>
                  <a:srgbClr val="49C0C2"/>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12" name="Title 1">
            <a:extLst>
              <a:ext uri="{FF2B5EF4-FFF2-40B4-BE49-F238E27FC236}">
                <a16:creationId xmlns:a16="http://schemas.microsoft.com/office/drawing/2014/main" id="{6AD02377-460D-44D6-AA43-FBA893BB8C6A}"/>
              </a:ext>
            </a:extLst>
          </p:cNvPr>
          <p:cNvSpPr txBox="1">
            <a:spLocks/>
          </p:cNvSpPr>
          <p:nvPr/>
        </p:nvSpPr>
        <p:spPr>
          <a:xfrm>
            <a:off x="1378903" y="2543268"/>
            <a:ext cx="1504966" cy="499110"/>
          </a:xfrm>
          <a:prstGeom prst="rect">
            <a:avLst/>
          </a:prstGeom>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r>
              <a:rPr lang="en-IN" sz="1500" b="1" dirty="0">
                <a:solidFill>
                  <a:schemeClr val="bg1"/>
                </a:solidFill>
                <a:latin typeface="Comic Sans MS" panose="030F0702030302020204" pitchFamily="66" charset="0"/>
              </a:rPr>
              <a:t>Introduction</a:t>
            </a:r>
            <a:endParaRPr lang="en-IN" sz="1500" b="1" dirty="0"/>
          </a:p>
        </p:txBody>
      </p:sp>
      <p:sp>
        <p:nvSpPr>
          <p:cNvPr id="13" name="AutoShape 28">
            <a:extLst>
              <a:ext uri="{FF2B5EF4-FFF2-40B4-BE49-F238E27FC236}">
                <a16:creationId xmlns:a16="http://schemas.microsoft.com/office/drawing/2014/main" id="{7BAF9893-A794-4136-A31B-8C088A05ED73}"/>
              </a:ext>
            </a:extLst>
          </p:cNvPr>
          <p:cNvSpPr>
            <a:spLocks noChangeArrowheads="1"/>
          </p:cNvSpPr>
          <p:nvPr/>
        </p:nvSpPr>
        <p:spPr bwMode="auto">
          <a:xfrm>
            <a:off x="513158" y="2773197"/>
            <a:ext cx="6660357" cy="1752498"/>
          </a:xfrm>
          <a:prstGeom prst="roundRect">
            <a:avLst>
              <a:gd name="adj" fmla="val 8473"/>
            </a:avLst>
          </a:prstGeom>
          <a:solidFill>
            <a:schemeClr val="bg1"/>
          </a:solidFill>
          <a:ln w="38100" algn="ctr">
            <a:solidFill>
              <a:srgbClr val="49C0C2"/>
            </a:solidFill>
            <a:round/>
            <a:headEnd/>
            <a:tailEnd/>
          </a:ln>
          <a:effectLst/>
        </p:spPr>
        <p:txBody>
          <a:bodyPr vert="horz" wrap="square" lIns="36576" tIns="36576" rIns="36576" bIns="36576" numCol="1" anchor="t" anchorCtr="0" compatLnSpc="1">
            <a:prstTxWarp prst="textNoShape">
              <a:avLst/>
            </a:prstTxWarp>
          </a:bodyPr>
          <a:lstStyle/>
          <a:p>
            <a:endParaRPr lang="en-IN" dirty="0"/>
          </a:p>
        </p:txBody>
      </p:sp>
      <p:sp>
        <p:nvSpPr>
          <p:cNvPr id="14" name="AutoShape 29">
            <a:extLst>
              <a:ext uri="{FF2B5EF4-FFF2-40B4-BE49-F238E27FC236}">
                <a16:creationId xmlns:a16="http://schemas.microsoft.com/office/drawing/2014/main" id="{9A4F8437-D11F-4DA4-A21E-9C552D232CFC}"/>
              </a:ext>
            </a:extLst>
          </p:cNvPr>
          <p:cNvSpPr>
            <a:spLocks noChangeArrowheads="1"/>
          </p:cNvSpPr>
          <p:nvPr/>
        </p:nvSpPr>
        <p:spPr bwMode="auto">
          <a:xfrm>
            <a:off x="1041003" y="2530170"/>
            <a:ext cx="2219325" cy="490538"/>
          </a:xfrm>
          <a:prstGeom prst="roundRect">
            <a:avLst>
              <a:gd name="adj" fmla="val 50000"/>
            </a:avLst>
          </a:prstGeom>
          <a:solidFill>
            <a:srgbClr val="49C0C2"/>
          </a:solidFill>
          <a:ln w="38100" algn="ctr">
            <a:solidFill>
              <a:srgbClr val="49C0C2"/>
            </a:solidFill>
            <a:round/>
            <a:headEnd/>
            <a:tailEnd/>
          </a:ln>
          <a:effectLst/>
        </p:spPr>
        <p:txBody>
          <a:bodyPr vert="horz" wrap="square" lIns="36576" tIns="36576" rIns="36576" bIns="36576" numCol="1" anchor="t" anchorCtr="0" compatLnSpc="1">
            <a:prstTxWarp prst="textNoShape">
              <a:avLst/>
            </a:prstTxWarp>
          </a:bodyPr>
          <a:lstStyle/>
          <a:p>
            <a:r>
              <a:rPr lang="en-IN" dirty="0"/>
              <a:t>	</a:t>
            </a:r>
          </a:p>
        </p:txBody>
      </p:sp>
      <p:sp>
        <p:nvSpPr>
          <p:cNvPr id="15" name="AutoShape 30">
            <a:extLst>
              <a:ext uri="{FF2B5EF4-FFF2-40B4-BE49-F238E27FC236}">
                <a16:creationId xmlns:a16="http://schemas.microsoft.com/office/drawing/2014/main" id="{E0BB35B7-706B-44EF-BD49-EA4C9FEED008}"/>
              </a:ext>
            </a:extLst>
          </p:cNvPr>
          <p:cNvSpPr>
            <a:spLocks noChangeArrowheads="1"/>
          </p:cNvSpPr>
          <p:nvPr/>
        </p:nvSpPr>
        <p:spPr bwMode="auto">
          <a:xfrm>
            <a:off x="779065" y="2571445"/>
            <a:ext cx="2402718" cy="400050"/>
          </a:xfrm>
          <a:prstGeom prst="roundRect">
            <a:avLst>
              <a:gd name="adj" fmla="val 50000"/>
            </a:avLst>
          </a:prstGeom>
          <a:noFill/>
          <a:ln w="38100" algn="ctr">
            <a:solidFill>
              <a:srgbClr val="FFFFFF"/>
            </a:solidFill>
            <a:round/>
            <a:headEnd/>
            <a:tailEnd/>
          </a:ln>
          <a:effectLst/>
          <a:extLst>
            <a:ext uri="{909E8E84-426E-40DD-AFC4-6F175D3DCCD1}">
              <a14:hiddenFill xmlns:a14="http://schemas.microsoft.com/office/drawing/2010/main">
                <a:solidFill>
                  <a:srgbClr val="49C0C2"/>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16" name="Oval 31">
            <a:extLst>
              <a:ext uri="{FF2B5EF4-FFF2-40B4-BE49-F238E27FC236}">
                <a16:creationId xmlns:a16="http://schemas.microsoft.com/office/drawing/2014/main" id="{4E9A0976-5F86-4D2E-9BAA-CD82E9BC0CBF}"/>
              </a:ext>
            </a:extLst>
          </p:cNvPr>
          <p:cNvSpPr>
            <a:spLocks noChangeArrowheads="1"/>
          </p:cNvSpPr>
          <p:nvPr/>
        </p:nvSpPr>
        <p:spPr bwMode="auto">
          <a:xfrm>
            <a:off x="701278" y="2417458"/>
            <a:ext cx="744537" cy="744537"/>
          </a:xfrm>
          <a:prstGeom prst="ellipse">
            <a:avLst/>
          </a:prstGeom>
          <a:solidFill>
            <a:srgbClr val="FFFFFF"/>
          </a:solidFill>
          <a:ln w="57150" algn="ctr">
            <a:solidFill>
              <a:srgbClr val="49C0C2"/>
            </a:solidFill>
            <a:round/>
            <a:headEnd/>
            <a:tailEnd/>
          </a:ln>
          <a:effectLst/>
        </p:spPr>
        <p:txBody>
          <a:bodyPr vert="horz" wrap="square" lIns="36576" tIns="36576" rIns="36576" bIns="36576" numCol="1" anchor="t" anchorCtr="0" compatLnSpc="1">
            <a:prstTxWarp prst="textNoShape">
              <a:avLst/>
            </a:prstTxWarp>
          </a:bodyPr>
          <a:lstStyle/>
          <a:p>
            <a:endParaRPr lang="en-IN" dirty="0"/>
          </a:p>
        </p:txBody>
      </p:sp>
      <p:sp>
        <p:nvSpPr>
          <p:cNvPr id="17" name="Title 1">
            <a:extLst>
              <a:ext uri="{FF2B5EF4-FFF2-40B4-BE49-F238E27FC236}">
                <a16:creationId xmlns:a16="http://schemas.microsoft.com/office/drawing/2014/main" id="{5BE768B6-42B3-416F-BF25-F999D2F8D8AF}"/>
              </a:ext>
            </a:extLst>
          </p:cNvPr>
          <p:cNvSpPr txBox="1">
            <a:spLocks/>
          </p:cNvSpPr>
          <p:nvPr/>
        </p:nvSpPr>
        <p:spPr>
          <a:xfrm>
            <a:off x="1446926" y="2513025"/>
            <a:ext cx="1748093" cy="526891"/>
          </a:xfrm>
          <a:prstGeom prst="rect">
            <a:avLst/>
          </a:prstGeom>
          <a:effectLst/>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r>
              <a:rPr lang="en-IN" sz="1500" b="1" dirty="0">
                <a:solidFill>
                  <a:schemeClr val="bg1"/>
                </a:solidFill>
                <a:latin typeface="Comic Sans MS" panose="030F0702030302020204" pitchFamily="66" charset="0"/>
              </a:rPr>
              <a:t>Introduction</a:t>
            </a:r>
            <a:endParaRPr lang="en-IN" sz="1500" b="1" dirty="0"/>
          </a:p>
        </p:txBody>
      </p:sp>
      <p:pic>
        <p:nvPicPr>
          <p:cNvPr id="18" name="Graphic 17">
            <a:extLst>
              <a:ext uri="{FF2B5EF4-FFF2-40B4-BE49-F238E27FC236}">
                <a16:creationId xmlns:a16="http://schemas.microsoft.com/office/drawing/2014/main" id="{EE27E8CC-99DA-4EA2-BF68-7F5E62C40A9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23717" y="2531433"/>
            <a:ext cx="508927" cy="508927"/>
          </a:xfrm>
          <a:prstGeom prst="rect">
            <a:avLst/>
          </a:prstGeom>
        </p:spPr>
      </p:pic>
      <p:sp>
        <p:nvSpPr>
          <p:cNvPr id="19" name="Rectangle 18">
            <a:extLst>
              <a:ext uri="{FF2B5EF4-FFF2-40B4-BE49-F238E27FC236}">
                <a16:creationId xmlns:a16="http://schemas.microsoft.com/office/drawing/2014/main" id="{4A46EF16-6C25-4EB6-A484-697C8DFD7B4B}"/>
              </a:ext>
            </a:extLst>
          </p:cNvPr>
          <p:cNvSpPr/>
          <p:nvPr/>
        </p:nvSpPr>
        <p:spPr>
          <a:xfrm>
            <a:off x="565149" y="3197281"/>
            <a:ext cx="6481368" cy="1169551"/>
          </a:xfrm>
          <a:prstGeom prst="rect">
            <a:avLst/>
          </a:prstGeom>
        </p:spPr>
        <p:txBody>
          <a:bodyPr wrap="square">
            <a:spAutoFit/>
          </a:bodyPr>
          <a:lstStyle/>
          <a:p>
            <a:pPr algn="just"/>
            <a:r>
              <a:rPr lang="en-IN" sz="1400" dirty="0">
                <a:latin typeface="Comic Sans MS" panose="030F0702030302020204" pitchFamily="66" charset="0"/>
              </a:rPr>
              <a:t>As we know that early medieval period (6</a:t>
            </a:r>
            <a:r>
              <a:rPr lang="en-IN" sz="1400" baseline="30000" dirty="0">
                <a:latin typeface="Comic Sans MS" panose="030F0702030302020204" pitchFamily="66" charset="0"/>
              </a:rPr>
              <a:t>th</a:t>
            </a:r>
            <a:r>
              <a:rPr lang="en-IN" sz="1400" dirty="0">
                <a:latin typeface="Comic Sans MS" panose="030F0702030302020204" pitchFamily="66" charset="0"/>
              </a:rPr>
              <a:t> to 12</a:t>
            </a:r>
            <a:r>
              <a:rPr lang="en-IN" sz="1400" baseline="30000" dirty="0">
                <a:latin typeface="Comic Sans MS" panose="030F0702030302020204" pitchFamily="66" charset="0"/>
              </a:rPr>
              <a:t>th</a:t>
            </a:r>
            <a:r>
              <a:rPr lang="en-IN" sz="1400" dirty="0">
                <a:latin typeface="Comic Sans MS" panose="030F0702030302020204" pitchFamily="66" charset="0"/>
              </a:rPr>
              <a:t> century) India was divided into many Dynasty and among these dynasties Rashtrakuta, Pala, Gurjar Pratihar dynasties are one of the major dynasties of Indian Medieval history. In this chapter we will learn about these dynasties in details.</a:t>
            </a:r>
          </a:p>
        </p:txBody>
      </p:sp>
      <p:sp>
        <p:nvSpPr>
          <p:cNvPr id="20" name="AutoShape 26">
            <a:extLst>
              <a:ext uri="{FF2B5EF4-FFF2-40B4-BE49-F238E27FC236}">
                <a16:creationId xmlns:a16="http://schemas.microsoft.com/office/drawing/2014/main" id="{0E2A755F-26BF-4ED4-8F30-661E83C35046}"/>
              </a:ext>
            </a:extLst>
          </p:cNvPr>
          <p:cNvSpPr>
            <a:spLocks noChangeArrowheads="1"/>
          </p:cNvSpPr>
          <p:nvPr/>
        </p:nvSpPr>
        <p:spPr bwMode="auto">
          <a:xfrm>
            <a:off x="701278" y="4881122"/>
            <a:ext cx="2219325" cy="438150"/>
          </a:xfrm>
          <a:prstGeom prst="roundRect">
            <a:avLst>
              <a:gd name="adj" fmla="val 50000"/>
            </a:avLst>
          </a:prstGeom>
          <a:noFill/>
          <a:ln w="38100" algn="ctr">
            <a:solidFill>
              <a:srgbClr val="FFFFFF"/>
            </a:solidFill>
            <a:round/>
            <a:headEnd/>
            <a:tailEnd/>
          </a:ln>
          <a:effectLst/>
          <a:extLst>
            <a:ext uri="{909E8E84-426E-40DD-AFC4-6F175D3DCCD1}">
              <a14:hiddenFill xmlns:a14="http://schemas.microsoft.com/office/drawing/2010/main">
                <a:solidFill>
                  <a:srgbClr val="49C0C2"/>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21" name="Title 1">
            <a:extLst>
              <a:ext uri="{FF2B5EF4-FFF2-40B4-BE49-F238E27FC236}">
                <a16:creationId xmlns:a16="http://schemas.microsoft.com/office/drawing/2014/main" id="{35A576F6-4CE9-42CC-BB28-585D728A5C36}"/>
              </a:ext>
            </a:extLst>
          </p:cNvPr>
          <p:cNvSpPr txBox="1">
            <a:spLocks/>
          </p:cNvSpPr>
          <p:nvPr/>
        </p:nvSpPr>
        <p:spPr>
          <a:xfrm>
            <a:off x="1350328" y="4844610"/>
            <a:ext cx="1504966" cy="499110"/>
          </a:xfrm>
          <a:prstGeom prst="rect">
            <a:avLst/>
          </a:prstGeom>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r>
              <a:rPr lang="en-IN" sz="1500" b="1" dirty="0">
                <a:solidFill>
                  <a:schemeClr val="bg1"/>
                </a:solidFill>
                <a:latin typeface="Comic Sans MS" panose="030F0702030302020204" pitchFamily="66" charset="0"/>
              </a:rPr>
              <a:t>Introduction</a:t>
            </a:r>
            <a:endParaRPr lang="en-IN" sz="1500" b="1" dirty="0"/>
          </a:p>
        </p:txBody>
      </p:sp>
      <p:sp>
        <p:nvSpPr>
          <p:cNvPr id="22" name="AutoShape 28">
            <a:extLst>
              <a:ext uri="{FF2B5EF4-FFF2-40B4-BE49-F238E27FC236}">
                <a16:creationId xmlns:a16="http://schemas.microsoft.com/office/drawing/2014/main" id="{443AFB60-66D1-45F8-A51F-9A5E1A542C1E}"/>
              </a:ext>
            </a:extLst>
          </p:cNvPr>
          <p:cNvSpPr>
            <a:spLocks noChangeArrowheads="1"/>
          </p:cNvSpPr>
          <p:nvPr/>
        </p:nvSpPr>
        <p:spPr bwMode="auto">
          <a:xfrm>
            <a:off x="484583" y="5074539"/>
            <a:ext cx="6660357" cy="1752497"/>
          </a:xfrm>
          <a:prstGeom prst="roundRect">
            <a:avLst>
              <a:gd name="adj" fmla="val 8473"/>
            </a:avLst>
          </a:prstGeom>
          <a:solidFill>
            <a:schemeClr val="bg1"/>
          </a:solidFill>
          <a:ln w="38100" algn="ctr">
            <a:solidFill>
              <a:srgbClr val="49C0C2"/>
            </a:solidFill>
            <a:round/>
            <a:headEnd/>
            <a:tailEnd/>
          </a:ln>
          <a:effectLst/>
        </p:spPr>
        <p:txBody>
          <a:bodyPr vert="horz" wrap="square" lIns="36576" tIns="36576" rIns="36576" bIns="36576" numCol="1" anchor="t" anchorCtr="0" compatLnSpc="1">
            <a:prstTxWarp prst="textNoShape">
              <a:avLst/>
            </a:prstTxWarp>
          </a:bodyPr>
          <a:lstStyle/>
          <a:p>
            <a:endParaRPr lang="en-IN" dirty="0"/>
          </a:p>
        </p:txBody>
      </p:sp>
      <p:sp>
        <p:nvSpPr>
          <p:cNvPr id="23" name="AutoShape 29">
            <a:extLst>
              <a:ext uri="{FF2B5EF4-FFF2-40B4-BE49-F238E27FC236}">
                <a16:creationId xmlns:a16="http://schemas.microsoft.com/office/drawing/2014/main" id="{BF6E037B-AA87-4541-BC4C-20BA521F5C1C}"/>
              </a:ext>
            </a:extLst>
          </p:cNvPr>
          <p:cNvSpPr>
            <a:spLocks noChangeArrowheads="1"/>
          </p:cNvSpPr>
          <p:nvPr/>
        </p:nvSpPr>
        <p:spPr bwMode="auto">
          <a:xfrm>
            <a:off x="1012427" y="4831512"/>
            <a:ext cx="3248010" cy="490538"/>
          </a:xfrm>
          <a:prstGeom prst="roundRect">
            <a:avLst>
              <a:gd name="adj" fmla="val 50000"/>
            </a:avLst>
          </a:prstGeom>
          <a:solidFill>
            <a:srgbClr val="49C0C2"/>
          </a:solidFill>
          <a:ln w="38100" algn="ctr">
            <a:solidFill>
              <a:srgbClr val="49C0C2"/>
            </a:solidFill>
            <a:round/>
            <a:headEnd/>
            <a:tailEnd/>
          </a:ln>
          <a:effectLst/>
        </p:spPr>
        <p:txBody>
          <a:bodyPr vert="horz" wrap="square" lIns="36576" tIns="36576" rIns="36576" bIns="36576" numCol="1" anchor="t" anchorCtr="0" compatLnSpc="1">
            <a:prstTxWarp prst="textNoShape">
              <a:avLst/>
            </a:prstTxWarp>
          </a:bodyPr>
          <a:lstStyle/>
          <a:p>
            <a:r>
              <a:rPr lang="en-IN" dirty="0"/>
              <a:t>	</a:t>
            </a:r>
          </a:p>
        </p:txBody>
      </p:sp>
      <p:sp>
        <p:nvSpPr>
          <p:cNvPr id="24" name="AutoShape 30">
            <a:extLst>
              <a:ext uri="{FF2B5EF4-FFF2-40B4-BE49-F238E27FC236}">
                <a16:creationId xmlns:a16="http://schemas.microsoft.com/office/drawing/2014/main" id="{2BE8551A-4FEC-478C-9C98-FAC3EE802CA1}"/>
              </a:ext>
            </a:extLst>
          </p:cNvPr>
          <p:cNvSpPr>
            <a:spLocks noChangeArrowheads="1"/>
          </p:cNvSpPr>
          <p:nvPr/>
        </p:nvSpPr>
        <p:spPr bwMode="auto">
          <a:xfrm>
            <a:off x="750489" y="4872787"/>
            <a:ext cx="3460737" cy="400050"/>
          </a:xfrm>
          <a:prstGeom prst="roundRect">
            <a:avLst>
              <a:gd name="adj" fmla="val 50000"/>
            </a:avLst>
          </a:prstGeom>
          <a:noFill/>
          <a:ln w="38100" algn="ctr">
            <a:solidFill>
              <a:srgbClr val="FFFFFF"/>
            </a:solidFill>
            <a:round/>
            <a:headEnd/>
            <a:tailEnd/>
          </a:ln>
          <a:effectLst/>
          <a:extLst>
            <a:ext uri="{909E8E84-426E-40DD-AFC4-6F175D3DCCD1}">
              <a14:hiddenFill xmlns:a14="http://schemas.microsoft.com/office/drawing/2010/main">
                <a:solidFill>
                  <a:srgbClr val="49C0C2"/>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25" name="Oval 31">
            <a:extLst>
              <a:ext uri="{FF2B5EF4-FFF2-40B4-BE49-F238E27FC236}">
                <a16:creationId xmlns:a16="http://schemas.microsoft.com/office/drawing/2014/main" id="{8863030E-991D-4F0D-ACCD-77D69E6B8A3D}"/>
              </a:ext>
            </a:extLst>
          </p:cNvPr>
          <p:cNvSpPr>
            <a:spLocks noChangeArrowheads="1"/>
          </p:cNvSpPr>
          <p:nvPr/>
        </p:nvSpPr>
        <p:spPr bwMode="auto">
          <a:xfrm>
            <a:off x="672703" y="4718800"/>
            <a:ext cx="744537" cy="744537"/>
          </a:xfrm>
          <a:prstGeom prst="ellipse">
            <a:avLst/>
          </a:prstGeom>
          <a:solidFill>
            <a:srgbClr val="FFFFFF"/>
          </a:solidFill>
          <a:ln w="57150" algn="ctr">
            <a:solidFill>
              <a:srgbClr val="49C0C2"/>
            </a:solidFill>
            <a:round/>
            <a:headEnd/>
            <a:tailEnd/>
          </a:ln>
          <a:effectLst/>
        </p:spPr>
        <p:txBody>
          <a:bodyPr vert="horz" wrap="square" lIns="36576" tIns="36576" rIns="36576" bIns="36576" numCol="1" anchor="t" anchorCtr="0" compatLnSpc="1">
            <a:prstTxWarp prst="textNoShape">
              <a:avLst/>
            </a:prstTxWarp>
          </a:bodyPr>
          <a:lstStyle/>
          <a:p>
            <a:endParaRPr lang="en-IN" dirty="0"/>
          </a:p>
        </p:txBody>
      </p:sp>
      <p:sp>
        <p:nvSpPr>
          <p:cNvPr id="26" name="Title 1">
            <a:extLst>
              <a:ext uri="{FF2B5EF4-FFF2-40B4-BE49-F238E27FC236}">
                <a16:creationId xmlns:a16="http://schemas.microsoft.com/office/drawing/2014/main" id="{7DED47E3-7E85-4D9F-BEF3-5F541395E977}"/>
              </a:ext>
            </a:extLst>
          </p:cNvPr>
          <p:cNvSpPr txBox="1">
            <a:spLocks/>
          </p:cNvSpPr>
          <p:nvPr/>
        </p:nvSpPr>
        <p:spPr>
          <a:xfrm>
            <a:off x="1418351" y="4814367"/>
            <a:ext cx="2517853" cy="526891"/>
          </a:xfrm>
          <a:prstGeom prst="rect">
            <a:avLst/>
          </a:prstGeom>
          <a:effectLst/>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r>
              <a:rPr lang="en-IN" sz="1500" b="1" dirty="0">
                <a:solidFill>
                  <a:schemeClr val="bg1"/>
                </a:solidFill>
                <a:latin typeface="Comic Sans MS" panose="030F0702030302020204" pitchFamily="66" charset="0"/>
              </a:rPr>
              <a:t>Rashtrakuta Dynasty</a:t>
            </a:r>
            <a:endParaRPr lang="en-IN" sz="1500" b="1" dirty="0"/>
          </a:p>
        </p:txBody>
      </p:sp>
      <p:sp>
        <p:nvSpPr>
          <p:cNvPr id="28" name="Rectangle 27">
            <a:extLst>
              <a:ext uri="{FF2B5EF4-FFF2-40B4-BE49-F238E27FC236}">
                <a16:creationId xmlns:a16="http://schemas.microsoft.com/office/drawing/2014/main" id="{AB97EC32-FC55-4EEF-8448-B73AEEA78293}"/>
              </a:ext>
            </a:extLst>
          </p:cNvPr>
          <p:cNvSpPr/>
          <p:nvPr/>
        </p:nvSpPr>
        <p:spPr>
          <a:xfrm>
            <a:off x="565022" y="5498623"/>
            <a:ext cx="6509813" cy="1169551"/>
          </a:xfrm>
          <a:prstGeom prst="rect">
            <a:avLst/>
          </a:prstGeom>
        </p:spPr>
        <p:txBody>
          <a:bodyPr wrap="square">
            <a:spAutoFit/>
          </a:bodyPr>
          <a:lstStyle/>
          <a:p>
            <a:pPr algn="just"/>
            <a:r>
              <a:rPr lang="en-IN" sz="1400" dirty="0">
                <a:latin typeface="Comic Sans MS" panose="030F0702030302020204" pitchFamily="66" charset="0"/>
              </a:rPr>
              <a:t>As we know that early medieval period (6</a:t>
            </a:r>
            <a:r>
              <a:rPr lang="en-IN" sz="1400" baseline="30000" dirty="0">
                <a:latin typeface="Comic Sans MS" panose="030F0702030302020204" pitchFamily="66" charset="0"/>
              </a:rPr>
              <a:t>th</a:t>
            </a:r>
            <a:r>
              <a:rPr lang="en-IN" sz="1400" dirty="0">
                <a:latin typeface="Comic Sans MS" panose="030F0702030302020204" pitchFamily="66" charset="0"/>
              </a:rPr>
              <a:t> to 12</a:t>
            </a:r>
            <a:r>
              <a:rPr lang="en-IN" sz="1400" baseline="30000" dirty="0">
                <a:latin typeface="Comic Sans MS" panose="030F0702030302020204" pitchFamily="66" charset="0"/>
              </a:rPr>
              <a:t>th</a:t>
            </a:r>
            <a:r>
              <a:rPr lang="en-IN" sz="1400" dirty="0">
                <a:latin typeface="Comic Sans MS" panose="030F0702030302020204" pitchFamily="66" charset="0"/>
              </a:rPr>
              <a:t> century) India was divided into many Dynasty and among these dynasties Rashtrakuta, Pala, Gurjar Pratihar dynasties are one of the major dynasties of Indian Medieval history. In this chapter we will learn about these dynasties, which monuments were built by these dynasties, how they disintegrate, etc.</a:t>
            </a:r>
          </a:p>
        </p:txBody>
      </p:sp>
      <p:pic>
        <p:nvPicPr>
          <p:cNvPr id="29" name="Graphic 28">
            <a:extLst>
              <a:ext uri="{FF2B5EF4-FFF2-40B4-BE49-F238E27FC236}">
                <a16:creationId xmlns:a16="http://schemas.microsoft.com/office/drawing/2014/main" id="{BEEA2DFF-54FD-4A3A-B03C-12A455028C6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86412" y="4848541"/>
            <a:ext cx="508927" cy="468722"/>
          </a:xfrm>
          <a:prstGeom prst="rect">
            <a:avLst/>
          </a:prstGeom>
        </p:spPr>
      </p:pic>
    </p:spTree>
    <p:extLst>
      <p:ext uri="{BB962C8B-B14F-4D97-AF65-F5344CB8AC3E}">
        <p14:creationId xmlns:p14="http://schemas.microsoft.com/office/powerpoint/2010/main" val="17502076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3">
            <a:extLst>
              <a:ext uri="{FF2B5EF4-FFF2-40B4-BE49-F238E27FC236}">
                <a16:creationId xmlns:a16="http://schemas.microsoft.com/office/drawing/2014/main" id="{253BA004-789F-4F36-9C31-55D03D20E0F8}"/>
              </a:ext>
            </a:extLst>
          </p:cNvPr>
          <p:cNvSpPr>
            <a:spLocks noChangeArrowheads="1"/>
          </p:cNvSpPr>
          <p:nvPr/>
        </p:nvSpPr>
        <p:spPr bwMode="auto">
          <a:xfrm>
            <a:off x="3590925" y="10345738"/>
            <a:ext cx="381000" cy="295275"/>
          </a:xfrm>
          <a:prstGeom prst="roundRect">
            <a:avLst>
              <a:gd name="adj" fmla="val 16667"/>
            </a:avLst>
          </a:prstGeom>
          <a:solidFill>
            <a:srgbClr val="F0587C"/>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5" name="Text Box 45">
            <a:extLst>
              <a:ext uri="{FF2B5EF4-FFF2-40B4-BE49-F238E27FC236}">
                <a16:creationId xmlns:a16="http://schemas.microsoft.com/office/drawing/2014/main" id="{6931258B-63C9-436F-9FD2-949AA6C09F73}"/>
              </a:ext>
            </a:extLst>
          </p:cNvPr>
          <p:cNvSpPr txBox="1">
            <a:spLocks noChangeArrowheads="1"/>
          </p:cNvSpPr>
          <p:nvPr/>
        </p:nvSpPr>
        <p:spPr bwMode="auto">
          <a:xfrm>
            <a:off x="3590925" y="10261600"/>
            <a:ext cx="381000" cy="4508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fld id="{AA3A2C3A-815D-4324-A52B-0D6E1281FA41}" type="slidenum">
              <a:rPr kumimoji="0" lang="en-IN" altLang="en-US" sz="1400" b="0" i="0" u="none" strike="noStrike" cap="none" normalizeH="0" baseline="0" smtClean="0">
                <a:ln>
                  <a:noFill/>
                </a:ln>
                <a:solidFill>
                  <a:srgbClr val="FFFFFF"/>
                </a:solidFill>
                <a:effectLst/>
                <a:latin typeface="Poppins" panose="00000500000000000000" pitchFamily="2" charset="0"/>
              </a:rPr>
              <a:pPr marL="0" marR="0" lvl="0" indent="0" algn="ctr" defTabSz="914400" rtl="0" eaLnBrk="0" fontAlgn="base" latinLnBrk="0" hangingPunct="0">
                <a:lnSpc>
                  <a:spcPct val="100000"/>
                </a:lnSpc>
                <a:spcBef>
                  <a:spcPct val="0"/>
                </a:spcBef>
                <a:spcAft>
                  <a:spcPct val="0"/>
                </a:spcAft>
                <a:buClrTx/>
                <a:buSzTx/>
                <a:buFontTx/>
                <a:buNone/>
                <a:tabLst/>
              </a:pPr>
              <a:t>9</a:t>
            </a:fld>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Text Box 46">
            <a:extLst>
              <a:ext uri="{FF2B5EF4-FFF2-40B4-BE49-F238E27FC236}">
                <a16:creationId xmlns:a16="http://schemas.microsoft.com/office/drawing/2014/main" id="{2DCEFB0F-E211-4A48-893E-6F6F45F97256}"/>
              </a:ext>
            </a:extLst>
          </p:cNvPr>
          <p:cNvSpPr txBox="1">
            <a:spLocks noChangeArrowheads="1"/>
          </p:cNvSpPr>
          <p:nvPr/>
        </p:nvSpPr>
        <p:spPr bwMode="auto">
          <a:xfrm>
            <a:off x="0" y="10261600"/>
            <a:ext cx="3590925" cy="439738"/>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IN" altLang="en-US" sz="1000" b="0" i="0" u="none" strike="noStrike" cap="none" normalizeH="0" baseline="0">
                <a:ln>
                  <a:noFill/>
                </a:ln>
                <a:solidFill>
                  <a:srgbClr val="000000"/>
                </a:solidFill>
                <a:effectLst/>
                <a:latin typeface="Poppins" panose="00000500000000000000" pitchFamily="2" charset="0"/>
              </a:rPr>
              <a:t>VIDYAVANTAM — CBSE CLASS 7 HISTORY</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Text Box 47">
            <a:extLst>
              <a:ext uri="{FF2B5EF4-FFF2-40B4-BE49-F238E27FC236}">
                <a16:creationId xmlns:a16="http://schemas.microsoft.com/office/drawing/2014/main" id="{475EA632-AA46-4E0F-92EB-85F5A0EA02BC}"/>
              </a:ext>
            </a:extLst>
          </p:cNvPr>
          <p:cNvSpPr txBox="1">
            <a:spLocks noChangeArrowheads="1"/>
          </p:cNvSpPr>
          <p:nvPr/>
        </p:nvSpPr>
        <p:spPr bwMode="auto">
          <a:xfrm>
            <a:off x="3968273" y="10261600"/>
            <a:ext cx="3587750" cy="428625"/>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defTabSz="914400" eaLnBrk="0" fontAlgn="base" hangingPunct="0">
              <a:spcBef>
                <a:spcPct val="0"/>
              </a:spcBef>
              <a:spcAft>
                <a:spcPct val="0"/>
              </a:spcAft>
            </a:pPr>
            <a:r>
              <a:rPr lang="en-IN" sz="1000" dirty="0">
                <a:solidFill>
                  <a:srgbClr val="000000"/>
                </a:solidFill>
                <a:latin typeface="Poppins" panose="00000500000000000000" pitchFamily="2" charset="0"/>
              </a:rPr>
              <a:t>KARKOTA DYNASTY</a:t>
            </a:r>
          </a:p>
        </p:txBody>
      </p:sp>
      <p:sp>
        <p:nvSpPr>
          <p:cNvPr id="8" name="Rectangle 32">
            <a:extLst>
              <a:ext uri="{FF2B5EF4-FFF2-40B4-BE49-F238E27FC236}">
                <a16:creationId xmlns:a16="http://schemas.microsoft.com/office/drawing/2014/main" id="{1A8072B5-194A-4A77-A453-E51E932C71A4}"/>
              </a:ext>
            </a:extLst>
          </p:cNvPr>
          <p:cNvSpPr>
            <a:spLocks noChangeArrowheads="1"/>
          </p:cNvSpPr>
          <p:nvPr/>
        </p:nvSpPr>
        <p:spPr bwMode="auto">
          <a:xfrm>
            <a:off x="-3652" y="-20797"/>
            <a:ext cx="7559675" cy="2338582"/>
          </a:xfrm>
          <a:prstGeom prst="rect">
            <a:avLst/>
          </a:prstGeom>
          <a:solidFill>
            <a:srgbClr val="27B9C0"/>
          </a:solidFill>
          <a:ln>
            <a:noFill/>
          </a:ln>
          <a:effectLst/>
          <a:extLs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9" name="Title 1">
            <a:extLst>
              <a:ext uri="{FF2B5EF4-FFF2-40B4-BE49-F238E27FC236}">
                <a16:creationId xmlns:a16="http://schemas.microsoft.com/office/drawing/2014/main" id="{3086E571-26E4-4F17-A4D3-A0A78D14FA43}"/>
              </a:ext>
            </a:extLst>
          </p:cNvPr>
          <p:cNvSpPr txBox="1">
            <a:spLocks/>
          </p:cNvSpPr>
          <p:nvPr/>
        </p:nvSpPr>
        <p:spPr>
          <a:xfrm>
            <a:off x="484710" y="739298"/>
            <a:ext cx="699996" cy="702628"/>
          </a:xfrm>
          <a:prstGeom prst="ellipse">
            <a:avLst/>
          </a:prstGeom>
          <a:solidFill>
            <a:schemeClr val="bg1"/>
          </a:solidFill>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r>
              <a:rPr lang="en-IN" sz="3200" b="1" dirty="0">
                <a:solidFill>
                  <a:srgbClr val="49C0C2"/>
                </a:solidFill>
                <a:latin typeface="Comic Sans MS" panose="030F0702030302020204" pitchFamily="66" charset="0"/>
              </a:rPr>
              <a:t>3</a:t>
            </a:r>
            <a:endParaRPr lang="en-IN" sz="3200" b="1" dirty="0">
              <a:solidFill>
                <a:srgbClr val="49C0C2"/>
              </a:solidFill>
            </a:endParaRPr>
          </a:p>
        </p:txBody>
      </p:sp>
      <p:sp>
        <p:nvSpPr>
          <p:cNvPr id="10" name="Title 1">
            <a:extLst>
              <a:ext uri="{FF2B5EF4-FFF2-40B4-BE49-F238E27FC236}">
                <a16:creationId xmlns:a16="http://schemas.microsoft.com/office/drawing/2014/main" id="{BFFB391B-CE47-4214-9FD5-F6E7AC34C50C}"/>
              </a:ext>
            </a:extLst>
          </p:cNvPr>
          <p:cNvSpPr txBox="1">
            <a:spLocks/>
          </p:cNvSpPr>
          <p:nvPr/>
        </p:nvSpPr>
        <p:spPr>
          <a:xfrm>
            <a:off x="1380809" y="-20797"/>
            <a:ext cx="6175214" cy="2345330"/>
          </a:xfrm>
          <a:prstGeom prst="rect">
            <a:avLst/>
          </a:prstGeom>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pPr algn="l"/>
            <a:r>
              <a:rPr lang="en-IN" sz="3600" b="1" dirty="0">
                <a:ln w="12700">
                  <a:solidFill>
                    <a:schemeClr val="tx1"/>
                  </a:solidFill>
                </a:ln>
                <a:solidFill>
                  <a:schemeClr val="bg1"/>
                </a:solidFill>
                <a:latin typeface="Comic Sans MS" panose="030F0702030302020204" pitchFamily="66" charset="0"/>
              </a:rPr>
              <a:t>Karkota Dynasty</a:t>
            </a:r>
          </a:p>
        </p:txBody>
      </p:sp>
      <p:sp>
        <p:nvSpPr>
          <p:cNvPr id="11" name="AutoShape 26">
            <a:extLst>
              <a:ext uri="{FF2B5EF4-FFF2-40B4-BE49-F238E27FC236}">
                <a16:creationId xmlns:a16="http://schemas.microsoft.com/office/drawing/2014/main" id="{F067B178-2EF3-4D8E-BED5-90A84A30AB04}"/>
              </a:ext>
            </a:extLst>
          </p:cNvPr>
          <p:cNvSpPr>
            <a:spLocks noChangeArrowheads="1"/>
          </p:cNvSpPr>
          <p:nvPr/>
        </p:nvSpPr>
        <p:spPr bwMode="auto">
          <a:xfrm>
            <a:off x="729853" y="2579780"/>
            <a:ext cx="2219325" cy="438150"/>
          </a:xfrm>
          <a:prstGeom prst="roundRect">
            <a:avLst>
              <a:gd name="adj" fmla="val 50000"/>
            </a:avLst>
          </a:prstGeom>
          <a:noFill/>
          <a:ln w="38100" algn="ctr">
            <a:solidFill>
              <a:srgbClr val="FFFFFF"/>
            </a:solidFill>
            <a:round/>
            <a:headEnd/>
            <a:tailEnd/>
          </a:ln>
          <a:effectLst/>
          <a:extLst>
            <a:ext uri="{909E8E84-426E-40DD-AFC4-6F175D3DCCD1}">
              <a14:hiddenFill xmlns:a14="http://schemas.microsoft.com/office/drawing/2010/main">
                <a:solidFill>
                  <a:srgbClr val="49C0C2"/>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12" name="Title 1">
            <a:extLst>
              <a:ext uri="{FF2B5EF4-FFF2-40B4-BE49-F238E27FC236}">
                <a16:creationId xmlns:a16="http://schemas.microsoft.com/office/drawing/2014/main" id="{D30CD6E0-709A-4A2D-8E5F-1F1AF150E452}"/>
              </a:ext>
            </a:extLst>
          </p:cNvPr>
          <p:cNvSpPr txBox="1">
            <a:spLocks/>
          </p:cNvSpPr>
          <p:nvPr/>
        </p:nvSpPr>
        <p:spPr>
          <a:xfrm>
            <a:off x="1378903" y="2543268"/>
            <a:ext cx="1504966" cy="499110"/>
          </a:xfrm>
          <a:prstGeom prst="rect">
            <a:avLst/>
          </a:prstGeom>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r>
              <a:rPr lang="en-IN" sz="1500" b="1" dirty="0">
                <a:solidFill>
                  <a:schemeClr val="bg1"/>
                </a:solidFill>
                <a:latin typeface="Comic Sans MS" panose="030F0702030302020204" pitchFamily="66" charset="0"/>
              </a:rPr>
              <a:t>Introduction</a:t>
            </a:r>
            <a:endParaRPr lang="en-IN" sz="1500" b="1" dirty="0"/>
          </a:p>
        </p:txBody>
      </p:sp>
      <p:sp>
        <p:nvSpPr>
          <p:cNvPr id="13" name="AutoShape 28">
            <a:extLst>
              <a:ext uri="{FF2B5EF4-FFF2-40B4-BE49-F238E27FC236}">
                <a16:creationId xmlns:a16="http://schemas.microsoft.com/office/drawing/2014/main" id="{6FA069F1-A052-4952-8E29-036980B33774}"/>
              </a:ext>
            </a:extLst>
          </p:cNvPr>
          <p:cNvSpPr>
            <a:spLocks noChangeArrowheads="1"/>
          </p:cNvSpPr>
          <p:nvPr/>
        </p:nvSpPr>
        <p:spPr bwMode="auto">
          <a:xfrm>
            <a:off x="513158" y="2773196"/>
            <a:ext cx="6660357" cy="2903704"/>
          </a:xfrm>
          <a:prstGeom prst="roundRect">
            <a:avLst>
              <a:gd name="adj" fmla="val 8473"/>
            </a:avLst>
          </a:prstGeom>
          <a:solidFill>
            <a:schemeClr val="bg1"/>
          </a:solidFill>
          <a:ln w="38100" algn="ctr">
            <a:solidFill>
              <a:srgbClr val="49C0C2"/>
            </a:solidFill>
            <a:round/>
            <a:headEnd/>
            <a:tailEnd/>
          </a:ln>
          <a:effectLst/>
        </p:spPr>
        <p:txBody>
          <a:bodyPr vert="horz" wrap="square" lIns="36576" tIns="36576" rIns="36576" bIns="36576" numCol="1" anchor="t" anchorCtr="0" compatLnSpc="1">
            <a:prstTxWarp prst="textNoShape">
              <a:avLst/>
            </a:prstTxWarp>
          </a:bodyPr>
          <a:lstStyle/>
          <a:p>
            <a:endParaRPr lang="en-IN" dirty="0"/>
          </a:p>
        </p:txBody>
      </p:sp>
      <p:sp>
        <p:nvSpPr>
          <p:cNvPr id="14" name="AutoShape 29">
            <a:extLst>
              <a:ext uri="{FF2B5EF4-FFF2-40B4-BE49-F238E27FC236}">
                <a16:creationId xmlns:a16="http://schemas.microsoft.com/office/drawing/2014/main" id="{4D8F01C0-EA67-4EC5-ABBA-6EA880A2210F}"/>
              </a:ext>
            </a:extLst>
          </p:cNvPr>
          <p:cNvSpPr>
            <a:spLocks noChangeArrowheads="1"/>
          </p:cNvSpPr>
          <p:nvPr/>
        </p:nvSpPr>
        <p:spPr bwMode="auto">
          <a:xfrm>
            <a:off x="1041003" y="2530170"/>
            <a:ext cx="2219325" cy="490538"/>
          </a:xfrm>
          <a:prstGeom prst="roundRect">
            <a:avLst>
              <a:gd name="adj" fmla="val 50000"/>
            </a:avLst>
          </a:prstGeom>
          <a:solidFill>
            <a:srgbClr val="49C0C2"/>
          </a:solidFill>
          <a:ln w="38100" algn="ctr">
            <a:solidFill>
              <a:srgbClr val="49C0C2"/>
            </a:solidFill>
            <a:round/>
            <a:headEnd/>
            <a:tailEnd/>
          </a:ln>
          <a:effectLst/>
        </p:spPr>
        <p:txBody>
          <a:bodyPr vert="horz" wrap="square" lIns="36576" tIns="36576" rIns="36576" bIns="36576" numCol="1" anchor="t" anchorCtr="0" compatLnSpc="1">
            <a:prstTxWarp prst="textNoShape">
              <a:avLst/>
            </a:prstTxWarp>
          </a:bodyPr>
          <a:lstStyle/>
          <a:p>
            <a:r>
              <a:rPr lang="en-IN" dirty="0"/>
              <a:t>	</a:t>
            </a:r>
          </a:p>
        </p:txBody>
      </p:sp>
      <p:sp>
        <p:nvSpPr>
          <p:cNvPr id="15" name="AutoShape 30">
            <a:extLst>
              <a:ext uri="{FF2B5EF4-FFF2-40B4-BE49-F238E27FC236}">
                <a16:creationId xmlns:a16="http://schemas.microsoft.com/office/drawing/2014/main" id="{76C1B125-F0D8-4948-A96B-A1D998D6F267}"/>
              </a:ext>
            </a:extLst>
          </p:cNvPr>
          <p:cNvSpPr>
            <a:spLocks noChangeArrowheads="1"/>
          </p:cNvSpPr>
          <p:nvPr/>
        </p:nvSpPr>
        <p:spPr bwMode="auto">
          <a:xfrm>
            <a:off x="779065" y="2571445"/>
            <a:ext cx="2402718" cy="400050"/>
          </a:xfrm>
          <a:prstGeom prst="roundRect">
            <a:avLst>
              <a:gd name="adj" fmla="val 50000"/>
            </a:avLst>
          </a:prstGeom>
          <a:noFill/>
          <a:ln w="38100" algn="ctr">
            <a:solidFill>
              <a:srgbClr val="FFFFFF"/>
            </a:solidFill>
            <a:round/>
            <a:headEnd/>
            <a:tailEnd/>
          </a:ln>
          <a:effectLst/>
          <a:extLst>
            <a:ext uri="{909E8E84-426E-40DD-AFC4-6F175D3DCCD1}">
              <a14:hiddenFill xmlns:a14="http://schemas.microsoft.com/office/drawing/2010/main">
                <a:solidFill>
                  <a:srgbClr val="49C0C2"/>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16" name="Oval 31">
            <a:extLst>
              <a:ext uri="{FF2B5EF4-FFF2-40B4-BE49-F238E27FC236}">
                <a16:creationId xmlns:a16="http://schemas.microsoft.com/office/drawing/2014/main" id="{AC6B4B0E-9054-47BE-A045-81A8ED8CBB42}"/>
              </a:ext>
            </a:extLst>
          </p:cNvPr>
          <p:cNvSpPr>
            <a:spLocks noChangeArrowheads="1"/>
          </p:cNvSpPr>
          <p:nvPr/>
        </p:nvSpPr>
        <p:spPr bwMode="auto">
          <a:xfrm>
            <a:off x="701278" y="2417458"/>
            <a:ext cx="744537" cy="744537"/>
          </a:xfrm>
          <a:prstGeom prst="ellipse">
            <a:avLst/>
          </a:prstGeom>
          <a:solidFill>
            <a:srgbClr val="FFFFFF"/>
          </a:solidFill>
          <a:ln w="57150" algn="ctr">
            <a:solidFill>
              <a:srgbClr val="49C0C2"/>
            </a:solidFill>
            <a:round/>
            <a:headEnd/>
            <a:tailEnd/>
          </a:ln>
          <a:effectLst/>
        </p:spPr>
        <p:txBody>
          <a:bodyPr vert="horz" wrap="square" lIns="36576" tIns="36576" rIns="36576" bIns="36576" numCol="1" anchor="t" anchorCtr="0" compatLnSpc="1">
            <a:prstTxWarp prst="textNoShape">
              <a:avLst/>
            </a:prstTxWarp>
          </a:bodyPr>
          <a:lstStyle/>
          <a:p>
            <a:endParaRPr lang="en-IN" dirty="0"/>
          </a:p>
        </p:txBody>
      </p:sp>
      <p:sp>
        <p:nvSpPr>
          <p:cNvPr id="17" name="Title 1">
            <a:extLst>
              <a:ext uri="{FF2B5EF4-FFF2-40B4-BE49-F238E27FC236}">
                <a16:creationId xmlns:a16="http://schemas.microsoft.com/office/drawing/2014/main" id="{406CDD50-BD12-4F13-B6D2-B9FDF9575931}"/>
              </a:ext>
            </a:extLst>
          </p:cNvPr>
          <p:cNvSpPr txBox="1">
            <a:spLocks/>
          </p:cNvSpPr>
          <p:nvPr/>
        </p:nvSpPr>
        <p:spPr>
          <a:xfrm>
            <a:off x="1446926" y="2513025"/>
            <a:ext cx="1748093" cy="526891"/>
          </a:xfrm>
          <a:prstGeom prst="rect">
            <a:avLst/>
          </a:prstGeom>
          <a:effectLst/>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r>
              <a:rPr lang="en-IN" sz="1500" b="1" dirty="0">
                <a:solidFill>
                  <a:schemeClr val="bg1"/>
                </a:solidFill>
                <a:latin typeface="Comic Sans MS" panose="030F0702030302020204" pitchFamily="66" charset="0"/>
              </a:rPr>
              <a:t>Introduction</a:t>
            </a:r>
            <a:endParaRPr lang="en-IN" sz="1500" b="1" dirty="0"/>
          </a:p>
        </p:txBody>
      </p:sp>
      <p:pic>
        <p:nvPicPr>
          <p:cNvPr id="18" name="Graphic 17">
            <a:extLst>
              <a:ext uri="{FF2B5EF4-FFF2-40B4-BE49-F238E27FC236}">
                <a16:creationId xmlns:a16="http://schemas.microsoft.com/office/drawing/2014/main" id="{680764B4-34B0-4B5A-8D43-17FA9078BB4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23717" y="2531433"/>
            <a:ext cx="508927" cy="508927"/>
          </a:xfrm>
          <a:prstGeom prst="rect">
            <a:avLst/>
          </a:prstGeom>
        </p:spPr>
      </p:pic>
      <p:sp>
        <p:nvSpPr>
          <p:cNvPr id="19" name="Rectangle 18">
            <a:extLst>
              <a:ext uri="{FF2B5EF4-FFF2-40B4-BE49-F238E27FC236}">
                <a16:creationId xmlns:a16="http://schemas.microsoft.com/office/drawing/2014/main" id="{DD425457-1781-45DC-ABFB-66F0931F745E}"/>
              </a:ext>
            </a:extLst>
          </p:cNvPr>
          <p:cNvSpPr/>
          <p:nvPr/>
        </p:nvSpPr>
        <p:spPr>
          <a:xfrm>
            <a:off x="678894" y="3197281"/>
            <a:ext cx="6135328" cy="2308324"/>
          </a:xfrm>
          <a:prstGeom prst="rect">
            <a:avLst/>
          </a:prstGeom>
        </p:spPr>
        <p:txBody>
          <a:bodyPr wrap="square">
            <a:spAutoFit/>
          </a:bodyPr>
          <a:lstStyle/>
          <a:p>
            <a:pPr algn="just"/>
            <a:r>
              <a:rPr lang="en-IN" dirty="0">
                <a:latin typeface="Comic Sans MS" panose="030F0702030302020204" pitchFamily="66" charset="0"/>
              </a:rPr>
              <a:t>Karkota Empire was a major power who  ruled over the Kashmir valley and some northern parts of the Indian subcontinent during 625 CE - 885 CE. According to Hiuen -Tsang who visited Kashmir, the king ruled over parts of western and north western Punjab as well. The strongest ruler of Karkota Dynasty which is known as Alexander of Kashmir. We will know more about Karkota Dynasty in this whole chapter.</a:t>
            </a:r>
          </a:p>
        </p:txBody>
      </p:sp>
      <p:sp>
        <p:nvSpPr>
          <p:cNvPr id="29" name="AutoShape 26">
            <a:extLst>
              <a:ext uri="{FF2B5EF4-FFF2-40B4-BE49-F238E27FC236}">
                <a16:creationId xmlns:a16="http://schemas.microsoft.com/office/drawing/2014/main" id="{8AD7548E-374A-4032-806B-6CFCED1AC06E}"/>
              </a:ext>
            </a:extLst>
          </p:cNvPr>
          <p:cNvSpPr>
            <a:spLocks noChangeArrowheads="1"/>
          </p:cNvSpPr>
          <p:nvPr/>
        </p:nvSpPr>
        <p:spPr bwMode="auto">
          <a:xfrm>
            <a:off x="719933" y="6059221"/>
            <a:ext cx="2219325" cy="438150"/>
          </a:xfrm>
          <a:prstGeom prst="roundRect">
            <a:avLst>
              <a:gd name="adj" fmla="val 50000"/>
            </a:avLst>
          </a:prstGeom>
          <a:noFill/>
          <a:ln w="38100" algn="ctr">
            <a:solidFill>
              <a:srgbClr val="FFFFFF"/>
            </a:solidFill>
            <a:round/>
            <a:headEnd/>
            <a:tailEnd/>
          </a:ln>
          <a:effectLst/>
          <a:extLst>
            <a:ext uri="{909E8E84-426E-40DD-AFC4-6F175D3DCCD1}">
              <a14:hiddenFill xmlns:a14="http://schemas.microsoft.com/office/drawing/2010/main">
                <a:solidFill>
                  <a:srgbClr val="49C0C2"/>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30" name="Title 1">
            <a:extLst>
              <a:ext uri="{FF2B5EF4-FFF2-40B4-BE49-F238E27FC236}">
                <a16:creationId xmlns:a16="http://schemas.microsoft.com/office/drawing/2014/main" id="{0E12A368-F0FD-43DE-B134-3ED3784BB080}"/>
              </a:ext>
            </a:extLst>
          </p:cNvPr>
          <p:cNvSpPr txBox="1">
            <a:spLocks/>
          </p:cNvSpPr>
          <p:nvPr/>
        </p:nvSpPr>
        <p:spPr>
          <a:xfrm>
            <a:off x="1368983" y="6022709"/>
            <a:ext cx="1504966" cy="499110"/>
          </a:xfrm>
          <a:prstGeom prst="rect">
            <a:avLst/>
          </a:prstGeom>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r>
              <a:rPr lang="en-IN" sz="1500" b="1" dirty="0">
                <a:solidFill>
                  <a:schemeClr val="bg1"/>
                </a:solidFill>
                <a:latin typeface="Comic Sans MS" panose="030F0702030302020204" pitchFamily="66" charset="0"/>
              </a:rPr>
              <a:t>Introduction</a:t>
            </a:r>
            <a:endParaRPr lang="en-IN" sz="1500" b="1" dirty="0"/>
          </a:p>
        </p:txBody>
      </p:sp>
      <p:sp>
        <p:nvSpPr>
          <p:cNvPr id="31" name="AutoShape 28">
            <a:extLst>
              <a:ext uri="{FF2B5EF4-FFF2-40B4-BE49-F238E27FC236}">
                <a16:creationId xmlns:a16="http://schemas.microsoft.com/office/drawing/2014/main" id="{83A8A1C1-54C6-4000-B93B-9A2519D87E87}"/>
              </a:ext>
            </a:extLst>
          </p:cNvPr>
          <p:cNvSpPr>
            <a:spLocks noChangeArrowheads="1"/>
          </p:cNvSpPr>
          <p:nvPr/>
        </p:nvSpPr>
        <p:spPr bwMode="auto">
          <a:xfrm>
            <a:off x="503238" y="6252636"/>
            <a:ext cx="6660357" cy="3437463"/>
          </a:xfrm>
          <a:prstGeom prst="roundRect">
            <a:avLst>
              <a:gd name="adj" fmla="val 8473"/>
            </a:avLst>
          </a:prstGeom>
          <a:solidFill>
            <a:schemeClr val="bg1"/>
          </a:solidFill>
          <a:ln w="38100" algn="ctr">
            <a:solidFill>
              <a:srgbClr val="49C0C2"/>
            </a:solidFill>
            <a:round/>
            <a:headEnd/>
            <a:tailEnd/>
          </a:ln>
          <a:effectLst/>
        </p:spPr>
        <p:txBody>
          <a:bodyPr vert="horz" wrap="square" lIns="36576" tIns="36576" rIns="36576" bIns="36576" numCol="1" anchor="t" anchorCtr="0" compatLnSpc="1">
            <a:prstTxWarp prst="textNoShape">
              <a:avLst/>
            </a:prstTxWarp>
          </a:bodyPr>
          <a:lstStyle/>
          <a:p>
            <a:endParaRPr lang="en-IN" dirty="0"/>
          </a:p>
        </p:txBody>
      </p:sp>
      <p:sp>
        <p:nvSpPr>
          <p:cNvPr id="32" name="AutoShape 29">
            <a:extLst>
              <a:ext uri="{FF2B5EF4-FFF2-40B4-BE49-F238E27FC236}">
                <a16:creationId xmlns:a16="http://schemas.microsoft.com/office/drawing/2014/main" id="{B762BDF5-D41E-41C6-B5A2-982E6D6D3C46}"/>
              </a:ext>
            </a:extLst>
          </p:cNvPr>
          <p:cNvSpPr>
            <a:spLocks noChangeArrowheads="1"/>
          </p:cNvSpPr>
          <p:nvPr/>
        </p:nvSpPr>
        <p:spPr bwMode="auto">
          <a:xfrm>
            <a:off x="1031083" y="6009611"/>
            <a:ext cx="2219325" cy="490538"/>
          </a:xfrm>
          <a:prstGeom prst="roundRect">
            <a:avLst>
              <a:gd name="adj" fmla="val 50000"/>
            </a:avLst>
          </a:prstGeom>
          <a:solidFill>
            <a:srgbClr val="49C0C2"/>
          </a:solidFill>
          <a:ln w="38100" algn="ctr">
            <a:solidFill>
              <a:srgbClr val="49C0C2"/>
            </a:solidFill>
            <a:round/>
            <a:headEnd/>
            <a:tailEnd/>
          </a:ln>
          <a:effectLst/>
        </p:spPr>
        <p:txBody>
          <a:bodyPr vert="horz" wrap="square" lIns="36576" tIns="36576" rIns="36576" bIns="36576" numCol="1" anchor="t" anchorCtr="0" compatLnSpc="1">
            <a:prstTxWarp prst="textNoShape">
              <a:avLst/>
            </a:prstTxWarp>
          </a:bodyPr>
          <a:lstStyle/>
          <a:p>
            <a:r>
              <a:rPr lang="en-IN" dirty="0"/>
              <a:t>	</a:t>
            </a:r>
          </a:p>
        </p:txBody>
      </p:sp>
      <p:sp>
        <p:nvSpPr>
          <p:cNvPr id="33" name="AutoShape 30">
            <a:extLst>
              <a:ext uri="{FF2B5EF4-FFF2-40B4-BE49-F238E27FC236}">
                <a16:creationId xmlns:a16="http://schemas.microsoft.com/office/drawing/2014/main" id="{704C68A2-8C83-4431-8E30-4C042A4B8228}"/>
              </a:ext>
            </a:extLst>
          </p:cNvPr>
          <p:cNvSpPr>
            <a:spLocks noChangeArrowheads="1"/>
          </p:cNvSpPr>
          <p:nvPr/>
        </p:nvSpPr>
        <p:spPr bwMode="auto">
          <a:xfrm>
            <a:off x="769145" y="6050886"/>
            <a:ext cx="2402718" cy="400050"/>
          </a:xfrm>
          <a:prstGeom prst="roundRect">
            <a:avLst>
              <a:gd name="adj" fmla="val 50000"/>
            </a:avLst>
          </a:prstGeom>
          <a:noFill/>
          <a:ln w="38100" algn="ctr">
            <a:solidFill>
              <a:srgbClr val="FFFFFF"/>
            </a:solidFill>
            <a:round/>
            <a:headEnd/>
            <a:tailEnd/>
          </a:ln>
          <a:effectLst/>
          <a:extLst>
            <a:ext uri="{909E8E84-426E-40DD-AFC4-6F175D3DCCD1}">
              <a14:hiddenFill xmlns:a14="http://schemas.microsoft.com/office/drawing/2010/main">
                <a:solidFill>
                  <a:srgbClr val="49C0C2"/>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34" name="Oval 31">
            <a:extLst>
              <a:ext uri="{FF2B5EF4-FFF2-40B4-BE49-F238E27FC236}">
                <a16:creationId xmlns:a16="http://schemas.microsoft.com/office/drawing/2014/main" id="{79A285DB-38D8-49A8-A911-4711C88D9547}"/>
              </a:ext>
            </a:extLst>
          </p:cNvPr>
          <p:cNvSpPr>
            <a:spLocks noChangeArrowheads="1"/>
          </p:cNvSpPr>
          <p:nvPr/>
        </p:nvSpPr>
        <p:spPr bwMode="auto">
          <a:xfrm>
            <a:off x="691358" y="5896899"/>
            <a:ext cx="744537" cy="744537"/>
          </a:xfrm>
          <a:prstGeom prst="ellipse">
            <a:avLst/>
          </a:prstGeom>
          <a:solidFill>
            <a:srgbClr val="FFFFFF"/>
          </a:solidFill>
          <a:ln w="57150" algn="ctr">
            <a:solidFill>
              <a:srgbClr val="49C0C2"/>
            </a:solidFill>
            <a:round/>
            <a:headEnd/>
            <a:tailEnd/>
          </a:ln>
          <a:effectLst/>
        </p:spPr>
        <p:txBody>
          <a:bodyPr vert="horz" wrap="square" lIns="36576" tIns="36576" rIns="36576" bIns="36576" numCol="1" anchor="t" anchorCtr="0" compatLnSpc="1">
            <a:prstTxWarp prst="textNoShape">
              <a:avLst/>
            </a:prstTxWarp>
          </a:bodyPr>
          <a:lstStyle/>
          <a:p>
            <a:endParaRPr lang="en-IN" dirty="0"/>
          </a:p>
        </p:txBody>
      </p:sp>
      <p:sp>
        <p:nvSpPr>
          <p:cNvPr id="35" name="Title 1">
            <a:extLst>
              <a:ext uri="{FF2B5EF4-FFF2-40B4-BE49-F238E27FC236}">
                <a16:creationId xmlns:a16="http://schemas.microsoft.com/office/drawing/2014/main" id="{62755946-A10D-48DD-8FC5-93225DF5E71D}"/>
              </a:ext>
            </a:extLst>
          </p:cNvPr>
          <p:cNvSpPr txBox="1">
            <a:spLocks/>
          </p:cNvSpPr>
          <p:nvPr/>
        </p:nvSpPr>
        <p:spPr>
          <a:xfrm>
            <a:off x="1437006" y="5992466"/>
            <a:ext cx="1748093" cy="526891"/>
          </a:xfrm>
          <a:prstGeom prst="rect">
            <a:avLst/>
          </a:prstGeom>
          <a:effectLst/>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r>
              <a:rPr lang="en-IN" sz="1500" b="1" dirty="0">
                <a:solidFill>
                  <a:schemeClr val="bg1"/>
                </a:solidFill>
                <a:latin typeface="Comic Sans MS" panose="030F0702030302020204" pitchFamily="66" charset="0"/>
              </a:rPr>
              <a:t>Establishment</a:t>
            </a:r>
            <a:endParaRPr lang="en-IN" sz="1500" b="1" dirty="0"/>
          </a:p>
        </p:txBody>
      </p:sp>
      <p:pic>
        <p:nvPicPr>
          <p:cNvPr id="36" name="Graphic 35">
            <a:extLst>
              <a:ext uri="{FF2B5EF4-FFF2-40B4-BE49-F238E27FC236}">
                <a16:creationId xmlns:a16="http://schemas.microsoft.com/office/drawing/2014/main" id="{0D5EF51A-65BE-4A24-B10D-56BA7DE8F66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13797" y="6030976"/>
            <a:ext cx="508927" cy="468722"/>
          </a:xfrm>
          <a:prstGeom prst="rect">
            <a:avLst/>
          </a:prstGeom>
        </p:spPr>
      </p:pic>
      <p:sp>
        <p:nvSpPr>
          <p:cNvPr id="37" name="Rectangle 36">
            <a:extLst>
              <a:ext uri="{FF2B5EF4-FFF2-40B4-BE49-F238E27FC236}">
                <a16:creationId xmlns:a16="http://schemas.microsoft.com/office/drawing/2014/main" id="{9EFCAE85-41EA-46E6-A6A0-4849FDBC2D51}"/>
              </a:ext>
            </a:extLst>
          </p:cNvPr>
          <p:cNvSpPr/>
          <p:nvPr/>
        </p:nvSpPr>
        <p:spPr>
          <a:xfrm>
            <a:off x="668974" y="6727522"/>
            <a:ext cx="6135328" cy="2862322"/>
          </a:xfrm>
          <a:prstGeom prst="rect">
            <a:avLst/>
          </a:prstGeom>
        </p:spPr>
        <p:txBody>
          <a:bodyPr wrap="square">
            <a:spAutoFit/>
          </a:bodyPr>
          <a:lstStyle/>
          <a:p>
            <a:pPr algn="just"/>
            <a:r>
              <a:rPr lang="en-IN" dirty="0">
                <a:latin typeface="Comic Sans MS" panose="030F0702030302020204" pitchFamily="66" charset="0"/>
              </a:rPr>
              <a:t>According to Rajtarangani (Sanskrit – The rivers of kings) which was written by Kalhana in 12</a:t>
            </a:r>
            <a:r>
              <a:rPr lang="en-IN" baseline="30000" dirty="0">
                <a:latin typeface="Comic Sans MS" panose="030F0702030302020204" pitchFamily="66" charset="0"/>
              </a:rPr>
              <a:t>th</a:t>
            </a:r>
            <a:r>
              <a:rPr lang="en-IN" dirty="0">
                <a:latin typeface="Comic Sans MS" panose="030F0702030302020204" pitchFamily="66" charset="0"/>
              </a:rPr>
              <a:t> century, Karkota Dynasty was established by </a:t>
            </a:r>
            <a:r>
              <a:rPr lang="en-IN" i="1" dirty="0">
                <a:latin typeface="Comic Sans MS" panose="030F0702030302020204" pitchFamily="66" charset="0"/>
              </a:rPr>
              <a:t>Durlabhavardhana </a:t>
            </a:r>
            <a:r>
              <a:rPr lang="en-IN" dirty="0">
                <a:latin typeface="Comic Sans MS" panose="030F0702030302020204" pitchFamily="66" charset="0"/>
              </a:rPr>
              <a:t>in 625 AD. Durlabhavardhana works as a loyal officer for Gonanda’s Dynasty’s last ruler </a:t>
            </a:r>
            <a:r>
              <a:rPr lang="en-IN" i="1" dirty="0">
                <a:latin typeface="Comic Sans MS" panose="030F0702030302020204" pitchFamily="66" charset="0"/>
              </a:rPr>
              <a:t>Baladitya</a:t>
            </a:r>
            <a:r>
              <a:rPr lang="en-IN" dirty="0">
                <a:latin typeface="Comic Sans MS" panose="030F0702030302020204" pitchFamily="66" charset="0"/>
              </a:rPr>
              <a:t>. Baladitya got his daughter Ananglekha married to Durlabhavardhana and then Durlabhavardhana started Karkota Dynasty in 625 CE. Since Durlabhavardhana was Kayastha, Karkota dynasty is also known as Karkota Kayastha Dynasty. </a:t>
            </a:r>
            <a:endParaRPr lang="en-IN" i="1" dirty="0">
              <a:latin typeface="Comic Sans MS" panose="030F0702030302020204" pitchFamily="66" charset="0"/>
            </a:endParaRPr>
          </a:p>
        </p:txBody>
      </p:sp>
    </p:spTree>
    <p:extLst>
      <p:ext uri="{BB962C8B-B14F-4D97-AF65-F5344CB8AC3E}">
        <p14:creationId xmlns:p14="http://schemas.microsoft.com/office/powerpoint/2010/main" val="37794955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3">
            <a:extLst>
              <a:ext uri="{FF2B5EF4-FFF2-40B4-BE49-F238E27FC236}">
                <a16:creationId xmlns:a16="http://schemas.microsoft.com/office/drawing/2014/main" id="{ACFBABEB-9648-4290-AF82-50779E1A1652}"/>
              </a:ext>
            </a:extLst>
          </p:cNvPr>
          <p:cNvSpPr>
            <a:spLocks noChangeArrowheads="1"/>
          </p:cNvSpPr>
          <p:nvPr/>
        </p:nvSpPr>
        <p:spPr bwMode="auto">
          <a:xfrm>
            <a:off x="3590925" y="10345738"/>
            <a:ext cx="381000" cy="295275"/>
          </a:xfrm>
          <a:prstGeom prst="roundRect">
            <a:avLst>
              <a:gd name="adj" fmla="val 16667"/>
            </a:avLst>
          </a:prstGeom>
          <a:solidFill>
            <a:srgbClr val="F0587C"/>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5" name="Text Box 45">
            <a:extLst>
              <a:ext uri="{FF2B5EF4-FFF2-40B4-BE49-F238E27FC236}">
                <a16:creationId xmlns:a16="http://schemas.microsoft.com/office/drawing/2014/main" id="{45AEFD63-6229-4D00-A982-BC0A55FD1213}"/>
              </a:ext>
            </a:extLst>
          </p:cNvPr>
          <p:cNvSpPr txBox="1">
            <a:spLocks noChangeArrowheads="1"/>
          </p:cNvSpPr>
          <p:nvPr/>
        </p:nvSpPr>
        <p:spPr bwMode="auto">
          <a:xfrm>
            <a:off x="3590925" y="10261600"/>
            <a:ext cx="381000" cy="4508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fld id="{AA3A2C3A-815D-4324-A52B-0D6E1281FA41}" type="slidenum">
              <a:rPr kumimoji="0" lang="en-IN" altLang="en-US" sz="1400" b="0" i="0" u="none" strike="noStrike" cap="none" normalizeH="0" baseline="0" smtClean="0">
                <a:ln>
                  <a:noFill/>
                </a:ln>
                <a:solidFill>
                  <a:srgbClr val="FFFFFF"/>
                </a:solidFill>
                <a:effectLst/>
                <a:latin typeface="Poppins" panose="00000500000000000000" pitchFamily="2" charset="0"/>
              </a:rPr>
              <a:pPr marL="0" marR="0" lvl="0" indent="0" algn="ctr" defTabSz="914400" rtl="0" eaLnBrk="0" fontAlgn="base" latinLnBrk="0" hangingPunct="0">
                <a:lnSpc>
                  <a:spcPct val="100000"/>
                </a:lnSpc>
                <a:spcBef>
                  <a:spcPct val="0"/>
                </a:spcBef>
                <a:spcAft>
                  <a:spcPct val="0"/>
                </a:spcAft>
                <a:buClrTx/>
                <a:buSzTx/>
                <a:buFontTx/>
                <a:buNone/>
                <a:tabLst/>
              </a:pPr>
              <a:t>10</a:t>
            </a:fld>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Text Box 46">
            <a:extLst>
              <a:ext uri="{FF2B5EF4-FFF2-40B4-BE49-F238E27FC236}">
                <a16:creationId xmlns:a16="http://schemas.microsoft.com/office/drawing/2014/main" id="{72C93E1D-73C4-4BDB-B5F9-208F3FC92533}"/>
              </a:ext>
            </a:extLst>
          </p:cNvPr>
          <p:cNvSpPr txBox="1">
            <a:spLocks noChangeArrowheads="1"/>
          </p:cNvSpPr>
          <p:nvPr/>
        </p:nvSpPr>
        <p:spPr bwMode="auto">
          <a:xfrm>
            <a:off x="0" y="10261600"/>
            <a:ext cx="3590925" cy="439738"/>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IN" altLang="en-US" sz="1000" b="0" i="0" u="none" strike="noStrike" cap="none" normalizeH="0" baseline="0">
                <a:ln>
                  <a:noFill/>
                </a:ln>
                <a:solidFill>
                  <a:srgbClr val="000000"/>
                </a:solidFill>
                <a:effectLst/>
                <a:latin typeface="Poppins" panose="00000500000000000000" pitchFamily="2" charset="0"/>
              </a:rPr>
              <a:t>VIDYAVANTAM — CBSE CLASS 7 HISTORY</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Text Box 47">
            <a:extLst>
              <a:ext uri="{FF2B5EF4-FFF2-40B4-BE49-F238E27FC236}">
                <a16:creationId xmlns:a16="http://schemas.microsoft.com/office/drawing/2014/main" id="{71F1E853-0E2C-4771-A75B-9AD0CE54D8F1}"/>
              </a:ext>
            </a:extLst>
          </p:cNvPr>
          <p:cNvSpPr txBox="1">
            <a:spLocks noChangeArrowheads="1"/>
          </p:cNvSpPr>
          <p:nvPr/>
        </p:nvSpPr>
        <p:spPr bwMode="auto">
          <a:xfrm>
            <a:off x="3968273" y="10261600"/>
            <a:ext cx="3587750" cy="428625"/>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defTabSz="914400" eaLnBrk="0" fontAlgn="base" hangingPunct="0">
              <a:spcBef>
                <a:spcPct val="0"/>
              </a:spcBef>
              <a:spcAft>
                <a:spcPct val="0"/>
              </a:spcAft>
            </a:pPr>
            <a:r>
              <a:rPr lang="en-IN" sz="1000" dirty="0">
                <a:solidFill>
                  <a:srgbClr val="000000"/>
                </a:solidFill>
                <a:latin typeface="Poppins" panose="00000500000000000000" pitchFamily="2" charset="0"/>
              </a:rPr>
              <a:t>KARKOTA DYNASTY</a:t>
            </a:r>
          </a:p>
        </p:txBody>
      </p:sp>
      <p:sp>
        <p:nvSpPr>
          <p:cNvPr id="8" name="AutoShape 26">
            <a:extLst>
              <a:ext uri="{FF2B5EF4-FFF2-40B4-BE49-F238E27FC236}">
                <a16:creationId xmlns:a16="http://schemas.microsoft.com/office/drawing/2014/main" id="{C9757B9E-C8D6-418A-9C98-EB884E61CBD3}"/>
              </a:ext>
            </a:extLst>
          </p:cNvPr>
          <p:cNvSpPr>
            <a:spLocks noChangeArrowheads="1"/>
          </p:cNvSpPr>
          <p:nvPr/>
        </p:nvSpPr>
        <p:spPr bwMode="auto">
          <a:xfrm>
            <a:off x="719933" y="648097"/>
            <a:ext cx="2219325" cy="438150"/>
          </a:xfrm>
          <a:prstGeom prst="roundRect">
            <a:avLst>
              <a:gd name="adj" fmla="val 50000"/>
            </a:avLst>
          </a:prstGeom>
          <a:noFill/>
          <a:ln w="38100" algn="ctr">
            <a:solidFill>
              <a:srgbClr val="FFFFFF"/>
            </a:solidFill>
            <a:round/>
            <a:headEnd/>
            <a:tailEnd/>
          </a:ln>
          <a:effectLst/>
          <a:extLst>
            <a:ext uri="{909E8E84-426E-40DD-AFC4-6F175D3DCCD1}">
              <a14:hiddenFill xmlns:a14="http://schemas.microsoft.com/office/drawing/2010/main">
                <a:solidFill>
                  <a:srgbClr val="49C0C2"/>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9" name="Title 1">
            <a:extLst>
              <a:ext uri="{FF2B5EF4-FFF2-40B4-BE49-F238E27FC236}">
                <a16:creationId xmlns:a16="http://schemas.microsoft.com/office/drawing/2014/main" id="{BDCBEB64-5A55-4031-801D-9FAB404C5A91}"/>
              </a:ext>
            </a:extLst>
          </p:cNvPr>
          <p:cNvSpPr txBox="1">
            <a:spLocks/>
          </p:cNvSpPr>
          <p:nvPr/>
        </p:nvSpPr>
        <p:spPr>
          <a:xfrm>
            <a:off x="1368983" y="611585"/>
            <a:ext cx="1504966" cy="499110"/>
          </a:xfrm>
          <a:prstGeom prst="rect">
            <a:avLst/>
          </a:prstGeom>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r>
              <a:rPr lang="en-IN" sz="1500" b="1" dirty="0">
                <a:solidFill>
                  <a:schemeClr val="bg1"/>
                </a:solidFill>
                <a:latin typeface="Comic Sans MS" panose="030F0702030302020204" pitchFamily="66" charset="0"/>
              </a:rPr>
              <a:t>Introduction</a:t>
            </a:r>
            <a:endParaRPr lang="en-IN" sz="1500" b="1" dirty="0"/>
          </a:p>
        </p:txBody>
      </p:sp>
      <p:sp>
        <p:nvSpPr>
          <p:cNvPr id="10" name="AutoShape 28">
            <a:extLst>
              <a:ext uri="{FF2B5EF4-FFF2-40B4-BE49-F238E27FC236}">
                <a16:creationId xmlns:a16="http://schemas.microsoft.com/office/drawing/2014/main" id="{DCB28CB9-2B6C-43A1-99C2-51708872A233}"/>
              </a:ext>
            </a:extLst>
          </p:cNvPr>
          <p:cNvSpPr>
            <a:spLocks noChangeArrowheads="1"/>
          </p:cNvSpPr>
          <p:nvPr/>
        </p:nvSpPr>
        <p:spPr bwMode="auto">
          <a:xfrm>
            <a:off x="503238" y="841513"/>
            <a:ext cx="6660357" cy="3997188"/>
          </a:xfrm>
          <a:prstGeom prst="roundRect">
            <a:avLst>
              <a:gd name="adj" fmla="val 8473"/>
            </a:avLst>
          </a:prstGeom>
          <a:solidFill>
            <a:schemeClr val="bg1"/>
          </a:solidFill>
          <a:ln w="38100" algn="ctr">
            <a:solidFill>
              <a:srgbClr val="49C0C2"/>
            </a:solidFill>
            <a:round/>
            <a:headEnd/>
            <a:tailEnd/>
          </a:ln>
          <a:effectLst/>
        </p:spPr>
        <p:txBody>
          <a:bodyPr vert="horz" wrap="square" lIns="36576" tIns="36576" rIns="36576" bIns="36576" numCol="1" anchor="t" anchorCtr="0" compatLnSpc="1">
            <a:prstTxWarp prst="textNoShape">
              <a:avLst/>
            </a:prstTxWarp>
          </a:bodyPr>
          <a:lstStyle/>
          <a:p>
            <a:endParaRPr lang="en-IN" dirty="0"/>
          </a:p>
        </p:txBody>
      </p:sp>
      <p:sp>
        <p:nvSpPr>
          <p:cNvPr id="11" name="AutoShape 29">
            <a:extLst>
              <a:ext uri="{FF2B5EF4-FFF2-40B4-BE49-F238E27FC236}">
                <a16:creationId xmlns:a16="http://schemas.microsoft.com/office/drawing/2014/main" id="{1D40D7AF-A874-41A7-8B20-0ED8BEC6DE35}"/>
              </a:ext>
            </a:extLst>
          </p:cNvPr>
          <p:cNvSpPr>
            <a:spLocks noChangeArrowheads="1"/>
          </p:cNvSpPr>
          <p:nvPr/>
        </p:nvSpPr>
        <p:spPr bwMode="auto">
          <a:xfrm>
            <a:off x="1031083" y="598487"/>
            <a:ext cx="3580603" cy="490538"/>
          </a:xfrm>
          <a:prstGeom prst="roundRect">
            <a:avLst>
              <a:gd name="adj" fmla="val 50000"/>
            </a:avLst>
          </a:prstGeom>
          <a:solidFill>
            <a:srgbClr val="49C0C2"/>
          </a:solidFill>
          <a:ln w="38100" algn="ctr">
            <a:solidFill>
              <a:srgbClr val="49C0C2"/>
            </a:solidFill>
            <a:round/>
            <a:headEnd/>
            <a:tailEnd/>
          </a:ln>
          <a:effectLst/>
        </p:spPr>
        <p:txBody>
          <a:bodyPr vert="horz" wrap="square" lIns="36576" tIns="36576" rIns="36576" bIns="36576" numCol="1" anchor="t" anchorCtr="0" compatLnSpc="1">
            <a:prstTxWarp prst="textNoShape">
              <a:avLst/>
            </a:prstTxWarp>
          </a:bodyPr>
          <a:lstStyle/>
          <a:p>
            <a:r>
              <a:rPr lang="en-IN" dirty="0"/>
              <a:t>	</a:t>
            </a:r>
          </a:p>
        </p:txBody>
      </p:sp>
      <p:sp>
        <p:nvSpPr>
          <p:cNvPr id="12" name="AutoShape 30">
            <a:extLst>
              <a:ext uri="{FF2B5EF4-FFF2-40B4-BE49-F238E27FC236}">
                <a16:creationId xmlns:a16="http://schemas.microsoft.com/office/drawing/2014/main" id="{C24F7AD6-9AB3-461A-8EE8-94E543A36555}"/>
              </a:ext>
            </a:extLst>
          </p:cNvPr>
          <p:cNvSpPr>
            <a:spLocks noChangeArrowheads="1"/>
          </p:cNvSpPr>
          <p:nvPr/>
        </p:nvSpPr>
        <p:spPr bwMode="auto">
          <a:xfrm>
            <a:off x="769144" y="639762"/>
            <a:ext cx="3798094" cy="400050"/>
          </a:xfrm>
          <a:prstGeom prst="roundRect">
            <a:avLst>
              <a:gd name="adj" fmla="val 50000"/>
            </a:avLst>
          </a:prstGeom>
          <a:noFill/>
          <a:ln w="38100" algn="ctr">
            <a:solidFill>
              <a:srgbClr val="FFFFFF"/>
            </a:solidFill>
            <a:round/>
            <a:headEnd/>
            <a:tailEnd/>
          </a:ln>
          <a:effectLst/>
          <a:extLst>
            <a:ext uri="{909E8E84-426E-40DD-AFC4-6F175D3DCCD1}">
              <a14:hiddenFill xmlns:a14="http://schemas.microsoft.com/office/drawing/2010/main">
                <a:solidFill>
                  <a:srgbClr val="49C0C2"/>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13" name="Oval 31">
            <a:extLst>
              <a:ext uri="{FF2B5EF4-FFF2-40B4-BE49-F238E27FC236}">
                <a16:creationId xmlns:a16="http://schemas.microsoft.com/office/drawing/2014/main" id="{6478E749-F61C-4756-B4CE-7D9203FB11BB}"/>
              </a:ext>
            </a:extLst>
          </p:cNvPr>
          <p:cNvSpPr>
            <a:spLocks noChangeArrowheads="1"/>
          </p:cNvSpPr>
          <p:nvPr/>
        </p:nvSpPr>
        <p:spPr bwMode="auto">
          <a:xfrm>
            <a:off x="691358" y="485775"/>
            <a:ext cx="744537" cy="744537"/>
          </a:xfrm>
          <a:prstGeom prst="ellipse">
            <a:avLst/>
          </a:prstGeom>
          <a:solidFill>
            <a:srgbClr val="FFFFFF"/>
          </a:solidFill>
          <a:ln w="57150" algn="ctr">
            <a:solidFill>
              <a:srgbClr val="49C0C2"/>
            </a:solidFill>
            <a:round/>
            <a:headEnd/>
            <a:tailEnd/>
          </a:ln>
          <a:effectLst/>
        </p:spPr>
        <p:txBody>
          <a:bodyPr vert="horz" wrap="square" lIns="36576" tIns="36576" rIns="36576" bIns="36576" numCol="1" anchor="t" anchorCtr="0" compatLnSpc="1">
            <a:prstTxWarp prst="textNoShape">
              <a:avLst/>
            </a:prstTxWarp>
          </a:bodyPr>
          <a:lstStyle/>
          <a:p>
            <a:endParaRPr lang="en-IN" dirty="0"/>
          </a:p>
        </p:txBody>
      </p:sp>
      <p:sp>
        <p:nvSpPr>
          <p:cNvPr id="14" name="Title 1">
            <a:extLst>
              <a:ext uri="{FF2B5EF4-FFF2-40B4-BE49-F238E27FC236}">
                <a16:creationId xmlns:a16="http://schemas.microsoft.com/office/drawing/2014/main" id="{71E90CDF-A33A-41FF-85DA-C0DF8C9AD4A8}"/>
              </a:ext>
            </a:extLst>
          </p:cNvPr>
          <p:cNvSpPr txBox="1">
            <a:spLocks/>
          </p:cNvSpPr>
          <p:nvPr/>
        </p:nvSpPr>
        <p:spPr>
          <a:xfrm>
            <a:off x="1437006" y="581342"/>
            <a:ext cx="3014656" cy="526891"/>
          </a:xfrm>
          <a:prstGeom prst="rect">
            <a:avLst/>
          </a:prstGeom>
          <a:effectLst/>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r>
              <a:rPr lang="en-IN" sz="1500" b="1" dirty="0">
                <a:solidFill>
                  <a:schemeClr val="bg1"/>
                </a:solidFill>
                <a:latin typeface="Comic Sans MS" panose="030F0702030302020204" pitchFamily="66" charset="0"/>
              </a:rPr>
              <a:t>Rulers of Karkota Dynasty</a:t>
            </a:r>
            <a:endParaRPr lang="en-IN" sz="1500" b="1" dirty="0"/>
          </a:p>
        </p:txBody>
      </p:sp>
      <p:pic>
        <p:nvPicPr>
          <p:cNvPr id="15" name="Graphic 14">
            <a:extLst>
              <a:ext uri="{FF2B5EF4-FFF2-40B4-BE49-F238E27FC236}">
                <a16:creationId xmlns:a16="http://schemas.microsoft.com/office/drawing/2014/main" id="{FE895F7C-BEF5-4155-88BB-EE8C0D09DBD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13797" y="619852"/>
            <a:ext cx="508927" cy="468722"/>
          </a:xfrm>
          <a:prstGeom prst="rect">
            <a:avLst/>
          </a:prstGeom>
        </p:spPr>
      </p:pic>
      <p:sp>
        <p:nvSpPr>
          <p:cNvPr id="16" name="Rectangle 15">
            <a:extLst>
              <a:ext uri="{FF2B5EF4-FFF2-40B4-BE49-F238E27FC236}">
                <a16:creationId xmlns:a16="http://schemas.microsoft.com/office/drawing/2014/main" id="{CAF6A2C2-2884-419E-AE68-149DEDDB9D56}"/>
              </a:ext>
            </a:extLst>
          </p:cNvPr>
          <p:cNvSpPr/>
          <p:nvPr/>
        </p:nvSpPr>
        <p:spPr>
          <a:xfrm>
            <a:off x="668974" y="1316398"/>
            <a:ext cx="6135328" cy="3416320"/>
          </a:xfrm>
          <a:prstGeom prst="rect">
            <a:avLst/>
          </a:prstGeom>
        </p:spPr>
        <p:txBody>
          <a:bodyPr wrap="square">
            <a:spAutoFit/>
          </a:bodyPr>
          <a:lstStyle/>
          <a:p>
            <a:pPr algn="just"/>
            <a:r>
              <a:rPr lang="en-IN" dirty="0">
                <a:latin typeface="Comic Sans MS" panose="030F0702030302020204" pitchFamily="66" charset="0"/>
              </a:rPr>
              <a:t>The series of rulers of Karkota Dynasty are:-</a:t>
            </a:r>
          </a:p>
          <a:p>
            <a:pPr marL="342900" indent="-342900" algn="just">
              <a:buFont typeface="+mj-lt"/>
              <a:buAutoNum type="arabicPeriod"/>
            </a:pPr>
            <a:r>
              <a:rPr lang="en-IN" dirty="0">
                <a:latin typeface="Comic Sans MS" panose="030F0702030302020204" pitchFamily="66" charset="0"/>
              </a:rPr>
              <a:t>Durlabhavardhana</a:t>
            </a:r>
          </a:p>
          <a:p>
            <a:pPr marL="342900" indent="-342900" algn="just">
              <a:buFont typeface="+mj-lt"/>
              <a:buAutoNum type="arabicPeriod"/>
            </a:pPr>
            <a:r>
              <a:rPr lang="en-IN" dirty="0">
                <a:latin typeface="Comic Sans MS" panose="030F0702030302020204" pitchFamily="66" charset="0"/>
              </a:rPr>
              <a:t>Durlabhaka</a:t>
            </a:r>
          </a:p>
          <a:p>
            <a:pPr marL="342900" indent="-342900" algn="just">
              <a:buFont typeface="+mj-lt"/>
              <a:buAutoNum type="arabicPeriod"/>
            </a:pPr>
            <a:r>
              <a:rPr lang="en-IN" dirty="0">
                <a:latin typeface="Comic Sans MS" panose="030F0702030302020204" pitchFamily="66" charset="0"/>
              </a:rPr>
              <a:t>Chandrapida</a:t>
            </a:r>
            <a:endParaRPr lang="en-IN" i="1" dirty="0">
              <a:latin typeface="Comic Sans MS" panose="030F0702030302020204" pitchFamily="66" charset="0"/>
            </a:endParaRPr>
          </a:p>
          <a:p>
            <a:pPr marL="342900" indent="-342900" algn="just">
              <a:buFont typeface="+mj-lt"/>
              <a:buAutoNum type="arabicPeriod"/>
            </a:pPr>
            <a:r>
              <a:rPr lang="en-IN" dirty="0">
                <a:latin typeface="Comic Sans MS" panose="030F0702030302020204" pitchFamily="66" charset="0"/>
              </a:rPr>
              <a:t>Tarapida</a:t>
            </a:r>
          </a:p>
          <a:p>
            <a:pPr marL="342900" indent="-342900" algn="just">
              <a:buFont typeface="+mj-lt"/>
              <a:buAutoNum type="arabicPeriod"/>
            </a:pPr>
            <a:r>
              <a:rPr lang="en-IN" dirty="0">
                <a:latin typeface="Comic Sans MS" panose="030F0702030302020204" pitchFamily="66" charset="0"/>
              </a:rPr>
              <a:t>Lalitaditya Muktapida</a:t>
            </a:r>
          </a:p>
          <a:p>
            <a:pPr marL="342900" indent="-342900" algn="just">
              <a:buFont typeface="+mj-lt"/>
              <a:buAutoNum type="arabicPeriod"/>
            </a:pPr>
            <a:r>
              <a:rPr lang="en-IN" dirty="0">
                <a:latin typeface="Comic Sans MS" panose="030F0702030302020204" pitchFamily="66" charset="0"/>
              </a:rPr>
              <a:t>Kuvalayapida</a:t>
            </a:r>
          </a:p>
          <a:p>
            <a:pPr marL="342900" indent="-342900" algn="just">
              <a:buFont typeface="+mj-lt"/>
              <a:buAutoNum type="arabicPeriod"/>
            </a:pPr>
            <a:r>
              <a:rPr lang="en-IN" dirty="0">
                <a:latin typeface="Comic Sans MS" panose="030F0702030302020204" pitchFamily="66" charset="0"/>
              </a:rPr>
              <a:t>Vajraditya</a:t>
            </a:r>
          </a:p>
          <a:p>
            <a:pPr marL="342900" indent="-342900" algn="just">
              <a:buFont typeface="+mj-lt"/>
              <a:buAutoNum type="arabicPeriod"/>
            </a:pPr>
            <a:r>
              <a:rPr lang="en-IN" dirty="0">
                <a:latin typeface="Comic Sans MS" panose="030F0702030302020204" pitchFamily="66" charset="0"/>
              </a:rPr>
              <a:t>Jayapida</a:t>
            </a:r>
          </a:p>
          <a:p>
            <a:pPr marL="342900" indent="-342900">
              <a:buFont typeface="+mj-lt"/>
              <a:buAutoNum type="arabicPeriod"/>
            </a:pPr>
            <a:r>
              <a:rPr lang="en-IN" dirty="0">
                <a:latin typeface="Comic Sans MS" panose="030F0702030302020204" pitchFamily="66" charset="0"/>
              </a:rPr>
              <a:t>Lalitapida</a:t>
            </a:r>
          </a:p>
          <a:p>
            <a:pPr marL="342900" indent="-342900">
              <a:buFont typeface="+mj-lt"/>
              <a:buAutoNum type="arabicPeriod"/>
            </a:pPr>
            <a:r>
              <a:rPr lang="en-IN" dirty="0">
                <a:latin typeface="Comic Sans MS" panose="030F0702030302020204" pitchFamily="66" charset="0"/>
              </a:rPr>
              <a:t>Samgramapida II</a:t>
            </a:r>
          </a:p>
          <a:p>
            <a:pPr marL="342900" indent="-342900">
              <a:buFont typeface="+mj-lt"/>
              <a:buAutoNum type="arabicPeriod"/>
            </a:pPr>
            <a:r>
              <a:rPr lang="en-IN" dirty="0">
                <a:latin typeface="Comic Sans MS" panose="030F0702030302020204" pitchFamily="66" charset="0"/>
              </a:rPr>
              <a:t>Brihaspati</a:t>
            </a:r>
          </a:p>
        </p:txBody>
      </p:sp>
      <p:sp>
        <p:nvSpPr>
          <p:cNvPr id="17" name="AutoShape 23">
            <a:extLst>
              <a:ext uri="{FF2B5EF4-FFF2-40B4-BE49-F238E27FC236}">
                <a16:creationId xmlns:a16="http://schemas.microsoft.com/office/drawing/2014/main" id="{BD4A4C5A-59BC-4AD0-ACBF-A589D2BF688D}"/>
              </a:ext>
            </a:extLst>
          </p:cNvPr>
          <p:cNvSpPr>
            <a:spLocks noChangeArrowheads="1"/>
          </p:cNvSpPr>
          <p:nvPr/>
        </p:nvSpPr>
        <p:spPr bwMode="auto">
          <a:xfrm>
            <a:off x="473394" y="5053494"/>
            <a:ext cx="3306444" cy="522288"/>
          </a:xfrm>
          <a:prstGeom prst="roundRect">
            <a:avLst>
              <a:gd name="adj" fmla="val 50000"/>
            </a:avLst>
          </a:prstGeom>
          <a:solidFill>
            <a:srgbClr val="F0587C"/>
          </a:solidFill>
          <a:ln w="25400" algn="ctr">
            <a:solidFill>
              <a:srgbClr val="F0587C"/>
            </a:solidFill>
            <a:round/>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18" name="Title 1">
            <a:extLst>
              <a:ext uri="{FF2B5EF4-FFF2-40B4-BE49-F238E27FC236}">
                <a16:creationId xmlns:a16="http://schemas.microsoft.com/office/drawing/2014/main" id="{874B1EA6-AD5C-487C-A033-B879E1B506B0}"/>
              </a:ext>
            </a:extLst>
          </p:cNvPr>
          <p:cNvSpPr txBox="1">
            <a:spLocks/>
          </p:cNvSpPr>
          <p:nvPr/>
        </p:nvSpPr>
        <p:spPr>
          <a:xfrm>
            <a:off x="513080" y="5088102"/>
            <a:ext cx="464344" cy="466090"/>
          </a:xfrm>
          <a:prstGeom prst="ellipse">
            <a:avLst/>
          </a:prstGeom>
          <a:solidFill>
            <a:schemeClr val="bg1"/>
          </a:solidFill>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r>
              <a:rPr lang="en-IN" sz="1500" b="1" dirty="0">
                <a:solidFill>
                  <a:srgbClr val="F0597C"/>
                </a:solidFill>
                <a:latin typeface="Comic Sans MS" panose="030F0702030302020204" pitchFamily="66" charset="0"/>
              </a:rPr>
              <a:t>1</a:t>
            </a:r>
          </a:p>
        </p:txBody>
      </p:sp>
      <p:sp>
        <p:nvSpPr>
          <p:cNvPr id="19" name="Rectangle 18">
            <a:extLst>
              <a:ext uri="{FF2B5EF4-FFF2-40B4-BE49-F238E27FC236}">
                <a16:creationId xmlns:a16="http://schemas.microsoft.com/office/drawing/2014/main" id="{E5B10BEA-18A8-4970-84DD-E71631F9CBAD}"/>
              </a:ext>
            </a:extLst>
          </p:cNvPr>
          <p:cNvSpPr/>
          <p:nvPr/>
        </p:nvSpPr>
        <p:spPr>
          <a:xfrm>
            <a:off x="1043395" y="5127367"/>
            <a:ext cx="2547530" cy="369332"/>
          </a:xfrm>
          <a:prstGeom prst="rect">
            <a:avLst/>
          </a:prstGeom>
        </p:spPr>
        <p:txBody>
          <a:bodyPr wrap="square">
            <a:spAutoFit/>
          </a:bodyPr>
          <a:lstStyle/>
          <a:p>
            <a:pPr algn="ctr"/>
            <a:r>
              <a:rPr lang="en-IN" dirty="0">
                <a:solidFill>
                  <a:schemeClr val="bg1"/>
                </a:solidFill>
                <a:latin typeface="Comic Sans MS" panose="030F0702030302020204" pitchFamily="66" charset="0"/>
              </a:rPr>
              <a:t>Durlabhavardhana</a:t>
            </a:r>
          </a:p>
        </p:txBody>
      </p:sp>
      <p:sp>
        <p:nvSpPr>
          <p:cNvPr id="20" name="Rectangle 19">
            <a:extLst>
              <a:ext uri="{FF2B5EF4-FFF2-40B4-BE49-F238E27FC236}">
                <a16:creationId xmlns:a16="http://schemas.microsoft.com/office/drawing/2014/main" id="{57CE28E3-5E90-496D-BD7D-1E24CF7A0391}"/>
              </a:ext>
            </a:extLst>
          </p:cNvPr>
          <p:cNvSpPr/>
          <p:nvPr/>
        </p:nvSpPr>
        <p:spPr>
          <a:xfrm>
            <a:off x="492444" y="5649655"/>
            <a:ext cx="6671151" cy="3416320"/>
          </a:xfrm>
          <a:prstGeom prst="rect">
            <a:avLst/>
          </a:prstGeom>
        </p:spPr>
        <p:txBody>
          <a:bodyPr wrap="square">
            <a:spAutoFit/>
          </a:bodyPr>
          <a:lstStyle/>
          <a:p>
            <a:pPr algn="just"/>
            <a:r>
              <a:rPr lang="en-IN" dirty="0">
                <a:latin typeface="Comic Sans MS" panose="030F0702030302020204" pitchFamily="66" charset="0"/>
              </a:rPr>
              <a:t>Durlabhavardhana was the first ruler of Karkota Dynasty which was a loyal officer of Gonanda’s Dynasty’s ruler Baladitya. Baladitya got his daughter Ananglekha married to Durlabhavardhana and after Baladitya death  Durlabhavardhana started Karkota (named after his father Karkotaka) Dynasty in 625 CE. According to Kalhana he ruled with a span of about 36 years from 625 AD to 661 AD. Xuan Zang have visited Kashmir twice and according to him, Durlabhavardhana controlled vast swaths of territories including modern day Kashmir, Punjab and Khyber Pakhtunkhwa (Pakistan’s huge area). In Durlabhavardhana rule, Kashmir was the centre of Learning and Science.</a:t>
            </a:r>
          </a:p>
        </p:txBody>
      </p:sp>
      <p:sp>
        <p:nvSpPr>
          <p:cNvPr id="21" name="AutoShape 23">
            <a:extLst>
              <a:ext uri="{FF2B5EF4-FFF2-40B4-BE49-F238E27FC236}">
                <a16:creationId xmlns:a16="http://schemas.microsoft.com/office/drawing/2014/main" id="{12267215-9FDA-4133-A370-78E17505E108}"/>
              </a:ext>
            </a:extLst>
          </p:cNvPr>
          <p:cNvSpPr>
            <a:spLocks noChangeArrowheads="1"/>
          </p:cNvSpPr>
          <p:nvPr/>
        </p:nvSpPr>
        <p:spPr bwMode="auto">
          <a:xfrm>
            <a:off x="513080" y="9088407"/>
            <a:ext cx="3306444" cy="522288"/>
          </a:xfrm>
          <a:prstGeom prst="roundRect">
            <a:avLst>
              <a:gd name="adj" fmla="val 50000"/>
            </a:avLst>
          </a:prstGeom>
          <a:solidFill>
            <a:srgbClr val="F0587C"/>
          </a:solidFill>
          <a:ln w="25400" algn="ctr">
            <a:solidFill>
              <a:srgbClr val="F0587C"/>
            </a:solidFill>
            <a:round/>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22" name="Title 1">
            <a:extLst>
              <a:ext uri="{FF2B5EF4-FFF2-40B4-BE49-F238E27FC236}">
                <a16:creationId xmlns:a16="http://schemas.microsoft.com/office/drawing/2014/main" id="{35E215AD-4EA4-4F8A-B660-C2D7FDCB865C}"/>
              </a:ext>
            </a:extLst>
          </p:cNvPr>
          <p:cNvSpPr txBox="1">
            <a:spLocks/>
          </p:cNvSpPr>
          <p:nvPr/>
        </p:nvSpPr>
        <p:spPr>
          <a:xfrm>
            <a:off x="552766" y="9123015"/>
            <a:ext cx="464344" cy="466090"/>
          </a:xfrm>
          <a:prstGeom prst="ellipse">
            <a:avLst/>
          </a:prstGeom>
          <a:solidFill>
            <a:schemeClr val="bg1"/>
          </a:solidFill>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r>
              <a:rPr lang="en-IN" sz="1500" b="1" dirty="0">
                <a:solidFill>
                  <a:srgbClr val="F0597C"/>
                </a:solidFill>
                <a:latin typeface="Comic Sans MS" panose="030F0702030302020204" pitchFamily="66" charset="0"/>
              </a:rPr>
              <a:t>2</a:t>
            </a:r>
          </a:p>
        </p:txBody>
      </p:sp>
      <p:sp>
        <p:nvSpPr>
          <p:cNvPr id="23" name="Rectangle 22">
            <a:extLst>
              <a:ext uri="{FF2B5EF4-FFF2-40B4-BE49-F238E27FC236}">
                <a16:creationId xmlns:a16="http://schemas.microsoft.com/office/drawing/2014/main" id="{41E948FF-4F69-45D6-890D-7594559639DC}"/>
              </a:ext>
            </a:extLst>
          </p:cNvPr>
          <p:cNvSpPr/>
          <p:nvPr/>
        </p:nvSpPr>
        <p:spPr>
          <a:xfrm>
            <a:off x="1083081" y="9162280"/>
            <a:ext cx="2547530" cy="369332"/>
          </a:xfrm>
          <a:prstGeom prst="rect">
            <a:avLst/>
          </a:prstGeom>
        </p:spPr>
        <p:txBody>
          <a:bodyPr wrap="square">
            <a:spAutoFit/>
          </a:bodyPr>
          <a:lstStyle/>
          <a:p>
            <a:pPr algn="ctr"/>
            <a:r>
              <a:rPr lang="en-IN" dirty="0">
                <a:solidFill>
                  <a:schemeClr val="bg1"/>
                </a:solidFill>
                <a:latin typeface="Comic Sans MS" panose="030F0702030302020204" pitchFamily="66" charset="0"/>
              </a:rPr>
              <a:t>Durlabhaka</a:t>
            </a:r>
          </a:p>
        </p:txBody>
      </p:sp>
      <p:sp>
        <p:nvSpPr>
          <p:cNvPr id="24" name="Rectangle 23">
            <a:extLst>
              <a:ext uri="{FF2B5EF4-FFF2-40B4-BE49-F238E27FC236}">
                <a16:creationId xmlns:a16="http://schemas.microsoft.com/office/drawing/2014/main" id="{80ECE7B7-4369-43F6-847E-7EAA853AD5DD}"/>
              </a:ext>
            </a:extLst>
          </p:cNvPr>
          <p:cNvSpPr/>
          <p:nvPr/>
        </p:nvSpPr>
        <p:spPr>
          <a:xfrm>
            <a:off x="532130" y="9670052"/>
            <a:ext cx="6671151" cy="369332"/>
          </a:xfrm>
          <a:prstGeom prst="rect">
            <a:avLst/>
          </a:prstGeom>
        </p:spPr>
        <p:txBody>
          <a:bodyPr wrap="square">
            <a:spAutoFit/>
          </a:bodyPr>
          <a:lstStyle/>
          <a:p>
            <a:pPr algn="just"/>
            <a:r>
              <a:rPr lang="en-IN" dirty="0">
                <a:latin typeface="Comic Sans MS" panose="030F0702030302020204" pitchFamily="66" charset="0"/>
              </a:rPr>
              <a:t>As per Kalhana, Dulabhaka or Pratap Aditya ruled with a</a:t>
            </a:r>
          </a:p>
        </p:txBody>
      </p:sp>
    </p:spTree>
    <p:extLst>
      <p:ext uri="{BB962C8B-B14F-4D97-AF65-F5344CB8AC3E}">
        <p14:creationId xmlns:p14="http://schemas.microsoft.com/office/powerpoint/2010/main" val="10415313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70B1547-A375-4633-88DA-125AD5226701}"/>
              </a:ext>
            </a:extLst>
          </p:cNvPr>
          <p:cNvSpPr/>
          <p:nvPr/>
        </p:nvSpPr>
        <p:spPr>
          <a:xfrm>
            <a:off x="503238" y="485775"/>
            <a:ext cx="6671151" cy="3139321"/>
          </a:xfrm>
          <a:prstGeom prst="rect">
            <a:avLst/>
          </a:prstGeom>
        </p:spPr>
        <p:txBody>
          <a:bodyPr wrap="square">
            <a:spAutoFit/>
          </a:bodyPr>
          <a:lstStyle/>
          <a:p>
            <a:pPr algn="just"/>
            <a:r>
              <a:rPr lang="en-IN" dirty="0">
                <a:latin typeface="Comic Sans MS" panose="030F0702030302020204" pitchFamily="66" charset="0"/>
              </a:rPr>
              <a:t>span of 50 years from 662 AD to 712 AD. His reign saw increasing trade relation with neighbouring polities and the development of the Classical Kārkoṭa style of sculpture. Kalhana records him to have impressive military skill. In his rule many </a:t>
            </a:r>
            <a:r>
              <a:rPr lang="en-IN" i="1" dirty="0">
                <a:latin typeface="Comic Sans MS" panose="030F0702030302020204" pitchFamily="66" charset="0"/>
              </a:rPr>
              <a:t>Agrahara</a:t>
            </a:r>
            <a:r>
              <a:rPr lang="en-IN" dirty="0">
                <a:latin typeface="Comic Sans MS" panose="030F0702030302020204" pitchFamily="66" charset="0"/>
              </a:rPr>
              <a:t> was settled. An Agraharam or Agrahara was a grant of land and royal income from it, typically by a king or a noble family in India, for religious purposes, particularly to Brahmins to maintain temples in that land or a pilgrimage site and to sustain their families. </a:t>
            </a:r>
          </a:p>
          <a:p>
            <a:pPr algn="just"/>
            <a:r>
              <a:rPr lang="en-US" dirty="0">
                <a:latin typeface="Comic Sans MS" panose="030F0702030302020204" pitchFamily="66" charset="0"/>
              </a:rPr>
              <a:t>	</a:t>
            </a:r>
            <a:r>
              <a:rPr lang="en-IN" dirty="0">
                <a:latin typeface="Comic Sans MS" panose="030F0702030302020204" pitchFamily="66" charset="0"/>
              </a:rPr>
              <a:t>Durlabhak married Narendraprabhā, and had three sons - Chandrapida, Tarapida and Lalitaditya Muktapida</a:t>
            </a:r>
          </a:p>
        </p:txBody>
      </p:sp>
      <p:sp>
        <p:nvSpPr>
          <p:cNvPr id="5" name="AutoShape 43">
            <a:extLst>
              <a:ext uri="{FF2B5EF4-FFF2-40B4-BE49-F238E27FC236}">
                <a16:creationId xmlns:a16="http://schemas.microsoft.com/office/drawing/2014/main" id="{29CB6A0F-2F73-476D-8CF2-4F5A4104543D}"/>
              </a:ext>
            </a:extLst>
          </p:cNvPr>
          <p:cNvSpPr>
            <a:spLocks noChangeArrowheads="1"/>
          </p:cNvSpPr>
          <p:nvPr/>
        </p:nvSpPr>
        <p:spPr bwMode="auto">
          <a:xfrm>
            <a:off x="3590925" y="10345738"/>
            <a:ext cx="381000" cy="295275"/>
          </a:xfrm>
          <a:prstGeom prst="roundRect">
            <a:avLst>
              <a:gd name="adj" fmla="val 16667"/>
            </a:avLst>
          </a:prstGeom>
          <a:solidFill>
            <a:srgbClr val="F0587C"/>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6" name="Text Box 45">
            <a:extLst>
              <a:ext uri="{FF2B5EF4-FFF2-40B4-BE49-F238E27FC236}">
                <a16:creationId xmlns:a16="http://schemas.microsoft.com/office/drawing/2014/main" id="{C970467A-D079-4FAF-AA49-ADF334F0881C}"/>
              </a:ext>
            </a:extLst>
          </p:cNvPr>
          <p:cNvSpPr txBox="1">
            <a:spLocks noChangeArrowheads="1"/>
          </p:cNvSpPr>
          <p:nvPr/>
        </p:nvSpPr>
        <p:spPr bwMode="auto">
          <a:xfrm>
            <a:off x="3590925" y="10261600"/>
            <a:ext cx="381000" cy="4508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fld id="{AA3A2C3A-815D-4324-A52B-0D6E1281FA41}" type="slidenum">
              <a:rPr kumimoji="0" lang="en-IN" altLang="en-US" sz="1400" b="0" i="0" u="none" strike="noStrike" cap="none" normalizeH="0" baseline="0" smtClean="0">
                <a:ln>
                  <a:noFill/>
                </a:ln>
                <a:solidFill>
                  <a:srgbClr val="FFFFFF"/>
                </a:solidFill>
                <a:effectLst/>
                <a:latin typeface="Poppins" panose="00000500000000000000" pitchFamily="2" charset="0"/>
              </a:rPr>
              <a:pPr marL="0" marR="0" lvl="0" indent="0" algn="ctr" defTabSz="914400" rtl="0" eaLnBrk="0" fontAlgn="base" latinLnBrk="0" hangingPunct="0">
                <a:lnSpc>
                  <a:spcPct val="100000"/>
                </a:lnSpc>
                <a:spcBef>
                  <a:spcPct val="0"/>
                </a:spcBef>
                <a:spcAft>
                  <a:spcPct val="0"/>
                </a:spcAft>
                <a:buClrTx/>
                <a:buSzTx/>
                <a:buFontTx/>
                <a:buNone/>
                <a:tabLst/>
              </a:pPr>
              <a:t>11</a:t>
            </a:fld>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Text Box 46">
            <a:extLst>
              <a:ext uri="{FF2B5EF4-FFF2-40B4-BE49-F238E27FC236}">
                <a16:creationId xmlns:a16="http://schemas.microsoft.com/office/drawing/2014/main" id="{9333090B-0F34-4142-9B09-4201B8F756CC}"/>
              </a:ext>
            </a:extLst>
          </p:cNvPr>
          <p:cNvSpPr txBox="1">
            <a:spLocks noChangeArrowheads="1"/>
          </p:cNvSpPr>
          <p:nvPr/>
        </p:nvSpPr>
        <p:spPr bwMode="auto">
          <a:xfrm>
            <a:off x="0" y="10261600"/>
            <a:ext cx="3590925" cy="439738"/>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IN" altLang="en-US" sz="1000" b="0" i="0" u="none" strike="noStrike" cap="none" normalizeH="0" baseline="0">
                <a:ln>
                  <a:noFill/>
                </a:ln>
                <a:solidFill>
                  <a:srgbClr val="000000"/>
                </a:solidFill>
                <a:effectLst/>
                <a:latin typeface="Poppins" panose="00000500000000000000" pitchFamily="2" charset="0"/>
              </a:rPr>
              <a:t>VIDYAVANTAM — CBSE CLASS 7 HISTORY</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Text Box 47">
            <a:extLst>
              <a:ext uri="{FF2B5EF4-FFF2-40B4-BE49-F238E27FC236}">
                <a16:creationId xmlns:a16="http://schemas.microsoft.com/office/drawing/2014/main" id="{3D343CA2-9399-4676-9CF3-B8B059C132E6}"/>
              </a:ext>
            </a:extLst>
          </p:cNvPr>
          <p:cNvSpPr txBox="1">
            <a:spLocks noChangeArrowheads="1"/>
          </p:cNvSpPr>
          <p:nvPr/>
        </p:nvSpPr>
        <p:spPr bwMode="auto">
          <a:xfrm>
            <a:off x="3968273" y="10261600"/>
            <a:ext cx="3587750" cy="428625"/>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defTabSz="914400" eaLnBrk="0" fontAlgn="base" hangingPunct="0">
              <a:spcBef>
                <a:spcPct val="0"/>
              </a:spcBef>
              <a:spcAft>
                <a:spcPct val="0"/>
              </a:spcAft>
            </a:pPr>
            <a:r>
              <a:rPr lang="en-IN" sz="1000" dirty="0">
                <a:solidFill>
                  <a:srgbClr val="000000"/>
                </a:solidFill>
                <a:latin typeface="Poppins" panose="00000500000000000000" pitchFamily="2" charset="0"/>
              </a:rPr>
              <a:t>KARKOTA DYNASTY</a:t>
            </a:r>
          </a:p>
        </p:txBody>
      </p:sp>
      <p:sp>
        <p:nvSpPr>
          <p:cNvPr id="9" name="AutoShape 23">
            <a:extLst>
              <a:ext uri="{FF2B5EF4-FFF2-40B4-BE49-F238E27FC236}">
                <a16:creationId xmlns:a16="http://schemas.microsoft.com/office/drawing/2014/main" id="{D06DAF30-998C-466B-A0C7-F475E9DF195C}"/>
              </a:ext>
            </a:extLst>
          </p:cNvPr>
          <p:cNvSpPr>
            <a:spLocks noChangeArrowheads="1"/>
          </p:cNvSpPr>
          <p:nvPr/>
        </p:nvSpPr>
        <p:spPr bwMode="auto">
          <a:xfrm>
            <a:off x="473393" y="3645734"/>
            <a:ext cx="3306444" cy="522288"/>
          </a:xfrm>
          <a:prstGeom prst="roundRect">
            <a:avLst>
              <a:gd name="adj" fmla="val 50000"/>
            </a:avLst>
          </a:prstGeom>
          <a:solidFill>
            <a:srgbClr val="F0587C"/>
          </a:solidFill>
          <a:ln w="25400" algn="ctr">
            <a:solidFill>
              <a:srgbClr val="F0587C"/>
            </a:solidFill>
            <a:round/>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10" name="Title 1">
            <a:extLst>
              <a:ext uri="{FF2B5EF4-FFF2-40B4-BE49-F238E27FC236}">
                <a16:creationId xmlns:a16="http://schemas.microsoft.com/office/drawing/2014/main" id="{9C220FB8-F73D-4912-BB07-3D8C78367CAD}"/>
              </a:ext>
            </a:extLst>
          </p:cNvPr>
          <p:cNvSpPr txBox="1">
            <a:spLocks/>
          </p:cNvSpPr>
          <p:nvPr/>
        </p:nvSpPr>
        <p:spPr>
          <a:xfrm>
            <a:off x="513079" y="3680342"/>
            <a:ext cx="464344" cy="466090"/>
          </a:xfrm>
          <a:prstGeom prst="ellipse">
            <a:avLst/>
          </a:prstGeom>
          <a:solidFill>
            <a:schemeClr val="bg1"/>
          </a:solidFill>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r>
              <a:rPr lang="en-IN" sz="1500" b="1" dirty="0">
                <a:solidFill>
                  <a:srgbClr val="F0597C"/>
                </a:solidFill>
                <a:latin typeface="Comic Sans MS" panose="030F0702030302020204" pitchFamily="66" charset="0"/>
              </a:rPr>
              <a:t>3</a:t>
            </a:r>
          </a:p>
        </p:txBody>
      </p:sp>
      <p:sp>
        <p:nvSpPr>
          <p:cNvPr id="11" name="Rectangle 10">
            <a:extLst>
              <a:ext uri="{FF2B5EF4-FFF2-40B4-BE49-F238E27FC236}">
                <a16:creationId xmlns:a16="http://schemas.microsoft.com/office/drawing/2014/main" id="{BCBFE2EA-8148-481F-A124-4E5A392C4568}"/>
              </a:ext>
            </a:extLst>
          </p:cNvPr>
          <p:cNvSpPr/>
          <p:nvPr/>
        </p:nvSpPr>
        <p:spPr>
          <a:xfrm>
            <a:off x="1043394" y="3719607"/>
            <a:ext cx="2547530" cy="369332"/>
          </a:xfrm>
          <a:prstGeom prst="rect">
            <a:avLst/>
          </a:prstGeom>
        </p:spPr>
        <p:txBody>
          <a:bodyPr wrap="square">
            <a:spAutoFit/>
          </a:bodyPr>
          <a:lstStyle/>
          <a:p>
            <a:pPr algn="ctr"/>
            <a:r>
              <a:rPr lang="en-IN" dirty="0">
                <a:solidFill>
                  <a:schemeClr val="bg1"/>
                </a:solidFill>
                <a:latin typeface="Comic Sans MS" panose="030F0702030302020204" pitchFamily="66" charset="0"/>
              </a:rPr>
              <a:t>Chandrapida</a:t>
            </a:r>
          </a:p>
        </p:txBody>
      </p:sp>
      <p:sp>
        <p:nvSpPr>
          <p:cNvPr id="12" name="Rectangle 11">
            <a:extLst>
              <a:ext uri="{FF2B5EF4-FFF2-40B4-BE49-F238E27FC236}">
                <a16:creationId xmlns:a16="http://schemas.microsoft.com/office/drawing/2014/main" id="{363EE17B-BD6E-4183-8227-4FE2004525B4}"/>
              </a:ext>
            </a:extLst>
          </p:cNvPr>
          <p:cNvSpPr/>
          <p:nvPr/>
        </p:nvSpPr>
        <p:spPr>
          <a:xfrm>
            <a:off x="513079" y="4252160"/>
            <a:ext cx="6661310" cy="3139321"/>
          </a:xfrm>
          <a:prstGeom prst="rect">
            <a:avLst/>
          </a:prstGeom>
        </p:spPr>
        <p:txBody>
          <a:bodyPr wrap="square">
            <a:spAutoFit/>
          </a:bodyPr>
          <a:lstStyle/>
          <a:p>
            <a:pPr algn="just"/>
            <a:r>
              <a:rPr lang="en-IN" dirty="0">
                <a:latin typeface="Comic Sans MS" panose="030F0702030302020204" pitchFamily="66" charset="0"/>
              </a:rPr>
              <a:t>When the Durlabhak died in 712 AD the next king was Chandrapida who ruled for about 8 years from 712 AD to 720 AD. Chandrapida is also mentioned in Chinese Tang Dynasty history because In 713, Emperor Xuanzong of Tang received an embassy from Chandrapida requesting aid against Arab invasions. Chandrapida didn’t receive any response but defend Arab invasions from his territory. In 720 AD, Xuanzong sent an envoy to bestow upon him, the title "King of Kashmir“. These diplomatic exchanges led to the formation of an imperial alliance between the Tangs and Karakotas.</a:t>
            </a:r>
          </a:p>
        </p:txBody>
      </p:sp>
      <p:sp>
        <p:nvSpPr>
          <p:cNvPr id="13" name="AutoShape 23">
            <a:extLst>
              <a:ext uri="{FF2B5EF4-FFF2-40B4-BE49-F238E27FC236}">
                <a16:creationId xmlns:a16="http://schemas.microsoft.com/office/drawing/2014/main" id="{FF1CCDA3-D8A6-424B-8265-B648524C8C67}"/>
              </a:ext>
            </a:extLst>
          </p:cNvPr>
          <p:cNvSpPr>
            <a:spLocks noChangeArrowheads="1"/>
          </p:cNvSpPr>
          <p:nvPr/>
        </p:nvSpPr>
        <p:spPr bwMode="auto">
          <a:xfrm>
            <a:off x="503238" y="7505781"/>
            <a:ext cx="3306444" cy="522288"/>
          </a:xfrm>
          <a:prstGeom prst="roundRect">
            <a:avLst>
              <a:gd name="adj" fmla="val 50000"/>
            </a:avLst>
          </a:prstGeom>
          <a:solidFill>
            <a:srgbClr val="F0587C"/>
          </a:solidFill>
          <a:ln w="25400" algn="ctr">
            <a:solidFill>
              <a:srgbClr val="F0587C"/>
            </a:solidFill>
            <a:round/>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14" name="Title 1">
            <a:extLst>
              <a:ext uri="{FF2B5EF4-FFF2-40B4-BE49-F238E27FC236}">
                <a16:creationId xmlns:a16="http://schemas.microsoft.com/office/drawing/2014/main" id="{12170474-F66E-42A2-A1ED-AEEFCC89B91F}"/>
              </a:ext>
            </a:extLst>
          </p:cNvPr>
          <p:cNvSpPr txBox="1">
            <a:spLocks/>
          </p:cNvSpPr>
          <p:nvPr/>
        </p:nvSpPr>
        <p:spPr>
          <a:xfrm>
            <a:off x="542924" y="7540389"/>
            <a:ext cx="464344" cy="466090"/>
          </a:xfrm>
          <a:prstGeom prst="ellipse">
            <a:avLst/>
          </a:prstGeom>
          <a:solidFill>
            <a:schemeClr val="bg1"/>
          </a:solidFill>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r>
              <a:rPr lang="en-IN" sz="1500" b="1" dirty="0">
                <a:solidFill>
                  <a:srgbClr val="F0597C"/>
                </a:solidFill>
                <a:latin typeface="Comic Sans MS" panose="030F0702030302020204" pitchFamily="66" charset="0"/>
              </a:rPr>
              <a:t>4</a:t>
            </a:r>
          </a:p>
        </p:txBody>
      </p:sp>
      <p:sp>
        <p:nvSpPr>
          <p:cNvPr id="15" name="Rectangle 14">
            <a:extLst>
              <a:ext uri="{FF2B5EF4-FFF2-40B4-BE49-F238E27FC236}">
                <a16:creationId xmlns:a16="http://schemas.microsoft.com/office/drawing/2014/main" id="{6D12B9F2-1CF3-49CC-86B2-F40CB819CBCF}"/>
              </a:ext>
            </a:extLst>
          </p:cNvPr>
          <p:cNvSpPr/>
          <p:nvPr/>
        </p:nvSpPr>
        <p:spPr>
          <a:xfrm>
            <a:off x="1073239" y="7579654"/>
            <a:ext cx="2547530" cy="369332"/>
          </a:xfrm>
          <a:prstGeom prst="rect">
            <a:avLst/>
          </a:prstGeom>
        </p:spPr>
        <p:txBody>
          <a:bodyPr wrap="square">
            <a:spAutoFit/>
          </a:bodyPr>
          <a:lstStyle/>
          <a:p>
            <a:pPr algn="ctr"/>
            <a:r>
              <a:rPr lang="en-IN" dirty="0">
                <a:solidFill>
                  <a:schemeClr val="bg1"/>
                </a:solidFill>
                <a:latin typeface="Comic Sans MS" panose="030F0702030302020204" pitchFamily="66" charset="0"/>
              </a:rPr>
              <a:t>Tarapida</a:t>
            </a:r>
          </a:p>
        </p:txBody>
      </p:sp>
      <p:sp>
        <p:nvSpPr>
          <p:cNvPr id="16" name="Rectangle 15">
            <a:extLst>
              <a:ext uri="{FF2B5EF4-FFF2-40B4-BE49-F238E27FC236}">
                <a16:creationId xmlns:a16="http://schemas.microsoft.com/office/drawing/2014/main" id="{A781EE7A-E87E-46CD-B043-16D64F6206B6}"/>
              </a:ext>
            </a:extLst>
          </p:cNvPr>
          <p:cNvSpPr/>
          <p:nvPr/>
        </p:nvSpPr>
        <p:spPr>
          <a:xfrm>
            <a:off x="513079" y="8062677"/>
            <a:ext cx="6661310" cy="923330"/>
          </a:xfrm>
          <a:prstGeom prst="rect">
            <a:avLst/>
          </a:prstGeom>
        </p:spPr>
        <p:txBody>
          <a:bodyPr wrap="square">
            <a:spAutoFit/>
          </a:bodyPr>
          <a:lstStyle/>
          <a:p>
            <a:pPr algn="just"/>
            <a:r>
              <a:rPr lang="en-US" dirty="0">
                <a:latin typeface="Comic Sans MS" panose="030F0702030302020204" pitchFamily="66" charset="0"/>
              </a:rPr>
              <a:t>Tarapida ruled only for about 4 years from 720 AD to 724 AD. In Rajtarangani this is mentioned in his rule </a:t>
            </a:r>
            <a:r>
              <a:rPr lang="en-IN" dirty="0">
                <a:latin typeface="Comic Sans MS" panose="030F0702030302020204" pitchFamily="66" charset="0"/>
              </a:rPr>
              <a:t>he was tyrannical and oppressed the Brahmins. </a:t>
            </a:r>
          </a:p>
        </p:txBody>
      </p:sp>
      <p:sp>
        <p:nvSpPr>
          <p:cNvPr id="21" name="AutoShape 23">
            <a:extLst>
              <a:ext uri="{FF2B5EF4-FFF2-40B4-BE49-F238E27FC236}">
                <a16:creationId xmlns:a16="http://schemas.microsoft.com/office/drawing/2014/main" id="{28EA1320-F8EA-4FA8-8FF2-9E438F44B135}"/>
              </a:ext>
            </a:extLst>
          </p:cNvPr>
          <p:cNvSpPr>
            <a:spLocks noChangeArrowheads="1"/>
          </p:cNvSpPr>
          <p:nvPr/>
        </p:nvSpPr>
        <p:spPr bwMode="auto">
          <a:xfrm>
            <a:off x="503237" y="9138006"/>
            <a:ext cx="4277315" cy="522288"/>
          </a:xfrm>
          <a:prstGeom prst="roundRect">
            <a:avLst>
              <a:gd name="adj" fmla="val 50000"/>
            </a:avLst>
          </a:prstGeom>
          <a:solidFill>
            <a:srgbClr val="F0587C"/>
          </a:solidFill>
          <a:ln w="25400" algn="ctr">
            <a:solidFill>
              <a:srgbClr val="F0587C"/>
            </a:solidFill>
            <a:round/>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22" name="Title 1">
            <a:extLst>
              <a:ext uri="{FF2B5EF4-FFF2-40B4-BE49-F238E27FC236}">
                <a16:creationId xmlns:a16="http://schemas.microsoft.com/office/drawing/2014/main" id="{7DDB185A-1038-4405-95C2-08BACF7436CF}"/>
              </a:ext>
            </a:extLst>
          </p:cNvPr>
          <p:cNvSpPr txBox="1">
            <a:spLocks/>
          </p:cNvSpPr>
          <p:nvPr/>
        </p:nvSpPr>
        <p:spPr>
          <a:xfrm>
            <a:off x="542924" y="9172614"/>
            <a:ext cx="464344" cy="466090"/>
          </a:xfrm>
          <a:prstGeom prst="ellipse">
            <a:avLst/>
          </a:prstGeom>
          <a:solidFill>
            <a:schemeClr val="bg1"/>
          </a:solidFill>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r>
              <a:rPr lang="en-IN" sz="1500" b="1" dirty="0">
                <a:solidFill>
                  <a:srgbClr val="F0597C"/>
                </a:solidFill>
                <a:latin typeface="Comic Sans MS" panose="030F0702030302020204" pitchFamily="66" charset="0"/>
              </a:rPr>
              <a:t>5</a:t>
            </a:r>
          </a:p>
        </p:txBody>
      </p:sp>
      <p:sp>
        <p:nvSpPr>
          <p:cNvPr id="23" name="Rectangle 22">
            <a:extLst>
              <a:ext uri="{FF2B5EF4-FFF2-40B4-BE49-F238E27FC236}">
                <a16:creationId xmlns:a16="http://schemas.microsoft.com/office/drawing/2014/main" id="{41A4E967-7DA6-417B-B4CC-099E006A62A0}"/>
              </a:ext>
            </a:extLst>
          </p:cNvPr>
          <p:cNvSpPr/>
          <p:nvPr/>
        </p:nvSpPr>
        <p:spPr>
          <a:xfrm>
            <a:off x="1073238" y="9211879"/>
            <a:ext cx="3536862" cy="369332"/>
          </a:xfrm>
          <a:prstGeom prst="rect">
            <a:avLst/>
          </a:prstGeom>
        </p:spPr>
        <p:txBody>
          <a:bodyPr wrap="square">
            <a:spAutoFit/>
          </a:bodyPr>
          <a:lstStyle/>
          <a:p>
            <a:pPr algn="ctr"/>
            <a:r>
              <a:rPr lang="en-US" dirty="0">
                <a:solidFill>
                  <a:schemeClr val="bg1"/>
                </a:solidFill>
                <a:latin typeface="Comic Sans MS" panose="030F0702030302020204" pitchFamily="66" charset="0"/>
              </a:rPr>
              <a:t>Lalitaditya Muktapida</a:t>
            </a:r>
            <a:endParaRPr lang="en-IN" dirty="0">
              <a:solidFill>
                <a:schemeClr val="bg1"/>
              </a:solidFill>
              <a:latin typeface="Comic Sans MS" panose="030F0702030302020204" pitchFamily="66" charset="0"/>
            </a:endParaRPr>
          </a:p>
        </p:txBody>
      </p:sp>
      <p:sp>
        <p:nvSpPr>
          <p:cNvPr id="24" name="Rectangle 23">
            <a:extLst>
              <a:ext uri="{FF2B5EF4-FFF2-40B4-BE49-F238E27FC236}">
                <a16:creationId xmlns:a16="http://schemas.microsoft.com/office/drawing/2014/main" id="{1697872A-1FC4-4656-81D9-ADBF264419BF}"/>
              </a:ext>
            </a:extLst>
          </p:cNvPr>
          <p:cNvSpPr/>
          <p:nvPr/>
        </p:nvSpPr>
        <p:spPr>
          <a:xfrm>
            <a:off x="513079" y="9776281"/>
            <a:ext cx="6661310" cy="369332"/>
          </a:xfrm>
          <a:prstGeom prst="rect">
            <a:avLst/>
          </a:prstGeom>
        </p:spPr>
        <p:txBody>
          <a:bodyPr wrap="square">
            <a:spAutoFit/>
          </a:bodyPr>
          <a:lstStyle/>
          <a:p>
            <a:pPr algn="just"/>
            <a:r>
              <a:rPr lang="en-US" dirty="0">
                <a:latin typeface="Comic Sans MS" panose="030F0702030302020204" pitchFamily="66" charset="0"/>
              </a:rPr>
              <a:t>Lalitaditya Muktapida was the greatest ruler of Karkota</a:t>
            </a:r>
            <a:endParaRPr lang="en-IN" dirty="0"/>
          </a:p>
        </p:txBody>
      </p:sp>
    </p:spTree>
    <p:extLst>
      <p:ext uri="{BB962C8B-B14F-4D97-AF65-F5344CB8AC3E}">
        <p14:creationId xmlns:p14="http://schemas.microsoft.com/office/powerpoint/2010/main" val="25641337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Rounded Corners 11">
            <a:extLst>
              <a:ext uri="{FF2B5EF4-FFF2-40B4-BE49-F238E27FC236}">
                <a16:creationId xmlns:a16="http://schemas.microsoft.com/office/drawing/2014/main" id="{9684C40D-0960-4440-944E-409B2BFCF1DE}"/>
              </a:ext>
            </a:extLst>
          </p:cNvPr>
          <p:cNvSpPr/>
          <p:nvPr/>
        </p:nvSpPr>
        <p:spPr>
          <a:xfrm>
            <a:off x="653142" y="3505200"/>
            <a:ext cx="6511405" cy="6540500"/>
          </a:xfrm>
          <a:prstGeom prst="roundRect">
            <a:avLst>
              <a:gd name="adj" fmla="val 1376"/>
            </a:avLst>
          </a:prstGeom>
          <a:solidFill>
            <a:schemeClr val="accent4">
              <a:lumMod val="20000"/>
              <a:lumOff val="80000"/>
            </a:schemeClr>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Rectangle 4">
            <a:extLst>
              <a:ext uri="{FF2B5EF4-FFF2-40B4-BE49-F238E27FC236}">
                <a16:creationId xmlns:a16="http://schemas.microsoft.com/office/drawing/2014/main" id="{A792CB52-0AAE-4792-9AE9-3300B7D8A19B}"/>
              </a:ext>
            </a:extLst>
          </p:cNvPr>
          <p:cNvSpPr/>
          <p:nvPr/>
        </p:nvSpPr>
        <p:spPr>
          <a:xfrm>
            <a:off x="503238" y="485775"/>
            <a:ext cx="6661310" cy="2862322"/>
          </a:xfrm>
          <a:prstGeom prst="rect">
            <a:avLst/>
          </a:prstGeom>
        </p:spPr>
        <p:txBody>
          <a:bodyPr wrap="square">
            <a:spAutoFit/>
          </a:bodyPr>
          <a:lstStyle/>
          <a:p>
            <a:pPr algn="just"/>
            <a:r>
              <a:rPr lang="en-US" dirty="0">
                <a:latin typeface="Comic Sans MS" panose="030F0702030302020204" pitchFamily="66" charset="0"/>
              </a:rPr>
              <a:t>Dynasty and one of greatest king of Indian History. In Indian history Lalitaditya Muktapida is mainly mentioned in Rajtarangani. Lalitaditya Muktapida is mention in Chinese History. Lalitaditya Muktapida ruled for about 36 years from 724 AD to 760 AD. This is said that his rule was the golden time of Kashmir because at that time architecture, art, science, culture was very promoted by him. Due to his victorious rule he is also known as </a:t>
            </a:r>
            <a:r>
              <a:rPr lang="en-US" i="1" dirty="0">
                <a:latin typeface="Comic Sans MS" panose="030F0702030302020204" pitchFamily="66" charset="0"/>
              </a:rPr>
              <a:t>Alexander of Kashmir</a:t>
            </a:r>
            <a:r>
              <a:rPr lang="en-US" dirty="0">
                <a:latin typeface="Comic Sans MS" panose="030F0702030302020204" pitchFamily="66" charset="0"/>
              </a:rPr>
              <a:t>. Parihasapura was built by Lalitaditya and served as a capital during his reign.</a:t>
            </a:r>
            <a:endParaRPr lang="en-IN" dirty="0">
              <a:latin typeface="Comic Sans MS" panose="030F0702030302020204" pitchFamily="66" charset="0"/>
            </a:endParaRPr>
          </a:p>
        </p:txBody>
      </p:sp>
      <p:sp>
        <p:nvSpPr>
          <p:cNvPr id="6" name="AutoShape 43">
            <a:extLst>
              <a:ext uri="{FF2B5EF4-FFF2-40B4-BE49-F238E27FC236}">
                <a16:creationId xmlns:a16="http://schemas.microsoft.com/office/drawing/2014/main" id="{0720DC07-252E-432F-8644-FD70B2E709A2}"/>
              </a:ext>
            </a:extLst>
          </p:cNvPr>
          <p:cNvSpPr>
            <a:spLocks noChangeArrowheads="1"/>
          </p:cNvSpPr>
          <p:nvPr/>
        </p:nvSpPr>
        <p:spPr bwMode="auto">
          <a:xfrm>
            <a:off x="3590925" y="10345738"/>
            <a:ext cx="381000" cy="295275"/>
          </a:xfrm>
          <a:prstGeom prst="roundRect">
            <a:avLst>
              <a:gd name="adj" fmla="val 16667"/>
            </a:avLst>
          </a:prstGeom>
          <a:solidFill>
            <a:srgbClr val="F0587C"/>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7" name="Text Box 45">
            <a:extLst>
              <a:ext uri="{FF2B5EF4-FFF2-40B4-BE49-F238E27FC236}">
                <a16:creationId xmlns:a16="http://schemas.microsoft.com/office/drawing/2014/main" id="{DE42A898-B33F-4337-8D37-BCD4AAD03C7F}"/>
              </a:ext>
            </a:extLst>
          </p:cNvPr>
          <p:cNvSpPr txBox="1">
            <a:spLocks noChangeArrowheads="1"/>
          </p:cNvSpPr>
          <p:nvPr/>
        </p:nvSpPr>
        <p:spPr bwMode="auto">
          <a:xfrm>
            <a:off x="3590925" y="10261600"/>
            <a:ext cx="381000" cy="4508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fld id="{AA3A2C3A-815D-4324-A52B-0D6E1281FA41}" type="slidenum">
              <a:rPr kumimoji="0" lang="en-IN" altLang="en-US" sz="1400" b="0" i="0" u="none" strike="noStrike" cap="none" normalizeH="0" baseline="0" smtClean="0">
                <a:ln>
                  <a:noFill/>
                </a:ln>
                <a:solidFill>
                  <a:srgbClr val="FFFFFF"/>
                </a:solidFill>
                <a:effectLst/>
                <a:latin typeface="Poppins" panose="00000500000000000000" pitchFamily="2" charset="0"/>
              </a:rPr>
              <a:pPr marL="0" marR="0" lvl="0" indent="0" algn="ctr" defTabSz="914400" rtl="0" eaLnBrk="0" fontAlgn="base" latinLnBrk="0" hangingPunct="0">
                <a:lnSpc>
                  <a:spcPct val="100000"/>
                </a:lnSpc>
                <a:spcBef>
                  <a:spcPct val="0"/>
                </a:spcBef>
                <a:spcAft>
                  <a:spcPct val="0"/>
                </a:spcAft>
                <a:buClrTx/>
                <a:buSzTx/>
                <a:buFontTx/>
                <a:buNone/>
                <a:tabLst/>
              </a:pPr>
              <a:t>12</a:t>
            </a:fld>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Text Box 46">
            <a:extLst>
              <a:ext uri="{FF2B5EF4-FFF2-40B4-BE49-F238E27FC236}">
                <a16:creationId xmlns:a16="http://schemas.microsoft.com/office/drawing/2014/main" id="{797B0077-3646-4CC1-9B71-B28998F9ED0E}"/>
              </a:ext>
            </a:extLst>
          </p:cNvPr>
          <p:cNvSpPr txBox="1">
            <a:spLocks noChangeArrowheads="1"/>
          </p:cNvSpPr>
          <p:nvPr/>
        </p:nvSpPr>
        <p:spPr bwMode="auto">
          <a:xfrm>
            <a:off x="0" y="10261600"/>
            <a:ext cx="3590925" cy="439738"/>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IN" altLang="en-US" sz="1000" b="0" i="0" u="none" strike="noStrike" cap="none" normalizeH="0" baseline="0">
                <a:ln>
                  <a:noFill/>
                </a:ln>
                <a:solidFill>
                  <a:srgbClr val="000000"/>
                </a:solidFill>
                <a:effectLst/>
                <a:latin typeface="Poppins" panose="00000500000000000000" pitchFamily="2" charset="0"/>
              </a:rPr>
              <a:t>VIDYAVANTAM — CBSE CLASS 7 HISTORY</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Text Box 47">
            <a:extLst>
              <a:ext uri="{FF2B5EF4-FFF2-40B4-BE49-F238E27FC236}">
                <a16:creationId xmlns:a16="http://schemas.microsoft.com/office/drawing/2014/main" id="{A8309C71-4F1F-4A17-A01A-5553C9DE5B53}"/>
              </a:ext>
            </a:extLst>
          </p:cNvPr>
          <p:cNvSpPr txBox="1">
            <a:spLocks noChangeArrowheads="1"/>
          </p:cNvSpPr>
          <p:nvPr/>
        </p:nvSpPr>
        <p:spPr bwMode="auto">
          <a:xfrm>
            <a:off x="3968273" y="10261600"/>
            <a:ext cx="3587750" cy="428625"/>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defTabSz="914400" eaLnBrk="0" fontAlgn="base" hangingPunct="0">
              <a:spcBef>
                <a:spcPct val="0"/>
              </a:spcBef>
              <a:spcAft>
                <a:spcPct val="0"/>
              </a:spcAft>
            </a:pPr>
            <a:r>
              <a:rPr lang="en-IN" sz="1000" dirty="0">
                <a:solidFill>
                  <a:srgbClr val="000000"/>
                </a:solidFill>
                <a:latin typeface="Poppins" panose="00000500000000000000" pitchFamily="2" charset="0"/>
              </a:rPr>
              <a:t>KARKOTA DYNASTY</a:t>
            </a:r>
          </a:p>
        </p:txBody>
      </p:sp>
      <p:pic>
        <p:nvPicPr>
          <p:cNvPr id="15" name="Picture 14">
            <a:extLst>
              <a:ext uri="{FF2B5EF4-FFF2-40B4-BE49-F238E27FC236}">
                <a16:creationId xmlns:a16="http://schemas.microsoft.com/office/drawing/2014/main" id="{634A34F2-5A52-43FF-9B67-C4A60E0D0A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8660" y="3809607"/>
            <a:ext cx="5797550" cy="5362734"/>
          </a:xfrm>
          <a:prstGeom prst="rect">
            <a:avLst/>
          </a:prstGeom>
        </p:spPr>
      </p:pic>
      <p:sp>
        <p:nvSpPr>
          <p:cNvPr id="16" name="Rectangle 15">
            <a:extLst>
              <a:ext uri="{FF2B5EF4-FFF2-40B4-BE49-F238E27FC236}">
                <a16:creationId xmlns:a16="http://schemas.microsoft.com/office/drawing/2014/main" id="{82857AB9-3844-4E04-AA4A-0708CEEA1786}"/>
              </a:ext>
            </a:extLst>
          </p:cNvPr>
          <p:cNvSpPr/>
          <p:nvPr/>
        </p:nvSpPr>
        <p:spPr>
          <a:xfrm>
            <a:off x="978661" y="9353988"/>
            <a:ext cx="5797550" cy="338554"/>
          </a:xfrm>
          <a:prstGeom prst="rect">
            <a:avLst/>
          </a:prstGeom>
        </p:spPr>
        <p:txBody>
          <a:bodyPr wrap="square">
            <a:spAutoFit/>
          </a:bodyPr>
          <a:lstStyle/>
          <a:p>
            <a:pPr algn="ctr"/>
            <a:r>
              <a:rPr lang="en-US" sz="1600" dirty="0">
                <a:latin typeface="Comic Sans MS" panose="030F0702030302020204" pitchFamily="66" charset="0"/>
              </a:rPr>
              <a:t>Extent of Karkota Empire in Lalitaditya reign</a:t>
            </a:r>
            <a:endParaRPr lang="en-IN" sz="1600" dirty="0"/>
          </a:p>
        </p:txBody>
      </p:sp>
    </p:spTree>
    <p:extLst>
      <p:ext uri="{BB962C8B-B14F-4D97-AF65-F5344CB8AC3E}">
        <p14:creationId xmlns:p14="http://schemas.microsoft.com/office/powerpoint/2010/main" val="29764397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11">
            <a:extLst>
              <a:ext uri="{FF2B5EF4-FFF2-40B4-BE49-F238E27FC236}">
                <a16:creationId xmlns:a16="http://schemas.microsoft.com/office/drawing/2014/main" id="{58AAC4BD-7F1C-4913-8D7D-AC04B71FD61C}"/>
              </a:ext>
            </a:extLst>
          </p:cNvPr>
          <p:cNvSpPr>
            <a:spLocks noChangeArrowheads="1"/>
          </p:cNvSpPr>
          <p:nvPr/>
        </p:nvSpPr>
        <p:spPr bwMode="auto">
          <a:xfrm>
            <a:off x="503238" y="485775"/>
            <a:ext cx="3868738" cy="625475"/>
          </a:xfrm>
          <a:prstGeom prst="roundRect">
            <a:avLst>
              <a:gd name="adj" fmla="val 50000"/>
            </a:avLst>
          </a:prstGeom>
          <a:solidFill>
            <a:srgbClr val="FED013"/>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a:r>
              <a:rPr lang="en-IN" sz="2000" dirty="0">
                <a:latin typeface="Comic Sans MS" panose="030F0702030302020204" pitchFamily="66" charset="0"/>
              </a:rPr>
              <a:t>Conquers by Lalitaditya</a:t>
            </a:r>
          </a:p>
        </p:txBody>
      </p:sp>
      <p:sp>
        <p:nvSpPr>
          <p:cNvPr id="5" name="Rectangle 4">
            <a:extLst>
              <a:ext uri="{FF2B5EF4-FFF2-40B4-BE49-F238E27FC236}">
                <a16:creationId xmlns:a16="http://schemas.microsoft.com/office/drawing/2014/main" id="{F4650EAF-3A93-4569-B6E4-74E8D26351A6}"/>
              </a:ext>
            </a:extLst>
          </p:cNvPr>
          <p:cNvSpPr/>
          <p:nvPr/>
        </p:nvSpPr>
        <p:spPr>
          <a:xfrm>
            <a:off x="503238" y="1195388"/>
            <a:ext cx="6639086" cy="1477328"/>
          </a:xfrm>
          <a:prstGeom prst="rect">
            <a:avLst/>
          </a:prstGeom>
        </p:spPr>
        <p:txBody>
          <a:bodyPr wrap="square">
            <a:spAutoFit/>
          </a:bodyPr>
          <a:lstStyle/>
          <a:p>
            <a:pPr marL="285750" indent="-285750" algn="just">
              <a:buFont typeface="Arial" panose="020B0604020202020204" pitchFamily="34" charset="0"/>
              <a:buChar char="•"/>
            </a:pPr>
            <a:r>
              <a:rPr lang="en-US" dirty="0">
                <a:latin typeface="Comic Sans MS" panose="030F0702030302020204" pitchFamily="66" charset="0"/>
              </a:rPr>
              <a:t>In 740 AD he defeated Yashovarman (king of Kannauj)</a:t>
            </a:r>
          </a:p>
          <a:p>
            <a:pPr marL="285750" indent="-285750" algn="just">
              <a:buFont typeface="Arial" panose="020B0604020202020204" pitchFamily="34" charset="0"/>
              <a:buChar char="•"/>
            </a:pPr>
            <a:r>
              <a:rPr lang="en-US" dirty="0">
                <a:latin typeface="Comic Sans MS" panose="030F0702030302020204" pitchFamily="66" charset="0"/>
              </a:rPr>
              <a:t>He defeated Gauda Dynasty’s ruler Naresh (king of Bengal) and won Bengal.</a:t>
            </a:r>
          </a:p>
          <a:p>
            <a:pPr marL="285750" indent="-285750" algn="just">
              <a:buFont typeface="Arial" panose="020B0604020202020204" pitchFamily="34" charset="0"/>
              <a:buChar char="•"/>
            </a:pPr>
            <a:r>
              <a:rPr lang="en-US" dirty="0">
                <a:latin typeface="Comic Sans MS" panose="030F0702030302020204" pitchFamily="66" charset="0"/>
              </a:rPr>
              <a:t>Then he moved to South India and won more areas from South India.</a:t>
            </a:r>
          </a:p>
        </p:txBody>
      </p:sp>
      <p:sp>
        <p:nvSpPr>
          <p:cNvPr id="6" name="AutoShape 43">
            <a:extLst>
              <a:ext uri="{FF2B5EF4-FFF2-40B4-BE49-F238E27FC236}">
                <a16:creationId xmlns:a16="http://schemas.microsoft.com/office/drawing/2014/main" id="{FCF36A84-B598-4955-9571-07474644A157}"/>
              </a:ext>
            </a:extLst>
          </p:cNvPr>
          <p:cNvSpPr>
            <a:spLocks noChangeArrowheads="1"/>
          </p:cNvSpPr>
          <p:nvPr/>
        </p:nvSpPr>
        <p:spPr bwMode="auto">
          <a:xfrm>
            <a:off x="3590925" y="10345738"/>
            <a:ext cx="381000" cy="295275"/>
          </a:xfrm>
          <a:prstGeom prst="roundRect">
            <a:avLst>
              <a:gd name="adj" fmla="val 16667"/>
            </a:avLst>
          </a:prstGeom>
          <a:solidFill>
            <a:srgbClr val="F0587C"/>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7" name="Text Box 45">
            <a:extLst>
              <a:ext uri="{FF2B5EF4-FFF2-40B4-BE49-F238E27FC236}">
                <a16:creationId xmlns:a16="http://schemas.microsoft.com/office/drawing/2014/main" id="{E3CE0690-450E-425D-B076-E3C3C09CC349}"/>
              </a:ext>
            </a:extLst>
          </p:cNvPr>
          <p:cNvSpPr txBox="1">
            <a:spLocks noChangeArrowheads="1"/>
          </p:cNvSpPr>
          <p:nvPr/>
        </p:nvSpPr>
        <p:spPr bwMode="auto">
          <a:xfrm>
            <a:off x="3590925" y="10261600"/>
            <a:ext cx="381000" cy="4508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fld id="{AA3A2C3A-815D-4324-A52B-0D6E1281FA41}" type="slidenum">
              <a:rPr kumimoji="0" lang="en-IN" altLang="en-US" sz="1400" b="0" i="0" u="none" strike="noStrike" cap="none" normalizeH="0" baseline="0" smtClean="0">
                <a:ln>
                  <a:noFill/>
                </a:ln>
                <a:solidFill>
                  <a:srgbClr val="FFFFFF"/>
                </a:solidFill>
                <a:effectLst/>
                <a:latin typeface="Poppins" panose="00000500000000000000" pitchFamily="2" charset="0"/>
              </a:rPr>
              <a:pPr marL="0" marR="0" lvl="0" indent="0" algn="ctr" defTabSz="914400" rtl="0" eaLnBrk="0" fontAlgn="base" latinLnBrk="0" hangingPunct="0">
                <a:lnSpc>
                  <a:spcPct val="100000"/>
                </a:lnSpc>
                <a:spcBef>
                  <a:spcPct val="0"/>
                </a:spcBef>
                <a:spcAft>
                  <a:spcPct val="0"/>
                </a:spcAft>
                <a:buClrTx/>
                <a:buSzTx/>
                <a:buFontTx/>
                <a:buNone/>
                <a:tabLst/>
              </a:pPr>
              <a:t>13</a:t>
            </a:fld>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Text Box 46">
            <a:extLst>
              <a:ext uri="{FF2B5EF4-FFF2-40B4-BE49-F238E27FC236}">
                <a16:creationId xmlns:a16="http://schemas.microsoft.com/office/drawing/2014/main" id="{B57355D7-5921-4580-A2EC-1893BEC93753}"/>
              </a:ext>
            </a:extLst>
          </p:cNvPr>
          <p:cNvSpPr txBox="1">
            <a:spLocks noChangeArrowheads="1"/>
          </p:cNvSpPr>
          <p:nvPr/>
        </p:nvSpPr>
        <p:spPr bwMode="auto">
          <a:xfrm>
            <a:off x="0" y="10261600"/>
            <a:ext cx="3590925" cy="439738"/>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IN" altLang="en-US" sz="1000" b="0" i="0" u="none" strike="noStrike" cap="none" normalizeH="0" baseline="0">
                <a:ln>
                  <a:noFill/>
                </a:ln>
                <a:solidFill>
                  <a:srgbClr val="000000"/>
                </a:solidFill>
                <a:effectLst/>
                <a:latin typeface="Poppins" panose="00000500000000000000" pitchFamily="2" charset="0"/>
              </a:rPr>
              <a:t>VIDYAVANTAM — CBSE CLASS 7 HISTORY</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Text Box 47">
            <a:extLst>
              <a:ext uri="{FF2B5EF4-FFF2-40B4-BE49-F238E27FC236}">
                <a16:creationId xmlns:a16="http://schemas.microsoft.com/office/drawing/2014/main" id="{91DF1181-B748-4CDC-B2C5-39C01EC2886C}"/>
              </a:ext>
            </a:extLst>
          </p:cNvPr>
          <p:cNvSpPr txBox="1">
            <a:spLocks noChangeArrowheads="1"/>
          </p:cNvSpPr>
          <p:nvPr/>
        </p:nvSpPr>
        <p:spPr bwMode="auto">
          <a:xfrm>
            <a:off x="3968273" y="10261600"/>
            <a:ext cx="3587750" cy="428625"/>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defTabSz="914400" eaLnBrk="0" fontAlgn="base" hangingPunct="0">
              <a:spcBef>
                <a:spcPct val="0"/>
              </a:spcBef>
              <a:spcAft>
                <a:spcPct val="0"/>
              </a:spcAft>
            </a:pPr>
            <a:r>
              <a:rPr lang="en-IN" sz="1000" dirty="0">
                <a:solidFill>
                  <a:srgbClr val="000000"/>
                </a:solidFill>
                <a:latin typeface="Poppins" panose="00000500000000000000" pitchFamily="2" charset="0"/>
              </a:rPr>
              <a:t>KARKOTA DYNASTY</a:t>
            </a:r>
          </a:p>
        </p:txBody>
      </p:sp>
      <p:sp>
        <p:nvSpPr>
          <p:cNvPr id="11" name="Rectangle 10">
            <a:extLst>
              <a:ext uri="{FF2B5EF4-FFF2-40B4-BE49-F238E27FC236}">
                <a16:creationId xmlns:a16="http://schemas.microsoft.com/office/drawing/2014/main" id="{EDA4EFD3-9285-4A8B-B841-7FFE569FEB2E}"/>
              </a:ext>
            </a:extLst>
          </p:cNvPr>
          <p:cNvSpPr/>
          <p:nvPr/>
        </p:nvSpPr>
        <p:spPr>
          <a:xfrm>
            <a:off x="503238" y="2684284"/>
            <a:ext cx="6639086" cy="7294305"/>
          </a:xfrm>
          <a:prstGeom prst="rect">
            <a:avLst/>
          </a:prstGeom>
        </p:spPr>
        <p:txBody>
          <a:bodyPr wrap="square">
            <a:spAutoFit/>
          </a:bodyPr>
          <a:lstStyle/>
          <a:p>
            <a:pPr algn="just"/>
            <a:r>
              <a:rPr lang="en-US" dirty="0">
                <a:latin typeface="Comic Sans MS" panose="030F0702030302020204" pitchFamily="66" charset="0"/>
              </a:rPr>
              <a:t>	This was the time when Muhammad Bid Qasim had invaded Multan and Arabic invaders wanted entire India to be subjected under the Islamic Fold.</a:t>
            </a:r>
            <a:endParaRPr lang="en-IN" dirty="0">
              <a:latin typeface="Comic Sans MS" panose="030F0702030302020204" pitchFamily="66" charset="0"/>
            </a:endParaRPr>
          </a:p>
          <a:p>
            <a:pPr algn="just"/>
            <a:r>
              <a:rPr lang="en-IN" dirty="0">
                <a:latin typeface="Comic Sans MS" panose="030F0702030302020204" pitchFamily="66" charset="0"/>
              </a:rPr>
              <a:t>	But before fight over the Islamic Invader king Lalitaditya first won Tibetan invaders with also with the help of </a:t>
            </a:r>
            <a:r>
              <a:rPr lang="en-IN" i="1" dirty="0">
                <a:latin typeface="Comic Sans MS" panose="030F0702030302020204" pitchFamily="66" charset="0"/>
              </a:rPr>
              <a:t>Bapppa Rawal (</a:t>
            </a:r>
            <a:r>
              <a:rPr lang="en-IN" dirty="0">
                <a:latin typeface="Comic Sans MS" panose="030F0702030302020204" pitchFamily="66" charset="0"/>
              </a:rPr>
              <a:t>Mewar Dynasty</a:t>
            </a:r>
            <a:r>
              <a:rPr lang="en-IN" i="1" dirty="0">
                <a:latin typeface="Comic Sans MS" panose="030F0702030302020204" pitchFamily="66" charset="0"/>
              </a:rPr>
              <a:t>)</a:t>
            </a:r>
            <a:r>
              <a:rPr lang="en-IN" dirty="0">
                <a:latin typeface="Comic Sans MS" panose="030F0702030302020204" pitchFamily="66" charset="0"/>
              </a:rPr>
              <a:t>. According to Al-Beruni, Kashmir people celebrate the victory of Lalitaditya over Tibet on 2</a:t>
            </a:r>
            <a:r>
              <a:rPr lang="en-IN" baseline="30000" dirty="0">
                <a:latin typeface="Comic Sans MS" panose="030F0702030302020204" pitchFamily="66" charset="0"/>
              </a:rPr>
              <a:t>nd</a:t>
            </a:r>
            <a:r>
              <a:rPr lang="en-IN" dirty="0">
                <a:latin typeface="Comic Sans MS" panose="030F0702030302020204" pitchFamily="66" charset="0"/>
              </a:rPr>
              <a:t> day of Chaitra every year. Soon after, Junaid, the Arab governor of Sindh, attacked Kashmir on the order of Calipha Hisham, after the death of Muhammad, four major Caliphates were established, Umayyad was the second Caliphates which was held from Mecca. The Arabs had established their rule over Sindh. And then they looked at Kashmir as it was prosperous region. Lalitaditya defeated Junaid and the Arab attempt of plundering Kashmir failed. And they didn’t attack Kashmir till he was alive. </a:t>
            </a:r>
          </a:p>
          <a:p>
            <a:pPr algn="just"/>
            <a:r>
              <a:rPr lang="en-US" dirty="0">
                <a:latin typeface="Comic Sans MS" panose="030F0702030302020204" pitchFamily="66" charset="0"/>
              </a:rPr>
              <a:t>	</a:t>
            </a:r>
            <a:r>
              <a:rPr lang="en-IN" dirty="0">
                <a:latin typeface="Comic Sans MS" panose="030F0702030302020204" pitchFamily="66" charset="0"/>
              </a:rPr>
              <a:t>Lalitaditya also won over Central Asia, which comprises modern day countries like Uzbekistan, Tajikistan, South Kyrgyzstan and southwest Kazakhstan.</a:t>
            </a:r>
          </a:p>
          <a:p>
            <a:pPr algn="just"/>
            <a:r>
              <a:rPr lang="en-US" dirty="0">
                <a:latin typeface="Comic Sans MS" panose="030F0702030302020204" pitchFamily="66" charset="0"/>
              </a:rPr>
              <a:t>	</a:t>
            </a:r>
            <a:r>
              <a:rPr lang="en-IN" dirty="0">
                <a:latin typeface="Comic Sans MS" panose="030F0702030302020204" pitchFamily="66" charset="0"/>
              </a:rPr>
              <a:t>After that he invaded Turkistan through Kabul and defeated Momin from Bukhara in all the four wars. He expanded his territories consequently to the Caspian sea.</a:t>
            </a:r>
          </a:p>
          <a:p>
            <a:pPr algn="just"/>
            <a:r>
              <a:rPr lang="en-IN" dirty="0">
                <a:latin typeface="Comic Sans MS" panose="030F0702030302020204" pitchFamily="66" charset="0"/>
              </a:rPr>
              <a:t>	</a:t>
            </a:r>
            <a:r>
              <a:rPr lang="en-US" dirty="0">
                <a:latin typeface="Comic Sans MS" panose="030F0702030302020204" pitchFamily="66" charset="0"/>
              </a:rPr>
              <a:t>H</a:t>
            </a:r>
            <a:r>
              <a:rPr lang="en-IN" dirty="0">
                <a:latin typeface="Comic Sans MS" panose="030F0702030302020204" pitchFamily="66" charset="0"/>
              </a:rPr>
              <a:t>e used to be so furious with the Arabs for invading his country that he ordered the prisoners of war to be sent back with half of their heads shaven.</a:t>
            </a:r>
          </a:p>
        </p:txBody>
      </p:sp>
    </p:spTree>
    <p:extLst>
      <p:ext uri="{BB962C8B-B14F-4D97-AF65-F5344CB8AC3E}">
        <p14:creationId xmlns:p14="http://schemas.microsoft.com/office/powerpoint/2010/main" val="12013389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43">
            <a:extLst>
              <a:ext uri="{FF2B5EF4-FFF2-40B4-BE49-F238E27FC236}">
                <a16:creationId xmlns:a16="http://schemas.microsoft.com/office/drawing/2014/main" id="{E820A8C8-F800-4685-9452-87C6A5EB5A91}"/>
              </a:ext>
            </a:extLst>
          </p:cNvPr>
          <p:cNvSpPr>
            <a:spLocks noChangeArrowheads="1"/>
          </p:cNvSpPr>
          <p:nvPr/>
        </p:nvSpPr>
        <p:spPr bwMode="auto">
          <a:xfrm>
            <a:off x="3590925" y="10345738"/>
            <a:ext cx="381000" cy="295275"/>
          </a:xfrm>
          <a:prstGeom prst="roundRect">
            <a:avLst>
              <a:gd name="adj" fmla="val 16667"/>
            </a:avLst>
          </a:prstGeom>
          <a:solidFill>
            <a:srgbClr val="F0587C"/>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6" name="Text Box 45">
            <a:extLst>
              <a:ext uri="{FF2B5EF4-FFF2-40B4-BE49-F238E27FC236}">
                <a16:creationId xmlns:a16="http://schemas.microsoft.com/office/drawing/2014/main" id="{DB3CD6D7-A7C8-4071-8811-0B08B7128290}"/>
              </a:ext>
            </a:extLst>
          </p:cNvPr>
          <p:cNvSpPr txBox="1">
            <a:spLocks noChangeArrowheads="1"/>
          </p:cNvSpPr>
          <p:nvPr/>
        </p:nvSpPr>
        <p:spPr bwMode="auto">
          <a:xfrm>
            <a:off x="3590925" y="10261600"/>
            <a:ext cx="381000" cy="4508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fld id="{AA3A2C3A-815D-4324-A52B-0D6E1281FA41}" type="slidenum">
              <a:rPr kumimoji="0" lang="en-IN" altLang="en-US" sz="1400" b="0" i="0" u="none" strike="noStrike" cap="none" normalizeH="0" baseline="0" smtClean="0">
                <a:ln>
                  <a:noFill/>
                </a:ln>
                <a:solidFill>
                  <a:srgbClr val="FFFFFF"/>
                </a:solidFill>
                <a:effectLst/>
                <a:latin typeface="Poppins" panose="00000500000000000000" pitchFamily="2" charset="0"/>
              </a:rPr>
              <a:pPr marL="0" marR="0" lvl="0" indent="0" algn="ctr" defTabSz="914400" rtl="0" eaLnBrk="0" fontAlgn="base" latinLnBrk="0" hangingPunct="0">
                <a:lnSpc>
                  <a:spcPct val="100000"/>
                </a:lnSpc>
                <a:spcBef>
                  <a:spcPct val="0"/>
                </a:spcBef>
                <a:spcAft>
                  <a:spcPct val="0"/>
                </a:spcAft>
                <a:buClrTx/>
                <a:buSzTx/>
                <a:buFontTx/>
                <a:buNone/>
                <a:tabLst/>
              </a:pPr>
              <a:t>14</a:t>
            </a:fld>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Text Box 46">
            <a:extLst>
              <a:ext uri="{FF2B5EF4-FFF2-40B4-BE49-F238E27FC236}">
                <a16:creationId xmlns:a16="http://schemas.microsoft.com/office/drawing/2014/main" id="{3EB61B7D-982F-4D5F-8A81-CB992959CDB1}"/>
              </a:ext>
            </a:extLst>
          </p:cNvPr>
          <p:cNvSpPr txBox="1">
            <a:spLocks noChangeArrowheads="1"/>
          </p:cNvSpPr>
          <p:nvPr/>
        </p:nvSpPr>
        <p:spPr bwMode="auto">
          <a:xfrm>
            <a:off x="0" y="10261600"/>
            <a:ext cx="3590925" cy="439738"/>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IN" altLang="en-US" sz="1000" b="0" i="0" u="none" strike="noStrike" cap="none" normalizeH="0" baseline="0">
                <a:ln>
                  <a:noFill/>
                </a:ln>
                <a:solidFill>
                  <a:srgbClr val="000000"/>
                </a:solidFill>
                <a:effectLst/>
                <a:latin typeface="Poppins" panose="00000500000000000000" pitchFamily="2" charset="0"/>
              </a:rPr>
              <a:t>VIDYAVANTAM — CBSE CLASS 7 HISTORY</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Text Box 47">
            <a:extLst>
              <a:ext uri="{FF2B5EF4-FFF2-40B4-BE49-F238E27FC236}">
                <a16:creationId xmlns:a16="http://schemas.microsoft.com/office/drawing/2014/main" id="{DD01E9AA-B8BC-4EA8-8239-AF0B11764D2C}"/>
              </a:ext>
            </a:extLst>
          </p:cNvPr>
          <p:cNvSpPr txBox="1">
            <a:spLocks noChangeArrowheads="1"/>
          </p:cNvSpPr>
          <p:nvPr/>
        </p:nvSpPr>
        <p:spPr bwMode="auto">
          <a:xfrm>
            <a:off x="3968273" y="10261600"/>
            <a:ext cx="3587750" cy="428625"/>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defTabSz="914400" eaLnBrk="0" fontAlgn="base" hangingPunct="0">
              <a:spcBef>
                <a:spcPct val="0"/>
              </a:spcBef>
              <a:spcAft>
                <a:spcPct val="0"/>
              </a:spcAft>
            </a:pPr>
            <a:r>
              <a:rPr lang="en-IN" sz="1000" dirty="0">
                <a:solidFill>
                  <a:srgbClr val="000000"/>
                </a:solidFill>
                <a:latin typeface="Poppins" panose="00000500000000000000" pitchFamily="2" charset="0"/>
              </a:rPr>
              <a:t>KARKOTA DYNASTY</a:t>
            </a:r>
          </a:p>
        </p:txBody>
      </p:sp>
      <p:sp>
        <p:nvSpPr>
          <p:cNvPr id="9" name="Rectangle 8">
            <a:extLst>
              <a:ext uri="{FF2B5EF4-FFF2-40B4-BE49-F238E27FC236}">
                <a16:creationId xmlns:a16="http://schemas.microsoft.com/office/drawing/2014/main" id="{F3AE802F-495B-4ABB-9A57-BA409F27C8F4}"/>
              </a:ext>
            </a:extLst>
          </p:cNvPr>
          <p:cNvSpPr/>
          <p:nvPr/>
        </p:nvSpPr>
        <p:spPr>
          <a:xfrm>
            <a:off x="503238" y="485775"/>
            <a:ext cx="6608762" cy="1477328"/>
          </a:xfrm>
          <a:prstGeom prst="rect">
            <a:avLst/>
          </a:prstGeom>
        </p:spPr>
        <p:txBody>
          <a:bodyPr wrap="square">
            <a:spAutoFit/>
          </a:bodyPr>
          <a:lstStyle/>
          <a:p>
            <a:pPr algn="just"/>
            <a:r>
              <a:rPr lang="en-IN" dirty="0">
                <a:latin typeface="Comic Sans MS" panose="030F0702030302020204" pitchFamily="66" charset="0"/>
              </a:rPr>
              <a:t>He expanded Kashmir from Tibet in the north to Dwarka and Odisha in the south, from Bengal in the east, to central Asia in the west, Lalitaditya's empire had been established with supreme might. He had almost reached Aranayaka Kingdom (Modern day Iran).</a:t>
            </a:r>
            <a:endParaRPr lang="en-IN" dirty="0"/>
          </a:p>
        </p:txBody>
      </p:sp>
      <p:sp>
        <p:nvSpPr>
          <p:cNvPr id="10" name="AutoShape 11">
            <a:extLst>
              <a:ext uri="{FF2B5EF4-FFF2-40B4-BE49-F238E27FC236}">
                <a16:creationId xmlns:a16="http://schemas.microsoft.com/office/drawing/2014/main" id="{0C3651A1-E4F5-4789-89F4-EB8C10788E5A}"/>
              </a:ext>
            </a:extLst>
          </p:cNvPr>
          <p:cNvSpPr>
            <a:spLocks noChangeArrowheads="1"/>
          </p:cNvSpPr>
          <p:nvPr/>
        </p:nvSpPr>
        <p:spPr bwMode="auto">
          <a:xfrm>
            <a:off x="503238" y="2047241"/>
            <a:ext cx="3868738" cy="625475"/>
          </a:xfrm>
          <a:prstGeom prst="roundRect">
            <a:avLst>
              <a:gd name="adj" fmla="val 50000"/>
            </a:avLst>
          </a:prstGeom>
          <a:solidFill>
            <a:srgbClr val="FED013"/>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a:r>
              <a:rPr lang="en-IN" sz="2000" dirty="0">
                <a:latin typeface="Comic Sans MS" panose="030F0702030302020204" pitchFamily="66" charset="0"/>
              </a:rPr>
              <a:t>Monuments by Lalitaditya</a:t>
            </a:r>
          </a:p>
        </p:txBody>
      </p:sp>
      <p:sp>
        <p:nvSpPr>
          <p:cNvPr id="11" name="Rectangle 10">
            <a:extLst>
              <a:ext uri="{FF2B5EF4-FFF2-40B4-BE49-F238E27FC236}">
                <a16:creationId xmlns:a16="http://schemas.microsoft.com/office/drawing/2014/main" id="{1B54AAE7-B6FE-476A-82FD-73A91E34443F}"/>
              </a:ext>
            </a:extLst>
          </p:cNvPr>
          <p:cNvSpPr/>
          <p:nvPr/>
        </p:nvSpPr>
        <p:spPr>
          <a:xfrm>
            <a:off x="503237" y="2709140"/>
            <a:ext cx="6608763" cy="2585323"/>
          </a:xfrm>
          <a:prstGeom prst="rect">
            <a:avLst/>
          </a:prstGeom>
        </p:spPr>
        <p:txBody>
          <a:bodyPr wrap="square">
            <a:spAutoFit/>
          </a:bodyPr>
          <a:lstStyle/>
          <a:p>
            <a:pPr algn="just"/>
            <a:r>
              <a:rPr lang="en-IN" dirty="0">
                <a:latin typeface="Comic Sans MS" panose="030F0702030302020204" pitchFamily="66" charset="0"/>
              </a:rPr>
              <a:t>Lalitaditya made </a:t>
            </a:r>
            <a:r>
              <a:rPr lang="en-IN" i="1" dirty="0">
                <a:latin typeface="Comic Sans MS" panose="030F0702030302020204" pitchFamily="66" charset="0"/>
              </a:rPr>
              <a:t>Martanda Surya Mandir</a:t>
            </a:r>
            <a:r>
              <a:rPr lang="en-IN" dirty="0">
                <a:latin typeface="Comic Sans MS" panose="030F0702030302020204" pitchFamily="66" charset="0"/>
              </a:rPr>
              <a:t> (Martanda Sun Temple) at Anantnag, Kashmir which was destroyed by Sikandar Shah Miri (Sikandar Butshikan) in 12</a:t>
            </a:r>
            <a:r>
              <a:rPr lang="en-IN" baseline="30000" dirty="0">
                <a:latin typeface="Comic Sans MS" panose="030F0702030302020204" pitchFamily="66" charset="0"/>
              </a:rPr>
              <a:t>th</a:t>
            </a:r>
            <a:r>
              <a:rPr lang="en-IN" dirty="0">
                <a:latin typeface="Comic Sans MS" panose="030F0702030302020204" pitchFamily="66" charset="0"/>
              </a:rPr>
              <a:t> century and this is said that the time taken by Sikandar Butshikan was about 1 years. In his capital Parihasapura, he made many temples, a palace for him, many libraries and a Chaitya. Among them Parihasakeshava temple, Govardhanadeva temple and Mahavaraha temple was major temples which was destroyed by other Islamic Invaders.</a:t>
            </a:r>
            <a:endParaRPr lang="en-IN" i="1" dirty="0"/>
          </a:p>
        </p:txBody>
      </p:sp>
      <p:sp>
        <p:nvSpPr>
          <p:cNvPr id="14" name="Rectangle: Rounded Corners 13">
            <a:extLst>
              <a:ext uri="{FF2B5EF4-FFF2-40B4-BE49-F238E27FC236}">
                <a16:creationId xmlns:a16="http://schemas.microsoft.com/office/drawing/2014/main" id="{C1488E43-6848-4C1B-9651-EAE68758BDB4}"/>
              </a:ext>
            </a:extLst>
          </p:cNvPr>
          <p:cNvSpPr/>
          <p:nvPr/>
        </p:nvSpPr>
        <p:spPr>
          <a:xfrm>
            <a:off x="1345508" y="5378600"/>
            <a:ext cx="5245530" cy="4438499"/>
          </a:xfrm>
          <a:prstGeom prst="roundRect">
            <a:avLst>
              <a:gd name="adj" fmla="val 1376"/>
            </a:avLst>
          </a:prstGeom>
          <a:solidFill>
            <a:schemeClr val="accent4">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6" name="Picture 15">
            <a:extLst>
              <a:ext uri="{FF2B5EF4-FFF2-40B4-BE49-F238E27FC236}">
                <a16:creationId xmlns:a16="http://schemas.microsoft.com/office/drawing/2014/main" id="{1F8450AD-B3DC-47A4-82D8-8E72C9A51C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86345" y="5751786"/>
            <a:ext cx="4563856" cy="3422892"/>
          </a:xfrm>
          <a:prstGeom prst="rect">
            <a:avLst/>
          </a:prstGeom>
        </p:spPr>
      </p:pic>
      <p:sp>
        <p:nvSpPr>
          <p:cNvPr id="17" name="Rectangle 16">
            <a:extLst>
              <a:ext uri="{FF2B5EF4-FFF2-40B4-BE49-F238E27FC236}">
                <a16:creationId xmlns:a16="http://schemas.microsoft.com/office/drawing/2014/main" id="{25E23DDF-4539-4368-9CA5-FE9703964D47}"/>
              </a:ext>
            </a:extLst>
          </p:cNvPr>
          <p:cNvSpPr/>
          <p:nvPr/>
        </p:nvSpPr>
        <p:spPr>
          <a:xfrm>
            <a:off x="1686346" y="9411448"/>
            <a:ext cx="4563856" cy="338554"/>
          </a:xfrm>
          <a:prstGeom prst="rect">
            <a:avLst/>
          </a:prstGeom>
        </p:spPr>
        <p:txBody>
          <a:bodyPr wrap="square">
            <a:spAutoFit/>
          </a:bodyPr>
          <a:lstStyle/>
          <a:p>
            <a:pPr algn="ctr"/>
            <a:r>
              <a:rPr lang="en-IN" sz="1600" i="1" dirty="0">
                <a:latin typeface="Comic Sans MS" panose="030F0702030302020204" pitchFamily="66" charset="0"/>
              </a:rPr>
              <a:t>Martanda Surya Temple</a:t>
            </a:r>
            <a:endParaRPr lang="en-IN" sz="1600" dirty="0"/>
          </a:p>
        </p:txBody>
      </p:sp>
    </p:spTree>
    <p:extLst>
      <p:ext uri="{BB962C8B-B14F-4D97-AF65-F5344CB8AC3E}">
        <p14:creationId xmlns:p14="http://schemas.microsoft.com/office/powerpoint/2010/main" val="24576881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3">
            <a:extLst>
              <a:ext uri="{FF2B5EF4-FFF2-40B4-BE49-F238E27FC236}">
                <a16:creationId xmlns:a16="http://schemas.microsoft.com/office/drawing/2014/main" id="{15A5C369-1F25-406B-9714-722270D93E2B}"/>
              </a:ext>
            </a:extLst>
          </p:cNvPr>
          <p:cNvSpPr>
            <a:spLocks noChangeArrowheads="1"/>
          </p:cNvSpPr>
          <p:nvPr/>
        </p:nvSpPr>
        <p:spPr bwMode="auto">
          <a:xfrm>
            <a:off x="3590925" y="10345738"/>
            <a:ext cx="381000" cy="295275"/>
          </a:xfrm>
          <a:prstGeom prst="roundRect">
            <a:avLst>
              <a:gd name="adj" fmla="val 16667"/>
            </a:avLst>
          </a:prstGeom>
          <a:solidFill>
            <a:srgbClr val="F0587C"/>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5" name="Text Box 45">
            <a:extLst>
              <a:ext uri="{FF2B5EF4-FFF2-40B4-BE49-F238E27FC236}">
                <a16:creationId xmlns:a16="http://schemas.microsoft.com/office/drawing/2014/main" id="{121B62BF-60CA-4980-9411-274FFD764674}"/>
              </a:ext>
            </a:extLst>
          </p:cNvPr>
          <p:cNvSpPr txBox="1">
            <a:spLocks noChangeArrowheads="1"/>
          </p:cNvSpPr>
          <p:nvPr/>
        </p:nvSpPr>
        <p:spPr bwMode="auto">
          <a:xfrm>
            <a:off x="3590925" y="10261600"/>
            <a:ext cx="381000" cy="4508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fld id="{AA3A2C3A-815D-4324-A52B-0D6E1281FA41}" type="slidenum">
              <a:rPr kumimoji="0" lang="en-IN" altLang="en-US" sz="1400" b="0" i="0" u="none" strike="noStrike" cap="none" normalizeH="0" baseline="0" smtClean="0">
                <a:ln>
                  <a:noFill/>
                </a:ln>
                <a:solidFill>
                  <a:srgbClr val="FFFFFF"/>
                </a:solidFill>
                <a:effectLst/>
                <a:latin typeface="Poppins" panose="00000500000000000000" pitchFamily="2" charset="0"/>
              </a:rPr>
              <a:pPr marL="0" marR="0" lvl="0" indent="0" algn="ctr" defTabSz="914400" rtl="0" eaLnBrk="0" fontAlgn="base" latinLnBrk="0" hangingPunct="0">
                <a:lnSpc>
                  <a:spcPct val="100000"/>
                </a:lnSpc>
                <a:spcBef>
                  <a:spcPct val="0"/>
                </a:spcBef>
                <a:spcAft>
                  <a:spcPct val="0"/>
                </a:spcAft>
                <a:buClrTx/>
                <a:buSzTx/>
                <a:buFontTx/>
                <a:buNone/>
                <a:tabLst/>
              </a:pPr>
              <a:t>15</a:t>
            </a:fld>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Text Box 46">
            <a:extLst>
              <a:ext uri="{FF2B5EF4-FFF2-40B4-BE49-F238E27FC236}">
                <a16:creationId xmlns:a16="http://schemas.microsoft.com/office/drawing/2014/main" id="{21DD44E7-0050-4A42-ACC8-26CBD13A4CB0}"/>
              </a:ext>
            </a:extLst>
          </p:cNvPr>
          <p:cNvSpPr txBox="1">
            <a:spLocks noChangeArrowheads="1"/>
          </p:cNvSpPr>
          <p:nvPr/>
        </p:nvSpPr>
        <p:spPr bwMode="auto">
          <a:xfrm>
            <a:off x="0" y="10261600"/>
            <a:ext cx="3590925" cy="439738"/>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IN" altLang="en-US" sz="1000" b="0" i="0" u="none" strike="noStrike" cap="none" normalizeH="0" baseline="0">
                <a:ln>
                  <a:noFill/>
                </a:ln>
                <a:solidFill>
                  <a:srgbClr val="000000"/>
                </a:solidFill>
                <a:effectLst/>
                <a:latin typeface="Poppins" panose="00000500000000000000" pitchFamily="2" charset="0"/>
              </a:rPr>
              <a:t>VIDYAVANTAM — CBSE CLASS 7 HISTORY</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Text Box 47">
            <a:extLst>
              <a:ext uri="{FF2B5EF4-FFF2-40B4-BE49-F238E27FC236}">
                <a16:creationId xmlns:a16="http://schemas.microsoft.com/office/drawing/2014/main" id="{2D9A597A-05FB-426E-B9D3-667437F81787}"/>
              </a:ext>
            </a:extLst>
          </p:cNvPr>
          <p:cNvSpPr txBox="1">
            <a:spLocks noChangeArrowheads="1"/>
          </p:cNvSpPr>
          <p:nvPr/>
        </p:nvSpPr>
        <p:spPr bwMode="auto">
          <a:xfrm>
            <a:off x="3968273" y="10261600"/>
            <a:ext cx="3587750" cy="428625"/>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defTabSz="914400" eaLnBrk="0" fontAlgn="base" hangingPunct="0">
              <a:spcBef>
                <a:spcPct val="0"/>
              </a:spcBef>
              <a:spcAft>
                <a:spcPct val="0"/>
              </a:spcAft>
            </a:pPr>
            <a:r>
              <a:rPr lang="en-IN" sz="1000" dirty="0">
                <a:solidFill>
                  <a:srgbClr val="000000"/>
                </a:solidFill>
                <a:latin typeface="Poppins" panose="00000500000000000000" pitchFamily="2" charset="0"/>
              </a:rPr>
              <a:t>KARKOTA DYNASTY</a:t>
            </a:r>
          </a:p>
        </p:txBody>
      </p:sp>
      <p:sp>
        <p:nvSpPr>
          <p:cNvPr id="8" name="Rectangle 7">
            <a:extLst>
              <a:ext uri="{FF2B5EF4-FFF2-40B4-BE49-F238E27FC236}">
                <a16:creationId xmlns:a16="http://schemas.microsoft.com/office/drawing/2014/main" id="{392F93BA-F80C-4890-A8D4-41089DDBEC3E}"/>
              </a:ext>
            </a:extLst>
          </p:cNvPr>
          <p:cNvSpPr/>
          <p:nvPr/>
        </p:nvSpPr>
        <p:spPr>
          <a:xfrm>
            <a:off x="516732" y="3891617"/>
            <a:ext cx="6430962" cy="1754326"/>
          </a:xfrm>
          <a:prstGeom prst="rect">
            <a:avLst/>
          </a:prstGeom>
        </p:spPr>
        <p:txBody>
          <a:bodyPr wrap="square">
            <a:spAutoFit/>
          </a:bodyPr>
          <a:lstStyle/>
          <a:p>
            <a:pPr algn="just"/>
            <a:r>
              <a:rPr lang="en-IN" dirty="0">
                <a:latin typeface="Comic Sans MS" panose="030F0702030302020204" pitchFamily="66" charset="0"/>
              </a:rPr>
              <a:t>There is no valid statement that states how Lalitaditya Muktapida died. But after the death of Lalitaditya Muktapida the next ruler of Karkota dynasty was his son named Kuvalayapida. After Kuvalayapida next ruler was Vajraditya. After Vajraditya the major ruler was Jayapida (son of Vajraditya).</a:t>
            </a:r>
            <a:endParaRPr lang="en-IN" dirty="0"/>
          </a:p>
        </p:txBody>
      </p:sp>
      <p:sp>
        <p:nvSpPr>
          <p:cNvPr id="9" name="AutoShape 11">
            <a:extLst>
              <a:ext uri="{FF2B5EF4-FFF2-40B4-BE49-F238E27FC236}">
                <a16:creationId xmlns:a16="http://schemas.microsoft.com/office/drawing/2014/main" id="{3F8CD827-77C5-48B1-8711-1EFDA528D773}"/>
              </a:ext>
            </a:extLst>
          </p:cNvPr>
          <p:cNvSpPr>
            <a:spLocks noChangeArrowheads="1"/>
          </p:cNvSpPr>
          <p:nvPr/>
        </p:nvSpPr>
        <p:spPr bwMode="auto">
          <a:xfrm>
            <a:off x="503238" y="485775"/>
            <a:ext cx="3868738" cy="625475"/>
          </a:xfrm>
          <a:prstGeom prst="roundRect">
            <a:avLst>
              <a:gd name="adj" fmla="val 50000"/>
            </a:avLst>
          </a:prstGeom>
          <a:solidFill>
            <a:srgbClr val="FED013"/>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a:r>
              <a:rPr lang="en-IN" sz="2000" dirty="0">
                <a:latin typeface="Comic Sans MS" panose="030F0702030302020204" pitchFamily="66" charset="0"/>
              </a:rPr>
              <a:t>Wonders by Lalitaditya</a:t>
            </a:r>
          </a:p>
        </p:txBody>
      </p:sp>
      <p:sp>
        <p:nvSpPr>
          <p:cNvPr id="10" name="Rectangle 9">
            <a:extLst>
              <a:ext uri="{FF2B5EF4-FFF2-40B4-BE49-F238E27FC236}">
                <a16:creationId xmlns:a16="http://schemas.microsoft.com/office/drawing/2014/main" id="{35349F99-CE73-4667-9D2E-29EFFBD5A033}"/>
              </a:ext>
            </a:extLst>
          </p:cNvPr>
          <p:cNvSpPr/>
          <p:nvPr/>
        </p:nvSpPr>
        <p:spPr>
          <a:xfrm>
            <a:off x="516732" y="1192213"/>
            <a:ext cx="6430962" cy="2585323"/>
          </a:xfrm>
          <a:prstGeom prst="rect">
            <a:avLst/>
          </a:prstGeom>
        </p:spPr>
        <p:txBody>
          <a:bodyPr wrap="square">
            <a:spAutoFit/>
          </a:bodyPr>
          <a:lstStyle/>
          <a:p>
            <a:pPr marL="285750" indent="-285750" algn="just">
              <a:buFont typeface="Arial" panose="020B0604020202020204" pitchFamily="34" charset="0"/>
              <a:buChar char="•"/>
            </a:pPr>
            <a:r>
              <a:rPr lang="en-IN" dirty="0">
                <a:latin typeface="Comic Sans MS" panose="030F0702030302020204" pitchFamily="66" charset="0"/>
              </a:rPr>
              <a:t>An idol of Parihasapura-Keshava, made of 3600 kgs silver</a:t>
            </a:r>
          </a:p>
          <a:p>
            <a:pPr marL="285750" indent="-285750" algn="just">
              <a:buFont typeface="Arial" panose="020B0604020202020204" pitchFamily="34" charset="0"/>
              <a:buChar char="•"/>
            </a:pPr>
            <a:r>
              <a:rPr lang="en-IN" dirty="0">
                <a:latin typeface="Comic Sans MS" panose="030F0702030302020204" pitchFamily="66" charset="0"/>
              </a:rPr>
              <a:t>An idol of Mukta-Keshava, made of 979 kgs of gold</a:t>
            </a:r>
          </a:p>
          <a:p>
            <a:pPr marL="285750" indent="-285750" algn="just">
              <a:buFont typeface="Arial" panose="020B0604020202020204" pitchFamily="34" charset="0"/>
              <a:buChar char="•"/>
            </a:pPr>
            <a:r>
              <a:rPr lang="en-IN" dirty="0">
                <a:latin typeface="Comic Sans MS" panose="030F0702030302020204" pitchFamily="66" charset="0"/>
              </a:rPr>
              <a:t>An idol of Nṛhari which was suspended in air by fixing magnets above and below of it.</a:t>
            </a:r>
          </a:p>
          <a:p>
            <a:pPr marL="285750" indent="-285750" algn="just">
              <a:buFont typeface="Arial" panose="020B0604020202020204" pitchFamily="34" charset="0"/>
              <a:buChar char="•"/>
            </a:pPr>
            <a:r>
              <a:rPr lang="en-IN" dirty="0">
                <a:latin typeface="Comic Sans MS" panose="030F0702030302020204" pitchFamily="66" charset="0"/>
              </a:rPr>
              <a:t>Raised a pillar which measured 54 hands in height, and had an image of Garuda (Vishnu's vahana) at the top.</a:t>
            </a:r>
          </a:p>
          <a:p>
            <a:pPr marL="285750" indent="-285750" algn="just">
              <a:buFont typeface="Arial" panose="020B0604020202020204" pitchFamily="34" charset="0"/>
              <a:buChar char="•"/>
            </a:pPr>
            <a:r>
              <a:rPr lang="en-IN" dirty="0">
                <a:latin typeface="Comic Sans MS" panose="030F0702030302020204" pitchFamily="66" charset="0"/>
              </a:rPr>
              <a:t>A large statue of Buddha made of 62000 kgs of Copper.</a:t>
            </a:r>
          </a:p>
        </p:txBody>
      </p:sp>
      <p:sp>
        <p:nvSpPr>
          <p:cNvPr id="11" name="AutoShape 23">
            <a:extLst>
              <a:ext uri="{FF2B5EF4-FFF2-40B4-BE49-F238E27FC236}">
                <a16:creationId xmlns:a16="http://schemas.microsoft.com/office/drawing/2014/main" id="{2372BD72-7611-4439-9646-63330DEE7D3F}"/>
              </a:ext>
            </a:extLst>
          </p:cNvPr>
          <p:cNvSpPr>
            <a:spLocks noChangeArrowheads="1"/>
          </p:cNvSpPr>
          <p:nvPr/>
        </p:nvSpPr>
        <p:spPr bwMode="auto">
          <a:xfrm>
            <a:off x="503238" y="5824220"/>
            <a:ext cx="4277315" cy="522288"/>
          </a:xfrm>
          <a:prstGeom prst="roundRect">
            <a:avLst>
              <a:gd name="adj" fmla="val 50000"/>
            </a:avLst>
          </a:prstGeom>
          <a:solidFill>
            <a:srgbClr val="F0587C"/>
          </a:solidFill>
          <a:ln w="25400" algn="ctr">
            <a:solidFill>
              <a:srgbClr val="F0587C"/>
            </a:solidFill>
            <a:round/>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12" name="Title 1">
            <a:extLst>
              <a:ext uri="{FF2B5EF4-FFF2-40B4-BE49-F238E27FC236}">
                <a16:creationId xmlns:a16="http://schemas.microsoft.com/office/drawing/2014/main" id="{11C14605-2A19-45BB-8738-05108502B1D8}"/>
              </a:ext>
            </a:extLst>
          </p:cNvPr>
          <p:cNvSpPr txBox="1">
            <a:spLocks/>
          </p:cNvSpPr>
          <p:nvPr/>
        </p:nvSpPr>
        <p:spPr>
          <a:xfrm>
            <a:off x="542925" y="5858828"/>
            <a:ext cx="464344" cy="466090"/>
          </a:xfrm>
          <a:prstGeom prst="ellipse">
            <a:avLst/>
          </a:prstGeom>
          <a:solidFill>
            <a:schemeClr val="bg1"/>
          </a:solidFill>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r>
              <a:rPr lang="en-IN" sz="1500" b="1" dirty="0">
                <a:solidFill>
                  <a:srgbClr val="F0597C"/>
                </a:solidFill>
                <a:latin typeface="Comic Sans MS" panose="030F0702030302020204" pitchFamily="66" charset="0"/>
              </a:rPr>
              <a:t>6</a:t>
            </a:r>
          </a:p>
        </p:txBody>
      </p:sp>
      <p:sp>
        <p:nvSpPr>
          <p:cNvPr id="13" name="Rectangle 12">
            <a:extLst>
              <a:ext uri="{FF2B5EF4-FFF2-40B4-BE49-F238E27FC236}">
                <a16:creationId xmlns:a16="http://schemas.microsoft.com/office/drawing/2014/main" id="{15423BD1-C078-41BE-A811-4515A537D78C}"/>
              </a:ext>
            </a:extLst>
          </p:cNvPr>
          <p:cNvSpPr/>
          <p:nvPr/>
        </p:nvSpPr>
        <p:spPr>
          <a:xfrm>
            <a:off x="1073239" y="5898093"/>
            <a:ext cx="3536862" cy="369332"/>
          </a:xfrm>
          <a:prstGeom prst="rect">
            <a:avLst/>
          </a:prstGeom>
        </p:spPr>
        <p:txBody>
          <a:bodyPr wrap="square">
            <a:spAutoFit/>
          </a:bodyPr>
          <a:lstStyle/>
          <a:p>
            <a:pPr algn="ctr"/>
            <a:r>
              <a:rPr lang="en-IN" dirty="0">
                <a:solidFill>
                  <a:schemeClr val="bg1"/>
                </a:solidFill>
                <a:latin typeface="Comic Sans MS" panose="030F0702030302020204" pitchFamily="66" charset="0"/>
              </a:rPr>
              <a:t>Jayapida</a:t>
            </a:r>
          </a:p>
        </p:txBody>
      </p:sp>
      <p:sp>
        <p:nvSpPr>
          <p:cNvPr id="14" name="Rectangle 13">
            <a:extLst>
              <a:ext uri="{FF2B5EF4-FFF2-40B4-BE49-F238E27FC236}">
                <a16:creationId xmlns:a16="http://schemas.microsoft.com/office/drawing/2014/main" id="{679AD388-068B-495D-BC52-3AB1633422AE}"/>
              </a:ext>
            </a:extLst>
          </p:cNvPr>
          <p:cNvSpPr/>
          <p:nvPr/>
        </p:nvSpPr>
        <p:spPr>
          <a:xfrm>
            <a:off x="517526" y="6392069"/>
            <a:ext cx="6430962" cy="2031325"/>
          </a:xfrm>
          <a:prstGeom prst="rect">
            <a:avLst/>
          </a:prstGeom>
        </p:spPr>
        <p:txBody>
          <a:bodyPr wrap="square">
            <a:spAutoFit/>
          </a:bodyPr>
          <a:lstStyle/>
          <a:p>
            <a:pPr algn="just"/>
            <a:r>
              <a:rPr lang="en-IN" dirty="0">
                <a:latin typeface="Comic Sans MS" panose="030F0702030302020204" pitchFamily="66" charset="0"/>
              </a:rPr>
              <a:t>Jayapida ruled for 31 years from 779 AD to  813 AD. In his rule, From Sindhu river’s area to South India, Brahmins were settled in Kashmir. Kalhana notes his later years to be tyrannical when Jayapida imposed a cruel taxation regime on Brahmins, forcing them to emigrate; he was cursed to death by a Brahmin. Jayapida had two sons — Lalitapida and Samgramapida II.</a:t>
            </a:r>
          </a:p>
        </p:txBody>
      </p:sp>
      <p:sp>
        <p:nvSpPr>
          <p:cNvPr id="15" name="Rectangle 14">
            <a:extLst>
              <a:ext uri="{FF2B5EF4-FFF2-40B4-BE49-F238E27FC236}">
                <a16:creationId xmlns:a16="http://schemas.microsoft.com/office/drawing/2014/main" id="{37A5DD9B-8423-4568-8659-00EBCFE2957D}"/>
              </a:ext>
            </a:extLst>
          </p:cNvPr>
          <p:cNvSpPr/>
          <p:nvPr/>
        </p:nvSpPr>
        <p:spPr>
          <a:xfrm>
            <a:off x="500619" y="8430300"/>
            <a:ext cx="6430962" cy="1200329"/>
          </a:xfrm>
          <a:prstGeom prst="rect">
            <a:avLst/>
          </a:prstGeom>
        </p:spPr>
        <p:txBody>
          <a:bodyPr wrap="square">
            <a:spAutoFit/>
          </a:bodyPr>
          <a:lstStyle/>
          <a:p>
            <a:pPr algn="just"/>
            <a:r>
              <a:rPr lang="en-IN" dirty="0">
                <a:latin typeface="Comic Sans MS" panose="030F0702030302020204" pitchFamily="66" charset="0"/>
              </a:rPr>
              <a:t>After Jayapida next ruler was Lalitapida (813 AD to 825 AD) and after that the next ruler was Samgramapida II (825 AD to 832 AD). After Samgramapida II the ruler was the son of Jayapida’s son named Chipattajayapida</a:t>
            </a:r>
          </a:p>
        </p:txBody>
      </p:sp>
    </p:spTree>
    <p:extLst>
      <p:ext uri="{BB962C8B-B14F-4D97-AF65-F5344CB8AC3E}">
        <p14:creationId xmlns:p14="http://schemas.microsoft.com/office/powerpoint/2010/main" val="20808438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23">
            <a:extLst>
              <a:ext uri="{FF2B5EF4-FFF2-40B4-BE49-F238E27FC236}">
                <a16:creationId xmlns:a16="http://schemas.microsoft.com/office/drawing/2014/main" id="{B4BCFBDB-FFD2-4BDE-AD72-E8C5BF02BD6D}"/>
              </a:ext>
            </a:extLst>
          </p:cNvPr>
          <p:cNvSpPr>
            <a:spLocks noChangeArrowheads="1"/>
          </p:cNvSpPr>
          <p:nvPr/>
        </p:nvSpPr>
        <p:spPr bwMode="auto">
          <a:xfrm>
            <a:off x="503238" y="485775"/>
            <a:ext cx="4277315" cy="522288"/>
          </a:xfrm>
          <a:prstGeom prst="roundRect">
            <a:avLst>
              <a:gd name="adj" fmla="val 50000"/>
            </a:avLst>
          </a:prstGeom>
          <a:solidFill>
            <a:srgbClr val="F0587C"/>
          </a:solidFill>
          <a:ln w="25400" algn="ctr">
            <a:solidFill>
              <a:srgbClr val="F0587C"/>
            </a:solidFill>
            <a:round/>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8" name="Title 1">
            <a:extLst>
              <a:ext uri="{FF2B5EF4-FFF2-40B4-BE49-F238E27FC236}">
                <a16:creationId xmlns:a16="http://schemas.microsoft.com/office/drawing/2014/main" id="{FC9ED3B1-C284-41F2-85A5-8A22533F11C1}"/>
              </a:ext>
            </a:extLst>
          </p:cNvPr>
          <p:cNvSpPr txBox="1">
            <a:spLocks/>
          </p:cNvSpPr>
          <p:nvPr/>
        </p:nvSpPr>
        <p:spPr>
          <a:xfrm>
            <a:off x="542925" y="520383"/>
            <a:ext cx="464344" cy="466090"/>
          </a:xfrm>
          <a:prstGeom prst="ellipse">
            <a:avLst/>
          </a:prstGeom>
          <a:solidFill>
            <a:schemeClr val="bg1"/>
          </a:solidFill>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r>
              <a:rPr lang="en-IN" sz="1500" b="1" dirty="0">
                <a:solidFill>
                  <a:srgbClr val="F0597C"/>
                </a:solidFill>
                <a:latin typeface="Comic Sans MS" panose="030F0702030302020204" pitchFamily="66" charset="0"/>
              </a:rPr>
              <a:t>7</a:t>
            </a:r>
          </a:p>
        </p:txBody>
      </p:sp>
      <p:sp>
        <p:nvSpPr>
          <p:cNvPr id="9" name="Rectangle 8">
            <a:extLst>
              <a:ext uri="{FF2B5EF4-FFF2-40B4-BE49-F238E27FC236}">
                <a16:creationId xmlns:a16="http://schemas.microsoft.com/office/drawing/2014/main" id="{BC7DB87B-D713-4606-8CAE-6D59F0348A76}"/>
              </a:ext>
            </a:extLst>
          </p:cNvPr>
          <p:cNvSpPr/>
          <p:nvPr/>
        </p:nvSpPr>
        <p:spPr>
          <a:xfrm>
            <a:off x="1073239" y="559648"/>
            <a:ext cx="3536862" cy="369332"/>
          </a:xfrm>
          <a:prstGeom prst="rect">
            <a:avLst/>
          </a:prstGeom>
        </p:spPr>
        <p:txBody>
          <a:bodyPr wrap="square">
            <a:spAutoFit/>
          </a:bodyPr>
          <a:lstStyle/>
          <a:p>
            <a:pPr algn="ctr"/>
            <a:r>
              <a:rPr lang="en-IN" dirty="0">
                <a:solidFill>
                  <a:schemeClr val="bg1"/>
                </a:solidFill>
                <a:latin typeface="Comic Sans MS" panose="030F0702030302020204" pitchFamily="66" charset="0"/>
              </a:rPr>
              <a:t>Chipattajayapida</a:t>
            </a:r>
          </a:p>
        </p:txBody>
      </p:sp>
      <p:sp>
        <p:nvSpPr>
          <p:cNvPr id="10" name="AutoShape 43">
            <a:extLst>
              <a:ext uri="{FF2B5EF4-FFF2-40B4-BE49-F238E27FC236}">
                <a16:creationId xmlns:a16="http://schemas.microsoft.com/office/drawing/2014/main" id="{3B17A7A3-F245-4521-9F35-9FB61A6C3D02}"/>
              </a:ext>
            </a:extLst>
          </p:cNvPr>
          <p:cNvSpPr>
            <a:spLocks noChangeArrowheads="1"/>
          </p:cNvSpPr>
          <p:nvPr/>
        </p:nvSpPr>
        <p:spPr bwMode="auto">
          <a:xfrm>
            <a:off x="3590925" y="10345738"/>
            <a:ext cx="381000" cy="295275"/>
          </a:xfrm>
          <a:prstGeom prst="roundRect">
            <a:avLst>
              <a:gd name="adj" fmla="val 16667"/>
            </a:avLst>
          </a:prstGeom>
          <a:solidFill>
            <a:srgbClr val="F0587C"/>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11" name="Text Box 45">
            <a:extLst>
              <a:ext uri="{FF2B5EF4-FFF2-40B4-BE49-F238E27FC236}">
                <a16:creationId xmlns:a16="http://schemas.microsoft.com/office/drawing/2014/main" id="{59A8D5D7-E77E-4234-83F0-74EA3AA65BF9}"/>
              </a:ext>
            </a:extLst>
          </p:cNvPr>
          <p:cNvSpPr txBox="1">
            <a:spLocks noChangeArrowheads="1"/>
          </p:cNvSpPr>
          <p:nvPr/>
        </p:nvSpPr>
        <p:spPr bwMode="auto">
          <a:xfrm>
            <a:off x="3590925" y="10261600"/>
            <a:ext cx="381000" cy="4508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fld id="{AA3A2C3A-815D-4324-A52B-0D6E1281FA41}" type="slidenum">
              <a:rPr kumimoji="0" lang="en-IN" altLang="en-US" sz="1400" b="0" i="0" u="none" strike="noStrike" cap="none" normalizeH="0" baseline="0" smtClean="0">
                <a:ln>
                  <a:noFill/>
                </a:ln>
                <a:solidFill>
                  <a:srgbClr val="FFFFFF"/>
                </a:solidFill>
                <a:effectLst/>
                <a:latin typeface="Poppins" panose="00000500000000000000" pitchFamily="2" charset="0"/>
              </a:rPr>
              <a:pPr marL="0" marR="0" lvl="0" indent="0" algn="ctr" defTabSz="914400" rtl="0" eaLnBrk="0" fontAlgn="base" latinLnBrk="0" hangingPunct="0">
                <a:lnSpc>
                  <a:spcPct val="100000"/>
                </a:lnSpc>
                <a:spcBef>
                  <a:spcPct val="0"/>
                </a:spcBef>
                <a:spcAft>
                  <a:spcPct val="0"/>
                </a:spcAft>
                <a:buClrTx/>
                <a:buSzTx/>
                <a:buFontTx/>
                <a:buNone/>
                <a:tabLst/>
              </a:pPr>
              <a:t>16</a:t>
            </a:fld>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2" name="Text Box 46">
            <a:extLst>
              <a:ext uri="{FF2B5EF4-FFF2-40B4-BE49-F238E27FC236}">
                <a16:creationId xmlns:a16="http://schemas.microsoft.com/office/drawing/2014/main" id="{A564BA96-E2E8-4C70-8CA3-7FCF2734C370}"/>
              </a:ext>
            </a:extLst>
          </p:cNvPr>
          <p:cNvSpPr txBox="1">
            <a:spLocks noChangeArrowheads="1"/>
          </p:cNvSpPr>
          <p:nvPr/>
        </p:nvSpPr>
        <p:spPr bwMode="auto">
          <a:xfrm>
            <a:off x="0" y="10261600"/>
            <a:ext cx="3590925" cy="439738"/>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IN" altLang="en-US" sz="1000" b="0" i="0" u="none" strike="noStrike" cap="none" normalizeH="0" baseline="0">
                <a:ln>
                  <a:noFill/>
                </a:ln>
                <a:solidFill>
                  <a:srgbClr val="000000"/>
                </a:solidFill>
                <a:effectLst/>
                <a:latin typeface="Poppins" panose="00000500000000000000" pitchFamily="2" charset="0"/>
              </a:rPr>
              <a:t>VIDYAVANTAM — CBSE CLASS 7 HISTORY</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3" name="Text Box 47">
            <a:extLst>
              <a:ext uri="{FF2B5EF4-FFF2-40B4-BE49-F238E27FC236}">
                <a16:creationId xmlns:a16="http://schemas.microsoft.com/office/drawing/2014/main" id="{EE1566D0-8AB5-4B5B-A8DB-3B43D5ACBA18}"/>
              </a:ext>
            </a:extLst>
          </p:cNvPr>
          <p:cNvSpPr txBox="1">
            <a:spLocks noChangeArrowheads="1"/>
          </p:cNvSpPr>
          <p:nvPr/>
        </p:nvSpPr>
        <p:spPr bwMode="auto">
          <a:xfrm>
            <a:off x="3968273" y="10261600"/>
            <a:ext cx="3587750" cy="428625"/>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defTabSz="914400" eaLnBrk="0" fontAlgn="base" hangingPunct="0">
              <a:spcBef>
                <a:spcPct val="0"/>
              </a:spcBef>
              <a:spcAft>
                <a:spcPct val="0"/>
              </a:spcAft>
            </a:pPr>
            <a:r>
              <a:rPr lang="en-IN" sz="1000" dirty="0">
                <a:solidFill>
                  <a:srgbClr val="000000"/>
                </a:solidFill>
                <a:latin typeface="Poppins" panose="00000500000000000000" pitchFamily="2" charset="0"/>
              </a:rPr>
              <a:t>KARKOTA DYNASTY</a:t>
            </a:r>
          </a:p>
        </p:txBody>
      </p:sp>
      <p:sp>
        <p:nvSpPr>
          <p:cNvPr id="14" name="Rectangle 13">
            <a:extLst>
              <a:ext uri="{FF2B5EF4-FFF2-40B4-BE49-F238E27FC236}">
                <a16:creationId xmlns:a16="http://schemas.microsoft.com/office/drawing/2014/main" id="{402A7B6B-1A62-46E1-9B02-0A7588EECF45}"/>
              </a:ext>
            </a:extLst>
          </p:cNvPr>
          <p:cNvSpPr/>
          <p:nvPr/>
        </p:nvSpPr>
        <p:spPr>
          <a:xfrm>
            <a:off x="503238" y="1092201"/>
            <a:ext cx="6430962" cy="1754326"/>
          </a:xfrm>
          <a:prstGeom prst="rect">
            <a:avLst/>
          </a:prstGeom>
        </p:spPr>
        <p:txBody>
          <a:bodyPr wrap="square">
            <a:spAutoFit/>
          </a:bodyPr>
          <a:lstStyle/>
          <a:p>
            <a:pPr algn="just"/>
            <a:r>
              <a:rPr lang="en-IN" dirty="0">
                <a:latin typeface="Comic Sans MS" panose="030F0702030302020204" pitchFamily="66" charset="0"/>
              </a:rPr>
              <a:t>Chipattajayapida (Brihaspati) was the last ruler of Karkota Dynasty. Due to his young age, the real power was vested in the five brothers of Jayadevi (his mother) — Padma, Utpala, Kalyana, Mamma, and Dharma — who followed the orders of Jayadevi but yet engaged in an acute mismanagement of affairs.</a:t>
            </a:r>
          </a:p>
        </p:txBody>
      </p:sp>
      <p:sp>
        <p:nvSpPr>
          <p:cNvPr id="15" name="AutoShape 26">
            <a:extLst>
              <a:ext uri="{FF2B5EF4-FFF2-40B4-BE49-F238E27FC236}">
                <a16:creationId xmlns:a16="http://schemas.microsoft.com/office/drawing/2014/main" id="{9C7638D9-059A-4F15-BD69-696E0FD75167}"/>
              </a:ext>
            </a:extLst>
          </p:cNvPr>
          <p:cNvSpPr>
            <a:spLocks noChangeArrowheads="1"/>
          </p:cNvSpPr>
          <p:nvPr/>
        </p:nvSpPr>
        <p:spPr bwMode="auto">
          <a:xfrm>
            <a:off x="719933" y="3048829"/>
            <a:ext cx="2219325" cy="438150"/>
          </a:xfrm>
          <a:prstGeom prst="roundRect">
            <a:avLst>
              <a:gd name="adj" fmla="val 50000"/>
            </a:avLst>
          </a:prstGeom>
          <a:noFill/>
          <a:ln w="38100" algn="ctr">
            <a:solidFill>
              <a:srgbClr val="FFFFFF"/>
            </a:solidFill>
            <a:round/>
            <a:headEnd/>
            <a:tailEnd/>
          </a:ln>
          <a:effectLst/>
          <a:extLst>
            <a:ext uri="{909E8E84-426E-40DD-AFC4-6F175D3DCCD1}">
              <a14:hiddenFill xmlns:a14="http://schemas.microsoft.com/office/drawing/2010/main">
                <a:solidFill>
                  <a:srgbClr val="49C0C2"/>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16" name="Title 1">
            <a:extLst>
              <a:ext uri="{FF2B5EF4-FFF2-40B4-BE49-F238E27FC236}">
                <a16:creationId xmlns:a16="http://schemas.microsoft.com/office/drawing/2014/main" id="{565465A9-9C1E-43A7-BE05-08FF20E62F25}"/>
              </a:ext>
            </a:extLst>
          </p:cNvPr>
          <p:cNvSpPr txBox="1">
            <a:spLocks/>
          </p:cNvSpPr>
          <p:nvPr/>
        </p:nvSpPr>
        <p:spPr>
          <a:xfrm>
            <a:off x="1368983" y="3012317"/>
            <a:ext cx="1829914" cy="499110"/>
          </a:xfrm>
          <a:prstGeom prst="rect">
            <a:avLst/>
          </a:prstGeom>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r>
              <a:rPr lang="en-IN" sz="1500" b="1" dirty="0">
                <a:solidFill>
                  <a:schemeClr val="bg1"/>
                </a:solidFill>
                <a:latin typeface="Comic Sans MS" panose="030F0702030302020204" pitchFamily="66" charset="0"/>
              </a:rPr>
              <a:t>Introduction</a:t>
            </a:r>
            <a:endParaRPr lang="en-IN" sz="1500" b="1" dirty="0"/>
          </a:p>
        </p:txBody>
      </p:sp>
      <p:sp>
        <p:nvSpPr>
          <p:cNvPr id="17" name="AutoShape 28">
            <a:extLst>
              <a:ext uri="{FF2B5EF4-FFF2-40B4-BE49-F238E27FC236}">
                <a16:creationId xmlns:a16="http://schemas.microsoft.com/office/drawing/2014/main" id="{E00A6B30-5032-4D42-B871-25368E333328}"/>
              </a:ext>
            </a:extLst>
          </p:cNvPr>
          <p:cNvSpPr>
            <a:spLocks noChangeArrowheads="1"/>
          </p:cNvSpPr>
          <p:nvPr/>
        </p:nvSpPr>
        <p:spPr bwMode="auto">
          <a:xfrm>
            <a:off x="503238" y="3242245"/>
            <a:ext cx="6660357" cy="3450655"/>
          </a:xfrm>
          <a:prstGeom prst="roundRect">
            <a:avLst>
              <a:gd name="adj" fmla="val 8473"/>
            </a:avLst>
          </a:prstGeom>
          <a:solidFill>
            <a:schemeClr val="bg1"/>
          </a:solidFill>
          <a:ln w="38100" algn="ctr">
            <a:solidFill>
              <a:srgbClr val="49C0C2"/>
            </a:solidFill>
            <a:round/>
            <a:headEnd/>
            <a:tailEnd/>
          </a:ln>
          <a:effectLst/>
        </p:spPr>
        <p:txBody>
          <a:bodyPr vert="horz" wrap="square" lIns="36576" tIns="36576" rIns="36576" bIns="36576" numCol="1" anchor="t" anchorCtr="0" compatLnSpc="1">
            <a:prstTxWarp prst="textNoShape">
              <a:avLst/>
            </a:prstTxWarp>
          </a:bodyPr>
          <a:lstStyle/>
          <a:p>
            <a:endParaRPr lang="en-IN" dirty="0"/>
          </a:p>
        </p:txBody>
      </p:sp>
      <p:sp>
        <p:nvSpPr>
          <p:cNvPr id="18" name="AutoShape 29">
            <a:extLst>
              <a:ext uri="{FF2B5EF4-FFF2-40B4-BE49-F238E27FC236}">
                <a16:creationId xmlns:a16="http://schemas.microsoft.com/office/drawing/2014/main" id="{9047C655-5134-4ABB-84C8-70EB4316AFB2}"/>
              </a:ext>
            </a:extLst>
          </p:cNvPr>
          <p:cNvSpPr>
            <a:spLocks noChangeArrowheads="1"/>
          </p:cNvSpPr>
          <p:nvPr/>
        </p:nvSpPr>
        <p:spPr bwMode="auto">
          <a:xfrm>
            <a:off x="668975" y="2999219"/>
            <a:ext cx="4715826" cy="490538"/>
          </a:xfrm>
          <a:prstGeom prst="roundRect">
            <a:avLst>
              <a:gd name="adj" fmla="val 50000"/>
            </a:avLst>
          </a:prstGeom>
          <a:solidFill>
            <a:srgbClr val="49C0C2"/>
          </a:solidFill>
          <a:ln w="38100" algn="ctr">
            <a:solidFill>
              <a:srgbClr val="49C0C2"/>
            </a:solidFill>
            <a:round/>
            <a:headEnd/>
            <a:tailEnd/>
          </a:ln>
          <a:effectLst/>
        </p:spPr>
        <p:txBody>
          <a:bodyPr vert="horz" wrap="square" lIns="36576" tIns="36576" rIns="36576" bIns="36576" numCol="1" anchor="t" anchorCtr="0" compatLnSpc="1">
            <a:prstTxWarp prst="textNoShape">
              <a:avLst/>
            </a:prstTxWarp>
          </a:bodyPr>
          <a:lstStyle/>
          <a:p>
            <a:r>
              <a:rPr lang="en-IN" dirty="0"/>
              <a:t>	</a:t>
            </a:r>
          </a:p>
        </p:txBody>
      </p:sp>
      <p:sp>
        <p:nvSpPr>
          <p:cNvPr id="19" name="AutoShape 30">
            <a:extLst>
              <a:ext uri="{FF2B5EF4-FFF2-40B4-BE49-F238E27FC236}">
                <a16:creationId xmlns:a16="http://schemas.microsoft.com/office/drawing/2014/main" id="{619B7F20-05B2-4A37-8B98-E4B16B598AF1}"/>
              </a:ext>
            </a:extLst>
          </p:cNvPr>
          <p:cNvSpPr>
            <a:spLocks noChangeArrowheads="1"/>
          </p:cNvSpPr>
          <p:nvPr/>
        </p:nvSpPr>
        <p:spPr bwMode="auto">
          <a:xfrm>
            <a:off x="724694" y="3040494"/>
            <a:ext cx="4602956" cy="400050"/>
          </a:xfrm>
          <a:prstGeom prst="roundRect">
            <a:avLst>
              <a:gd name="adj" fmla="val 50000"/>
            </a:avLst>
          </a:prstGeom>
          <a:noFill/>
          <a:ln w="38100" algn="ctr">
            <a:solidFill>
              <a:srgbClr val="FFFFFF"/>
            </a:solidFill>
            <a:round/>
            <a:headEnd/>
            <a:tailEnd/>
          </a:ln>
          <a:effectLst/>
          <a:extLst>
            <a:ext uri="{909E8E84-426E-40DD-AFC4-6F175D3DCCD1}">
              <a14:hiddenFill xmlns:a14="http://schemas.microsoft.com/office/drawing/2010/main">
                <a:solidFill>
                  <a:srgbClr val="49C0C2"/>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21" name="Title 1">
            <a:extLst>
              <a:ext uri="{FF2B5EF4-FFF2-40B4-BE49-F238E27FC236}">
                <a16:creationId xmlns:a16="http://schemas.microsoft.com/office/drawing/2014/main" id="{7ACD705D-FFB8-4516-9A4D-3654BDB8B12A}"/>
              </a:ext>
            </a:extLst>
          </p:cNvPr>
          <p:cNvSpPr txBox="1">
            <a:spLocks/>
          </p:cNvSpPr>
          <p:nvPr/>
        </p:nvSpPr>
        <p:spPr>
          <a:xfrm>
            <a:off x="719933" y="2982074"/>
            <a:ext cx="4602956" cy="526891"/>
          </a:xfrm>
          <a:prstGeom prst="rect">
            <a:avLst/>
          </a:prstGeom>
          <a:effectLst/>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r>
              <a:rPr lang="en-IN" sz="1500" b="1" dirty="0">
                <a:solidFill>
                  <a:schemeClr val="bg1"/>
                </a:solidFill>
                <a:latin typeface="Comic Sans MS" panose="030F0702030302020204" pitchFamily="66" charset="0"/>
              </a:rPr>
              <a:t>Declination of Karkota Dynasty</a:t>
            </a:r>
            <a:endParaRPr lang="en-IN" sz="1500" b="1" dirty="0"/>
          </a:p>
        </p:txBody>
      </p:sp>
      <p:sp>
        <p:nvSpPr>
          <p:cNvPr id="23" name="Rectangle 22">
            <a:extLst>
              <a:ext uri="{FF2B5EF4-FFF2-40B4-BE49-F238E27FC236}">
                <a16:creationId xmlns:a16="http://schemas.microsoft.com/office/drawing/2014/main" id="{51C1762D-6AA0-4DEE-BC72-00C39F6988F2}"/>
              </a:ext>
            </a:extLst>
          </p:cNvPr>
          <p:cNvSpPr/>
          <p:nvPr/>
        </p:nvSpPr>
        <p:spPr>
          <a:xfrm>
            <a:off x="668974" y="3666330"/>
            <a:ext cx="6265226" cy="2862322"/>
          </a:xfrm>
          <a:prstGeom prst="rect">
            <a:avLst/>
          </a:prstGeom>
        </p:spPr>
        <p:txBody>
          <a:bodyPr wrap="square">
            <a:spAutoFit/>
          </a:bodyPr>
          <a:lstStyle/>
          <a:p>
            <a:pPr algn="just"/>
            <a:r>
              <a:rPr lang="en-IN" dirty="0">
                <a:latin typeface="Comic Sans MS" panose="030F0702030302020204" pitchFamily="66" charset="0"/>
              </a:rPr>
              <a:t>Chipattajayapida was murdered in 850 C.E. after ruling for about 12 years. Thereon all the five brothers of Jayadevi installed puppet rulers who ruled for short spans of time before being deposed and replaced by another puppet ruler. Utpala's son Sukhavarmana sought to take the throne for himself but was killed by one of the brothers. Finally, Sukhavarmana son Avantivarmana took the throne and established the Utpala dynasty (started in 855 AD) which was one of the major dynasty of Kashmir.</a:t>
            </a:r>
          </a:p>
        </p:txBody>
      </p:sp>
    </p:spTree>
    <p:extLst>
      <p:ext uri="{BB962C8B-B14F-4D97-AF65-F5344CB8AC3E}">
        <p14:creationId xmlns:p14="http://schemas.microsoft.com/office/powerpoint/2010/main" val="42561414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3">
            <a:extLst>
              <a:ext uri="{FF2B5EF4-FFF2-40B4-BE49-F238E27FC236}">
                <a16:creationId xmlns:a16="http://schemas.microsoft.com/office/drawing/2014/main" id="{FE304190-91EB-456D-A07D-E5D1FD2EF4DE}"/>
              </a:ext>
            </a:extLst>
          </p:cNvPr>
          <p:cNvSpPr>
            <a:spLocks noChangeArrowheads="1"/>
          </p:cNvSpPr>
          <p:nvPr/>
        </p:nvSpPr>
        <p:spPr bwMode="auto">
          <a:xfrm>
            <a:off x="3590925" y="10345738"/>
            <a:ext cx="381000" cy="295275"/>
          </a:xfrm>
          <a:prstGeom prst="roundRect">
            <a:avLst>
              <a:gd name="adj" fmla="val 16667"/>
            </a:avLst>
          </a:prstGeom>
          <a:solidFill>
            <a:srgbClr val="F0587C"/>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5" name="Text Box 45">
            <a:extLst>
              <a:ext uri="{FF2B5EF4-FFF2-40B4-BE49-F238E27FC236}">
                <a16:creationId xmlns:a16="http://schemas.microsoft.com/office/drawing/2014/main" id="{F251063E-A3F7-4C68-9449-751931FD2661}"/>
              </a:ext>
            </a:extLst>
          </p:cNvPr>
          <p:cNvSpPr txBox="1">
            <a:spLocks noChangeArrowheads="1"/>
          </p:cNvSpPr>
          <p:nvPr/>
        </p:nvSpPr>
        <p:spPr bwMode="auto">
          <a:xfrm>
            <a:off x="3590925" y="10261600"/>
            <a:ext cx="381000" cy="4508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fld id="{AA3A2C3A-815D-4324-A52B-0D6E1281FA41}" type="slidenum">
              <a:rPr kumimoji="0" lang="en-IN" altLang="en-US" sz="1400" b="0" i="0" u="none" strike="noStrike" cap="none" normalizeH="0" baseline="0" smtClean="0">
                <a:ln>
                  <a:noFill/>
                </a:ln>
                <a:solidFill>
                  <a:srgbClr val="FFFFFF"/>
                </a:solidFill>
                <a:effectLst/>
                <a:latin typeface="Poppins" panose="00000500000000000000" pitchFamily="2" charset="0"/>
              </a:rPr>
              <a:pPr marL="0" marR="0" lvl="0" indent="0" algn="ctr" defTabSz="914400" rtl="0" eaLnBrk="0" fontAlgn="base" latinLnBrk="0" hangingPunct="0">
                <a:lnSpc>
                  <a:spcPct val="100000"/>
                </a:lnSpc>
                <a:spcBef>
                  <a:spcPct val="0"/>
                </a:spcBef>
                <a:spcAft>
                  <a:spcPct val="0"/>
                </a:spcAft>
                <a:buClrTx/>
                <a:buSzTx/>
                <a:buFontTx/>
                <a:buNone/>
                <a:tabLst/>
              </a:pPr>
              <a:t>17</a:t>
            </a:fld>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Text Box 46">
            <a:extLst>
              <a:ext uri="{FF2B5EF4-FFF2-40B4-BE49-F238E27FC236}">
                <a16:creationId xmlns:a16="http://schemas.microsoft.com/office/drawing/2014/main" id="{0BEE2C8D-2915-4CC2-AA64-C8DA384D2ED3}"/>
              </a:ext>
            </a:extLst>
          </p:cNvPr>
          <p:cNvSpPr txBox="1">
            <a:spLocks noChangeArrowheads="1"/>
          </p:cNvSpPr>
          <p:nvPr/>
        </p:nvSpPr>
        <p:spPr bwMode="auto">
          <a:xfrm>
            <a:off x="0" y="10261600"/>
            <a:ext cx="3590925" cy="439738"/>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IN" altLang="en-US" sz="1000" b="0" i="0" u="none" strike="noStrike" cap="none" normalizeH="0" baseline="0">
                <a:ln>
                  <a:noFill/>
                </a:ln>
                <a:solidFill>
                  <a:srgbClr val="000000"/>
                </a:solidFill>
                <a:effectLst/>
                <a:latin typeface="Poppins" panose="00000500000000000000" pitchFamily="2" charset="0"/>
              </a:rPr>
              <a:t>VIDYAVANTAM — CBSE CLASS 7 HISTORY</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Text Box 47">
            <a:extLst>
              <a:ext uri="{FF2B5EF4-FFF2-40B4-BE49-F238E27FC236}">
                <a16:creationId xmlns:a16="http://schemas.microsoft.com/office/drawing/2014/main" id="{021CF4E5-DE8C-4D41-B3DF-B244EF14E57E}"/>
              </a:ext>
            </a:extLst>
          </p:cNvPr>
          <p:cNvSpPr txBox="1">
            <a:spLocks noChangeArrowheads="1"/>
          </p:cNvSpPr>
          <p:nvPr/>
        </p:nvSpPr>
        <p:spPr bwMode="auto">
          <a:xfrm>
            <a:off x="3968273" y="10261600"/>
            <a:ext cx="3587750" cy="428625"/>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defTabSz="914400" eaLnBrk="0" fontAlgn="base" hangingPunct="0">
              <a:spcBef>
                <a:spcPct val="0"/>
              </a:spcBef>
              <a:spcAft>
                <a:spcPct val="0"/>
              </a:spcAft>
            </a:pPr>
            <a:r>
              <a:rPr lang="en-IN" sz="1000" dirty="0">
                <a:solidFill>
                  <a:srgbClr val="000000"/>
                </a:solidFill>
                <a:latin typeface="Poppins" panose="00000500000000000000" pitchFamily="2" charset="0"/>
              </a:rPr>
              <a:t>TRACING CHANGES THROUGH A THOUSAND YEARS </a:t>
            </a:r>
          </a:p>
        </p:txBody>
      </p:sp>
      <p:sp>
        <p:nvSpPr>
          <p:cNvPr id="8" name="Rectangle 32">
            <a:extLst>
              <a:ext uri="{FF2B5EF4-FFF2-40B4-BE49-F238E27FC236}">
                <a16:creationId xmlns:a16="http://schemas.microsoft.com/office/drawing/2014/main" id="{B5453567-BC1B-4DA7-AFCE-09F1865E09B8}"/>
              </a:ext>
            </a:extLst>
          </p:cNvPr>
          <p:cNvSpPr>
            <a:spLocks noChangeArrowheads="1"/>
          </p:cNvSpPr>
          <p:nvPr/>
        </p:nvSpPr>
        <p:spPr bwMode="auto">
          <a:xfrm>
            <a:off x="-3652" y="-20797"/>
            <a:ext cx="7559675" cy="2338582"/>
          </a:xfrm>
          <a:prstGeom prst="rect">
            <a:avLst/>
          </a:prstGeom>
          <a:solidFill>
            <a:srgbClr val="27B9C0"/>
          </a:solidFill>
          <a:ln>
            <a:noFill/>
          </a:ln>
          <a:effectLst/>
          <a:extLs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9" name="Title 1">
            <a:extLst>
              <a:ext uri="{FF2B5EF4-FFF2-40B4-BE49-F238E27FC236}">
                <a16:creationId xmlns:a16="http://schemas.microsoft.com/office/drawing/2014/main" id="{0141872F-B550-4427-B9FE-B0B720B313A7}"/>
              </a:ext>
            </a:extLst>
          </p:cNvPr>
          <p:cNvSpPr txBox="1">
            <a:spLocks/>
          </p:cNvSpPr>
          <p:nvPr/>
        </p:nvSpPr>
        <p:spPr>
          <a:xfrm>
            <a:off x="484710" y="739298"/>
            <a:ext cx="699996" cy="702628"/>
          </a:xfrm>
          <a:prstGeom prst="ellipse">
            <a:avLst/>
          </a:prstGeom>
          <a:solidFill>
            <a:schemeClr val="bg1"/>
          </a:solidFill>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r>
              <a:rPr lang="en-IN" sz="3200" b="1" dirty="0">
                <a:solidFill>
                  <a:srgbClr val="49C0C2"/>
                </a:solidFill>
                <a:latin typeface="Comic Sans MS" panose="030F0702030302020204" pitchFamily="66" charset="0"/>
              </a:rPr>
              <a:t>4</a:t>
            </a:r>
            <a:endParaRPr lang="en-IN" sz="3200" b="1" dirty="0">
              <a:solidFill>
                <a:srgbClr val="49C0C2"/>
              </a:solidFill>
            </a:endParaRPr>
          </a:p>
        </p:txBody>
      </p:sp>
      <p:sp>
        <p:nvSpPr>
          <p:cNvPr id="10" name="Title 1">
            <a:extLst>
              <a:ext uri="{FF2B5EF4-FFF2-40B4-BE49-F238E27FC236}">
                <a16:creationId xmlns:a16="http://schemas.microsoft.com/office/drawing/2014/main" id="{D31165E5-1B0E-45B4-BC3D-1A571569126C}"/>
              </a:ext>
            </a:extLst>
          </p:cNvPr>
          <p:cNvSpPr txBox="1">
            <a:spLocks/>
          </p:cNvSpPr>
          <p:nvPr/>
        </p:nvSpPr>
        <p:spPr>
          <a:xfrm>
            <a:off x="1380809" y="-20797"/>
            <a:ext cx="6175214" cy="2345330"/>
          </a:xfrm>
          <a:prstGeom prst="rect">
            <a:avLst/>
          </a:prstGeom>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pPr algn="l"/>
            <a:r>
              <a:rPr lang="en-IN" sz="3600" b="1" dirty="0">
                <a:ln w="12700">
                  <a:solidFill>
                    <a:schemeClr val="tx1"/>
                  </a:solidFill>
                </a:ln>
                <a:solidFill>
                  <a:schemeClr val="bg1"/>
                </a:solidFill>
                <a:latin typeface="Comic Sans MS" panose="030F0702030302020204" pitchFamily="66" charset="0"/>
              </a:rPr>
              <a:t>Chalukya and Pallava Dynasty</a:t>
            </a:r>
          </a:p>
        </p:txBody>
      </p:sp>
    </p:spTree>
    <p:extLst>
      <p:ext uri="{BB962C8B-B14F-4D97-AF65-F5344CB8AC3E}">
        <p14:creationId xmlns:p14="http://schemas.microsoft.com/office/powerpoint/2010/main" val="1369366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3">
            <a:extLst>
              <a:ext uri="{FF2B5EF4-FFF2-40B4-BE49-F238E27FC236}">
                <a16:creationId xmlns:a16="http://schemas.microsoft.com/office/drawing/2014/main" id="{F7B2D302-D83F-4108-952B-BD4B7921E8F4}"/>
              </a:ext>
            </a:extLst>
          </p:cNvPr>
          <p:cNvSpPr>
            <a:spLocks noChangeArrowheads="1"/>
          </p:cNvSpPr>
          <p:nvPr/>
        </p:nvSpPr>
        <p:spPr bwMode="auto">
          <a:xfrm>
            <a:off x="3590925" y="10345738"/>
            <a:ext cx="381000" cy="295275"/>
          </a:xfrm>
          <a:prstGeom prst="roundRect">
            <a:avLst>
              <a:gd name="adj" fmla="val 16667"/>
            </a:avLst>
          </a:prstGeom>
          <a:solidFill>
            <a:srgbClr val="F0587C"/>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5" name="Text Box 45">
            <a:extLst>
              <a:ext uri="{FF2B5EF4-FFF2-40B4-BE49-F238E27FC236}">
                <a16:creationId xmlns:a16="http://schemas.microsoft.com/office/drawing/2014/main" id="{FC8F3772-5882-4D2F-AA9D-9E4BE145FEF6}"/>
              </a:ext>
            </a:extLst>
          </p:cNvPr>
          <p:cNvSpPr txBox="1">
            <a:spLocks noChangeArrowheads="1"/>
          </p:cNvSpPr>
          <p:nvPr/>
        </p:nvSpPr>
        <p:spPr bwMode="auto">
          <a:xfrm>
            <a:off x="3590925" y="10261600"/>
            <a:ext cx="381000" cy="4508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fld id="{AA3A2C3A-815D-4324-A52B-0D6E1281FA41}" type="slidenum">
              <a:rPr kumimoji="0" lang="en-IN" altLang="en-US" sz="1400" b="0" i="0" u="none" strike="noStrike" cap="none" normalizeH="0" baseline="0" smtClean="0">
                <a:ln>
                  <a:noFill/>
                </a:ln>
                <a:solidFill>
                  <a:srgbClr val="FFFFFF"/>
                </a:solidFill>
                <a:effectLst/>
                <a:latin typeface="Poppins" panose="00000500000000000000" pitchFamily="2" charset="0"/>
              </a:rPr>
              <a:pPr marL="0" marR="0" lvl="0" indent="0" algn="ctr" defTabSz="914400" rtl="0" eaLnBrk="0" fontAlgn="base" latinLnBrk="0" hangingPunct="0">
                <a:lnSpc>
                  <a:spcPct val="100000"/>
                </a:lnSpc>
                <a:spcBef>
                  <a:spcPct val="0"/>
                </a:spcBef>
                <a:spcAft>
                  <a:spcPct val="0"/>
                </a:spcAft>
                <a:buClrTx/>
                <a:buSzTx/>
                <a:buFontTx/>
                <a:buNone/>
                <a:tabLst/>
              </a:pPr>
              <a:t>18</a:t>
            </a:fld>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Text Box 46">
            <a:extLst>
              <a:ext uri="{FF2B5EF4-FFF2-40B4-BE49-F238E27FC236}">
                <a16:creationId xmlns:a16="http://schemas.microsoft.com/office/drawing/2014/main" id="{CDAA0116-3158-443C-88C6-017957A4128C}"/>
              </a:ext>
            </a:extLst>
          </p:cNvPr>
          <p:cNvSpPr txBox="1">
            <a:spLocks noChangeArrowheads="1"/>
          </p:cNvSpPr>
          <p:nvPr/>
        </p:nvSpPr>
        <p:spPr bwMode="auto">
          <a:xfrm>
            <a:off x="0" y="10261600"/>
            <a:ext cx="3590925" cy="439738"/>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IN" altLang="en-US" sz="1000" b="0" i="0" u="none" strike="noStrike" cap="none" normalizeH="0" baseline="0">
                <a:ln>
                  <a:noFill/>
                </a:ln>
                <a:solidFill>
                  <a:srgbClr val="000000"/>
                </a:solidFill>
                <a:effectLst/>
                <a:latin typeface="Poppins" panose="00000500000000000000" pitchFamily="2" charset="0"/>
              </a:rPr>
              <a:t>VIDYAVANTAM — CBSE CLASS 7 HISTORY</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Text Box 47">
            <a:extLst>
              <a:ext uri="{FF2B5EF4-FFF2-40B4-BE49-F238E27FC236}">
                <a16:creationId xmlns:a16="http://schemas.microsoft.com/office/drawing/2014/main" id="{FEA1F004-CC1A-4D64-9595-B6E59C20E1A5}"/>
              </a:ext>
            </a:extLst>
          </p:cNvPr>
          <p:cNvSpPr txBox="1">
            <a:spLocks noChangeArrowheads="1"/>
          </p:cNvSpPr>
          <p:nvPr/>
        </p:nvSpPr>
        <p:spPr bwMode="auto">
          <a:xfrm>
            <a:off x="3968273" y="10261600"/>
            <a:ext cx="3587750" cy="428625"/>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defTabSz="914400" eaLnBrk="0" fontAlgn="base" hangingPunct="0">
              <a:spcBef>
                <a:spcPct val="0"/>
              </a:spcBef>
              <a:spcAft>
                <a:spcPct val="0"/>
              </a:spcAft>
            </a:pPr>
            <a:r>
              <a:rPr lang="en-IN" sz="1000" dirty="0">
                <a:solidFill>
                  <a:srgbClr val="000000"/>
                </a:solidFill>
                <a:latin typeface="Poppins" panose="00000500000000000000" pitchFamily="2" charset="0"/>
              </a:rPr>
              <a:t>TRACING CHANGES THROUGH A THOUSAND YEARS </a:t>
            </a:r>
          </a:p>
        </p:txBody>
      </p:sp>
      <p:sp>
        <p:nvSpPr>
          <p:cNvPr id="8" name="Rectangle 32">
            <a:extLst>
              <a:ext uri="{FF2B5EF4-FFF2-40B4-BE49-F238E27FC236}">
                <a16:creationId xmlns:a16="http://schemas.microsoft.com/office/drawing/2014/main" id="{2F021E18-41F1-49FC-8238-97E5F24148A3}"/>
              </a:ext>
            </a:extLst>
          </p:cNvPr>
          <p:cNvSpPr>
            <a:spLocks noChangeArrowheads="1"/>
          </p:cNvSpPr>
          <p:nvPr/>
        </p:nvSpPr>
        <p:spPr bwMode="auto">
          <a:xfrm>
            <a:off x="-3652" y="-20797"/>
            <a:ext cx="7559675" cy="2338582"/>
          </a:xfrm>
          <a:prstGeom prst="rect">
            <a:avLst/>
          </a:prstGeom>
          <a:solidFill>
            <a:srgbClr val="27B9C0"/>
          </a:solidFill>
          <a:ln>
            <a:noFill/>
          </a:ln>
          <a:effectLst/>
          <a:extLs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9" name="Title 1">
            <a:extLst>
              <a:ext uri="{FF2B5EF4-FFF2-40B4-BE49-F238E27FC236}">
                <a16:creationId xmlns:a16="http://schemas.microsoft.com/office/drawing/2014/main" id="{0541BFFA-685F-4F82-BD0D-A50676A8C3BF}"/>
              </a:ext>
            </a:extLst>
          </p:cNvPr>
          <p:cNvSpPr txBox="1">
            <a:spLocks/>
          </p:cNvSpPr>
          <p:nvPr/>
        </p:nvSpPr>
        <p:spPr>
          <a:xfrm>
            <a:off x="484710" y="739298"/>
            <a:ext cx="699996" cy="702628"/>
          </a:xfrm>
          <a:prstGeom prst="ellipse">
            <a:avLst/>
          </a:prstGeom>
          <a:solidFill>
            <a:schemeClr val="bg1"/>
          </a:solidFill>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r>
              <a:rPr lang="en-IN" sz="3200" b="1" dirty="0">
                <a:solidFill>
                  <a:srgbClr val="49C0C2"/>
                </a:solidFill>
                <a:latin typeface="Comic Sans MS" panose="030F0702030302020204" pitchFamily="66" charset="0"/>
              </a:rPr>
              <a:t>5</a:t>
            </a:r>
            <a:endParaRPr lang="en-IN" sz="3200" b="1" dirty="0">
              <a:solidFill>
                <a:srgbClr val="49C0C2"/>
              </a:solidFill>
            </a:endParaRPr>
          </a:p>
        </p:txBody>
      </p:sp>
      <p:sp>
        <p:nvSpPr>
          <p:cNvPr id="10" name="Title 1">
            <a:extLst>
              <a:ext uri="{FF2B5EF4-FFF2-40B4-BE49-F238E27FC236}">
                <a16:creationId xmlns:a16="http://schemas.microsoft.com/office/drawing/2014/main" id="{813F4688-FCF4-4F52-82EA-8F5AC2DF02ED}"/>
              </a:ext>
            </a:extLst>
          </p:cNvPr>
          <p:cNvSpPr txBox="1">
            <a:spLocks/>
          </p:cNvSpPr>
          <p:nvPr/>
        </p:nvSpPr>
        <p:spPr>
          <a:xfrm>
            <a:off x="1380809" y="-20797"/>
            <a:ext cx="6175214" cy="2345330"/>
          </a:xfrm>
          <a:prstGeom prst="rect">
            <a:avLst/>
          </a:prstGeom>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pPr algn="l"/>
            <a:r>
              <a:rPr lang="en-IN" sz="3600" b="1" dirty="0">
                <a:ln w="12700">
                  <a:solidFill>
                    <a:schemeClr val="tx1"/>
                  </a:solidFill>
                </a:ln>
                <a:solidFill>
                  <a:schemeClr val="bg1"/>
                </a:solidFill>
                <a:latin typeface="Comic Sans MS" panose="030F0702030302020204" pitchFamily="66" charset="0"/>
              </a:rPr>
              <a:t>Chola Dynasty</a:t>
            </a:r>
          </a:p>
        </p:txBody>
      </p:sp>
    </p:spTree>
    <p:extLst>
      <p:ext uri="{BB962C8B-B14F-4D97-AF65-F5344CB8AC3E}">
        <p14:creationId xmlns:p14="http://schemas.microsoft.com/office/powerpoint/2010/main" val="7482891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3">
            <a:extLst>
              <a:ext uri="{FF2B5EF4-FFF2-40B4-BE49-F238E27FC236}">
                <a16:creationId xmlns:a16="http://schemas.microsoft.com/office/drawing/2014/main" id="{4C8F2CC7-D430-4EEA-89EE-AEA10DE0D179}"/>
              </a:ext>
            </a:extLst>
          </p:cNvPr>
          <p:cNvSpPr>
            <a:spLocks noChangeArrowheads="1"/>
          </p:cNvSpPr>
          <p:nvPr/>
        </p:nvSpPr>
        <p:spPr bwMode="auto">
          <a:xfrm>
            <a:off x="3590925" y="10345738"/>
            <a:ext cx="381000" cy="295275"/>
          </a:xfrm>
          <a:prstGeom prst="roundRect">
            <a:avLst>
              <a:gd name="adj" fmla="val 16667"/>
            </a:avLst>
          </a:prstGeom>
          <a:solidFill>
            <a:srgbClr val="F0587C"/>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5" name="Text Box 45">
            <a:extLst>
              <a:ext uri="{FF2B5EF4-FFF2-40B4-BE49-F238E27FC236}">
                <a16:creationId xmlns:a16="http://schemas.microsoft.com/office/drawing/2014/main" id="{C06CCA3C-5712-487C-8FDC-945B208A786C}"/>
              </a:ext>
            </a:extLst>
          </p:cNvPr>
          <p:cNvSpPr txBox="1">
            <a:spLocks noChangeArrowheads="1"/>
          </p:cNvSpPr>
          <p:nvPr/>
        </p:nvSpPr>
        <p:spPr bwMode="auto">
          <a:xfrm>
            <a:off x="3590925" y="10261600"/>
            <a:ext cx="381000" cy="4508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fld id="{AA3A2C3A-815D-4324-A52B-0D6E1281FA41}" type="slidenum">
              <a:rPr kumimoji="0" lang="en-IN" altLang="en-US" sz="1400" b="0" i="0" u="none" strike="noStrike" cap="none" normalizeH="0" baseline="0" smtClean="0">
                <a:ln>
                  <a:noFill/>
                </a:ln>
                <a:solidFill>
                  <a:srgbClr val="FFFFFF"/>
                </a:solidFill>
                <a:effectLst/>
                <a:latin typeface="Poppins" panose="00000500000000000000" pitchFamily="2" charset="0"/>
              </a:rPr>
              <a:pPr marL="0" marR="0" lvl="0" indent="0" algn="ctr" defTabSz="914400" rtl="0" eaLnBrk="0" fontAlgn="base" latinLnBrk="0" hangingPunct="0">
                <a:lnSpc>
                  <a:spcPct val="100000"/>
                </a:lnSpc>
                <a:spcBef>
                  <a:spcPct val="0"/>
                </a:spcBef>
                <a:spcAft>
                  <a:spcPct val="0"/>
                </a:spcAft>
                <a:buClrTx/>
                <a:buSzTx/>
                <a:buFontTx/>
                <a:buNone/>
                <a:tabLst/>
              </a:pPr>
              <a:t>19</a:t>
            </a:fld>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Text Box 46">
            <a:extLst>
              <a:ext uri="{FF2B5EF4-FFF2-40B4-BE49-F238E27FC236}">
                <a16:creationId xmlns:a16="http://schemas.microsoft.com/office/drawing/2014/main" id="{2CAF35EE-08C4-4A90-9CFE-DB15910D00C5}"/>
              </a:ext>
            </a:extLst>
          </p:cNvPr>
          <p:cNvSpPr txBox="1">
            <a:spLocks noChangeArrowheads="1"/>
          </p:cNvSpPr>
          <p:nvPr/>
        </p:nvSpPr>
        <p:spPr bwMode="auto">
          <a:xfrm>
            <a:off x="0" y="10261600"/>
            <a:ext cx="3590925" cy="439738"/>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IN" altLang="en-US" sz="1000" b="0" i="0" u="none" strike="noStrike" cap="none" normalizeH="0" baseline="0">
                <a:ln>
                  <a:noFill/>
                </a:ln>
                <a:solidFill>
                  <a:srgbClr val="000000"/>
                </a:solidFill>
                <a:effectLst/>
                <a:latin typeface="Poppins" panose="00000500000000000000" pitchFamily="2" charset="0"/>
              </a:rPr>
              <a:t>VIDYAVANTAM — CBSE CLASS 7 HISTORY</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Text Box 47">
            <a:extLst>
              <a:ext uri="{FF2B5EF4-FFF2-40B4-BE49-F238E27FC236}">
                <a16:creationId xmlns:a16="http://schemas.microsoft.com/office/drawing/2014/main" id="{FE4765E4-5E42-482B-AE63-FA1D23B56E8C}"/>
              </a:ext>
            </a:extLst>
          </p:cNvPr>
          <p:cNvSpPr txBox="1">
            <a:spLocks noChangeArrowheads="1"/>
          </p:cNvSpPr>
          <p:nvPr/>
        </p:nvSpPr>
        <p:spPr bwMode="auto">
          <a:xfrm>
            <a:off x="3968273" y="10261600"/>
            <a:ext cx="3587750" cy="428625"/>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defTabSz="914400" eaLnBrk="0" fontAlgn="base" hangingPunct="0">
              <a:spcBef>
                <a:spcPct val="0"/>
              </a:spcBef>
              <a:spcAft>
                <a:spcPct val="0"/>
              </a:spcAft>
            </a:pPr>
            <a:r>
              <a:rPr lang="en-IN" sz="1000" dirty="0">
                <a:solidFill>
                  <a:srgbClr val="000000"/>
                </a:solidFill>
                <a:latin typeface="Poppins" panose="00000500000000000000" pitchFamily="2" charset="0"/>
              </a:rPr>
              <a:t>TRACING CHANGES THROUGH A THOUSAND YEARS </a:t>
            </a:r>
          </a:p>
        </p:txBody>
      </p:sp>
      <p:sp>
        <p:nvSpPr>
          <p:cNvPr id="8" name="Rectangle 32">
            <a:extLst>
              <a:ext uri="{FF2B5EF4-FFF2-40B4-BE49-F238E27FC236}">
                <a16:creationId xmlns:a16="http://schemas.microsoft.com/office/drawing/2014/main" id="{5109B955-F204-49FE-84BA-0434F5C6D5B5}"/>
              </a:ext>
            </a:extLst>
          </p:cNvPr>
          <p:cNvSpPr>
            <a:spLocks noChangeArrowheads="1"/>
          </p:cNvSpPr>
          <p:nvPr/>
        </p:nvSpPr>
        <p:spPr bwMode="auto">
          <a:xfrm>
            <a:off x="-3652" y="-20797"/>
            <a:ext cx="7559675" cy="2338582"/>
          </a:xfrm>
          <a:prstGeom prst="rect">
            <a:avLst/>
          </a:prstGeom>
          <a:solidFill>
            <a:srgbClr val="27B9C0"/>
          </a:solidFill>
          <a:ln>
            <a:noFill/>
          </a:ln>
          <a:effectLst/>
          <a:extLs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9" name="Title 1">
            <a:extLst>
              <a:ext uri="{FF2B5EF4-FFF2-40B4-BE49-F238E27FC236}">
                <a16:creationId xmlns:a16="http://schemas.microsoft.com/office/drawing/2014/main" id="{3566EFDC-5151-4A41-8DB0-3ED68A4EFECB}"/>
              </a:ext>
            </a:extLst>
          </p:cNvPr>
          <p:cNvSpPr txBox="1">
            <a:spLocks/>
          </p:cNvSpPr>
          <p:nvPr/>
        </p:nvSpPr>
        <p:spPr>
          <a:xfrm>
            <a:off x="484710" y="739298"/>
            <a:ext cx="699996" cy="702628"/>
          </a:xfrm>
          <a:prstGeom prst="ellipse">
            <a:avLst/>
          </a:prstGeom>
          <a:solidFill>
            <a:schemeClr val="bg1"/>
          </a:solidFill>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r>
              <a:rPr lang="en-IN" sz="3200" b="1" dirty="0">
                <a:solidFill>
                  <a:srgbClr val="49C0C2"/>
                </a:solidFill>
                <a:latin typeface="Comic Sans MS" panose="030F0702030302020204" pitchFamily="66" charset="0"/>
              </a:rPr>
              <a:t>6</a:t>
            </a:r>
            <a:endParaRPr lang="en-IN" sz="3200" b="1" dirty="0">
              <a:solidFill>
                <a:srgbClr val="49C0C2"/>
              </a:solidFill>
            </a:endParaRPr>
          </a:p>
        </p:txBody>
      </p:sp>
      <p:sp>
        <p:nvSpPr>
          <p:cNvPr id="10" name="Title 1">
            <a:extLst>
              <a:ext uri="{FF2B5EF4-FFF2-40B4-BE49-F238E27FC236}">
                <a16:creationId xmlns:a16="http://schemas.microsoft.com/office/drawing/2014/main" id="{7824356B-07FA-40EB-BAE9-C34FE4F3CD34}"/>
              </a:ext>
            </a:extLst>
          </p:cNvPr>
          <p:cNvSpPr txBox="1">
            <a:spLocks/>
          </p:cNvSpPr>
          <p:nvPr/>
        </p:nvSpPr>
        <p:spPr>
          <a:xfrm>
            <a:off x="1380809" y="-20797"/>
            <a:ext cx="6175214" cy="2345330"/>
          </a:xfrm>
          <a:prstGeom prst="rect">
            <a:avLst/>
          </a:prstGeom>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pPr algn="l"/>
            <a:r>
              <a:rPr lang="en-IN" sz="3600" b="1" dirty="0">
                <a:ln w="12700">
                  <a:solidFill>
                    <a:schemeClr val="tx1"/>
                  </a:solidFill>
                </a:ln>
                <a:solidFill>
                  <a:schemeClr val="bg1"/>
                </a:solidFill>
                <a:latin typeface="Comic Sans MS" panose="030F0702030302020204" pitchFamily="66" charset="0"/>
              </a:rPr>
              <a:t>Ganges Dynasty</a:t>
            </a:r>
          </a:p>
        </p:txBody>
      </p:sp>
    </p:spTree>
    <p:extLst>
      <p:ext uri="{BB962C8B-B14F-4D97-AF65-F5344CB8AC3E}">
        <p14:creationId xmlns:p14="http://schemas.microsoft.com/office/powerpoint/2010/main" val="16268855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2">
            <a:extLst>
              <a:ext uri="{FF2B5EF4-FFF2-40B4-BE49-F238E27FC236}">
                <a16:creationId xmlns:a16="http://schemas.microsoft.com/office/drawing/2014/main" id="{74936674-135A-45CF-8450-62F80E633B48}"/>
              </a:ext>
            </a:extLst>
          </p:cNvPr>
          <p:cNvSpPr>
            <a:spLocks noChangeArrowheads="1"/>
          </p:cNvSpPr>
          <p:nvPr/>
        </p:nvSpPr>
        <p:spPr bwMode="auto">
          <a:xfrm>
            <a:off x="-3652" y="-20797"/>
            <a:ext cx="7559675" cy="2338582"/>
          </a:xfrm>
          <a:prstGeom prst="rect">
            <a:avLst/>
          </a:prstGeom>
          <a:solidFill>
            <a:srgbClr val="27B9C0"/>
          </a:solidFill>
          <a:ln>
            <a:noFill/>
          </a:ln>
          <a:effectLst/>
          <a:extLs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5" name="Title 1">
            <a:extLst>
              <a:ext uri="{FF2B5EF4-FFF2-40B4-BE49-F238E27FC236}">
                <a16:creationId xmlns:a16="http://schemas.microsoft.com/office/drawing/2014/main" id="{E78BF9CB-4629-4938-AE12-961877B8E769}"/>
              </a:ext>
            </a:extLst>
          </p:cNvPr>
          <p:cNvSpPr txBox="1">
            <a:spLocks/>
          </p:cNvSpPr>
          <p:nvPr/>
        </p:nvSpPr>
        <p:spPr>
          <a:xfrm>
            <a:off x="484710" y="739298"/>
            <a:ext cx="699996" cy="702628"/>
          </a:xfrm>
          <a:prstGeom prst="ellipse">
            <a:avLst/>
          </a:prstGeom>
          <a:solidFill>
            <a:schemeClr val="bg1"/>
          </a:solidFill>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r>
              <a:rPr lang="en-IN" sz="3200" b="1" dirty="0">
                <a:solidFill>
                  <a:srgbClr val="49C0C2"/>
                </a:solidFill>
                <a:latin typeface="Comic Sans MS" panose="030F0702030302020204" pitchFamily="66" charset="0"/>
              </a:rPr>
              <a:t>7</a:t>
            </a:r>
            <a:endParaRPr lang="en-IN" sz="3200" b="1" dirty="0">
              <a:solidFill>
                <a:srgbClr val="49C0C2"/>
              </a:solidFill>
            </a:endParaRPr>
          </a:p>
        </p:txBody>
      </p:sp>
      <p:sp>
        <p:nvSpPr>
          <p:cNvPr id="6" name="Title 1">
            <a:extLst>
              <a:ext uri="{FF2B5EF4-FFF2-40B4-BE49-F238E27FC236}">
                <a16:creationId xmlns:a16="http://schemas.microsoft.com/office/drawing/2014/main" id="{3F135380-91ED-4FCE-9B49-F5C3F005E99A}"/>
              </a:ext>
            </a:extLst>
          </p:cNvPr>
          <p:cNvSpPr txBox="1">
            <a:spLocks/>
          </p:cNvSpPr>
          <p:nvPr/>
        </p:nvSpPr>
        <p:spPr>
          <a:xfrm>
            <a:off x="1380809" y="-20797"/>
            <a:ext cx="6175214" cy="2345330"/>
          </a:xfrm>
          <a:prstGeom prst="rect">
            <a:avLst/>
          </a:prstGeom>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pPr algn="l"/>
            <a:r>
              <a:rPr lang="en-IN" sz="3600" b="1" dirty="0">
                <a:ln w="12700">
                  <a:solidFill>
                    <a:schemeClr val="tx1"/>
                  </a:solidFill>
                </a:ln>
                <a:solidFill>
                  <a:schemeClr val="bg1"/>
                </a:solidFill>
                <a:latin typeface="Comic Sans MS" panose="030F0702030302020204" pitchFamily="66" charset="0"/>
              </a:rPr>
              <a:t>Invaders and The Delhi Sultanate</a:t>
            </a:r>
          </a:p>
        </p:txBody>
      </p:sp>
      <p:sp>
        <p:nvSpPr>
          <p:cNvPr id="7" name="AutoShape 43">
            <a:extLst>
              <a:ext uri="{FF2B5EF4-FFF2-40B4-BE49-F238E27FC236}">
                <a16:creationId xmlns:a16="http://schemas.microsoft.com/office/drawing/2014/main" id="{F021A17A-A8BB-40C6-8625-30AE4D15B1D7}"/>
              </a:ext>
            </a:extLst>
          </p:cNvPr>
          <p:cNvSpPr>
            <a:spLocks noChangeArrowheads="1"/>
          </p:cNvSpPr>
          <p:nvPr/>
        </p:nvSpPr>
        <p:spPr bwMode="auto">
          <a:xfrm>
            <a:off x="3590925" y="10345738"/>
            <a:ext cx="381000" cy="295275"/>
          </a:xfrm>
          <a:prstGeom prst="roundRect">
            <a:avLst>
              <a:gd name="adj" fmla="val 16667"/>
            </a:avLst>
          </a:prstGeom>
          <a:solidFill>
            <a:srgbClr val="F0587C"/>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8" name="Text Box 45">
            <a:extLst>
              <a:ext uri="{FF2B5EF4-FFF2-40B4-BE49-F238E27FC236}">
                <a16:creationId xmlns:a16="http://schemas.microsoft.com/office/drawing/2014/main" id="{1BC9D665-40B4-4815-AD2E-BE62116E01E8}"/>
              </a:ext>
            </a:extLst>
          </p:cNvPr>
          <p:cNvSpPr txBox="1">
            <a:spLocks noChangeArrowheads="1"/>
          </p:cNvSpPr>
          <p:nvPr/>
        </p:nvSpPr>
        <p:spPr bwMode="auto">
          <a:xfrm>
            <a:off x="3590925" y="10261600"/>
            <a:ext cx="381000" cy="4508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fld id="{AA3A2C3A-815D-4324-A52B-0D6E1281FA41}" type="slidenum">
              <a:rPr kumimoji="0" lang="en-IN" altLang="en-US" sz="1400" b="0" i="0" u="none" strike="noStrike" cap="none" normalizeH="0" baseline="0" smtClean="0">
                <a:ln>
                  <a:noFill/>
                </a:ln>
                <a:solidFill>
                  <a:srgbClr val="FFFFFF"/>
                </a:solidFill>
                <a:effectLst/>
                <a:latin typeface="Poppins" panose="00000500000000000000" pitchFamily="2" charset="0"/>
              </a:rPr>
              <a:pPr marL="0" marR="0" lvl="0" indent="0" algn="ctr" defTabSz="914400" rtl="0" eaLnBrk="0" fontAlgn="base" latinLnBrk="0" hangingPunct="0">
                <a:lnSpc>
                  <a:spcPct val="100000"/>
                </a:lnSpc>
                <a:spcBef>
                  <a:spcPct val="0"/>
                </a:spcBef>
                <a:spcAft>
                  <a:spcPct val="0"/>
                </a:spcAft>
                <a:buClrTx/>
                <a:buSzTx/>
                <a:buFontTx/>
                <a:buNone/>
                <a:tabLst/>
              </a:pPr>
              <a:t>20</a:t>
            </a:fld>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Text Box 46">
            <a:extLst>
              <a:ext uri="{FF2B5EF4-FFF2-40B4-BE49-F238E27FC236}">
                <a16:creationId xmlns:a16="http://schemas.microsoft.com/office/drawing/2014/main" id="{5EEE45B9-8107-4FA3-930C-88C668C31F23}"/>
              </a:ext>
            </a:extLst>
          </p:cNvPr>
          <p:cNvSpPr txBox="1">
            <a:spLocks noChangeArrowheads="1"/>
          </p:cNvSpPr>
          <p:nvPr/>
        </p:nvSpPr>
        <p:spPr bwMode="auto">
          <a:xfrm>
            <a:off x="0" y="10261600"/>
            <a:ext cx="3590925" cy="439738"/>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IN" altLang="en-US" sz="1000" b="0" i="0" u="none" strike="noStrike" cap="none" normalizeH="0" baseline="0">
                <a:ln>
                  <a:noFill/>
                </a:ln>
                <a:solidFill>
                  <a:srgbClr val="000000"/>
                </a:solidFill>
                <a:effectLst/>
                <a:latin typeface="Poppins" panose="00000500000000000000" pitchFamily="2" charset="0"/>
              </a:rPr>
              <a:t>VIDYAVANTAM — CBSE CLASS 7 HISTORY</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Text Box 47">
            <a:extLst>
              <a:ext uri="{FF2B5EF4-FFF2-40B4-BE49-F238E27FC236}">
                <a16:creationId xmlns:a16="http://schemas.microsoft.com/office/drawing/2014/main" id="{6949A399-12EC-474A-BCBB-C11B24C9A2A4}"/>
              </a:ext>
            </a:extLst>
          </p:cNvPr>
          <p:cNvSpPr txBox="1">
            <a:spLocks noChangeArrowheads="1"/>
          </p:cNvSpPr>
          <p:nvPr/>
        </p:nvSpPr>
        <p:spPr bwMode="auto">
          <a:xfrm>
            <a:off x="3968273" y="10261600"/>
            <a:ext cx="3587750" cy="428625"/>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defTabSz="914400" eaLnBrk="0" fontAlgn="base" hangingPunct="0">
              <a:spcBef>
                <a:spcPct val="0"/>
              </a:spcBef>
              <a:spcAft>
                <a:spcPct val="0"/>
              </a:spcAft>
            </a:pPr>
            <a:r>
              <a:rPr lang="en-IN" sz="1000" dirty="0">
                <a:solidFill>
                  <a:srgbClr val="000000"/>
                </a:solidFill>
                <a:latin typeface="Poppins" panose="00000500000000000000" pitchFamily="2" charset="0"/>
              </a:rPr>
              <a:t>TRACING CHANGES THROUGH A THOUSAND YEARS </a:t>
            </a:r>
          </a:p>
        </p:txBody>
      </p:sp>
    </p:spTree>
    <p:extLst>
      <p:ext uri="{BB962C8B-B14F-4D97-AF65-F5344CB8AC3E}">
        <p14:creationId xmlns:p14="http://schemas.microsoft.com/office/powerpoint/2010/main" val="3460194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32">
            <a:extLst>
              <a:ext uri="{FF2B5EF4-FFF2-40B4-BE49-F238E27FC236}">
                <a16:creationId xmlns:a16="http://schemas.microsoft.com/office/drawing/2014/main" id="{C63C8403-A6EB-42F5-813B-BCE39E1CC23B}"/>
              </a:ext>
            </a:extLst>
          </p:cNvPr>
          <p:cNvSpPr>
            <a:spLocks noChangeArrowheads="1"/>
          </p:cNvSpPr>
          <p:nvPr/>
        </p:nvSpPr>
        <p:spPr bwMode="auto">
          <a:xfrm>
            <a:off x="-3652" y="-20797"/>
            <a:ext cx="7559675" cy="2338582"/>
          </a:xfrm>
          <a:prstGeom prst="rect">
            <a:avLst/>
          </a:prstGeom>
          <a:solidFill>
            <a:srgbClr val="27B9C0"/>
          </a:solidFill>
          <a:ln>
            <a:noFill/>
          </a:ln>
          <a:effectLst/>
          <a:extLs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12" name="Title 1">
            <a:extLst>
              <a:ext uri="{FF2B5EF4-FFF2-40B4-BE49-F238E27FC236}">
                <a16:creationId xmlns:a16="http://schemas.microsoft.com/office/drawing/2014/main" id="{9FF54A46-FD98-4A81-85AE-255A41E3E482}"/>
              </a:ext>
            </a:extLst>
          </p:cNvPr>
          <p:cNvSpPr txBox="1">
            <a:spLocks/>
          </p:cNvSpPr>
          <p:nvPr/>
        </p:nvSpPr>
        <p:spPr>
          <a:xfrm>
            <a:off x="484710" y="739298"/>
            <a:ext cx="699996" cy="702628"/>
          </a:xfrm>
          <a:prstGeom prst="ellipse">
            <a:avLst/>
          </a:prstGeom>
          <a:solidFill>
            <a:schemeClr val="bg1"/>
          </a:solidFill>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r>
              <a:rPr lang="en-IN" sz="3200" b="1" dirty="0">
                <a:solidFill>
                  <a:srgbClr val="49C0C2"/>
                </a:solidFill>
                <a:latin typeface="Comic Sans MS" panose="030F0702030302020204" pitchFamily="66" charset="0"/>
              </a:rPr>
              <a:t>8</a:t>
            </a:r>
            <a:endParaRPr lang="en-IN" sz="3200" b="1" dirty="0">
              <a:solidFill>
                <a:srgbClr val="49C0C2"/>
              </a:solidFill>
            </a:endParaRPr>
          </a:p>
        </p:txBody>
      </p:sp>
      <p:sp>
        <p:nvSpPr>
          <p:cNvPr id="13" name="Title 1">
            <a:extLst>
              <a:ext uri="{FF2B5EF4-FFF2-40B4-BE49-F238E27FC236}">
                <a16:creationId xmlns:a16="http://schemas.microsoft.com/office/drawing/2014/main" id="{83A7603E-A186-4202-8143-742E2C6E7126}"/>
              </a:ext>
            </a:extLst>
          </p:cNvPr>
          <p:cNvSpPr txBox="1">
            <a:spLocks/>
          </p:cNvSpPr>
          <p:nvPr/>
        </p:nvSpPr>
        <p:spPr>
          <a:xfrm>
            <a:off x="1380809" y="-20797"/>
            <a:ext cx="6175214" cy="2345330"/>
          </a:xfrm>
          <a:prstGeom prst="rect">
            <a:avLst/>
          </a:prstGeom>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pPr algn="l"/>
            <a:r>
              <a:rPr lang="en-IN" sz="3600" b="1" dirty="0">
                <a:ln w="12700">
                  <a:solidFill>
                    <a:schemeClr val="tx1"/>
                  </a:solidFill>
                </a:ln>
                <a:solidFill>
                  <a:schemeClr val="bg1"/>
                </a:solidFill>
                <a:latin typeface="Comic Sans MS" panose="030F0702030302020204" pitchFamily="66" charset="0"/>
              </a:rPr>
              <a:t>The Mughal Empire</a:t>
            </a:r>
          </a:p>
        </p:txBody>
      </p:sp>
      <p:sp>
        <p:nvSpPr>
          <p:cNvPr id="14" name="AutoShape 43">
            <a:extLst>
              <a:ext uri="{FF2B5EF4-FFF2-40B4-BE49-F238E27FC236}">
                <a16:creationId xmlns:a16="http://schemas.microsoft.com/office/drawing/2014/main" id="{1338362C-A61A-4C8A-8552-D04E88485773}"/>
              </a:ext>
            </a:extLst>
          </p:cNvPr>
          <p:cNvSpPr>
            <a:spLocks noChangeArrowheads="1"/>
          </p:cNvSpPr>
          <p:nvPr/>
        </p:nvSpPr>
        <p:spPr bwMode="auto">
          <a:xfrm>
            <a:off x="3590925" y="10345738"/>
            <a:ext cx="381000" cy="295275"/>
          </a:xfrm>
          <a:prstGeom prst="roundRect">
            <a:avLst>
              <a:gd name="adj" fmla="val 16667"/>
            </a:avLst>
          </a:prstGeom>
          <a:solidFill>
            <a:srgbClr val="F0587C"/>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15" name="Text Box 45">
            <a:extLst>
              <a:ext uri="{FF2B5EF4-FFF2-40B4-BE49-F238E27FC236}">
                <a16:creationId xmlns:a16="http://schemas.microsoft.com/office/drawing/2014/main" id="{E1B9CE00-40E3-436A-8D47-46BF26C163E1}"/>
              </a:ext>
            </a:extLst>
          </p:cNvPr>
          <p:cNvSpPr txBox="1">
            <a:spLocks noChangeArrowheads="1"/>
          </p:cNvSpPr>
          <p:nvPr/>
        </p:nvSpPr>
        <p:spPr bwMode="auto">
          <a:xfrm>
            <a:off x="3590925" y="10261600"/>
            <a:ext cx="381000" cy="4508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fld id="{AA3A2C3A-815D-4324-A52B-0D6E1281FA41}" type="slidenum">
              <a:rPr kumimoji="0" lang="en-IN" altLang="en-US" sz="1400" b="0" i="0" u="none" strike="noStrike" cap="none" normalizeH="0" baseline="0" smtClean="0">
                <a:ln>
                  <a:noFill/>
                </a:ln>
                <a:solidFill>
                  <a:srgbClr val="FFFFFF"/>
                </a:solidFill>
                <a:effectLst/>
                <a:latin typeface="Poppins" panose="00000500000000000000" pitchFamily="2" charset="0"/>
              </a:rPr>
              <a:pPr marL="0" marR="0" lvl="0" indent="0" algn="ctr" defTabSz="914400" rtl="0" eaLnBrk="0" fontAlgn="base" latinLnBrk="0" hangingPunct="0">
                <a:lnSpc>
                  <a:spcPct val="100000"/>
                </a:lnSpc>
                <a:spcBef>
                  <a:spcPct val="0"/>
                </a:spcBef>
                <a:spcAft>
                  <a:spcPct val="0"/>
                </a:spcAft>
                <a:buClrTx/>
                <a:buSzTx/>
                <a:buFontTx/>
                <a:buNone/>
                <a:tabLst/>
              </a:pPr>
              <a:t>21</a:t>
            </a:fld>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6" name="Text Box 46">
            <a:extLst>
              <a:ext uri="{FF2B5EF4-FFF2-40B4-BE49-F238E27FC236}">
                <a16:creationId xmlns:a16="http://schemas.microsoft.com/office/drawing/2014/main" id="{877B0B64-88BB-4C10-BA73-302757B95381}"/>
              </a:ext>
            </a:extLst>
          </p:cNvPr>
          <p:cNvSpPr txBox="1">
            <a:spLocks noChangeArrowheads="1"/>
          </p:cNvSpPr>
          <p:nvPr/>
        </p:nvSpPr>
        <p:spPr bwMode="auto">
          <a:xfrm>
            <a:off x="0" y="10261600"/>
            <a:ext cx="3590925" cy="439738"/>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IN" altLang="en-US" sz="1000" b="0" i="0" u="none" strike="noStrike" cap="none" normalizeH="0" baseline="0">
                <a:ln>
                  <a:noFill/>
                </a:ln>
                <a:solidFill>
                  <a:srgbClr val="000000"/>
                </a:solidFill>
                <a:effectLst/>
                <a:latin typeface="Poppins" panose="00000500000000000000" pitchFamily="2" charset="0"/>
              </a:rPr>
              <a:t>VIDYAVANTAM — CBSE CLASS 7 HISTORY</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7" name="Text Box 47">
            <a:extLst>
              <a:ext uri="{FF2B5EF4-FFF2-40B4-BE49-F238E27FC236}">
                <a16:creationId xmlns:a16="http://schemas.microsoft.com/office/drawing/2014/main" id="{13A5821B-143D-46BF-8E27-3F1DF67AA096}"/>
              </a:ext>
            </a:extLst>
          </p:cNvPr>
          <p:cNvSpPr txBox="1">
            <a:spLocks noChangeArrowheads="1"/>
          </p:cNvSpPr>
          <p:nvPr/>
        </p:nvSpPr>
        <p:spPr bwMode="auto">
          <a:xfrm>
            <a:off x="3968273" y="10261600"/>
            <a:ext cx="3587750" cy="428625"/>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defTabSz="914400" eaLnBrk="0" fontAlgn="base" hangingPunct="0">
              <a:spcBef>
                <a:spcPct val="0"/>
              </a:spcBef>
              <a:spcAft>
                <a:spcPct val="0"/>
              </a:spcAft>
            </a:pPr>
            <a:r>
              <a:rPr lang="en-IN" sz="1000" dirty="0">
                <a:solidFill>
                  <a:srgbClr val="000000"/>
                </a:solidFill>
                <a:latin typeface="Poppins" panose="00000500000000000000" pitchFamily="2" charset="0"/>
              </a:rPr>
              <a:t>TRACING CHANGES THROUGH A THOUSAND YEARS </a:t>
            </a:r>
          </a:p>
        </p:txBody>
      </p:sp>
    </p:spTree>
    <p:extLst>
      <p:ext uri="{BB962C8B-B14F-4D97-AF65-F5344CB8AC3E}">
        <p14:creationId xmlns:p14="http://schemas.microsoft.com/office/powerpoint/2010/main" val="37291910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2">
            <a:extLst>
              <a:ext uri="{FF2B5EF4-FFF2-40B4-BE49-F238E27FC236}">
                <a16:creationId xmlns:a16="http://schemas.microsoft.com/office/drawing/2014/main" id="{7F8F578A-3FEC-42B6-84DB-B3213213CDFE}"/>
              </a:ext>
            </a:extLst>
          </p:cNvPr>
          <p:cNvSpPr>
            <a:spLocks noChangeArrowheads="1"/>
          </p:cNvSpPr>
          <p:nvPr/>
        </p:nvSpPr>
        <p:spPr bwMode="auto">
          <a:xfrm>
            <a:off x="-3652" y="-20797"/>
            <a:ext cx="7559675" cy="2338582"/>
          </a:xfrm>
          <a:prstGeom prst="rect">
            <a:avLst/>
          </a:prstGeom>
          <a:solidFill>
            <a:srgbClr val="27B9C0"/>
          </a:solidFill>
          <a:ln>
            <a:noFill/>
          </a:ln>
          <a:effectLst/>
          <a:extLs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6" name="Title 1">
            <a:extLst>
              <a:ext uri="{FF2B5EF4-FFF2-40B4-BE49-F238E27FC236}">
                <a16:creationId xmlns:a16="http://schemas.microsoft.com/office/drawing/2014/main" id="{B2DA9838-C6EA-4F0B-A742-F5E6314AB9B1}"/>
              </a:ext>
            </a:extLst>
          </p:cNvPr>
          <p:cNvSpPr txBox="1">
            <a:spLocks/>
          </p:cNvSpPr>
          <p:nvPr/>
        </p:nvSpPr>
        <p:spPr>
          <a:xfrm>
            <a:off x="1543049" y="-20797"/>
            <a:ext cx="6012973" cy="2345330"/>
          </a:xfrm>
          <a:prstGeom prst="rect">
            <a:avLst/>
          </a:prstGeom>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pPr algn="l"/>
            <a:r>
              <a:rPr lang="en-IN" sz="3600" b="1" dirty="0">
                <a:ln w="12700">
                  <a:solidFill>
                    <a:schemeClr val="tx1"/>
                  </a:solidFill>
                </a:ln>
                <a:solidFill>
                  <a:schemeClr val="bg1"/>
                </a:solidFill>
                <a:latin typeface="Comic Sans MS" panose="030F0702030302020204" pitchFamily="66" charset="0"/>
              </a:rPr>
              <a:t>Mewar Kingdom</a:t>
            </a:r>
          </a:p>
        </p:txBody>
      </p:sp>
      <p:sp>
        <p:nvSpPr>
          <p:cNvPr id="7" name="AutoShape 43">
            <a:extLst>
              <a:ext uri="{FF2B5EF4-FFF2-40B4-BE49-F238E27FC236}">
                <a16:creationId xmlns:a16="http://schemas.microsoft.com/office/drawing/2014/main" id="{23313CA5-0E4C-456E-BC76-C3A9E94BB3C0}"/>
              </a:ext>
            </a:extLst>
          </p:cNvPr>
          <p:cNvSpPr>
            <a:spLocks noChangeArrowheads="1"/>
          </p:cNvSpPr>
          <p:nvPr/>
        </p:nvSpPr>
        <p:spPr bwMode="auto">
          <a:xfrm>
            <a:off x="3590925" y="10345738"/>
            <a:ext cx="381000" cy="295275"/>
          </a:xfrm>
          <a:prstGeom prst="roundRect">
            <a:avLst>
              <a:gd name="adj" fmla="val 16667"/>
            </a:avLst>
          </a:prstGeom>
          <a:solidFill>
            <a:srgbClr val="F0587C"/>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8" name="Text Box 45">
            <a:extLst>
              <a:ext uri="{FF2B5EF4-FFF2-40B4-BE49-F238E27FC236}">
                <a16:creationId xmlns:a16="http://schemas.microsoft.com/office/drawing/2014/main" id="{A572820B-404C-440C-BFC8-9E2F4A05F95C}"/>
              </a:ext>
            </a:extLst>
          </p:cNvPr>
          <p:cNvSpPr txBox="1">
            <a:spLocks noChangeArrowheads="1"/>
          </p:cNvSpPr>
          <p:nvPr/>
        </p:nvSpPr>
        <p:spPr bwMode="auto">
          <a:xfrm>
            <a:off x="3590925" y="10261600"/>
            <a:ext cx="381000" cy="4508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fld id="{AA3A2C3A-815D-4324-A52B-0D6E1281FA41}" type="slidenum">
              <a:rPr kumimoji="0" lang="en-IN" altLang="en-US" sz="1400" b="0" i="0" u="none" strike="noStrike" cap="none" normalizeH="0" baseline="0" smtClean="0">
                <a:ln>
                  <a:noFill/>
                </a:ln>
                <a:solidFill>
                  <a:srgbClr val="FFFFFF"/>
                </a:solidFill>
                <a:effectLst/>
                <a:latin typeface="Poppins" panose="00000500000000000000" pitchFamily="2" charset="0"/>
              </a:rPr>
              <a:pPr marL="0" marR="0" lvl="0" indent="0" algn="ctr" defTabSz="914400" rtl="0" eaLnBrk="0" fontAlgn="base" latinLnBrk="0" hangingPunct="0">
                <a:lnSpc>
                  <a:spcPct val="100000"/>
                </a:lnSpc>
                <a:spcBef>
                  <a:spcPct val="0"/>
                </a:spcBef>
                <a:spcAft>
                  <a:spcPct val="0"/>
                </a:spcAft>
                <a:buClrTx/>
                <a:buSzTx/>
                <a:buFontTx/>
                <a:buNone/>
                <a:tabLst/>
              </a:pPr>
              <a:t>22</a:t>
            </a:fld>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Text Box 46">
            <a:extLst>
              <a:ext uri="{FF2B5EF4-FFF2-40B4-BE49-F238E27FC236}">
                <a16:creationId xmlns:a16="http://schemas.microsoft.com/office/drawing/2014/main" id="{0BDE79B7-AE83-477E-8A30-72E449F0FF6B}"/>
              </a:ext>
            </a:extLst>
          </p:cNvPr>
          <p:cNvSpPr txBox="1">
            <a:spLocks noChangeArrowheads="1"/>
          </p:cNvSpPr>
          <p:nvPr/>
        </p:nvSpPr>
        <p:spPr bwMode="auto">
          <a:xfrm>
            <a:off x="0" y="10261600"/>
            <a:ext cx="3590925" cy="439738"/>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IN" altLang="en-US" sz="1000" b="0" i="0" u="none" strike="noStrike" cap="none" normalizeH="0" baseline="0">
                <a:ln>
                  <a:noFill/>
                </a:ln>
                <a:solidFill>
                  <a:srgbClr val="000000"/>
                </a:solidFill>
                <a:effectLst/>
                <a:latin typeface="Poppins" panose="00000500000000000000" pitchFamily="2" charset="0"/>
              </a:rPr>
              <a:t>VIDYAVANTAM — CBSE CLASS 7 HISTORY</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Text Box 47">
            <a:extLst>
              <a:ext uri="{FF2B5EF4-FFF2-40B4-BE49-F238E27FC236}">
                <a16:creationId xmlns:a16="http://schemas.microsoft.com/office/drawing/2014/main" id="{358C0C13-6593-4E17-AE27-330D946E6D93}"/>
              </a:ext>
            </a:extLst>
          </p:cNvPr>
          <p:cNvSpPr txBox="1">
            <a:spLocks noChangeArrowheads="1"/>
          </p:cNvSpPr>
          <p:nvPr/>
        </p:nvSpPr>
        <p:spPr bwMode="auto">
          <a:xfrm>
            <a:off x="3968273" y="10261600"/>
            <a:ext cx="3587750" cy="428625"/>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defTabSz="914400" eaLnBrk="0" fontAlgn="base" hangingPunct="0">
              <a:spcBef>
                <a:spcPct val="0"/>
              </a:spcBef>
              <a:spcAft>
                <a:spcPct val="0"/>
              </a:spcAft>
            </a:pPr>
            <a:r>
              <a:rPr lang="en-IN" sz="1000" dirty="0">
                <a:solidFill>
                  <a:srgbClr val="000000"/>
                </a:solidFill>
                <a:latin typeface="Poppins" panose="00000500000000000000" pitchFamily="2" charset="0"/>
              </a:rPr>
              <a:t>TRACING CHANGES THROUGH A THOUSAND YEARS </a:t>
            </a:r>
          </a:p>
        </p:txBody>
      </p:sp>
      <p:sp>
        <p:nvSpPr>
          <p:cNvPr id="11" name="Title 1">
            <a:extLst>
              <a:ext uri="{FF2B5EF4-FFF2-40B4-BE49-F238E27FC236}">
                <a16:creationId xmlns:a16="http://schemas.microsoft.com/office/drawing/2014/main" id="{261A2DB4-CB12-411C-8B1E-A543E8C2DA9A}"/>
              </a:ext>
            </a:extLst>
          </p:cNvPr>
          <p:cNvSpPr txBox="1">
            <a:spLocks/>
          </p:cNvSpPr>
          <p:nvPr/>
        </p:nvSpPr>
        <p:spPr>
          <a:xfrm>
            <a:off x="484710" y="624997"/>
            <a:ext cx="1058340" cy="1062319"/>
          </a:xfrm>
          <a:prstGeom prst="ellipse">
            <a:avLst/>
          </a:prstGeom>
          <a:solidFill>
            <a:schemeClr val="bg1"/>
          </a:solidFill>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r>
              <a:rPr lang="en-IN" sz="3200" b="1" dirty="0">
                <a:solidFill>
                  <a:srgbClr val="49C0C2"/>
                </a:solidFill>
                <a:latin typeface="Comic Sans MS" panose="030F0702030302020204" pitchFamily="66" charset="0"/>
              </a:rPr>
              <a:t>9</a:t>
            </a:r>
            <a:endParaRPr lang="en-IN" sz="3200" b="1" dirty="0">
              <a:solidFill>
                <a:srgbClr val="49C0C2"/>
              </a:solidFill>
            </a:endParaRPr>
          </a:p>
        </p:txBody>
      </p:sp>
    </p:spTree>
    <p:extLst>
      <p:ext uri="{BB962C8B-B14F-4D97-AF65-F5344CB8AC3E}">
        <p14:creationId xmlns:p14="http://schemas.microsoft.com/office/powerpoint/2010/main" val="34203002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2">
            <a:extLst>
              <a:ext uri="{FF2B5EF4-FFF2-40B4-BE49-F238E27FC236}">
                <a16:creationId xmlns:a16="http://schemas.microsoft.com/office/drawing/2014/main" id="{4BC95FAC-411A-4F86-B284-D7787C0A15A2}"/>
              </a:ext>
            </a:extLst>
          </p:cNvPr>
          <p:cNvSpPr>
            <a:spLocks noChangeArrowheads="1"/>
          </p:cNvSpPr>
          <p:nvPr/>
        </p:nvSpPr>
        <p:spPr bwMode="auto">
          <a:xfrm>
            <a:off x="-3652" y="-20797"/>
            <a:ext cx="7559675" cy="2338582"/>
          </a:xfrm>
          <a:prstGeom prst="rect">
            <a:avLst/>
          </a:prstGeom>
          <a:solidFill>
            <a:srgbClr val="27B9C0"/>
          </a:solidFill>
          <a:ln>
            <a:noFill/>
          </a:ln>
          <a:effectLst/>
          <a:extLs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5" name="Title 1">
            <a:extLst>
              <a:ext uri="{FF2B5EF4-FFF2-40B4-BE49-F238E27FC236}">
                <a16:creationId xmlns:a16="http://schemas.microsoft.com/office/drawing/2014/main" id="{49137A72-B389-4693-968E-658585957878}"/>
              </a:ext>
            </a:extLst>
          </p:cNvPr>
          <p:cNvSpPr txBox="1">
            <a:spLocks/>
          </p:cNvSpPr>
          <p:nvPr/>
        </p:nvSpPr>
        <p:spPr>
          <a:xfrm>
            <a:off x="1543049" y="-20797"/>
            <a:ext cx="6012973" cy="2345330"/>
          </a:xfrm>
          <a:prstGeom prst="rect">
            <a:avLst/>
          </a:prstGeom>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pPr algn="l"/>
            <a:r>
              <a:rPr lang="en-IN" sz="3600" b="1" dirty="0">
                <a:ln w="12700">
                  <a:solidFill>
                    <a:schemeClr val="tx1"/>
                  </a:solidFill>
                </a:ln>
                <a:solidFill>
                  <a:schemeClr val="bg1"/>
                </a:solidFill>
                <a:latin typeface="Comic Sans MS" panose="030F0702030302020204" pitchFamily="66" charset="0"/>
              </a:rPr>
              <a:t>Maratha Empire</a:t>
            </a:r>
          </a:p>
        </p:txBody>
      </p:sp>
      <p:sp>
        <p:nvSpPr>
          <p:cNvPr id="6" name="AutoShape 43">
            <a:extLst>
              <a:ext uri="{FF2B5EF4-FFF2-40B4-BE49-F238E27FC236}">
                <a16:creationId xmlns:a16="http://schemas.microsoft.com/office/drawing/2014/main" id="{770180BD-B797-4C51-B142-4BE7CD885365}"/>
              </a:ext>
            </a:extLst>
          </p:cNvPr>
          <p:cNvSpPr>
            <a:spLocks noChangeArrowheads="1"/>
          </p:cNvSpPr>
          <p:nvPr/>
        </p:nvSpPr>
        <p:spPr bwMode="auto">
          <a:xfrm>
            <a:off x="3590925" y="10345738"/>
            <a:ext cx="381000" cy="295275"/>
          </a:xfrm>
          <a:prstGeom prst="roundRect">
            <a:avLst>
              <a:gd name="adj" fmla="val 16667"/>
            </a:avLst>
          </a:prstGeom>
          <a:solidFill>
            <a:srgbClr val="F0587C"/>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7" name="Text Box 45">
            <a:extLst>
              <a:ext uri="{FF2B5EF4-FFF2-40B4-BE49-F238E27FC236}">
                <a16:creationId xmlns:a16="http://schemas.microsoft.com/office/drawing/2014/main" id="{40A6AB43-25E0-4B96-B0B9-D0736C6651D1}"/>
              </a:ext>
            </a:extLst>
          </p:cNvPr>
          <p:cNvSpPr txBox="1">
            <a:spLocks noChangeArrowheads="1"/>
          </p:cNvSpPr>
          <p:nvPr/>
        </p:nvSpPr>
        <p:spPr bwMode="auto">
          <a:xfrm>
            <a:off x="3590925" y="10261600"/>
            <a:ext cx="381000" cy="4508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fld id="{AA3A2C3A-815D-4324-A52B-0D6E1281FA41}" type="slidenum">
              <a:rPr kumimoji="0" lang="en-IN" altLang="en-US" sz="1400" b="0" i="0" u="none" strike="noStrike" cap="none" normalizeH="0" baseline="0" smtClean="0">
                <a:ln>
                  <a:noFill/>
                </a:ln>
                <a:solidFill>
                  <a:srgbClr val="FFFFFF"/>
                </a:solidFill>
                <a:effectLst/>
                <a:latin typeface="Poppins" panose="00000500000000000000" pitchFamily="2" charset="0"/>
              </a:rPr>
              <a:pPr marL="0" marR="0" lvl="0" indent="0" algn="ctr" defTabSz="914400" rtl="0" eaLnBrk="0" fontAlgn="base" latinLnBrk="0" hangingPunct="0">
                <a:lnSpc>
                  <a:spcPct val="100000"/>
                </a:lnSpc>
                <a:spcBef>
                  <a:spcPct val="0"/>
                </a:spcBef>
                <a:spcAft>
                  <a:spcPct val="0"/>
                </a:spcAft>
                <a:buClrTx/>
                <a:buSzTx/>
                <a:buFontTx/>
                <a:buNone/>
                <a:tabLst/>
              </a:pPr>
              <a:t>23</a:t>
            </a:fld>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Text Box 46">
            <a:extLst>
              <a:ext uri="{FF2B5EF4-FFF2-40B4-BE49-F238E27FC236}">
                <a16:creationId xmlns:a16="http://schemas.microsoft.com/office/drawing/2014/main" id="{1C83C6F6-290D-4719-A3AF-8146AE03EFA1}"/>
              </a:ext>
            </a:extLst>
          </p:cNvPr>
          <p:cNvSpPr txBox="1">
            <a:spLocks noChangeArrowheads="1"/>
          </p:cNvSpPr>
          <p:nvPr/>
        </p:nvSpPr>
        <p:spPr bwMode="auto">
          <a:xfrm>
            <a:off x="0" y="10261600"/>
            <a:ext cx="3590925" cy="439738"/>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IN" altLang="en-US" sz="1000" b="0" i="0" u="none" strike="noStrike" cap="none" normalizeH="0" baseline="0">
                <a:ln>
                  <a:noFill/>
                </a:ln>
                <a:solidFill>
                  <a:srgbClr val="000000"/>
                </a:solidFill>
                <a:effectLst/>
                <a:latin typeface="Poppins" panose="00000500000000000000" pitchFamily="2" charset="0"/>
              </a:rPr>
              <a:t>VIDYAVANTAM — CBSE CLASS 7 HISTORY</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Text Box 47">
            <a:extLst>
              <a:ext uri="{FF2B5EF4-FFF2-40B4-BE49-F238E27FC236}">
                <a16:creationId xmlns:a16="http://schemas.microsoft.com/office/drawing/2014/main" id="{67AB3DA7-D345-4E03-8C7C-94F3F19FC255}"/>
              </a:ext>
            </a:extLst>
          </p:cNvPr>
          <p:cNvSpPr txBox="1">
            <a:spLocks noChangeArrowheads="1"/>
          </p:cNvSpPr>
          <p:nvPr/>
        </p:nvSpPr>
        <p:spPr bwMode="auto">
          <a:xfrm>
            <a:off x="3968273" y="10261600"/>
            <a:ext cx="3587750" cy="428625"/>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defTabSz="914400" eaLnBrk="0" fontAlgn="base" hangingPunct="0">
              <a:spcBef>
                <a:spcPct val="0"/>
              </a:spcBef>
              <a:spcAft>
                <a:spcPct val="0"/>
              </a:spcAft>
            </a:pPr>
            <a:r>
              <a:rPr lang="en-IN" sz="1000" dirty="0">
                <a:solidFill>
                  <a:srgbClr val="000000"/>
                </a:solidFill>
                <a:latin typeface="Poppins" panose="00000500000000000000" pitchFamily="2" charset="0"/>
              </a:rPr>
              <a:t>TRACING CHANGES THROUGH A THOUSAND YEARS </a:t>
            </a:r>
          </a:p>
        </p:txBody>
      </p:sp>
      <p:sp>
        <p:nvSpPr>
          <p:cNvPr id="10" name="Title 1">
            <a:extLst>
              <a:ext uri="{FF2B5EF4-FFF2-40B4-BE49-F238E27FC236}">
                <a16:creationId xmlns:a16="http://schemas.microsoft.com/office/drawing/2014/main" id="{8BA247FB-F473-47C5-B4D1-CB6644F3538C}"/>
              </a:ext>
            </a:extLst>
          </p:cNvPr>
          <p:cNvSpPr txBox="1">
            <a:spLocks/>
          </p:cNvSpPr>
          <p:nvPr/>
        </p:nvSpPr>
        <p:spPr>
          <a:xfrm>
            <a:off x="484710" y="624997"/>
            <a:ext cx="1058340" cy="1062319"/>
          </a:xfrm>
          <a:prstGeom prst="ellipse">
            <a:avLst/>
          </a:prstGeom>
          <a:solidFill>
            <a:schemeClr val="bg1"/>
          </a:solidFill>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r>
              <a:rPr lang="en-IN" sz="3200" b="1" dirty="0">
                <a:solidFill>
                  <a:srgbClr val="49C0C2"/>
                </a:solidFill>
                <a:latin typeface="Comic Sans MS" panose="030F0702030302020204" pitchFamily="66" charset="0"/>
              </a:rPr>
              <a:t>10</a:t>
            </a:r>
            <a:endParaRPr lang="en-IN" sz="3200" b="1" dirty="0">
              <a:solidFill>
                <a:srgbClr val="49C0C2"/>
              </a:solidFill>
            </a:endParaRPr>
          </a:p>
        </p:txBody>
      </p:sp>
    </p:spTree>
    <p:extLst>
      <p:ext uri="{BB962C8B-B14F-4D97-AF65-F5344CB8AC3E}">
        <p14:creationId xmlns:p14="http://schemas.microsoft.com/office/powerpoint/2010/main" val="30042288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32">
            <a:extLst>
              <a:ext uri="{FF2B5EF4-FFF2-40B4-BE49-F238E27FC236}">
                <a16:creationId xmlns:a16="http://schemas.microsoft.com/office/drawing/2014/main" id="{737961F4-10EE-4EF4-AFA2-FA4774DD3E61}"/>
              </a:ext>
            </a:extLst>
          </p:cNvPr>
          <p:cNvSpPr>
            <a:spLocks noChangeArrowheads="1"/>
          </p:cNvSpPr>
          <p:nvPr/>
        </p:nvSpPr>
        <p:spPr bwMode="auto">
          <a:xfrm>
            <a:off x="-3652" y="-20797"/>
            <a:ext cx="7559675" cy="2338582"/>
          </a:xfrm>
          <a:prstGeom prst="rect">
            <a:avLst/>
          </a:prstGeom>
          <a:solidFill>
            <a:srgbClr val="27B9C0"/>
          </a:solidFill>
          <a:ln>
            <a:noFill/>
          </a:ln>
          <a:effectLst/>
          <a:extLs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12" name="Title 1">
            <a:extLst>
              <a:ext uri="{FF2B5EF4-FFF2-40B4-BE49-F238E27FC236}">
                <a16:creationId xmlns:a16="http://schemas.microsoft.com/office/drawing/2014/main" id="{6AE0F2D0-447A-4E33-B13C-FC122E18A124}"/>
              </a:ext>
            </a:extLst>
          </p:cNvPr>
          <p:cNvSpPr txBox="1">
            <a:spLocks/>
          </p:cNvSpPr>
          <p:nvPr/>
        </p:nvSpPr>
        <p:spPr>
          <a:xfrm>
            <a:off x="1543049" y="-20797"/>
            <a:ext cx="6012973" cy="2345330"/>
          </a:xfrm>
          <a:prstGeom prst="rect">
            <a:avLst/>
          </a:prstGeom>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pPr algn="l"/>
            <a:r>
              <a:rPr lang="en-IN" sz="3600" b="1" dirty="0">
                <a:ln w="12700">
                  <a:solidFill>
                    <a:schemeClr val="tx1"/>
                  </a:solidFill>
                </a:ln>
                <a:solidFill>
                  <a:schemeClr val="bg1"/>
                </a:solidFill>
                <a:latin typeface="Comic Sans MS" panose="030F0702030302020204" pitchFamily="66" charset="0"/>
              </a:rPr>
              <a:t>Vijayanagara Empire</a:t>
            </a:r>
          </a:p>
        </p:txBody>
      </p:sp>
      <p:sp>
        <p:nvSpPr>
          <p:cNvPr id="13" name="AutoShape 43">
            <a:extLst>
              <a:ext uri="{FF2B5EF4-FFF2-40B4-BE49-F238E27FC236}">
                <a16:creationId xmlns:a16="http://schemas.microsoft.com/office/drawing/2014/main" id="{39A85801-E02B-4496-8C24-983978D014AA}"/>
              </a:ext>
            </a:extLst>
          </p:cNvPr>
          <p:cNvSpPr>
            <a:spLocks noChangeArrowheads="1"/>
          </p:cNvSpPr>
          <p:nvPr/>
        </p:nvSpPr>
        <p:spPr bwMode="auto">
          <a:xfrm>
            <a:off x="3590925" y="10345738"/>
            <a:ext cx="381000" cy="295275"/>
          </a:xfrm>
          <a:prstGeom prst="roundRect">
            <a:avLst>
              <a:gd name="adj" fmla="val 16667"/>
            </a:avLst>
          </a:prstGeom>
          <a:solidFill>
            <a:srgbClr val="F0587C"/>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14" name="Text Box 45">
            <a:extLst>
              <a:ext uri="{FF2B5EF4-FFF2-40B4-BE49-F238E27FC236}">
                <a16:creationId xmlns:a16="http://schemas.microsoft.com/office/drawing/2014/main" id="{120DBA36-2A5F-46BB-BC20-C11BC4C2F818}"/>
              </a:ext>
            </a:extLst>
          </p:cNvPr>
          <p:cNvSpPr txBox="1">
            <a:spLocks noChangeArrowheads="1"/>
          </p:cNvSpPr>
          <p:nvPr/>
        </p:nvSpPr>
        <p:spPr bwMode="auto">
          <a:xfrm>
            <a:off x="3590925" y="10261600"/>
            <a:ext cx="381000" cy="4508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fld id="{AA3A2C3A-815D-4324-A52B-0D6E1281FA41}" type="slidenum">
              <a:rPr kumimoji="0" lang="en-IN" altLang="en-US" sz="1400" b="0" i="0" u="none" strike="noStrike" cap="none" normalizeH="0" baseline="0" smtClean="0">
                <a:ln>
                  <a:noFill/>
                </a:ln>
                <a:solidFill>
                  <a:srgbClr val="FFFFFF"/>
                </a:solidFill>
                <a:effectLst/>
                <a:latin typeface="Poppins" panose="00000500000000000000" pitchFamily="2" charset="0"/>
              </a:rPr>
              <a:pPr marL="0" marR="0" lvl="0" indent="0" algn="ctr" defTabSz="914400" rtl="0" eaLnBrk="0" fontAlgn="base" latinLnBrk="0" hangingPunct="0">
                <a:lnSpc>
                  <a:spcPct val="100000"/>
                </a:lnSpc>
                <a:spcBef>
                  <a:spcPct val="0"/>
                </a:spcBef>
                <a:spcAft>
                  <a:spcPct val="0"/>
                </a:spcAft>
                <a:buClrTx/>
                <a:buSzTx/>
                <a:buFontTx/>
                <a:buNone/>
                <a:tabLst/>
              </a:pPr>
              <a:t>24</a:t>
            </a:fld>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5" name="Text Box 46">
            <a:extLst>
              <a:ext uri="{FF2B5EF4-FFF2-40B4-BE49-F238E27FC236}">
                <a16:creationId xmlns:a16="http://schemas.microsoft.com/office/drawing/2014/main" id="{9433B465-EB58-4CF8-870E-175035262D91}"/>
              </a:ext>
            </a:extLst>
          </p:cNvPr>
          <p:cNvSpPr txBox="1">
            <a:spLocks noChangeArrowheads="1"/>
          </p:cNvSpPr>
          <p:nvPr/>
        </p:nvSpPr>
        <p:spPr bwMode="auto">
          <a:xfrm>
            <a:off x="0" y="10261600"/>
            <a:ext cx="3590925" cy="439738"/>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IN" altLang="en-US" sz="1000" b="0" i="0" u="none" strike="noStrike" cap="none" normalizeH="0" baseline="0">
                <a:ln>
                  <a:noFill/>
                </a:ln>
                <a:solidFill>
                  <a:srgbClr val="000000"/>
                </a:solidFill>
                <a:effectLst/>
                <a:latin typeface="Poppins" panose="00000500000000000000" pitchFamily="2" charset="0"/>
              </a:rPr>
              <a:t>VIDYAVANTAM — CBSE CLASS 7 HISTORY</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6" name="Text Box 47">
            <a:extLst>
              <a:ext uri="{FF2B5EF4-FFF2-40B4-BE49-F238E27FC236}">
                <a16:creationId xmlns:a16="http://schemas.microsoft.com/office/drawing/2014/main" id="{B0AC0C46-877C-4214-B9ED-D25429B454EB}"/>
              </a:ext>
            </a:extLst>
          </p:cNvPr>
          <p:cNvSpPr txBox="1">
            <a:spLocks noChangeArrowheads="1"/>
          </p:cNvSpPr>
          <p:nvPr/>
        </p:nvSpPr>
        <p:spPr bwMode="auto">
          <a:xfrm>
            <a:off x="3968273" y="10261600"/>
            <a:ext cx="3587750" cy="428625"/>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defTabSz="914400" eaLnBrk="0" fontAlgn="base" hangingPunct="0">
              <a:spcBef>
                <a:spcPct val="0"/>
              </a:spcBef>
              <a:spcAft>
                <a:spcPct val="0"/>
              </a:spcAft>
            </a:pPr>
            <a:r>
              <a:rPr lang="en-IN" sz="1000" dirty="0">
                <a:solidFill>
                  <a:srgbClr val="000000"/>
                </a:solidFill>
                <a:latin typeface="Poppins" panose="00000500000000000000" pitchFamily="2" charset="0"/>
              </a:rPr>
              <a:t>TRACING CHANGES THROUGH A THOUSAND YEARS </a:t>
            </a:r>
          </a:p>
        </p:txBody>
      </p:sp>
      <p:sp>
        <p:nvSpPr>
          <p:cNvPr id="17" name="Title 1">
            <a:extLst>
              <a:ext uri="{FF2B5EF4-FFF2-40B4-BE49-F238E27FC236}">
                <a16:creationId xmlns:a16="http://schemas.microsoft.com/office/drawing/2014/main" id="{49BF1E99-399A-4B83-A022-1FAE3F36021B}"/>
              </a:ext>
            </a:extLst>
          </p:cNvPr>
          <p:cNvSpPr txBox="1">
            <a:spLocks/>
          </p:cNvSpPr>
          <p:nvPr/>
        </p:nvSpPr>
        <p:spPr>
          <a:xfrm>
            <a:off x="484710" y="624997"/>
            <a:ext cx="1058340" cy="1062319"/>
          </a:xfrm>
          <a:prstGeom prst="ellipse">
            <a:avLst/>
          </a:prstGeom>
          <a:solidFill>
            <a:schemeClr val="bg1"/>
          </a:solidFill>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r>
              <a:rPr lang="en-IN" sz="3200" b="1" dirty="0">
                <a:solidFill>
                  <a:srgbClr val="49C0C2"/>
                </a:solidFill>
                <a:latin typeface="Comic Sans MS" panose="030F0702030302020204" pitchFamily="66" charset="0"/>
              </a:rPr>
              <a:t>11</a:t>
            </a:r>
            <a:endParaRPr lang="en-IN" sz="3200" b="1" dirty="0">
              <a:solidFill>
                <a:srgbClr val="49C0C2"/>
              </a:solidFill>
            </a:endParaRPr>
          </a:p>
        </p:txBody>
      </p:sp>
    </p:spTree>
    <p:extLst>
      <p:ext uri="{BB962C8B-B14F-4D97-AF65-F5344CB8AC3E}">
        <p14:creationId xmlns:p14="http://schemas.microsoft.com/office/powerpoint/2010/main" val="7804726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2">
            <a:extLst>
              <a:ext uri="{FF2B5EF4-FFF2-40B4-BE49-F238E27FC236}">
                <a16:creationId xmlns:a16="http://schemas.microsoft.com/office/drawing/2014/main" id="{00A96B04-B7CF-4AC6-82B9-367C8E25FE85}"/>
              </a:ext>
            </a:extLst>
          </p:cNvPr>
          <p:cNvSpPr>
            <a:spLocks noChangeArrowheads="1"/>
          </p:cNvSpPr>
          <p:nvPr/>
        </p:nvSpPr>
        <p:spPr bwMode="auto">
          <a:xfrm>
            <a:off x="-3652" y="-20797"/>
            <a:ext cx="7559675" cy="2338582"/>
          </a:xfrm>
          <a:prstGeom prst="rect">
            <a:avLst/>
          </a:prstGeom>
          <a:solidFill>
            <a:srgbClr val="27B9C0"/>
          </a:solidFill>
          <a:ln>
            <a:noFill/>
          </a:ln>
          <a:effectLst/>
          <a:extLs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5" name="Title 1">
            <a:extLst>
              <a:ext uri="{FF2B5EF4-FFF2-40B4-BE49-F238E27FC236}">
                <a16:creationId xmlns:a16="http://schemas.microsoft.com/office/drawing/2014/main" id="{420DA030-DB2B-41F4-8F77-7A13CF70FBF6}"/>
              </a:ext>
            </a:extLst>
          </p:cNvPr>
          <p:cNvSpPr txBox="1">
            <a:spLocks/>
          </p:cNvSpPr>
          <p:nvPr/>
        </p:nvSpPr>
        <p:spPr>
          <a:xfrm>
            <a:off x="1543049" y="-20797"/>
            <a:ext cx="6012973" cy="2345330"/>
          </a:xfrm>
          <a:prstGeom prst="rect">
            <a:avLst/>
          </a:prstGeom>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pPr algn="l"/>
            <a:r>
              <a:rPr lang="en-IN" sz="3600" b="1" dirty="0">
                <a:ln w="12700">
                  <a:solidFill>
                    <a:schemeClr val="tx1"/>
                  </a:solidFill>
                </a:ln>
                <a:solidFill>
                  <a:schemeClr val="bg1"/>
                </a:solidFill>
                <a:latin typeface="Comic Sans MS" panose="030F0702030302020204" pitchFamily="66" charset="0"/>
              </a:rPr>
              <a:t>Ahom Kingdom</a:t>
            </a:r>
          </a:p>
        </p:txBody>
      </p:sp>
      <p:sp>
        <p:nvSpPr>
          <p:cNvPr id="6" name="AutoShape 43">
            <a:extLst>
              <a:ext uri="{FF2B5EF4-FFF2-40B4-BE49-F238E27FC236}">
                <a16:creationId xmlns:a16="http://schemas.microsoft.com/office/drawing/2014/main" id="{5CFCC3A6-9FA1-44D8-9AE9-ED397859FBB8}"/>
              </a:ext>
            </a:extLst>
          </p:cNvPr>
          <p:cNvSpPr>
            <a:spLocks noChangeArrowheads="1"/>
          </p:cNvSpPr>
          <p:nvPr/>
        </p:nvSpPr>
        <p:spPr bwMode="auto">
          <a:xfrm>
            <a:off x="3590925" y="10345738"/>
            <a:ext cx="381000" cy="295275"/>
          </a:xfrm>
          <a:prstGeom prst="roundRect">
            <a:avLst>
              <a:gd name="adj" fmla="val 16667"/>
            </a:avLst>
          </a:prstGeom>
          <a:solidFill>
            <a:srgbClr val="F0587C"/>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7" name="Text Box 45">
            <a:extLst>
              <a:ext uri="{FF2B5EF4-FFF2-40B4-BE49-F238E27FC236}">
                <a16:creationId xmlns:a16="http://schemas.microsoft.com/office/drawing/2014/main" id="{A7CAC406-8012-44C3-8EA9-09EA66A20B89}"/>
              </a:ext>
            </a:extLst>
          </p:cNvPr>
          <p:cNvSpPr txBox="1">
            <a:spLocks noChangeArrowheads="1"/>
          </p:cNvSpPr>
          <p:nvPr/>
        </p:nvSpPr>
        <p:spPr bwMode="auto">
          <a:xfrm>
            <a:off x="3590925" y="10261600"/>
            <a:ext cx="381000" cy="4508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fld id="{AA3A2C3A-815D-4324-A52B-0D6E1281FA41}" type="slidenum">
              <a:rPr kumimoji="0" lang="en-IN" altLang="en-US" sz="1400" b="0" i="0" u="none" strike="noStrike" cap="none" normalizeH="0" baseline="0" smtClean="0">
                <a:ln>
                  <a:noFill/>
                </a:ln>
                <a:solidFill>
                  <a:srgbClr val="FFFFFF"/>
                </a:solidFill>
                <a:effectLst/>
                <a:latin typeface="Poppins" panose="00000500000000000000" pitchFamily="2" charset="0"/>
              </a:rPr>
              <a:pPr marL="0" marR="0" lvl="0" indent="0" algn="ctr" defTabSz="914400" rtl="0" eaLnBrk="0" fontAlgn="base" latinLnBrk="0" hangingPunct="0">
                <a:lnSpc>
                  <a:spcPct val="100000"/>
                </a:lnSpc>
                <a:spcBef>
                  <a:spcPct val="0"/>
                </a:spcBef>
                <a:spcAft>
                  <a:spcPct val="0"/>
                </a:spcAft>
                <a:buClrTx/>
                <a:buSzTx/>
                <a:buFontTx/>
                <a:buNone/>
                <a:tabLst/>
              </a:pPr>
              <a:t>25</a:t>
            </a:fld>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Text Box 46">
            <a:extLst>
              <a:ext uri="{FF2B5EF4-FFF2-40B4-BE49-F238E27FC236}">
                <a16:creationId xmlns:a16="http://schemas.microsoft.com/office/drawing/2014/main" id="{C1B61219-1919-4591-8F7A-64B61D1960EA}"/>
              </a:ext>
            </a:extLst>
          </p:cNvPr>
          <p:cNvSpPr txBox="1">
            <a:spLocks noChangeArrowheads="1"/>
          </p:cNvSpPr>
          <p:nvPr/>
        </p:nvSpPr>
        <p:spPr bwMode="auto">
          <a:xfrm>
            <a:off x="0" y="10261600"/>
            <a:ext cx="3590925" cy="439738"/>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IN" altLang="en-US" sz="1000" b="0" i="0" u="none" strike="noStrike" cap="none" normalizeH="0" baseline="0">
                <a:ln>
                  <a:noFill/>
                </a:ln>
                <a:solidFill>
                  <a:srgbClr val="000000"/>
                </a:solidFill>
                <a:effectLst/>
                <a:latin typeface="Poppins" panose="00000500000000000000" pitchFamily="2" charset="0"/>
              </a:rPr>
              <a:t>VIDYAVANTAM — CBSE CLASS 7 HISTORY</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Text Box 47">
            <a:extLst>
              <a:ext uri="{FF2B5EF4-FFF2-40B4-BE49-F238E27FC236}">
                <a16:creationId xmlns:a16="http://schemas.microsoft.com/office/drawing/2014/main" id="{C9C9967D-1B6E-40E8-B1C3-2C785C01A943}"/>
              </a:ext>
            </a:extLst>
          </p:cNvPr>
          <p:cNvSpPr txBox="1">
            <a:spLocks noChangeArrowheads="1"/>
          </p:cNvSpPr>
          <p:nvPr/>
        </p:nvSpPr>
        <p:spPr bwMode="auto">
          <a:xfrm>
            <a:off x="3968273" y="10261600"/>
            <a:ext cx="3587750" cy="428625"/>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defTabSz="914400" eaLnBrk="0" fontAlgn="base" hangingPunct="0">
              <a:spcBef>
                <a:spcPct val="0"/>
              </a:spcBef>
              <a:spcAft>
                <a:spcPct val="0"/>
              </a:spcAft>
            </a:pPr>
            <a:r>
              <a:rPr lang="en-IN" sz="1000" dirty="0">
                <a:solidFill>
                  <a:srgbClr val="000000"/>
                </a:solidFill>
                <a:latin typeface="Poppins" panose="00000500000000000000" pitchFamily="2" charset="0"/>
              </a:rPr>
              <a:t>TRACING CHANGES THROUGH A THOUSAND YEARS </a:t>
            </a:r>
          </a:p>
        </p:txBody>
      </p:sp>
      <p:sp>
        <p:nvSpPr>
          <p:cNvPr id="10" name="Title 1">
            <a:extLst>
              <a:ext uri="{FF2B5EF4-FFF2-40B4-BE49-F238E27FC236}">
                <a16:creationId xmlns:a16="http://schemas.microsoft.com/office/drawing/2014/main" id="{3E038E4A-FEC9-4C73-AFB9-91A88129D5D1}"/>
              </a:ext>
            </a:extLst>
          </p:cNvPr>
          <p:cNvSpPr txBox="1">
            <a:spLocks/>
          </p:cNvSpPr>
          <p:nvPr/>
        </p:nvSpPr>
        <p:spPr>
          <a:xfrm>
            <a:off x="484710" y="624997"/>
            <a:ext cx="1058340" cy="1062319"/>
          </a:xfrm>
          <a:prstGeom prst="ellipse">
            <a:avLst/>
          </a:prstGeom>
          <a:solidFill>
            <a:schemeClr val="bg1"/>
          </a:solidFill>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r>
              <a:rPr lang="en-IN" sz="3200" b="1" dirty="0">
                <a:solidFill>
                  <a:srgbClr val="49C0C2"/>
                </a:solidFill>
                <a:latin typeface="Comic Sans MS" panose="030F0702030302020204" pitchFamily="66" charset="0"/>
              </a:rPr>
              <a:t>12</a:t>
            </a:r>
            <a:endParaRPr lang="en-IN" sz="3200" b="1" dirty="0">
              <a:solidFill>
                <a:srgbClr val="49C0C2"/>
              </a:solidFill>
            </a:endParaRPr>
          </a:p>
        </p:txBody>
      </p:sp>
    </p:spTree>
    <p:extLst>
      <p:ext uri="{BB962C8B-B14F-4D97-AF65-F5344CB8AC3E}">
        <p14:creationId xmlns:p14="http://schemas.microsoft.com/office/powerpoint/2010/main" val="30783068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2">
            <a:extLst>
              <a:ext uri="{FF2B5EF4-FFF2-40B4-BE49-F238E27FC236}">
                <a16:creationId xmlns:a16="http://schemas.microsoft.com/office/drawing/2014/main" id="{CF4EBC8F-52C5-4585-93B9-AF72C05698E4}"/>
              </a:ext>
            </a:extLst>
          </p:cNvPr>
          <p:cNvSpPr>
            <a:spLocks noChangeArrowheads="1"/>
          </p:cNvSpPr>
          <p:nvPr/>
        </p:nvSpPr>
        <p:spPr bwMode="auto">
          <a:xfrm>
            <a:off x="-3652" y="-20797"/>
            <a:ext cx="7559675" cy="2338582"/>
          </a:xfrm>
          <a:prstGeom prst="rect">
            <a:avLst/>
          </a:prstGeom>
          <a:solidFill>
            <a:srgbClr val="27B9C0"/>
          </a:solidFill>
          <a:ln>
            <a:noFill/>
          </a:ln>
          <a:effectLst/>
          <a:extLs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5" name="Title 1">
            <a:extLst>
              <a:ext uri="{FF2B5EF4-FFF2-40B4-BE49-F238E27FC236}">
                <a16:creationId xmlns:a16="http://schemas.microsoft.com/office/drawing/2014/main" id="{B1BDD86F-C557-4D43-9DD2-75E27BC55B27}"/>
              </a:ext>
            </a:extLst>
          </p:cNvPr>
          <p:cNvSpPr txBox="1">
            <a:spLocks/>
          </p:cNvSpPr>
          <p:nvPr/>
        </p:nvSpPr>
        <p:spPr>
          <a:xfrm>
            <a:off x="1676400" y="-20797"/>
            <a:ext cx="5879622" cy="2345330"/>
          </a:xfrm>
          <a:prstGeom prst="rect">
            <a:avLst/>
          </a:prstGeom>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pPr algn="l"/>
            <a:r>
              <a:rPr lang="en-IN" sz="3600" b="1" dirty="0">
                <a:ln w="12700">
                  <a:solidFill>
                    <a:schemeClr val="tx1"/>
                  </a:solidFill>
                </a:ln>
                <a:solidFill>
                  <a:schemeClr val="bg1"/>
                </a:solidFill>
                <a:latin typeface="Comic Sans MS" panose="030F0702030302020204" pitchFamily="66" charset="0"/>
              </a:rPr>
              <a:t>Sikh Empire</a:t>
            </a:r>
          </a:p>
        </p:txBody>
      </p:sp>
      <p:sp>
        <p:nvSpPr>
          <p:cNvPr id="6" name="AutoShape 43">
            <a:extLst>
              <a:ext uri="{FF2B5EF4-FFF2-40B4-BE49-F238E27FC236}">
                <a16:creationId xmlns:a16="http://schemas.microsoft.com/office/drawing/2014/main" id="{1574DF4D-D6E2-455C-90CF-E167BA9B7E30}"/>
              </a:ext>
            </a:extLst>
          </p:cNvPr>
          <p:cNvSpPr>
            <a:spLocks noChangeArrowheads="1"/>
          </p:cNvSpPr>
          <p:nvPr/>
        </p:nvSpPr>
        <p:spPr bwMode="auto">
          <a:xfrm>
            <a:off x="3590925" y="10345738"/>
            <a:ext cx="381000" cy="295275"/>
          </a:xfrm>
          <a:prstGeom prst="roundRect">
            <a:avLst>
              <a:gd name="adj" fmla="val 16667"/>
            </a:avLst>
          </a:prstGeom>
          <a:solidFill>
            <a:srgbClr val="F0587C"/>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7" name="Text Box 45">
            <a:extLst>
              <a:ext uri="{FF2B5EF4-FFF2-40B4-BE49-F238E27FC236}">
                <a16:creationId xmlns:a16="http://schemas.microsoft.com/office/drawing/2014/main" id="{EDBD42BE-368C-4C50-933F-16E62EDB4AB0}"/>
              </a:ext>
            </a:extLst>
          </p:cNvPr>
          <p:cNvSpPr txBox="1">
            <a:spLocks noChangeArrowheads="1"/>
          </p:cNvSpPr>
          <p:nvPr/>
        </p:nvSpPr>
        <p:spPr bwMode="auto">
          <a:xfrm>
            <a:off x="3590925" y="10261600"/>
            <a:ext cx="381000" cy="4508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fld id="{AA3A2C3A-815D-4324-A52B-0D6E1281FA41}" type="slidenum">
              <a:rPr kumimoji="0" lang="en-IN" altLang="en-US" sz="1400" b="0" i="0" u="none" strike="noStrike" cap="none" normalizeH="0" baseline="0" smtClean="0">
                <a:ln>
                  <a:noFill/>
                </a:ln>
                <a:solidFill>
                  <a:srgbClr val="FFFFFF"/>
                </a:solidFill>
                <a:effectLst/>
                <a:latin typeface="Poppins" panose="00000500000000000000" pitchFamily="2" charset="0"/>
              </a:rPr>
              <a:pPr marL="0" marR="0" lvl="0" indent="0" algn="ctr" defTabSz="914400" rtl="0" eaLnBrk="0" fontAlgn="base" latinLnBrk="0" hangingPunct="0">
                <a:lnSpc>
                  <a:spcPct val="100000"/>
                </a:lnSpc>
                <a:spcBef>
                  <a:spcPct val="0"/>
                </a:spcBef>
                <a:spcAft>
                  <a:spcPct val="0"/>
                </a:spcAft>
                <a:buClrTx/>
                <a:buSzTx/>
                <a:buFontTx/>
                <a:buNone/>
                <a:tabLst/>
              </a:pPr>
              <a:t>26</a:t>
            </a:fld>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Text Box 46">
            <a:extLst>
              <a:ext uri="{FF2B5EF4-FFF2-40B4-BE49-F238E27FC236}">
                <a16:creationId xmlns:a16="http://schemas.microsoft.com/office/drawing/2014/main" id="{7F86BA53-A29C-4791-B660-D2F60E427A24}"/>
              </a:ext>
            </a:extLst>
          </p:cNvPr>
          <p:cNvSpPr txBox="1">
            <a:spLocks noChangeArrowheads="1"/>
          </p:cNvSpPr>
          <p:nvPr/>
        </p:nvSpPr>
        <p:spPr bwMode="auto">
          <a:xfrm>
            <a:off x="0" y="10261600"/>
            <a:ext cx="3590925" cy="439738"/>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IN" altLang="en-US" sz="1000" b="0" i="0" u="none" strike="noStrike" cap="none" normalizeH="0" baseline="0">
                <a:ln>
                  <a:noFill/>
                </a:ln>
                <a:solidFill>
                  <a:srgbClr val="000000"/>
                </a:solidFill>
                <a:effectLst/>
                <a:latin typeface="Poppins" panose="00000500000000000000" pitchFamily="2" charset="0"/>
              </a:rPr>
              <a:t>VIDYAVANTAM — CBSE CLASS 7 HISTORY</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Text Box 47">
            <a:extLst>
              <a:ext uri="{FF2B5EF4-FFF2-40B4-BE49-F238E27FC236}">
                <a16:creationId xmlns:a16="http://schemas.microsoft.com/office/drawing/2014/main" id="{66253C3A-2876-494A-9C09-048DCA811F7D}"/>
              </a:ext>
            </a:extLst>
          </p:cNvPr>
          <p:cNvSpPr txBox="1">
            <a:spLocks noChangeArrowheads="1"/>
          </p:cNvSpPr>
          <p:nvPr/>
        </p:nvSpPr>
        <p:spPr bwMode="auto">
          <a:xfrm>
            <a:off x="3968273" y="10261600"/>
            <a:ext cx="3587750" cy="428625"/>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algn="ctr" defTabSz="914400" eaLnBrk="0" fontAlgn="base" hangingPunct="0">
              <a:spcBef>
                <a:spcPct val="0"/>
              </a:spcBef>
              <a:spcAft>
                <a:spcPct val="0"/>
              </a:spcAft>
            </a:pPr>
            <a:r>
              <a:rPr lang="en-IN" sz="1000" dirty="0">
                <a:solidFill>
                  <a:srgbClr val="000000"/>
                </a:solidFill>
                <a:latin typeface="Poppins" panose="00000500000000000000" pitchFamily="2" charset="0"/>
              </a:rPr>
              <a:t>TRACING CHANGES THROUGH A THOUSAND YEARS </a:t>
            </a:r>
          </a:p>
        </p:txBody>
      </p:sp>
      <p:sp>
        <p:nvSpPr>
          <p:cNvPr id="10" name="Title 1">
            <a:extLst>
              <a:ext uri="{FF2B5EF4-FFF2-40B4-BE49-F238E27FC236}">
                <a16:creationId xmlns:a16="http://schemas.microsoft.com/office/drawing/2014/main" id="{09D23E7D-F7D1-482D-B7B1-D5B7BF1636A1}"/>
              </a:ext>
            </a:extLst>
          </p:cNvPr>
          <p:cNvSpPr txBox="1">
            <a:spLocks/>
          </p:cNvSpPr>
          <p:nvPr/>
        </p:nvSpPr>
        <p:spPr>
          <a:xfrm>
            <a:off x="484710" y="624997"/>
            <a:ext cx="1058340" cy="1062319"/>
          </a:xfrm>
          <a:prstGeom prst="ellipse">
            <a:avLst/>
          </a:prstGeom>
          <a:solidFill>
            <a:schemeClr val="bg1"/>
          </a:solidFill>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r>
              <a:rPr lang="en-IN" sz="3200" b="1" dirty="0">
                <a:solidFill>
                  <a:srgbClr val="49C0C2"/>
                </a:solidFill>
                <a:latin typeface="Comic Sans MS" panose="030F0702030302020204" pitchFamily="66" charset="0"/>
              </a:rPr>
              <a:t>13</a:t>
            </a:r>
            <a:endParaRPr lang="en-IN" sz="3200" b="1" dirty="0">
              <a:solidFill>
                <a:srgbClr val="49C0C2"/>
              </a:solidFill>
            </a:endParaRPr>
          </a:p>
        </p:txBody>
      </p:sp>
    </p:spTree>
    <p:extLst>
      <p:ext uri="{BB962C8B-B14F-4D97-AF65-F5344CB8AC3E}">
        <p14:creationId xmlns:p14="http://schemas.microsoft.com/office/powerpoint/2010/main" val="340155770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1868</TotalTime>
  <Words>2835</Words>
  <Application>Microsoft Office PowerPoint</Application>
  <PresentationFormat>Custom</PresentationFormat>
  <Paragraphs>237</Paragraphs>
  <Slides>26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Calibri</vt:lpstr>
      <vt:lpstr>Calibri Light</vt:lpstr>
      <vt:lpstr>Comic Sans MS</vt:lpstr>
      <vt:lpstr>Poppins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Saroj Kumar Jha</dc:creator>
  <cp:lastModifiedBy>Saroj Kumar Jha</cp:lastModifiedBy>
  <cp:revision>238</cp:revision>
  <dcterms:created xsi:type="dcterms:W3CDTF">2022-03-28T08:58:00Z</dcterms:created>
  <dcterms:modified xsi:type="dcterms:W3CDTF">2022-04-16T05:39:17Z</dcterms:modified>
</cp:coreProperties>
</file>